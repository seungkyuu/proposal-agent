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134807288" r:id="rId2"/>
    <p:sldId id="2134807291" r:id="rId3"/>
    <p:sldId id="2134807295" r:id="rId4"/>
    <p:sldId id="2134807110" r:id="rId5"/>
    <p:sldId id="2134807253" r:id="rId6"/>
    <p:sldId id="586" r:id="rId7"/>
    <p:sldId id="2134807396" r:id="rId8"/>
    <p:sldId id="2134807331" r:id="rId9"/>
    <p:sldId id="601" r:id="rId10"/>
    <p:sldId id="2134807355" r:id="rId11"/>
    <p:sldId id="2134807333" r:id="rId12"/>
    <p:sldId id="2134807410" r:id="rId13"/>
    <p:sldId id="2134807409" r:id="rId14"/>
    <p:sldId id="2134807403" r:id="rId15"/>
    <p:sldId id="331" r:id="rId16"/>
    <p:sldId id="2134807417" r:id="rId17"/>
    <p:sldId id="604" r:id="rId18"/>
    <p:sldId id="2134807304" r:id="rId19"/>
    <p:sldId id="2134807301" r:id="rId20"/>
    <p:sldId id="2134807418" r:id="rId21"/>
    <p:sldId id="2134807268" r:id="rId22"/>
    <p:sldId id="435" r:id="rId23"/>
    <p:sldId id="2134807387" r:id="rId24"/>
    <p:sldId id="2134807416" r:id="rId25"/>
    <p:sldId id="319" r:id="rId26"/>
    <p:sldId id="2134807299" r:id="rId27"/>
    <p:sldId id="520" r:id="rId28"/>
    <p:sldId id="2134807386" r:id="rId29"/>
  </p:sldIdLst>
  <p:sldSz cx="12192000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02" userDrawn="1">
          <p15:clr>
            <a:srgbClr val="A4A3A4"/>
          </p15:clr>
        </p15:guide>
        <p15:guide id="13" orient="horz" pos="2205" userDrawn="1">
          <p15:clr>
            <a:srgbClr val="A4A3A4"/>
          </p15:clr>
        </p15:guide>
        <p15:guide id="14" pos="7333" userDrawn="1">
          <p15:clr>
            <a:srgbClr val="A4A3A4"/>
          </p15:clr>
        </p15:guide>
        <p15:guide id="16" orient="horz" pos="2478" userDrawn="1">
          <p15:clr>
            <a:srgbClr val="A4A3A4"/>
          </p15:clr>
        </p15:guide>
        <p15:guide id="17" orient="horz" pos="822" userDrawn="1">
          <p15:clr>
            <a:srgbClr val="A4A3A4"/>
          </p15:clr>
        </p15:guide>
        <p15:guide id="18" orient="horz" pos="1502" userDrawn="1">
          <p15:clr>
            <a:srgbClr val="A4A3A4"/>
          </p15:clr>
        </p15:guide>
        <p15:guide id="21" orient="horz" pos="3952" userDrawn="1">
          <p15:clr>
            <a:srgbClr val="A4A3A4"/>
          </p15:clr>
        </p15:guide>
        <p15:guide id="22" orient="horz" pos="2024" userDrawn="1">
          <p15:clr>
            <a:srgbClr val="A4A3A4"/>
          </p15:clr>
        </p15:guide>
        <p15:guide id="23" orient="horz" pos="15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5FDBCBA-A7AC-1879-3402-43141050D246}" name="허선희" initials="선허" userId="S::shheo@alpacohq.onmicrosoft.com::c4e9853a-1165-4b41-9e5f-81e93a4ca5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D102"/>
    <a:srgbClr val="85C283"/>
    <a:srgbClr val="15A659"/>
    <a:srgbClr val="D3DBAF"/>
    <a:srgbClr val="2382FE"/>
    <a:srgbClr val="65B673"/>
    <a:srgbClr val="75BC7A"/>
    <a:srgbClr val="B2F6FC"/>
    <a:srgbClr val="00BF79"/>
    <a:srgbClr val="8EF5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076" autoAdjust="0"/>
  </p:normalViewPr>
  <p:slideViewPr>
    <p:cSldViewPr snapToGrid="0">
      <p:cViewPr varScale="1">
        <p:scale>
          <a:sx n="102" d="100"/>
          <a:sy n="102" d="100"/>
        </p:scale>
        <p:origin x="870" y="114"/>
      </p:cViewPr>
      <p:guideLst>
        <p:guide pos="302"/>
        <p:guide orient="horz" pos="2205"/>
        <p:guide pos="7333"/>
        <p:guide orient="horz" pos="2478"/>
        <p:guide orient="horz" pos="822"/>
        <p:guide orient="horz" pos="1502"/>
        <p:guide orient="horz" pos="3952"/>
        <p:guide orient="horz" pos="2024"/>
        <p:guide orient="horz" pos="1548"/>
      </p:guideLst>
    </p:cSldViewPr>
  </p:slideViewPr>
  <p:outlineViewPr>
    <p:cViewPr>
      <p:scale>
        <a:sx n="33" d="100"/>
        <a:sy n="33" d="100"/>
      </p:scale>
      <p:origin x="0" y="-471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howGuides="1">
      <p:cViewPr varScale="1">
        <p:scale>
          <a:sx n="78" d="100"/>
          <a:sy n="78" d="100"/>
        </p:scale>
        <p:origin x="396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PT-774\Desktop\&#44592;&#50629;&#51008;&#54665;\&#44592;&#50629;&#51008;&#54665;%20&#51228;&#50504;&#50857;%20raw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'일별제출율(평균)'!$O$40</c:f>
              <c:strCache>
                <c:ptCount val="1"/>
                <c:pt idx="0">
                  <c:v>제출인원평균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'일별제출율(평균)'!$N$41:$N$71</c:f>
              <c:strCache>
                <c:ptCount val="31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'일별제출율(평균)'!$O$41:$O$71</c:f>
              <c:numCache>
                <c:formatCode>0</c:formatCode>
                <c:ptCount val="31"/>
                <c:pt idx="0">
                  <c:v>103.7</c:v>
                </c:pt>
                <c:pt idx="1">
                  <c:v>93.1</c:v>
                </c:pt>
                <c:pt idx="2">
                  <c:v>85.8</c:v>
                </c:pt>
                <c:pt idx="3">
                  <c:v>65.599999999999994</c:v>
                </c:pt>
                <c:pt idx="4">
                  <c:v>59.6</c:v>
                </c:pt>
                <c:pt idx="5">
                  <c:v>57.2</c:v>
                </c:pt>
                <c:pt idx="6">
                  <c:v>69.099999999999994</c:v>
                </c:pt>
                <c:pt idx="7">
                  <c:v>57.6</c:v>
                </c:pt>
                <c:pt idx="8">
                  <c:v>50.2</c:v>
                </c:pt>
                <c:pt idx="9">
                  <c:v>54.9</c:v>
                </c:pt>
                <c:pt idx="10">
                  <c:v>52.2</c:v>
                </c:pt>
                <c:pt idx="11">
                  <c:v>46.7</c:v>
                </c:pt>
                <c:pt idx="12">
                  <c:v>52.2</c:v>
                </c:pt>
                <c:pt idx="13">
                  <c:v>54.7</c:v>
                </c:pt>
                <c:pt idx="14">
                  <c:v>54.3</c:v>
                </c:pt>
                <c:pt idx="15">
                  <c:v>50.3</c:v>
                </c:pt>
                <c:pt idx="16">
                  <c:v>56.7</c:v>
                </c:pt>
                <c:pt idx="17">
                  <c:v>47.5</c:v>
                </c:pt>
                <c:pt idx="18">
                  <c:v>56.6</c:v>
                </c:pt>
                <c:pt idx="19">
                  <c:v>72.099999999999994</c:v>
                </c:pt>
                <c:pt idx="20">
                  <c:v>70.099999999999994</c:v>
                </c:pt>
                <c:pt idx="21">
                  <c:v>82.2</c:v>
                </c:pt>
                <c:pt idx="22">
                  <c:v>87.5</c:v>
                </c:pt>
                <c:pt idx="23">
                  <c:v>132.4</c:v>
                </c:pt>
                <c:pt idx="24">
                  <c:v>180.5</c:v>
                </c:pt>
                <c:pt idx="25">
                  <c:v>169.5</c:v>
                </c:pt>
                <c:pt idx="26">
                  <c:v>237.5</c:v>
                </c:pt>
                <c:pt idx="27">
                  <c:v>331</c:v>
                </c:pt>
                <c:pt idx="28">
                  <c:v>349.44444444444446</c:v>
                </c:pt>
                <c:pt idx="29">
                  <c:v>561.44444444444446</c:v>
                </c:pt>
                <c:pt idx="30">
                  <c:v>741.83333333333337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96C-4C42-A209-35778FE327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592353152"/>
        <c:axId val="-592352608"/>
      </c:lineChart>
      <c:catAx>
        <c:axId val="-592353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592352608"/>
        <c:crosses val="autoZero"/>
        <c:auto val="1"/>
        <c:lblAlgn val="ctr"/>
        <c:lblOffset val="100"/>
        <c:noMultiLvlLbl val="0"/>
      </c:catAx>
      <c:valAx>
        <c:axId val="-592352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592353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9C4B981-6444-AD8D-591A-D2F7EA9AC0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8FF8C9-7F90-ADC9-D9D6-8097BCCB99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61469-5116-4AA3-84E2-7557003214AD}" type="datetimeFigureOut">
              <a:rPr lang="ko-KR" altLang="en-US" smtClean="0"/>
              <a:t>2025-06-05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DFEE640-7A55-785C-6547-8883E4D592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66DE9C-1E97-EA1A-7820-F9BACBE847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2704D-C65F-4A4E-A36E-024F8F1B4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65093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31" userDrawn="1">
          <p15:clr>
            <a:srgbClr val="F26B43"/>
          </p15:clr>
        </p15:guide>
        <p15:guide id="2" pos="214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EC462-72A7-4B77-9EC8-FE07B068CB84}" type="datetimeFigureOut">
              <a:rPr lang="ko-KR" altLang="en-US" smtClean="0"/>
              <a:t>2025-06-05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E9AFB-D72A-4918-9833-75E573AF68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01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99BAB-D6F6-384C-F74B-3D04CF29C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10B216-ED2F-D547-4248-8316ABA73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8A94CE-4EEE-0075-77A1-50EC269F0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표 디자인 체크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5ABFA7-E206-8C85-6D57-E357C53B36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326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87931-E55C-E56B-98B5-839DDEA1D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5BCD5D-C439-E57C-7D5C-EA1CA9CD8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4ACB4B-5794-6855-67BA-25039C5BF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표 디자인 체크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8FDB34-E96B-267F-884F-ECE34EE5A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761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48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8653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1256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758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817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DA33BEB-F0BB-E9B5-A9C1-1060F7452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492BC-3D70-4570-B37B-04BA20311834}" type="datetimeFigureOut">
              <a:rPr lang="ko-KR" altLang="en-US" smtClean="0"/>
              <a:t>2025-06-05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2D44F0D-42EE-734E-83B2-E54DA6AEC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FEFF6C-8498-C8C4-F592-A5AD2D64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A95FC-6922-4C7D-9604-2AC7CF989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166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0B7B84-6C4F-54CF-D9FC-6CF6612D6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FB4F18-8D63-2A75-40D3-410C5D52A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492BC-3D70-4570-B37B-04BA20311834}" type="datetimeFigureOut">
              <a:rPr lang="ko-KR" altLang="en-US" smtClean="0"/>
              <a:t>2025-06-05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31BDA3-2616-B5D3-2815-40D75FFDF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F11D52-F1B0-7B09-DE88-4BB2EF291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A95FC-6922-4C7D-9604-2AC7CF989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600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-m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B5D26433-42C3-7AC4-6662-56FDDFF4384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04267" y="439017"/>
            <a:ext cx="6529388" cy="48577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  <p:sp>
        <p:nvSpPr>
          <p:cNvPr id="3" name="내용 개체 틀 13">
            <a:extLst>
              <a:ext uri="{FF2B5EF4-FFF2-40B4-BE49-F238E27FC236}">
                <a16:creationId xmlns:a16="http://schemas.microsoft.com/office/drawing/2014/main" id="{4C1A8C88-E69D-7A6D-59D1-578D5F33E7D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04266" y="1088566"/>
            <a:ext cx="11332015" cy="48577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5B40541A-F5E8-F5D4-66FF-8DA93565BA8F}"/>
              </a:ext>
            </a:extLst>
          </p:cNvPr>
          <p:cNvSpPr txBox="1">
            <a:spLocks/>
          </p:cNvSpPr>
          <p:nvPr userDrawn="1"/>
        </p:nvSpPr>
        <p:spPr>
          <a:xfrm>
            <a:off x="11385298" y="6435308"/>
            <a:ext cx="451135" cy="230276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fld id="{3E69C318-79EE-4D33-9269-CA8477FBA421}" type="slidenum">
              <a:rPr lang="ko-KR" altLang="en-US" sz="8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pPr algn="r">
                <a:defRPr/>
              </a:pPr>
              <a:t>‹#›</a:t>
            </a:fld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F0AA7-2EC9-35B6-BD0E-128BF3EF469D}"/>
              </a:ext>
            </a:extLst>
          </p:cNvPr>
          <p:cNvSpPr txBox="1"/>
          <p:nvPr userDrawn="1"/>
        </p:nvSpPr>
        <p:spPr>
          <a:xfrm>
            <a:off x="9150350" y="6446559"/>
            <a:ext cx="2499403" cy="215444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r"/>
            <a:r>
              <a:rPr lang="en-US" altLang="ko-KR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S-OIL 2025</a:t>
            </a:r>
            <a:r>
              <a:rPr lang="ko-KR" altLang="en-US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년 독서통신 교육 서비스 수행 용역 제안</a:t>
            </a:r>
            <a:endParaRPr lang="en-US" altLang="ko-KR" sz="800" b="1" kern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pic>
        <p:nvPicPr>
          <p:cNvPr id="6" name="Picture 2" descr="s-oil">
            <a:extLst>
              <a:ext uri="{FF2B5EF4-FFF2-40B4-BE49-F238E27FC236}">
                <a16:creationId xmlns:a16="http://schemas.microsoft.com/office/drawing/2014/main" id="{DB5674C2-3640-F858-FC4A-DA143ACB40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3274" y="392207"/>
            <a:ext cx="828381" cy="557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7468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>
            <a:extLst>
              <a:ext uri="{FF2B5EF4-FFF2-40B4-BE49-F238E27FC236}">
                <a16:creationId xmlns:a16="http://schemas.microsoft.com/office/drawing/2014/main" id="{21B64908-B9DC-4F3A-B9DD-B7B513ABEF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63403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4" name="개체 3" hidden="1">
                        <a:extLst>
                          <a:ext uri="{FF2B5EF4-FFF2-40B4-BE49-F238E27FC236}">
                            <a16:creationId xmlns:a16="http://schemas.microsoft.com/office/drawing/2014/main" id="{21B64908-B9DC-4F3A-B9DD-B7B513ABEF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>
            <a:extLst>
              <a:ext uri="{FF2B5EF4-FFF2-40B4-BE49-F238E27FC236}">
                <a16:creationId xmlns:a16="http://schemas.microsoft.com/office/drawing/2014/main" id="{44ACC6AD-18F0-4074-AB93-0012D72CA08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158751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GB" altLang="ko-KR" sz="3088" b="1" i="0" baseline="0" dirty="0">
              <a:solidFill>
                <a:schemeClr val="tx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855B6642-0A55-4068-B403-FF36CF1D7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77" y="427249"/>
            <a:ext cx="9163639" cy="431006"/>
          </a:xfrm>
          <a:prstGeom prst="rect">
            <a:avLst/>
          </a:prstGeom>
        </p:spPr>
        <p:txBody>
          <a:bodyPr wrap="none" lIns="36000" tIns="36000" rIns="36000" bIns="36000" anchor="ctr"/>
          <a:lstStyle>
            <a:lvl1pPr>
              <a:lnSpc>
                <a:spcPct val="100000"/>
              </a:lnSpc>
              <a:defRPr sz="20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5F68A4CE-4D04-33A7-6AFC-2F7ADF760C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0562" y="1020208"/>
            <a:ext cx="11147727" cy="734471"/>
          </a:xfrm>
          <a:prstGeom prst="rect">
            <a:avLst/>
          </a:prstGeom>
        </p:spPr>
        <p:txBody>
          <a:bodyPr lIns="0" tIns="0" rIns="0" bIns="0"/>
          <a:lstStyle>
            <a:lvl1pPr marL="0" indent="0" algn="l" latinLnBrk="0">
              <a:lnSpc>
                <a:spcPct val="120000"/>
              </a:lnSpc>
              <a:spcBef>
                <a:spcPts val="200"/>
              </a:spcBef>
              <a:buNone/>
              <a:defRPr sz="1200" b="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  <a:lvl6pPr marL="2285943" indent="0">
              <a:buNone/>
              <a:defRPr/>
            </a:lvl6pPr>
            <a:lvl7pPr marL="2743131" indent="0">
              <a:buNone/>
              <a:defRPr/>
            </a:lvl7pPr>
            <a:lvl8pPr marL="3200320" indent="0">
              <a:buNone/>
              <a:defRPr/>
            </a:lvl8pPr>
            <a:lvl9pPr marL="3657509" indent="0">
              <a:buNone/>
              <a:defRPr/>
            </a:lvl9pPr>
          </a:lstStyle>
          <a:p>
            <a:pPr lvl="0"/>
            <a:r>
              <a:rPr lang="en-US" altLang="ko-KR" dirty="0"/>
              <a:t>Sub-heading: Add supporting detail.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352304-ECD9-99A1-C96D-732E068B6C63}"/>
              </a:ext>
            </a:extLst>
          </p:cNvPr>
          <p:cNvSpPr/>
          <p:nvPr userDrawn="1"/>
        </p:nvSpPr>
        <p:spPr>
          <a:xfrm>
            <a:off x="529229" y="2207307"/>
            <a:ext cx="11248161" cy="4127789"/>
          </a:xfrm>
          <a:prstGeom prst="rect">
            <a:avLst/>
          </a:prstGeom>
          <a:noFill/>
          <a:ln w="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9" name="Picture 2" descr="s-oil">
            <a:extLst>
              <a:ext uri="{FF2B5EF4-FFF2-40B4-BE49-F238E27FC236}">
                <a16:creationId xmlns:a16="http://schemas.microsoft.com/office/drawing/2014/main" id="{0FF0256D-ABBF-73EC-3EB3-FF41F667019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3274" y="392207"/>
            <a:ext cx="828381" cy="557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16DCF640-C2FD-8870-4FC6-3CBF36FFDE04}"/>
              </a:ext>
            </a:extLst>
          </p:cNvPr>
          <p:cNvSpPr txBox="1">
            <a:spLocks/>
          </p:cNvSpPr>
          <p:nvPr userDrawn="1"/>
        </p:nvSpPr>
        <p:spPr>
          <a:xfrm>
            <a:off x="11385298" y="6435308"/>
            <a:ext cx="451135" cy="230276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fld id="{3E69C318-79EE-4D33-9269-CA8477FBA421}" type="slidenum">
              <a:rPr lang="ko-KR" altLang="en-US" sz="8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pPr algn="r">
                <a:defRPr/>
              </a:pPr>
              <a:t>‹#›</a:t>
            </a:fld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298AD8-6532-4613-ACBC-201EAF491D8A}"/>
              </a:ext>
            </a:extLst>
          </p:cNvPr>
          <p:cNvSpPr txBox="1"/>
          <p:nvPr userDrawn="1"/>
        </p:nvSpPr>
        <p:spPr>
          <a:xfrm>
            <a:off x="9150350" y="6446559"/>
            <a:ext cx="2499403" cy="215444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r"/>
            <a:r>
              <a:rPr lang="en-US" altLang="ko-KR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S-OIL 2025</a:t>
            </a:r>
            <a:r>
              <a:rPr lang="ko-KR" altLang="en-US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년 독서통신 교육 서비스 수행 용역 제안</a:t>
            </a:r>
            <a:endParaRPr lang="en-US" altLang="ko-KR" sz="800" b="1" kern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7686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>
            <a:extLst>
              <a:ext uri="{FF2B5EF4-FFF2-40B4-BE49-F238E27FC236}">
                <a16:creationId xmlns:a16="http://schemas.microsoft.com/office/drawing/2014/main" id="{21B64908-B9DC-4F3A-B9DD-B7B513ABEF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63403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4" name="개체 3" hidden="1">
                        <a:extLst>
                          <a:ext uri="{FF2B5EF4-FFF2-40B4-BE49-F238E27FC236}">
                            <a16:creationId xmlns:a16="http://schemas.microsoft.com/office/drawing/2014/main" id="{21B64908-B9DC-4F3A-B9DD-B7B513ABEF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>
            <a:extLst>
              <a:ext uri="{FF2B5EF4-FFF2-40B4-BE49-F238E27FC236}">
                <a16:creationId xmlns:a16="http://schemas.microsoft.com/office/drawing/2014/main" id="{44ACC6AD-18F0-4074-AB93-0012D72CA08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158751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GB" altLang="ko-KR" sz="3088" b="1" i="0" baseline="0" dirty="0">
              <a:solidFill>
                <a:schemeClr val="tx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855B6642-0A55-4068-B403-FF36CF1D7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77" y="427249"/>
            <a:ext cx="9163639" cy="431006"/>
          </a:xfrm>
          <a:prstGeom prst="rect">
            <a:avLst/>
          </a:prstGeom>
        </p:spPr>
        <p:txBody>
          <a:bodyPr wrap="none" lIns="36000" tIns="36000" rIns="36000" bIns="36000" anchor="ctr"/>
          <a:lstStyle>
            <a:lvl1pPr>
              <a:lnSpc>
                <a:spcPct val="100000"/>
              </a:lnSpc>
              <a:defRPr sz="20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5F68A4CE-4D04-33A7-6AFC-2F7ADF760C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0562" y="1272338"/>
            <a:ext cx="11147727" cy="7344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latinLnBrk="0">
              <a:lnSpc>
                <a:spcPct val="120000"/>
              </a:lnSpc>
              <a:spcBef>
                <a:spcPts val="200"/>
              </a:spcBef>
              <a:buNone/>
              <a:defRPr sz="1200" b="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  <a:lvl6pPr marL="2285943" indent="0">
              <a:buNone/>
              <a:defRPr/>
            </a:lvl6pPr>
            <a:lvl7pPr marL="2743131" indent="0">
              <a:buNone/>
              <a:defRPr/>
            </a:lvl7pPr>
            <a:lvl8pPr marL="3200320" indent="0">
              <a:buNone/>
              <a:defRPr/>
            </a:lvl8pPr>
            <a:lvl9pPr marL="3657509" indent="0">
              <a:buNone/>
              <a:defRPr/>
            </a:lvl9pPr>
          </a:lstStyle>
          <a:p>
            <a:pPr lvl="0"/>
            <a:r>
              <a:rPr lang="en-US" altLang="ko-KR" dirty="0"/>
              <a:t>Sub-heading: Add supporting detail.</a:t>
            </a:r>
          </a:p>
        </p:txBody>
      </p:sp>
      <p:pic>
        <p:nvPicPr>
          <p:cNvPr id="8" name="Picture 2" descr="s-oil">
            <a:extLst>
              <a:ext uri="{FF2B5EF4-FFF2-40B4-BE49-F238E27FC236}">
                <a16:creationId xmlns:a16="http://schemas.microsoft.com/office/drawing/2014/main" id="{3AFB4039-79B0-5AAC-7923-2BFED3FFFD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3274" y="392207"/>
            <a:ext cx="828381" cy="557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AE27E248-F3A9-45F1-B3ED-F88431B5DDF5}"/>
              </a:ext>
            </a:extLst>
          </p:cNvPr>
          <p:cNvSpPr txBox="1">
            <a:spLocks/>
          </p:cNvSpPr>
          <p:nvPr userDrawn="1"/>
        </p:nvSpPr>
        <p:spPr>
          <a:xfrm>
            <a:off x="11385298" y="6435308"/>
            <a:ext cx="451135" cy="230276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fld id="{3E69C318-79EE-4D33-9269-CA8477FBA421}" type="slidenum">
              <a:rPr lang="ko-KR" altLang="en-US" sz="8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pPr algn="r">
                <a:defRPr/>
              </a:pPr>
              <a:t>‹#›</a:t>
            </a:fld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40B6F1-BF7B-3A0C-44A5-A7FEE39FE09B}"/>
              </a:ext>
            </a:extLst>
          </p:cNvPr>
          <p:cNvSpPr txBox="1"/>
          <p:nvPr userDrawn="1"/>
        </p:nvSpPr>
        <p:spPr>
          <a:xfrm>
            <a:off x="9150350" y="6446559"/>
            <a:ext cx="2499403" cy="215444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r"/>
            <a:r>
              <a:rPr lang="en-US" altLang="ko-KR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S-OIL 2025</a:t>
            </a:r>
            <a:r>
              <a:rPr lang="ko-KR" altLang="en-US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년 독서통신 교육 서비스 수행 용역 제안</a:t>
            </a:r>
            <a:endParaRPr lang="en-US" altLang="ko-KR" sz="800" b="1" kern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012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>
            <a:extLst>
              <a:ext uri="{FF2B5EF4-FFF2-40B4-BE49-F238E27FC236}">
                <a16:creationId xmlns:a16="http://schemas.microsoft.com/office/drawing/2014/main" id="{21B64908-B9DC-4F3A-B9DD-B7B513ABEF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63403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4" name="개체 3" hidden="1">
                        <a:extLst>
                          <a:ext uri="{FF2B5EF4-FFF2-40B4-BE49-F238E27FC236}">
                            <a16:creationId xmlns:a16="http://schemas.microsoft.com/office/drawing/2014/main" id="{21B64908-B9DC-4F3A-B9DD-B7B513ABEF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>
            <a:extLst>
              <a:ext uri="{FF2B5EF4-FFF2-40B4-BE49-F238E27FC236}">
                <a16:creationId xmlns:a16="http://schemas.microsoft.com/office/drawing/2014/main" id="{44ACC6AD-18F0-4074-AB93-0012D72CA08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158751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GB" altLang="ko-KR" sz="3088" b="1" i="0" baseline="0" dirty="0">
              <a:solidFill>
                <a:schemeClr val="tx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855B6642-0A55-4068-B403-FF36CF1D7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77" y="427249"/>
            <a:ext cx="9163639" cy="431006"/>
          </a:xfrm>
          <a:prstGeom prst="rect">
            <a:avLst/>
          </a:prstGeom>
        </p:spPr>
        <p:txBody>
          <a:bodyPr wrap="none" lIns="36000" tIns="36000" rIns="36000" bIns="36000" anchor="ctr"/>
          <a:lstStyle>
            <a:lvl1pPr>
              <a:lnSpc>
                <a:spcPct val="100000"/>
              </a:lnSpc>
              <a:defRPr sz="20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5F68A4CE-4D04-33A7-6AFC-2F7ADF760C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0562" y="926898"/>
            <a:ext cx="11147727" cy="7344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latinLnBrk="0">
              <a:lnSpc>
                <a:spcPct val="120000"/>
              </a:lnSpc>
              <a:spcBef>
                <a:spcPts val="200"/>
              </a:spcBef>
              <a:buNone/>
              <a:defRPr sz="1200" b="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  <a:lvl6pPr marL="2285943" indent="0">
              <a:buNone/>
              <a:defRPr/>
            </a:lvl6pPr>
            <a:lvl7pPr marL="2743131" indent="0">
              <a:buNone/>
              <a:defRPr/>
            </a:lvl7pPr>
            <a:lvl8pPr marL="3200320" indent="0">
              <a:buNone/>
              <a:defRPr/>
            </a:lvl8pPr>
            <a:lvl9pPr marL="3657509" indent="0">
              <a:buNone/>
              <a:defRPr/>
            </a:lvl9pPr>
          </a:lstStyle>
          <a:p>
            <a:pPr lvl="0"/>
            <a:r>
              <a:rPr lang="en-US" altLang="ko-KR" dirty="0"/>
              <a:t>Sub-heading: Add supporting detail.</a:t>
            </a:r>
          </a:p>
        </p:txBody>
      </p:sp>
      <p:pic>
        <p:nvPicPr>
          <p:cNvPr id="8" name="Picture 2" descr="s-oil">
            <a:extLst>
              <a:ext uri="{FF2B5EF4-FFF2-40B4-BE49-F238E27FC236}">
                <a16:creationId xmlns:a16="http://schemas.microsoft.com/office/drawing/2014/main" id="{BAD2336D-BBA7-6E16-6DB4-CF0BCF7967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3274" y="392207"/>
            <a:ext cx="828381" cy="557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C396F64B-0491-088B-7C3A-CB2CB779D79A}"/>
              </a:ext>
            </a:extLst>
          </p:cNvPr>
          <p:cNvSpPr txBox="1">
            <a:spLocks/>
          </p:cNvSpPr>
          <p:nvPr userDrawn="1"/>
        </p:nvSpPr>
        <p:spPr>
          <a:xfrm>
            <a:off x="11385298" y="6435308"/>
            <a:ext cx="451135" cy="230276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/</a:t>
            </a:r>
            <a:fld id="{3E69C318-79EE-4D33-9269-CA8477FBA421}" type="slidenum">
              <a:rPr lang="ko-KR" altLang="en-US" sz="8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pPr algn="r">
                <a:defRPr/>
              </a:pPr>
              <a:t>‹#›</a:t>
            </a:fld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07A61E-56B9-CDDA-FCCF-BBF9149839A5}"/>
              </a:ext>
            </a:extLst>
          </p:cNvPr>
          <p:cNvSpPr txBox="1"/>
          <p:nvPr userDrawn="1"/>
        </p:nvSpPr>
        <p:spPr>
          <a:xfrm>
            <a:off x="9150350" y="6442724"/>
            <a:ext cx="2499403" cy="215444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r"/>
            <a:r>
              <a:rPr lang="en-US" altLang="ko-KR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S-OIL 2025</a:t>
            </a:r>
            <a:r>
              <a:rPr lang="ko-KR" altLang="en-US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년 독서통신 교육 서비스 수행 용역 제안</a:t>
            </a:r>
            <a:endParaRPr lang="en-US" altLang="ko-KR" sz="800" b="1" kern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889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>
            <a:extLst>
              <a:ext uri="{FF2B5EF4-FFF2-40B4-BE49-F238E27FC236}">
                <a16:creationId xmlns:a16="http://schemas.microsoft.com/office/drawing/2014/main" id="{21B64908-B9DC-4F3A-B9DD-B7B513ABEF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63403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4" name="개체 3" hidden="1">
                        <a:extLst>
                          <a:ext uri="{FF2B5EF4-FFF2-40B4-BE49-F238E27FC236}">
                            <a16:creationId xmlns:a16="http://schemas.microsoft.com/office/drawing/2014/main" id="{21B64908-B9DC-4F3A-B9DD-B7B513ABEF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>
            <a:extLst>
              <a:ext uri="{FF2B5EF4-FFF2-40B4-BE49-F238E27FC236}">
                <a16:creationId xmlns:a16="http://schemas.microsoft.com/office/drawing/2014/main" id="{44ACC6AD-18F0-4074-AB93-0012D72CA08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158751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GB" altLang="ko-KR" sz="3088" b="1" i="0" baseline="0" dirty="0">
              <a:solidFill>
                <a:schemeClr val="tx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855B6642-0A55-4068-B403-FF36CF1D7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77" y="427249"/>
            <a:ext cx="9163639" cy="431006"/>
          </a:xfrm>
          <a:prstGeom prst="rect">
            <a:avLst/>
          </a:prstGeom>
        </p:spPr>
        <p:txBody>
          <a:bodyPr wrap="none" lIns="36000" tIns="36000" rIns="36000" bIns="36000" anchor="ctr"/>
          <a:lstStyle>
            <a:lvl1pPr>
              <a:lnSpc>
                <a:spcPct val="100000"/>
              </a:lnSpc>
              <a:defRPr sz="20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5F68A4CE-4D04-33A7-6AFC-2F7ADF760C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1899" y="1244141"/>
            <a:ext cx="11147727" cy="734471"/>
          </a:xfrm>
          <a:prstGeom prst="rect">
            <a:avLst/>
          </a:prstGeom>
        </p:spPr>
        <p:txBody>
          <a:bodyPr lIns="0" tIns="0" rIns="0" bIns="0"/>
          <a:lstStyle>
            <a:lvl1pPr marL="0" indent="0" algn="l" latinLnBrk="0">
              <a:lnSpc>
                <a:spcPct val="120000"/>
              </a:lnSpc>
              <a:spcBef>
                <a:spcPts val="200"/>
              </a:spcBef>
              <a:buNone/>
              <a:defRPr sz="1200" b="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  <a:lvl6pPr marL="2285943" indent="0">
              <a:buNone/>
              <a:defRPr/>
            </a:lvl6pPr>
            <a:lvl7pPr marL="2743131" indent="0">
              <a:buNone/>
              <a:defRPr/>
            </a:lvl7pPr>
            <a:lvl8pPr marL="3200320" indent="0">
              <a:buNone/>
              <a:defRPr/>
            </a:lvl8pPr>
            <a:lvl9pPr marL="3657509" indent="0">
              <a:buNone/>
              <a:defRPr/>
            </a:lvl9pPr>
          </a:lstStyle>
          <a:p>
            <a:pPr lvl="0"/>
            <a:r>
              <a:rPr lang="en-US" altLang="ko-KR" dirty="0"/>
              <a:t>Sub-heading: Add supporting detail.</a:t>
            </a:r>
          </a:p>
        </p:txBody>
      </p:sp>
      <p:pic>
        <p:nvPicPr>
          <p:cNvPr id="6" name="Picture 2" descr="s-oil">
            <a:extLst>
              <a:ext uri="{FF2B5EF4-FFF2-40B4-BE49-F238E27FC236}">
                <a16:creationId xmlns:a16="http://schemas.microsoft.com/office/drawing/2014/main" id="{40744AA3-C837-F6E9-6E0C-A5D1C2F463E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3274" y="392207"/>
            <a:ext cx="828381" cy="557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FE328A31-3191-E47F-D264-7EFBA75D6F67}"/>
              </a:ext>
            </a:extLst>
          </p:cNvPr>
          <p:cNvSpPr txBox="1">
            <a:spLocks/>
          </p:cNvSpPr>
          <p:nvPr userDrawn="1"/>
        </p:nvSpPr>
        <p:spPr>
          <a:xfrm>
            <a:off x="11385298" y="6435308"/>
            <a:ext cx="451135" cy="230276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fld id="{3E69C318-79EE-4D33-9269-CA8477FBA421}" type="slidenum">
              <a:rPr lang="ko-KR" altLang="en-US" sz="8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pPr algn="r">
                <a:defRPr/>
              </a:pPr>
              <a:t>‹#›</a:t>
            </a:fld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7F403E-122A-0B5D-E3FF-72F08B8258E2}"/>
              </a:ext>
            </a:extLst>
          </p:cNvPr>
          <p:cNvSpPr txBox="1"/>
          <p:nvPr userDrawn="1"/>
        </p:nvSpPr>
        <p:spPr>
          <a:xfrm>
            <a:off x="9182411" y="6446559"/>
            <a:ext cx="2467342" cy="215444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r"/>
            <a:r>
              <a:rPr lang="en-US" altLang="ko-KR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S-Oil 2025</a:t>
            </a:r>
            <a:r>
              <a:rPr lang="ko-KR" altLang="en-US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년 독서통신 교육 서비스 수행 용역 제안</a:t>
            </a:r>
            <a:endParaRPr lang="en-US" altLang="ko-KR" sz="800" b="1" kern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7418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4C050C9-1B30-587C-2AE7-BB68128CD59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D102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tIns="0" bIns="0" rtlCol="0" anchor="ctr" anchorCtr="0"/>
          <a:lstStyle/>
          <a:p>
            <a:pPr marL="0" marR="0" indent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ko-KR" altLang="en-US" sz="2000" b="0" kern="1200" spc="0" noProof="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1489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4917EC4-1A97-407A-00E4-998A6FE29AC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456DE8"/>
          </a:solidFill>
          <a:ln w="12700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8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2057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27343-3229-C0A6-CBA8-668A697DB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E2A27D8-0154-A539-90F6-4421ACE53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492BC-3D70-4570-B37B-04BA20311834}" type="datetimeFigureOut">
              <a:rPr lang="ko-KR" altLang="en-US" smtClean="0"/>
              <a:t>2025-06-05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5AC349-8173-EFEE-18B3-0D678F565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7C41BB-0F8C-43A8-BB49-5CC87975B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A95FC-6922-4C7D-9604-2AC7CF989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722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AEEA545-1515-3F83-ED6A-712337389089}"/>
              </a:ext>
            </a:extLst>
          </p:cNvPr>
          <p:cNvSpPr/>
          <p:nvPr userDrawn="1"/>
        </p:nvSpPr>
        <p:spPr>
          <a:xfrm>
            <a:off x="1" y="0"/>
            <a:ext cx="4076700" cy="6858000"/>
          </a:xfrm>
          <a:prstGeom prst="roundRect">
            <a:avLst>
              <a:gd name="adj" fmla="val 0"/>
            </a:avLst>
          </a:prstGeom>
          <a:solidFill>
            <a:srgbClr val="456DE8"/>
          </a:solidFill>
          <a:ln w="12700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8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pic>
        <p:nvPicPr>
          <p:cNvPr id="2" name="Picture 2" descr="s-oil">
            <a:extLst>
              <a:ext uri="{FF2B5EF4-FFF2-40B4-BE49-F238E27FC236}">
                <a16:creationId xmlns:a16="http://schemas.microsoft.com/office/drawing/2014/main" id="{CA8A2182-00AD-C494-B047-E99332973C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3274" y="392207"/>
            <a:ext cx="828381" cy="557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7517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-oil">
            <a:extLst>
              <a:ext uri="{FF2B5EF4-FFF2-40B4-BE49-F238E27FC236}">
                <a16:creationId xmlns:a16="http://schemas.microsoft.com/office/drawing/2014/main" id="{3394A7EA-EEE3-9BC2-102B-2313126D937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9896" y="392207"/>
            <a:ext cx="828381" cy="557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 descr="스크린샷, 블랙, 그래픽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7906090-9654-6509-84FF-76D98D6563B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6554" y="6033155"/>
            <a:ext cx="743913" cy="27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1335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31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-oil">
            <a:extLst>
              <a:ext uri="{FF2B5EF4-FFF2-40B4-BE49-F238E27FC236}">
                <a16:creationId xmlns:a16="http://schemas.microsoft.com/office/drawing/2014/main" id="{15BD5616-4B95-DD22-1AEF-D65D28954E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9896" y="392207"/>
            <a:ext cx="828381" cy="557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2337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06F9B0-25D6-1E6C-E2D2-B6E7D041A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2106AD-3026-46C6-E5D7-9B8E1B532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13A8DB-9945-1E2B-D800-B08B155BA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F492BC-3D70-4570-B37B-04BA20311834}" type="datetimeFigureOut">
              <a:rPr lang="ko-KR" altLang="en-US" smtClean="0"/>
              <a:t>2025-06-05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C8104F-C137-4D2F-AF12-61DBD2603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3B66B3-7C3F-5C03-955D-B7A659DCE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5A95FC-6922-4C7D-9604-2AC7CF989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990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87" r:id="rId2"/>
    <p:sldLayoutId id="2147483693" r:id="rId3"/>
    <p:sldLayoutId id="2147483692" r:id="rId4"/>
    <p:sldLayoutId id="2147483704" r:id="rId5"/>
    <p:sldLayoutId id="2147483705" r:id="rId6"/>
    <p:sldLayoutId id="2147483702" r:id="rId7"/>
    <p:sldLayoutId id="2147483694" r:id="rId8"/>
    <p:sldLayoutId id="2147483708" r:id="rId9"/>
    <p:sldLayoutId id="2147483696" r:id="rId10"/>
    <p:sldLayoutId id="2147483697" r:id="rId11"/>
    <p:sldLayoutId id="2147483707" r:id="rId12"/>
    <p:sldLayoutId id="2147483706" r:id="rId13"/>
    <p:sldLayoutId id="2147483695" r:id="rId14"/>
  </p:sldLayoutIdLst>
  <p:txStyles>
    <p:titleStyle>
      <a:lvl1pPr algn="l" defTabSz="914377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jpe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jpeg"/><Relationship Id="rId9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42.jpe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13" Type="http://schemas.openxmlformats.org/officeDocument/2006/relationships/image" Target="../media/image60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sv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svg"/><Relationship Id="rId4" Type="http://schemas.openxmlformats.org/officeDocument/2006/relationships/image" Target="../media/image51.svg"/><Relationship Id="rId9" Type="http://schemas.openxmlformats.org/officeDocument/2006/relationships/image" Target="../media/image56.png"/><Relationship Id="rId14" Type="http://schemas.openxmlformats.org/officeDocument/2006/relationships/image" Target="../media/image61.sv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jpeg"/><Relationship Id="rId4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jpg"/><Relationship Id="rId3" Type="http://schemas.openxmlformats.org/officeDocument/2006/relationships/image" Target="../media/image73.png"/><Relationship Id="rId7" Type="http://schemas.openxmlformats.org/officeDocument/2006/relationships/image" Target="../media/image77.jp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6.jpeg"/><Relationship Id="rId5" Type="http://schemas.openxmlformats.org/officeDocument/2006/relationships/image" Target="../media/image75.jpeg"/><Relationship Id="rId10" Type="http://schemas.openxmlformats.org/officeDocument/2006/relationships/image" Target="../media/image80.png"/><Relationship Id="rId4" Type="http://schemas.openxmlformats.org/officeDocument/2006/relationships/image" Target="../media/image74.jpg"/><Relationship Id="rId9" Type="http://schemas.openxmlformats.org/officeDocument/2006/relationships/image" Target="../media/image79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0E925-F5DD-D84A-9383-0C26BD2FF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91DB8732-69D2-5A34-B3D6-B5B11DB02326}"/>
              </a:ext>
            </a:extLst>
          </p:cNvPr>
          <p:cNvGrpSpPr/>
          <p:nvPr/>
        </p:nvGrpSpPr>
        <p:grpSpPr>
          <a:xfrm>
            <a:off x="0" y="0"/>
            <a:ext cx="12192002" cy="6876854"/>
            <a:chOff x="0" y="0"/>
            <a:chExt cx="12192002" cy="6876854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453381E-9925-F092-DB1D-FC2B787D204C}"/>
                </a:ext>
              </a:extLst>
            </p:cNvPr>
            <p:cNvSpPr/>
            <p:nvPr/>
          </p:nvSpPr>
          <p:spPr>
            <a:xfrm>
              <a:off x="3660742" y="0"/>
              <a:ext cx="8531258" cy="6858000"/>
            </a:xfrm>
            <a:prstGeom prst="rect">
              <a:avLst/>
            </a:prstGeom>
            <a:pattFill prst="ltUpDiag">
              <a:fgClr>
                <a:schemeClr val="tx1">
                  <a:lumMod val="75000"/>
                  <a:lumOff val="2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B66DE94A-7615-160E-7B29-F9D451E3FCD8}"/>
                </a:ext>
              </a:extLst>
            </p:cNvPr>
            <p:cNvSpPr/>
            <p:nvPr/>
          </p:nvSpPr>
          <p:spPr>
            <a:xfrm>
              <a:off x="0" y="0"/>
              <a:ext cx="8531258" cy="6858000"/>
            </a:xfrm>
            <a:custGeom>
              <a:avLst/>
              <a:gdLst>
                <a:gd name="connsiteX0" fmla="*/ 0 w 8531258"/>
                <a:gd name="connsiteY0" fmla="*/ 0 h 6858000"/>
                <a:gd name="connsiteX1" fmla="*/ 8531258 w 8531258"/>
                <a:gd name="connsiteY1" fmla="*/ 0 h 6858000"/>
                <a:gd name="connsiteX2" fmla="*/ 8531258 w 8531258"/>
                <a:gd name="connsiteY2" fmla="*/ 7835 h 6858000"/>
                <a:gd name="connsiteX3" fmla="*/ 4866166 w 8531258"/>
                <a:gd name="connsiteY3" fmla="*/ 6858000 h 6858000"/>
                <a:gd name="connsiteX4" fmla="*/ 0 w 8531258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31258" h="6858000">
                  <a:moveTo>
                    <a:pt x="0" y="0"/>
                  </a:moveTo>
                  <a:lnTo>
                    <a:pt x="8531258" y="0"/>
                  </a:lnTo>
                  <a:lnTo>
                    <a:pt x="8531258" y="7835"/>
                  </a:lnTo>
                  <a:lnTo>
                    <a:pt x="4866166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51646E26-5D4A-7BB7-6226-63B4DDCE297F}"/>
                </a:ext>
              </a:extLst>
            </p:cNvPr>
            <p:cNvSpPr/>
            <p:nvPr/>
          </p:nvSpPr>
          <p:spPr>
            <a:xfrm rot="16200000">
              <a:off x="7757475" y="2423473"/>
              <a:ext cx="5811625" cy="3057428"/>
            </a:xfrm>
            <a:custGeom>
              <a:avLst/>
              <a:gdLst>
                <a:gd name="connsiteX0" fmla="*/ 4885025 w 4885025"/>
                <a:gd name="connsiteY0" fmla="*/ 2643957 h 2643957"/>
                <a:gd name="connsiteX1" fmla="*/ 0 w 4885025"/>
                <a:gd name="connsiteY1" fmla="*/ 2643957 h 2643957"/>
                <a:gd name="connsiteX2" fmla="*/ 0 w 4885025"/>
                <a:gd name="connsiteY2" fmla="*/ 0 h 2643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5025" h="2643957">
                  <a:moveTo>
                    <a:pt x="4885025" y="2643957"/>
                  </a:moveTo>
                  <a:lnTo>
                    <a:pt x="0" y="26439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4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22247F51-1257-A180-4B56-27B74F44D5A7}"/>
                </a:ext>
              </a:extLst>
            </p:cNvPr>
            <p:cNvGrpSpPr/>
            <p:nvPr/>
          </p:nvGrpSpPr>
          <p:grpSpPr>
            <a:xfrm>
              <a:off x="5427359" y="2554664"/>
              <a:ext cx="5818988" cy="4322190"/>
              <a:chOff x="5417932" y="2863596"/>
              <a:chExt cx="5345318" cy="4013258"/>
            </a:xfrm>
          </p:grpSpPr>
          <p:pic>
            <p:nvPicPr>
              <p:cNvPr id="4" name="Picture 2" descr="Learning online concept">
                <a:extLst>
                  <a:ext uri="{FF2B5EF4-FFF2-40B4-BE49-F238E27FC236}">
                    <a16:creationId xmlns:a16="http://schemas.microsoft.com/office/drawing/2014/main" id="{8CEC74EE-F315-EDF8-1878-2B52014BB3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EC33B"/>
                  </a:clrFrom>
                  <a:clrTo>
                    <a:srgbClr val="FEC33B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17932" y="2863596"/>
                <a:ext cx="5345318" cy="40132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" name="Picture 2" descr="s-oil">
                <a:extLst>
                  <a:ext uri="{FF2B5EF4-FFF2-40B4-BE49-F238E27FC236}">
                    <a16:creationId xmlns:a16="http://schemas.microsoft.com/office/drawing/2014/main" id="{BD97976D-8C98-9BB0-91B7-3969F749A7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98287" y="4223208"/>
                <a:ext cx="607798" cy="4090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FD0D456-2305-E28F-619D-628B9B0788C6}"/>
              </a:ext>
            </a:extLst>
          </p:cNvPr>
          <p:cNvSpPr txBox="1"/>
          <p:nvPr/>
        </p:nvSpPr>
        <p:spPr>
          <a:xfrm>
            <a:off x="685870" y="1341076"/>
            <a:ext cx="1098502" cy="338554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r>
              <a:rPr lang="ko-KR" altLang="en-US" sz="16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기술제안서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10D6282-E00F-0DD6-FBA1-76E27C074EB2}"/>
              </a:ext>
            </a:extLst>
          </p:cNvPr>
          <p:cNvCxnSpPr>
            <a:cxnSpLocks/>
          </p:cNvCxnSpPr>
          <p:nvPr/>
        </p:nvCxnSpPr>
        <p:spPr>
          <a:xfrm>
            <a:off x="724680" y="1319724"/>
            <a:ext cx="93600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602C35D-4595-A80C-C112-DCEF177A186B}"/>
              </a:ext>
            </a:extLst>
          </p:cNvPr>
          <p:cNvSpPr txBox="1"/>
          <p:nvPr/>
        </p:nvSpPr>
        <p:spPr>
          <a:xfrm>
            <a:off x="675411" y="2186732"/>
            <a:ext cx="6091855" cy="1053750"/>
          </a:xfrm>
          <a:prstGeom prst="rect">
            <a:avLst/>
          </a:prstGeom>
          <a:noFill/>
        </p:spPr>
        <p:txBody>
          <a:bodyPr wrap="none" lIns="3600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2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S-OIL 2025</a:t>
            </a:r>
            <a:r>
              <a:rPr lang="ko-KR" altLang="en-US" sz="2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년</a:t>
            </a:r>
            <a:endParaRPr lang="en-US" altLang="ko-KR" sz="2800" b="1" kern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ko-KR" altLang="en-US" sz="30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독서통신 교육 서비스 수행 용역 제안</a:t>
            </a:r>
            <a:endParaRPr lang="en-US" altLang="ko-KR" sz="3000" b="1" kern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2C635A-F330-552B-1D7C-EDF22382E08A}"/>
              </a:ext>
            </a:extLst>
          </p:cNvPr>
          <p:cNvSpPr txBox="1"/>
          <p:nvPr/>
        </p:nvSpPr>
        <p:spPr>
          <a:xfrm>
            <a:off x="2078020" y="5900967"/>
            <a:ext cx="1818126" cy="27699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defTabSz="914377" latinLnBrk="0">
              <a:spcAft>
                <a:spcPts val="200"/>
              </a:spcAft>
              <a:defRPr/>
            </a:pP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ㅣ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2025. 02. 24. Mon.</a:t>
            </a:r>
          </a:p>
        </p:txBody>
      </p:sp>
      <p:pic>
        <p:nvPicPr>
          <p:cNvPr id="14" name="그림 13" descr="블랙, 스크린샷, 폰트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E051E0A-3796-28BA-74C1-F69298E06FEE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71" y="5902574"/>
            <a:ext cx="1407600" cy="277200"/>
          </a:xfrm>
          <a:prstGeom prst="rect">
            <a:avLst/>
          </a:prstGeom>
        </p:spPr>
      </p:pic>
      <p:grpSp>
        <p:nvGrpSpPr>
          <p:cNvPr id="41" name="그룹 40">
            <a:extLst>
              <a:ext uri="{FF2B5EF4-FFF2-40B4-BE49-F238E27FC236}">
                <a16:creationId xmlns:a16="http://schemas.microsoft.com/office/drawing/2014/main" id="{6F6717B5-DEAB-802C-F82A-389063619B8C}"/>
              </a:ext>
            </a:extLst>
          </p:cNvPr>
          <p:cNvGrpSpPr/>
          <p:nvPr/>
        </p:nvGrpSpPr>
        <p:grpSpPr>
          <a:xfrm>
            <a:off x="745370" y="911001"/>
            <a:ext cx="3401169" cy="382769"/>
            <a:chOff x="745370" y="911001"/>
            <a:chExt cx="3401169" cy="382769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51FF3C39-7A18-27A5-AD63-D28D10645CD2}"/>
                </a:ext>
              </a:extLst>
            </p:cNvPr>
            <p:cNvPicPr preferRelativeResize="0"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78" t="23256" r="12096" b="23986"/>
            <a:stretch/>
          </p:blipFill>
          <p:spPr>
            <a:xfrm>
              <a:off x="1385972" y="929323"/>
              <a:ext cx="291600" cy="291600"/>
            </a:xfrm>
            <a:prstGeom prst="ellipse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3A472881-FDE4-919A-F2FD-E0047BCE607B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6"/>
            <a:srcRect l="2878" r="5262"/>
            <a:stretch/>
          </p:blipFill>
          <p:spPr>
            <a:xfrm>
              <a:off x="1063871" y="927523"/>
              <a:ext cx="295200" cy="295200"/>
            </a:xfrm>
            <a:prstGeom prst="ellipse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424794F9-CBD6-BC79-A0F3-873EFFF0A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09455" y="983772"/>
              <a:ext cx="425138" cy="165792"/>
            </a:xfrm>
            <a:prstGeom prst="rect">
              <a:avLst/>
            </a:prstGeom>
          </p:spPr>
        </p:pic>
        <p:pic>
          <p:nvPicPr>
            <p:cNvPr id="28" name="그림 27" descr="텍스트이(가) 표시된 사진&#10;&#10;자동 생성된 설명">
              <a:extLst>
                <a:ext uri="{FF2B5EF4-FFF2-40B4-BE49-F238E27FC236}">
                  <a16:creationId xmlns:a16="http://schemas.microsoft.com/office/drawing/2014/main" id="{4F383776-5BF5-1133-B2F4-FF376799A5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550740" y="983772"/>
              <a:ext cx="720041" cy="165792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5B352D93-C141-376C-8C24-18E78706D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92867" y="911001"/>
              <a:ext cx="363922" cy="382769"/>
            </a:xfrm>
            <a:prstGeom prst="rect">
              <a:avLst/>
            </a:prstGeom>
          </p:spPr>
        </p:pic>
        <p:pic>
          <p:nvPicPr>
            <p:cNvPr id="30" name="Picture 26" descr="AES | ASIA EDTECH SUMMIT">
              <a:extLst>
                <a:ext uri="{FF2B5EF4-FFF2-40B4-BE49-F238E27FC236}">
                  <a16:creationId xmlns:a16="http://schemas.microsoft.com/office/drawing/2014/main" id="{C1726383-6BEE-EAFA-B64A-636DC0D846D2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533" t="13366" r="5913" b="30339"/>
            <a:stretch/>
          </p:blipFill>
          <p:spPr bwMode="auto">
            <a:xfrm>
              <a:off x="745370" y="929323"/>
              <a:ext cx="291600" cy="291600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F8FDA225-D4E1-D812-87F1-F49727FA4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286928" y="978269"/>
              <a:ext cx="859611" cy="1767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7848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65FA2-EA77-2F84-21FD-C54B9C556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직사각형 47">
            <a:extLst>
              <a:ext uri="{FF2B5EF4-FFF2-40B4-BE49-F238E27FC236}">
                <a16:creationId xmlns:a16="http://schemas.microsoft.com/office/drawing/2014/main" id="{98B8C45A-BEE5-3B4E-837B-2B985F334715}"/>
              </a:ext>
            </a:extLst>
          </p:cNvPr>
          <p:cNvSpPr/>
          <p:nvPr/>
        </p:nvSpPr>
        <p:spPr>
          <a:xfrm rot="16200000">
            <a:off x="5609168" y="275167"/>
            <a:ext cx="973664" cy="12192001"/>
          </a:xfrm>
          <a:prstGeom prst="rect">
            <a:avLst/>
          </a:prstGeom>
          <a:pattFill prst="dkDnDiag">
            <a:fgClr>
              <a:schemeClr val="bg2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A1CBAF-8959-899A-CF97-7A00775C7178}"/>
              </a:ext>
            </a:extLst>
          </p:cNvPr>
          <p:cNvSpPr txBox="1"/>
          <p:nvPr/>
        </p:nvSpPr>
        <p:spPr>
          <a:xfrm>
            <a:off x="541455" y="1085561"/>
            <a:ext cx="1717137" cy="400110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defTabSz="914377">
              <a:spcBef>
                <a:spcPts val="1000"/>
              </a:spcBef>
              <a:defRPr/>
            </a:pPr>
            <a:r>
              <a:rPr lang="en-US" altLang="ko-KR" sz="2000" dirty="0">
                <a:solidFill>
                  <a:srgbClr val="008448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CONTENTS</a:t>
            </a:r>
            <a:endParaRPr lang="ko-KR" altLang="en-US" sz="2000" dirty="0">
              <a:solidFill>
                <a:srgbClr val="008448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C7B94FC-EDC7-348E-B4F2-663CC4A8D851}"/>
              </a:ext>
            </a:extLst>
          </p:cNvPr>
          <p:cNvCxnSpPr>
            <a:cxnSpLocks/>
          </p:cNvCxnSpPr>
          <p:nvPr/>
        </p:nvCxnSpPr>
        <p:spPr>
          <a:xfrm>
            <a:off x="626984" y="1069550"/>
            <a:ext cx="1440000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D3D9734-0742-197F-D623-B641CA3C100E}"/>
              </a:ext>
            </a:extLst>
          </p:cNvPr>
          <p:cNvSpPr txBox="1"/>
          <p:nvPr/>
        </p:nvSpPr>
        <p:spPr>
          <a:xfrm>
            <a:off x="589080" y="555515"/>
            <a:ext cx="2509144" cy="490455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2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S-OIL 2025</a:t>
            </a:r>
            <a:r>
              <a:rPr lang="ko-KR" altLang="en-US" sz="12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년</a:t>
            </a:r>
            <a:endParaRPr lang="en-US" altLang="ko-KR" sz="1200" b="1" kern="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Bold" panose="00000800000000000000" pitchFamily="2" charset="-127"/>
              <a:ea typeface="나눔스퀘어 네오 Bold" panose="000008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ko-KR" altLang="en-US" sz="12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독서통신 교육 서비스 수행 용역 제안</a:t>
            </a:r>
            <a:endParaRPr lang="en-US" altLang="ko-KR" sz="1200" b="1" kern="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Bold" panose="00000800000000000000" pitchFamily="2" charset="-127"/>
              <a:ea typeface="나눔스퀘어 네오 Bold" panose="000008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3EE621-3F21-9DD6-663A-FF2451BDE5F9}"/>
              </a:ext>
            </a:extLst>
          </p:cNvPr>
          <p:cNvSpPr txBox="1"/>
          <p:nvPr/>
        </p:nvSpPr>
        <p:spPr>
          <a:xfrm>
            <a:off x="1871119" y="2064713"/>
            <a:ext cx="1705916" cy="338554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defTabSz="914377">
              <a:defRPr/>
            </a:pPr>
            <a:r>
              <a:rPr lang="en-US" altLang="ko-KR" sz="16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Ⅰ. </a:t>
            </a:r>
            <a:r>
              <a:rPr lang="ko-KR" altLang="en-US" sz="16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제안업체 소개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73EAB-CB64-00C5-9432-223D4FFFAE1D}"/>
              </a:ext>
            </a:extLst>
          </p:cNvPr>
          <p:cNvSpPr txBox="1"/>
          <p:nvPr/>
        </p:nvSpPr>
        <p:spPr>
          <a:xfrm>
            <a:off x="4713603" y="2064713"/>
            <a:ext cx="1317990" cy="338554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defTabSz="914377">
              <a:defRPr/>
            </a:pPr>
            <a:r>
              <a:rPr lang="en-US" altLang="ko-KR" sz="16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Ⅱ.  </a:t>
            </a:r>
            <a:r>
              <a:rPr lang="ko-KR" altLang="en-US" sz="16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사업개요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BFB8F6-D3D7-1571-9B9F-2899C1C0DB3E}"/>
              </a:ext>
            </a:extLst>
          </p:cNvPr>
          <p:cNvSpPr txBox="1"/>
          <p:nvPr/>
        </p:nvSpPr>
        <p:spPr>
          <a:xfrm>
            <a:off x="7535460" y="2064713"/>
            <a:ext cx="1523174" cy="338554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defTabSz="914377">
              <a:defRPr/>
            </a:pPr>
            <a:r>
              <a:rPr lang="en-US" altLang="ko-KR" sz="16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Ⅲ. </a:t>
            </a:r>
            <a:r>
              <a:rPr lang="ko-KR" altLang="en-US" sz="16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부가서비스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6337F9A-590E-8B49-01DD-CE71AE7918B7}"/>
              </a:ext>
            </a:extLst>
          </p:cNvPr>
          <p:cNvCxnSpPr>
            <a:cxnSpLocks/>
          </p:cNvCxnSpPr>
          <p:nvPr/>
        </p:nvCxnSpPr>
        <p:spPr>
          <a:xfrm>
            <a:off x="4572000" y="2130702"/>
            <a:ext cx="0" cy="1361707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58E24AB-3208-6AAD-2F04-ED9833A232D5}"/>
              </a:ext>
            </a:extLst>
          </p:cNvPr>
          <p:cNvCxnSpPr>
            <a:cxnSpLocks/>
          </p:cNvCxnSpPr>
          <p:nvPr/>
        </p:nvCxnSpPr>
        <p:spPr>
          <a:xfrm>
            <a:off x="7458173" y="2130702"/>
            <a:ext cx="0" cy="1361707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624FFE4-3406-8119-EB53-E5E1E1903C32}"/>
              </a:ext>
            </a:extLst>
          </p:cNvPr>
          <p:cNvSpPr txBox="1"/>
          <p:nvPr/>
        </p:nvSpPr>
        <p:spPr>
          <a:xfrm>
            <a:off x="2228194" y="2508550"/>
            <a:ext cx="2074730" cy="973664"/>
          </a:xfrm>
          <a:prstGeom prst="rect">
            <a:avLst/>
          </a:prstGeom>
          <a:noFill/>
        </p:spPr>
        <p:txBody>
          <a:bodyPr wrap="none" lIns="36000" anchor="t" anchorCtr="0">
            <a:spAutoFit/>
          </a:bodyPr>
          <a:lstStyle/>
          <a:p>
            <a:pPr marL="228600" indent="-228600">
              <a:lnSpc>
                <a:spcPct val="110000"/>
              </a:lnSpc>
              <a:spcAft>
                <a:spcPts val="200"/>
              </a:spcAft>
              <a:buAutoNum type="arabicPeriod"/>
            </a:pPr>
            <a:r>
              <a:rPr lang="ko-KR" altLang="en-US" sz="12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일반현황 및 주요 연혁</a:t>
            </a:r>
          </a:p>
          <a:p>
            <a:pPr marL="228600" indent="-228600">
              <a:lnSpc>
                <a:spcPct val="110000"/>
              </a:lnSpc>
              <a:spcAft>
                <a:spcPts val="200"/>
              </a:spcAft>
              <a:buAutoNum type="arabicPeriod"/>
            </a:pPr>
            <a:r>
              <a:rPr lang="ko-KR" altLang="en-US" sz="12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주요사업 분야 및 조직구성</a:t>
            </a:r>
          </a:p>
          <a:p>
            <a:pPr marL="228600" indent="-228600">
              <a:lnSpc>
                <a:spcPct val="110000"/>
              </a:lnSpc>
              <a:spcAft>
                <a:spcPts val="200"/>
              </a:spcAft>
              <a:buAutoNum type="arabicPeriod"/>
            </a:pPr>
            <a:r>
              <a:rPr lang="ko-KR" altLang="en-US" sz="12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알파코 조직역량 </a:t>
            </a:r>
          </a:p>
          <a:p>
            <a:pPr marL="228600" indent="-228600">
              <a:lnSpc>
                <a:spcPct val="110000"/>
              </a:lnSpc>
              <a:spcAft>
                <a:spcPts val="200"/>
              </a:spcAft>
              <a:buAutoNum type="arabicPeriod"/>
            </a:pPr>
            <a:r>
              <a:rPr lang="ko-KR" altLang="en-US" sz="12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정부 인증 및 수상 내역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611603-DFB6-557D-8CF2-439FE7DD6AA8}"/>
              </a:ext>
            </a:extLst>
          </p:cNvPr>
          <p:cNvSpPr txBox="1"/>
          <p:nvPr/>
        </p:nvSpPr>
        <p:spPr>
          <a:xfrm>
            <a:off x="5117941" y="2508550"/>
            <a:ext cx="2074730" cy="744884"/>
          </a:xfrm>
          <a:prstGeom prst="rect">
            <a:avLst/>
          </a:prstGeom>
          <a:noFill/>
        </p:spPr>
        <p:txBody>
          <a:bodyPr wrap="none" lIns="36000" anchor="t" anchorCtr="0">
            <a:spAutoFit/>
          </a:bodyPr>
          <a:lstStyle/>
          <a:p>
            <a:pPr marL="228600" indent="-228600">
              <a:lnSpc>
                <a:spcPct val="110000"/>
              </a:lnSpc>
              <a:spcAft>
                <a:spcPts val="200"/>
              </a:spcAft>
              <a:buAutoNum type="arabicPeriod"/>
            </a:pPr>
            <a:r>
              <a:rPr lang="ko-KR" altLang="en-US" sz="12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프로젝트 추진방향</a:t>
            </a:r>
          </a:p>
          <a:p>
            <a:pPr marL="228600" indent="-228600">
              <a:lnSpc>
                <a:spcPct val="110000"/>
              </a:lnSpc>
              <a:spcAft>
                <a:spcPts val="200"/>
              </a:spcAft>
              <a:buAutoNum type="arabicPeriod"/>
            </a:pPr>
            <a:r>
              <a:rPr lang="ko-KR" altLang="en-US" sz="12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프로젝트 추진 단계</a:t>
            </a:r>
          </a:p>
          <a:p>
            <a:pPr marL="228600" indent="-228600">
              <a:lnSpc>
                <a:spcPct val="110000"/>
              </a:lnSpc>
              <a:spcAft>
                <a:spcPts val="200"/>
              </a:spcAft>
              <a:buAutoNum type="arabicPeriod"/>
            </a:pPr>
            <a:r>
              <a:rPr lang="ko-KR" altLang="en-US" sz="12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프로젝트 추진 단계별 상세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CA87FD-D332-4515-502F-43DE1E6D4713}"/>
              </a:ext>
            </a:extLst>
          </p:cNvPr>
          <p:cNvSpPr txBox="1"/>
          <p:nvPr/>
        </p:nvSpPr>
        <p:spPr>
          <a:xfrm>
            <a:off x="7951845" y="2508550"/>
            <a:ext cx="2238236" cy="744884"/>
          </a:xfrm>
          <a:prstGeom prst="rect">
            <a:avLst/>
          </a:prstGeom>
          <a:noFill/>
        </p:spPr>
        <p:txBody>
          <a:bodyPr wrap="none" lIns="36000" anchor="t" anchorCtr="0">
            <a:spAutoFit/>
          </a:bodyPr>
          <a:lstStyle/>
          <a:p>
            <a:pPr marL="228600" indent="-228600">
              <a:lnSpc>
                <a:spcPct val="110000"/>
              </a:lnSpc>
              <a:spcAft>
                <a:spcPts val="200"/>
              </a:spcAft>
              <a:buAutoNum type="arabicPeriod"/>
            </a:pPr>
            <a:r>
              <a:rPr lang="en-US" altLang="ko-KR" sz="12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E-Library(</a:t>
            </a:r>
            <a:r>
              <a:rPr lang="ko-KR" altLang="en-US" sz="12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전자도서관</a:t>
            </a:r>
            <a:r>
              <a:rPr lang="en-US" altLang="ko-KR" sz="12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) </a:t>
            </a:r>
            <a:r>
              <a:rPr lang="ko-KR" altLang="en-US" sz="12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제공</a:t>
            </a:r>
          </a:p>
          <a:p>
            <a:pPr marL="228600" indent="-228600">
              <a:lnSpc>
                <a:spcPct val="110000"/>
              </a:lnSpc>
              <a:spcAft>
                <a:spcPts val="200"/>
              </a:spcAft>
              <a:buAutoNum type="arabicPeriod"/>
            </a:pPr>
            <a:r>
              <a:rPr lang="ko-KR" altLang="en-US" sz="12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목격왕에게 도서제공</a:t>
            </a:r>
          </a:p>
          <a:p>
            <a:pPr marL="228600" indent="-228600">
              <a:lnSpc>
                <a:spcPct val="110000"/>
              </a:lnSpc>
              <a:spcAft>
                <a:spcPts val="200"/>
              </a:spcAft>
              <a:buAutoNum type="arabicPeriod"/>
            </a:pPr>
            <a:r>
              <a:rPr lang="ko-KR" altLang="en-US" sz="12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다독왕에게 </a:t>
            </a:r>
            <a:r>
              <a:rPr lang="ko-KR" altLang="en-US" sz="1200" kern="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기프티콘</a:t>
            </a:r>
            <a:r>
              <a:rPr lang="ko-KR" altLang="en-US" sz="12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 제공 </a:t>
            </a:r>
          </a:p>
        </p:txBody>
      </p:sp>
      <p:pic>
        <p:nvPicPr>
          <p:cNvPr id="13" name="Picture 2" descr="s-oil">
            <a:extLst>
              <a:ext uri="{FF2B5EF4-FFF2-40B4-BE49-F238E27FC236}">
                <a16:creationId xmlns:a16="http://schemas.microsoft.com/office/drawing/2014/main" id="{784DB427-AAB6-6584-7B56-1CE69B7CD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9896" y="392207"/>
            <a:ext cx="828381" cy="557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C9B453A7-D1EC-F972-03CC-443873FFB61D}"/>
              </a:ext>
            </a:extLst>
          </p:cNvPr>
          <p:cNvGrpSpPr>
            <a:grpSpLocks noChangeAspect="1"/>
          </p:cNvGrpSpPr>
          <p:nvPr/>
        </p:nvGrpSpPr>
        <p:grpSpPr>
          <a:xfrm>
            <a:off x="9040305" y="4692108"/>
            <a:ext cx="2941334" cy="2184745"/>
            <a:chOff x="5427359" y="2554664"/>
            <a:chExt cx="5818988" cy="4322190"/>
          </a:xfrm>
        </p:grpSpPr>
        <p:pic>
          <p:nvPicPr>
            <p:cNvPr id="15" name="Picture 2" descr="Learning online concept">
              <a:extLst>
                <a:ext uri="{FF2B5EF4-FFF2-40B4-BE49-F238E27FC236}">
                  <a16:creationId xmlns:a16="http://schemas.microsoft.com/office/drawing/2014/main" id="{34A8A9A4-19FF-BC81-EAB3-3C1ABA2BDD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EC33B"/>
                </a:clrFrom>
                <a:clrTo>
                  <a:srgbClr val="FEC33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7359" y="2554664"/>
              <a:ext cx="5818988" cy="43221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s-oil">
              <a:extLst>
                <a:ext uri="{FF2B5EF4-FFF2-40B4-BE49-F238E27FC236}">
                  <a16:creationId xmlns:a16="http://schemas.microsoft.com/office/drawing/2014/main" id="{EFB2A599-9F9C-C264-6076-3ABD990BAC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6617" y="4018936"/>
              <a:ext cx="661657" cy="4405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96900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2597F-AD5A-61EB-2EAA-14BCB9A6C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6F44F9E-7183-DF6C-B87D-24ABA5C28A5D}"/>
              </a:ext>
            </a:extLst>
          </p:cNvPr>
          <p:cNvSpPr/>
          <p:nvPr/>
        </p:nvSpPr>
        <p:spPr>
          <a:xfrm rot="16200000">
            <a:off x="-1515357" y="1515360"/>
            <a:ext cx="6858001" cy="3827277"/>
          </a:xfrm>
          <a:prstGeom prst="rect">
            <a:avLst/>
          </a:prstGeom>
          <a:pattFill prst="dkDnDiag">
            <a:fgClr>
              <a:schemeClr val="bg2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A04A7B-20C7-7591-3FAF-9C9C4E8F8E78}"/>
              </a:ext>
            </a:extLst>
          </p:cNvPr>
          <p:cNvSpPr txBox="1"/>
          <p:nvPr/>
        </p:nvSpPr>
        <p:spPr>
          <a:xfrm>
            <a:off x="371770" y="1302376"/>
            <a:ext cx="1685077" cy="400110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defTabSz="914377">
              <a:spcBef>
                <a:spcPts val="1000"/>
              </a:spcBef>
              <a:defRPr/>
            </a:pPr>
            <a:r>
              <a:rPr lang="en-US" altLang="ko-KR" sz="2000" dirty="0">
                <a:solidFill>
                  <a:srgbClr val="008448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CONTENTS</a:t>
            </a:r>
            <a:endParaRPr lang="ko-KR" altLang="en-US" sz="2000" dirty="0">
              <a:solidFill>
                <a:srgbClr val="008448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7B8D093-5095-F6A1-987F-97B5481CFC90}"/>
              </a:ext>
            </a:extLst>
          </p:cNvPr>
          <p:cNvCxnSpPr>
            <a:cxnSpLocks/>
          </p:cNvCxnSpPr>
          <p:nvPr/>
        </p:nvCxnSpPr>
        <p:spPr>
          <a:xfrm>
            <a:off x="438445" y="1286365"/>
            <a:ext cx="237600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46D73D-C891-0866-9231-2926881C66A4}"/>
              </a:ext>
            </a:extLst>
          </p:cNvPr>
          <p:cNvSpPr txBox="1"/>
          <p:nvPr/>
        </p:nvSpPr>
        <p:spPr>
          <a:xfrm>
            <a:off x="419395" y="772330"/>
            <a:ext cx="2509144" cy="490455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2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S-OIL 2025</a:t>
            </a:r>
            <a:r>
              <a:rPr lang="ko-KR" altLang="en-US" sz="12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년</a:t>
            </a:r>
            <a:endParaRPr lang="en-US" altLang="ko-KR" sz="1200" b="1" kern="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Bold" panose="00000800000000000000" pitchFamily="2" charset="-127"/>
              <a:ea typeface="나눔스퀘어 네오 Bold" panose="000008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ko-KR" altLang="en-US" sz="12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독서통신 교육 서비스 수행 용역 제안</a:t>
            </a:r>
            <a:endParaRPr lang="en-US" altLang="ko-KR" sz="1200" b="1" kern="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Bold" panose="00000800000000000000" pitchFamily="2" charset="-127"/>
              <a:ea typeface="나눔스퀘어 네오 Bold" panose="000008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6FDAEE-DB0B-FF9B-2D35-D62ACB398A6E}"/>
              </a:ext>
            </a:extLst>
          </p:cNvPr>
          <p:cNvSpPr txBox="1"/>
          <p:nvPr/>
        </p:nvSpPr>
        <p:spPr>
          <a:xfrm>
            <a:off x="5010445" y="3920310"/>
            <a:ext cx="2340829" cy="1338828"/>
          </a:xfrm>
          <a:prstGeom prst="rect">
            <a:avLst/>
          </a:prstGeom>
          <a:solidFill>
            <a:schemeClr val="bg1"/>
          </a:solidFill>
        </p:spPr>
        <p:txBody>
          <a:bodyPr wrap="none" lIns="36000" anchor="t" anchorCtr="0">
            <a:spAutoFit/>
          </a:bodyPr>
          <a:lstStyle/>
          <a:p>
            <a:pPr marL="342891" indent="-342891">
              <a:lnSpc>
                <a:spcPct val="160000"/>
              </a:lnSpc>
              <a:buAutoNum type="arabicPeriod"/>
            </a:pPr>
            <a:r>
              <a:rPr lang="ko-KR" altLang="en-US" sz="13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일반현황 및 주요 연혁</a:t>
            </a:r>
            <a:endParaRPr lang="en-US" altLang="ko-KR" sz="1300" kern="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342891" indent="-342891">
              <a:lnSpc>
                <a:spcPct val="160000"/>
              </a:lnSpc>
              <a:buAutoNum type="arabicPeriod"/>
            </a:pPr>
            <a:r>
              <a:rPr lang="ko-KR" altLang="en-US" sz="13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주요사업 분야 및 조직구성</a:t>
            </a:r>
            <a:endParaRPr lang="en-US" altLang="ko-KR" sz="1300" kern="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342891" indent="-342891">
              <a:lnSpc>
                <a:spcPct val="160000"/>
              </a:lnSpc>
              <a:buAutoNum type="arabicPeriod"/>
            </a:pPr>
            <a:r>
              <a:rPr lang="ko-KR" altLang="en-US" sz="13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알파코 조직역량 </a:t>
            </a:r>
            <a:endParaRPr lang="en-US" altLang="ko-KR" sz="1300" kern="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342891" indent="-342891">
              <a:lnSpc>
                <a:spcPct val="160000"/>
              </a:lnSpc>
              <a:buAutoNum type="arabicPeriod"/>
            </a:pPr>
            <a:r>
              <a:rPr lang="ko-KR" altLang="en-US" sz="13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정부 인증 및 수상 내역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CD5A69-6F28-A0B1-B0C3-9035FBFAF5ED}"/>
              </a:ext>
            </a:extLst>
          </p:cNvPr>
          <p:cNvSpPr txBox="1"/>
          <p:nvPr/>
        </p:nvSpPr>
        <p:spPr>
          <a:xfrm>
            <a:off x="4500564" y="3292005"/>
            <a:ext cx="2093843" cy="400110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defTabSz="914377">
              <a:defRPr/>
            </a:pPr>
            <a:r>
              <a:rPr lang="en-US" altLang="ko-KR" sz="20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Ⅰ. </a:t>
            </a:r>
            <a:r>
              <a:rPr lang="ko-KR" altLang="en-US" sz="20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제안업체 일반</a:t>
            </a: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A4D754F8-C9E5-95E7-90A6-ECED1A3946EA}"/>
              </a:ext>
            </a:extLst>
          </p:cNvPr>
          <p:cNvSpPr/>
          <p:nvPr/>
        </p:nvSpPr>
        <p:spPr>
          <a:xfrm rot="16200000" flipV="1">
            <a:off x="935609" y="3966323"/>
            <a:ext cx="1956061" cy="3827284"/>
          </a:xfrm>
          <a:custGeom>
            <a:avLst/>
            <a:gdLst>
              <a:gd name="connsiteX0" fmla="*/ 4885025 w 4885025"/>
              <a:gd name="connsiteY0" fmla="*/ 2643957 h 2643957"/>
              <a:gd name="connsiteX1" fmla="*/ 0 w 4885025"/>
              <a:gd name="connsiteY1" fmla="*/ 2643957 h 2643957"/>
              <a:gd name="connsiteX2" fmla="*/ 0 w 4885025"/>
              <a:gd name="connsiteY2" fmla="*/ 0 h 2643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85025" h="2643957">
                <a:moveTo>
                  <a:pt x="4885025" y="2643957"/>
                </a:moveTo>
                <a:lnTo>
                  <a:pt x="0" y="2643957"/>
                </a:lnTo>
                <a:lnTo>
                  <a:pt x="0" y="0"/>
                </a:lnTo>
                <a:close/>
              </a:path>
            </a:pathLst>
          </a:custGeom>
          <a:solidFill>
            <a:srgbClr val="FEC3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5D8CF69-9D0D-D9B9-C020-7DC6B591AF47}"/>
              </a:ext>
            </a:extLst>
          </p:cNvPr>
          <p:cNvGrpSpPr/>
          <p:nvPr/>
        </p:nvGrpSpPr>
        <p:grpSpPr>
          <a:xfrm>
            <a:off x="1555426" y="5401558"/>
            <a:ext cx="1986198" cy="1475295"/>
            <a:chOff x="1555426" y="5401558"/>
            <a:chExt cx="1986198" cy="1475295"/>
          </a:xfrm>
        </p:grpSpPr>
        <p:pic>
          <p:nvPicPr>
            <p:cNvPr id="17" name="그림 16" descr="Learning online concept">
              <a:extLst>
                <a:ext uri="{FF2B5EF4-FFF2-40B4-BE49-F238E27FC236}">
                  <a16:creationId xmlns:a16="http://schemas.microsoft.com/office/drawing/2014/main" id="{0316FEE4-387F-A4E1-9325-2A7D19EF0C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EC33B"/>
                </a:clrFrom>
                <a:clrTo>
                  <a:srgbClr val="FEC33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5426" y="5401558"/>
              <a:ext cx="1986198" cy="1475295"/>
            </a:xfrm>
            <a:custGeom>
              <a:avLst/>
              <a:gdLst>
                <a:gd name="connsiteX0" fmla="*/ 0 w 1986198"/>
                <a:gd name="connsiteY0" fmla="*/ 0 h 1475295"/>
                <a:gd name="connsiteX1" fmla="*/ 1986198 w 1986198"/>
                <a:gd name="connsiteY1" fmla="*/ 0 h 1475295"/>
                <a:gd name="connsiteX2" fmla="*/ 1986198 w 1986198"/>
                <a:gd name="connsiteY2" fmla="*/ 308059 h 1475295"/>
                <a:gd name="connsiteX3" fmla="*/ 1627577 w 1986198"/>
                <a:gd name="connsiteY3" fmla="*/ 308059 h 1475295"/>
                <a:gd name="connsiteX4" fmla="*/ 1627577 w 1986198"/>
                <a:gd name="connsiteY4" fmla="*/ 791852 h 1475295"/>
                <a:gd name="connsiteX5" fmla="*/ 1986198 w 1986198"/>
                <a:gd name="connsiteY5" fmla="*/ 791852 h 1475295"/>
                <a:gd name="connsiteX6" fmla="*/ 1986198 w 1986198"/>
                <a:gd name="connsiteY6" fmla="*/ 1475295 h 1475295"/>
                <a:gd name="connsiteX7" fmla="*/ 0 w 1986198"/>
                <a:gd name="connsiteY7" fmla="*/ 1475295 h 1475295"/>
                <a:gd name="connsiteX8" fmla="*/ 0 w 1986198"/>
                <a:gd name="connsiteY8" fmla="*/ 646404 h 1475295"/>
                <a:gd name="connsiteX9" fmla="*/ 357577 w 1986198"/>
                <a:gd name="connsiteY9" fmla="*/ 646404 h 1475295"/>
                <a:gd name="connsiteX10" fmla="*/ 357577 w 1986198"/>
                <a:gd name="connsiteY10" fmla="*/ 245097 h 1475295"/>
                <a:gd name="connsiteX11" fmla="*/ 0 w 1986198"/>
                <a:gd name="connsiteY11" fmla="*/ 245097 h 1475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86198" h="1475295">
                  <a:moveTo>
                    <a:pt x="0" y="0"/>
                  </a:moveTo>
                  <a:lnTo>
                    <a:pt x="1986198" y="0"/>
                  </a:lnTo>
                  <a:lnTo>
                    <a:pt x="1986198" y="308059"/>
                  </a:lnTo>
                  <a:lnTo>
                    <a:pt x="1627577" y="308059"/>
                  </a:lnTo>
                  <a:lnTo>
                    <a:pt x="1627577" y="791852"/>
                  </a:lnTo>
                  <a:lnTo>
                    <a:pt x="1986198" y="791852"/>
                  </a:lnTo>
                  <a:lnTo>
                    <a:pt x="1986198" y="1475295"/>
                  </a:lnTo>
                  <a:lnTo>
                    <a:pt x="0" y="1475295"/>
                  </a:lnTo>
                  <a:lnTo>
                    <a:pt x="0" y="646404"/>
                  </a:lnTo>
                  <a:lnTo>
                    <a:pt x="357577" y="646404"/>
                  </a:lnTo>
                  <a:lnTo>
                    <a:pt x="357577" y="245097"/>
                  </a:lnTo>
                  <a:lnTo>
                    <a:pt x="0" y="245097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2" descr="s-oil">
              <a:extLst>
                <a:ext uri="{FF2B5EF4-FFF2-40B4-BE49-F238E27FC236}">
                  <a16:creationId xmlns:a16="http://schemas.microsoft.com/office/drawing/2014/main" id="{A6A66699-FAEC-0604-611C-42B2D8E1B1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9808" y="5901359"/>
              <a:ext cx="225844" cy="1503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59211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D9536-E11F-2FF0-5988-8D8436DD4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FBA0DFA1-6900-9CFC-FE39-9F609EB52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2336742" algn="l"/>
              </a:tabLst>
            </a:pPr>
            <a:r>
              <a:rPr lang="en-US" altLang="ko-KR" dirty="0"/>
              <a:t>1. </a:t>
            </a:r>
            <a:r>
              <a:rPr lang="ko-KR" altLang="en-US" dirty="0"/>
              <a:t>일반현황 및 주요 연혁</a:t>
            </a:r>
            <a:endParaRPr lang="ko-KR" altLang="en-US" sz="1200" dirty="0"/>
          </a:p>
        </p:txBody>
      </p:sp>
      <p:sp>
        <p:nvSpPr>
          <p:cNvPr id="34" name="텍스트 개체 틀 33">
            <a:extLst>
              <a:ext uri="{FF2B5EF4-FFF2-40B4-BE49-F238E27FC236}">
                <a16:creationId xmlns:a16="http://schemas.microsoft.com/office/drawing/2014/main" id="{157A9081-7F68-46C2-4F45-AC7031A7B93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40562" y="926899"/>
            <a:ext cx="11147727" cy="399028"/>
          </a:xfrm>
        </p:spPr>
        <p:txBody>
          <a:bodyPr/>
          <a:lstStyle/>
          <a:p>
            <a:pPr latinLnBrk="1"/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알파코는 원격교육 환경의 변화를 선제적으로 받아들이는 동시에 디지털 전환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(DX)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의 학습환경을 구축해 나가는 단계를 통하여 디지털우수교육 기관으로 역량강화를 진행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9101CF6-22FC-1DA3-7495-8F9AA169CFC5}"/>
              </a:ext>
            </a:extLst>
          </p:cNvPr>
          <p:cNvGraphicFramePr>
            <a:graphicFrameLocks noGrp="1"/>
          </p:cNvGraphicFramePr>
          <p:nvPr/>
        </p:nvGraphicFramePr>
        <p:xfrm>
          <a:off x="442914" y="1661368"/>
          <a:ext cx="5580814" cy="4720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9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4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79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회사명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0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알파코</a:t>
                      </a:r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0800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79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사업 분야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 서비스</a:t>
                      </a:r>
                    </a:p>
                  </a:txBody>
                  <a:tcPr marL="10800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19579"/>
                  </a:ext>
                </a:extLst>
              </a:tr>
              <a:tr h="262479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회사 설립일자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1999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9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법인전환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2006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0800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412046"/>
                  </a:ext>
                </a:extLst>
              </a:tr>
              <a:tr h="262479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대표자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이윤성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0800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496741"/>
                  </a:ext>
                </a:extLst>
              </a:tr>
              <a:tr h="262479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인적구성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64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0800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888312"/>
                  </a:ext>
                </a:extLst>
              </a:tr>
              <a:tr h="1199582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주소</a:t>
                      </a:r>
                      <a:endParaRPr lang="en-US" altLang="ko-KR" sz="1100" b="0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사무실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서울특별시 성동구 성수일로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8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길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59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평화빌딩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B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동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6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성수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캠퍼스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서울특별시 성동구 성수이로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113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제강빌딩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7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성수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캠퍼스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서울특별시 성동구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아차산로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111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우행빌딩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성수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3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캠퍼스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서울특별시 성동구 성수일로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8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길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59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평화빌딩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B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동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대구 캠퍼스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대구광역시 수성구 </a:t>
                      </a:r>
                      <a:r>
                        <a:rPr lang="ko-KR" altLang="en-US" sz="1000" b="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달구벌대로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2280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아성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N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타워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5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</a:txBody>
                  <a:tcPr marL="10800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39156"/>
                  </a:ext>
                </a:extLst>
              </a:tr>
              <a:tr h="262479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대표 전화번호</a:t>
                      </a:r>
                      <a:endParaRPr lang="en-US" altLang="ko-KR" sz="1100" b="0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02-2163-5700</a:t>
                      </a:r>
                    </a:p>
                  </a:txBody>
                  <a:tcPr marL="10800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726636"/>
                  </a:ext>
                </a:extLst>
              </a:tr>
              <a:tr h="262479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홈페이지 주소</a:t>
                      </a:r>
                      <a:endParaRPr lang="en-US" altLang="ko-KR" sz="1100" b="0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https://corp.alpaco.co.kr/</a:t>
                      </a:r>
                    </a:p>
                  </a:txBody>
                  <a:tcPr marL="10800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588166"/>
                  </a:ext>
                </a:extLst>
              </a:tr>
              <a:tr h="1683448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인증  및 수상</a:t>
                      </a:r>
                      <a:endParaRPr lang="en-US" altLang="ko-KR" sz="1100" b="0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K-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트레이닝 운영기관 재선정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고용노동부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사업주 직업능력개발훈련 우수사례 경진대회 최우수기관 선정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한국산업인력공단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K-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디지털기초역량 운영기관 선정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고용노동부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K-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하이테크플랫폼 선정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한국산업인력공단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찾아가는 학교 연수 지원 사업 주관 기관 선정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한국과학창의재단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원격훈련 기관인증평가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5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년 인증 우수기관 선정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고용노동부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교실혁명 선도교사 양성 연수 수행기관 선정 외 다수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0800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68271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0858FD1-DD16-A457-D921-B22BA663AE3F}"/>
              </a:ext>
            </a:extLst>
          </p:cNvPr>
          <p:cNvSpPr/>
          <p:nvPr/>
        </p:nvSpPr>
        <p:spPr>
          <a:xfrm>
            <a:off x="442913" y="1305598"/>
            <a:ext cx="1224000" cy="30183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377"/>
            <a:r>
              <a:rPr lang="ko-KR" altLang="en-US" sz="1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일반 현황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F30B2A7-6C7B-17CB-A53D-665182555C56}"/>
              </a:ext>
            </a:extLst>
          </p:cNvPr>
          <p:cNvSpPr/>
          <p:nvPr/>
        </p:nvSpPr>
        <p:spPr>
          <a:xfrm>
            <a:off x="6162707" y="1305598"/>
            <a:ext cx="1266612" cy="3018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377"/>
            <a:r>
              <a:rPr lang="ko-KR" altLang="en-US" sz="1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주요 연혁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C0684942-6DF8-B984-4A6B-A232B3930E26}"/>
              </a:ext>
            </a:extLst>
          </p:cNvPr>
          <p:cNvGrpSpPr/>
          <p:nvPr/>
        </p:nvGrpSpPr>
        <p:grpSpPr>
          <a:xfrm>
            <a:off x="6160885" y="1661368"/>
            <a:ext cx="5644765" cy="4720381"/>
            <a:chOff x="6285297" y="1730008"/>
            <a:chExt cx="5454865" cy="4579747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D4DCC72C-CABB-41B4-8330-25C649D55373}"/>
                </a:ext>
              </a:extLst>
            </p:cNvPr>
            <p:cNvSpPr/>
            <p:nvPr/>
          </p:nvSpPr>
          <p:spPr>
            <a:xfrm>
              <a:off x="7502565" y="1730182"/>
              <a:ext cx="4212160" cy="8818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36000" rtlCol="0" anchor="ctr"/>
            <a:lstStyle/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ko-KR" altLang="en-US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고용노동부 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K-</a:t>
              </a:r>
              <a:r>
                <a:rPr lang="ko-KR" altLang="en-US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디지털 사업기관 선정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(2021.09)</a:t>
              </a: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ko-KR" altLang="en-US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디지털 전용교육장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</a:t>
              </a:r>
              <a:r>
                <a:rPr lang="ko-KR" altLang="en-US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스튜디오 및 캠퍼스 오픈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(2021.08)</a:t>
              </a: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ko-KR" altLang="en-US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자체 디지털 전환 콘텐츠 개발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(Python, </a:t>
              </a:r>
              <a:r>
                <a:rPr lang="ko-KR" altLang="en-US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빅데이터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, AI </a:t>
              </a:r>
              <a:r>
                <a:rPr lang="ko-KR" altLang="en-US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등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) </a:t>
              </a: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ko-KR" altLang="en-US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자체 코딩실습 프로그램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(IDE) </a:t>
              </a:r>
              <a:r>
                <a:rPr lang="ko-KR" altLang="en-US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개발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(2021.01) </a:t>
              </a:r>
              <a:r>
                <a:rPr lang="ko-KR" altLang="en-US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외 다수 </a:t>
              </a:r>
              <a:endParaRPr lang="en-US" altLang="ko-KR" sz="1000" kern="0" spc="-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anumBarunGothic" pitchFamily="34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ko-KR" altLang="en-US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중소벤처기업부 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K-</a:t>
              </a:r>
              <a:r>
                <a:rPr lang="ko-KR" altLang="en-US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비대면바우처</a:t>
              </a:r>
              <a:r>
                <a:rPr lang="ko-KR" altLang="en-US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공급기업 선정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(2020.09)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73A9EB6C-EFD6-146D-A62A-EC7F38A43EE0}"/>
                </a:ext>
              </a:extLst>
            </p:cNvPr>
            <p:cNvSpPr/>
            <p:nvPr/>
          </p:nvSpPr>
          <p:spPr>
            <a:xfrm>
              <a:off x="6285297" y="1730008"/>
              <a:ext cx="1227524" cy="882225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1100" b="1" i="1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디지털 전환기</a:t>
              </a:r>
              <a:endParaRPr lang="en-US" altLang="ko-KR" sz="1100" b="1" i="1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1000" b="1" i="1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2020 ~ </a:t>
              </a:r>
              <a:r>
                <a:rPr lang="ko-KR" altLang="en-US" sz="1000" b="1" i="1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현재</a:t>
              </a:r>
            </a:p>
          </p:txBody>
        </p:sp>
        <p:sp>
          <p:nvSpPr>
            <p:cNvPr id="39" name="순서도: 대체 처리 38">
              <a:extLst>
                <a:ext uri="{FF2B5EF4-FFF2-40B4-BE49-F238E27FC236}">
                  <a16:creationId xmlns:a16="http://schemas.microsoft.com/office/drawing/2014/main" id="{1603EDCF-5382-7B38-FA60-CAC5A3115B51}"/>
                </a:ext>
              </a:extLst>
            </p:cNvPr>
            <p:cNvSpPr/>
            <p:nvPr/>
          </p:nvSpPr>
          <p:spPr>
            <a:xfrm>
              <a:off x="6330396" y="1932599"/>
              <a:ext cx="1137326" cy="250362"/>
            </a:xfrm>
            <a:prstGeom prst="flowChartAlternateProcess">
              <a:avLst/>
            </a:prstGeom>
            <a:solidFill>
              <a:srgbClr val="002060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디지털 전환기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5FE7142-4A7A-C37B-8419-EA90AF8523E4}"/>
                </a:ext>
              </a:extLst>
            </p:cNvPr>
            <p:cNvSpPr/>
            <p:nvPr/>
          </p:nvSpPr>
          <p:spPr>
            <a:xfrm>
              <a:off x="7492481" y="2825079"/>
              <a:ext cx="4247681" cy="7131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36000" rtlCol="0" anchor="ctr"/>
            <a:lstStyle/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ko-KR" altLang="en-US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고용노동부 기관인증평가 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3</a:t>
              </a:r>
              <a:r>
                <a:rPr lang="ko-KR" altLang="en-US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년 우수훈련기관 선정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(2019.12)</a:t>
              </a: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ko-KR" altLang="en-US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과학기술정보통신부 </a:t>
              </a:r>
              <a:r>
                <a:rPr lang="ko-KR" altLang="en-US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굿콘텐츠서비스</a:t>
              </a:r>
              <a:r>
                <a:rPr lang="ko-KR" altLang="en-US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인증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(2019.10)</a:t>
              </a: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ko-KR" altLang="en-US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헬스케어 사업부분 신설 및 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WELDERS  </a:t>
              </a:r>
              <a:r>
                <a:rPr lang="ko-KR" altLang="en-US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브랜드 런칭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(2019.03)</a:t>
              </a: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누적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고객사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2,000개,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누적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교육생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200만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돌파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(2017.12)</a:t>
              </a:r>
              <a:endParaRPr lang="ko-KR" altLang="en-US" sz="10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B5295A49-E324-7FB4-8476-AA57A3F71DC4}"/>
                </a:ext>
              </a:extLst>
            </p:cNvPr>
            <p:cNvSpPr/>
            <p:nvPr/>
          </p:nvSpPr>
          <p:spPr>
            <a:xfrm>
              <a:off x="6285297" y="2825079"/>
              <a:ext cx="1227524" cy="71313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1100" b="1" i="1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새로운 </a:t>
              </a:r>
              <a:r>
                <a:rPr lang="ko-KR" altLang="en-US" sz="1100" b="1" i="1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도전기</a:t>
              </a:r>
              <a:endParaRPr lang="en-US" altLang="ko-KR" sz="1100" b="1" i="1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1000" b="1" i="1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2016 ~ 2019</a:t>
              </a:r>
            </a:p>
          </p:txBody>
        </p:sp>
        <p:sp>
          <p:nvSpPr>
            <p:cNvPr id="40" name="순서도: 대체 처리 39">
              <a:extLst>
                <a:ext uri="{FF2B5EF4-FFF2-40B4-BE49-F238E27FC236}">
                  <a16:creationId xmlns:a16="http://schemas.microsoft.com/office/drawing/2014/main" id="{D9FD5FE8-322B-4DE3-669D-C70A760C765D}"/>
                </a:ext>
              </a:extLst>
            </p:cNvPr>
            <p:cNvSpPr/>
            <p:nvPr/>
          </p:nvSpPr>
          <p:spPr>
            <a:xfrm>
              <a:off x="6330396" y="2960640"/>
              <a:ext cx="1137326" cy="250362"/>
            </a:xfrm>
            <a:prstGeom prst="flowChartAlternateProcess">
              <a:avLst/>
            </a:prstGeom>
            <a:solidFill>
              <a:srgbClr val="002060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새로운 </a:t>
              </a:r>
              <a:r>
                <a:rPr lang="ko-KR" altLang="en-US" sz="1100" dirty="0" err="1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도전기</a:t>
              </a:r>
              <a:endParaRPr lang="ko-KR" altLang="en-US" sz="1100" dirty="0"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6F73D3C-D30E-47F2-F621-11BB750D6F35}"/>
                </a:ext>
              </a:extLst>
            </p:cNvPr>
            <p:cNvSpPr/>
            <p:nvPr/>
          </p:nvSpPr>
          <p:spPr>
            <a:xfrm>
              <a:off x="7503324" y="3752244"/>
              <a:ext cx="4209482" cy="7131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36000" rtlCol="0" anchor="ctr"/>
            <a:lstStyle/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고용노동부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,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훈련기관평가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4년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연속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최우수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(1위)</a:t>
              </a: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직업능력개발원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, NIPA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스마트러닝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시범사업자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선정</a:t>
              </a:r>
              <a:endParaRPr lang="en-US" altLang="ko-KR" sz="1000" kern="0" spc="-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anumBarunGothic" pitchFamily="34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스마트러닝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/ICT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사업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개시</a:t>
              </a:r>
              <a:endParaRPr lang="en-US" altLang="ko-KR" sz="1000" kern="0" spc="-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anumBarunGothic" pitchFamily="34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누적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고객사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1,500개,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누적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교육생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100만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돌파</a:t>
              </a:r>
              <a:endParaRPr lang="ko-KR" altLang="en-US" sz="10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5E4BD472-18F4-2B65-073B-4E9BB78A2B90}"/>
                </a:ext>
              </a:extLst>
            </p:cNvPr>
            <p:cNvSpPr/>
            <p:nvPr/>
          </p:nvSpPr>
          <p:spPr>
            <a:xfrm>
              <a:off x="6285297" y="3752244"/>
              <a:ext cx="1227524" cy="71313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1100" b="1" i="1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체질 </a:t>
              </a:r>
              <a:r>
                <a:rPr lang="ko-KR" altLang="en-US" sz="1100" b="1" i="1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강화기</a:t>
              </a:r>
              <a:endParaRPr lang="en-US" altLang="ko-KR" sz="1100" b="1" i="1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1000" b="1" i="1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2011 ~ 2015</a:t>
              </a:r>
            </a:p>
          </p:txBody>
        </p:sp>
        <p:sp>
          <p:nvSpPr>
            <p:cNvPr id="41" name="순서도: 대체 처리 40">
              <a:extLst>
                <a:ext uri="{FF2B5EF4-FFF2-40B4-BE49-F238E27FC236}">
                  <a16:creationId xmlns:a16="http://schemas.microsoft.com/office/drawing/2014/main" id="{06158693-DE0E-6F60-5563-510DF66B5E4D}"/>
                </a:ext>
              </a:extLst>
            </p:cNvPr>
            <p:cNvSpPr/>
            <p:nvPr/>
          </p:nvSpPr>
          <p:spPr>
            <a:xfrm>
              <a:off x="6330396" y="3884524"/>
              <a:ext cx="1137326" cy="250362"/>
            </a:xfrm>
            <a:prstGeom prst="flowChartAlternateProcess">
              <a:avLst/>
            </a:prstGeom>
            <a:solidFill>
              <a:srgbClr val="002060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체질 </a:t>
              </a:r>
              <a:r>
                <a:rPr lang="ko-KR" altLang="en-US" sz="1100" dirty="0" err="1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강화기</a:t>
              </a:r>
              <a:endParaRPr lang="ko-KR" altLang="en-US" sz="1100" dirty="0"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9E76BC8-DCD1-C534-2836-06DE499FA281}"/>
                </a:ext>
              </a:extLst>
            </p:cNvPr>
            <p:cNvSpPr/>
            <p:nvPr/>
          </p:nvSpPr>
          <p:spPr>
            <a:xfrm>
              <a:off x="7502564" y="4674433"/>
              <a:ext cx="4212160" cy="7131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36000" rtlCol="0" anchor="ctr"/>
            <a:lstStyle/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고용노동부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,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인적자원우수기관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인증</a:t>
              </a:r>
              <a:endParaRPr lang="en-US" altLang="ko-KR" sz="1000" kern="0" spc="-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anumBarunGothic" pitchFamily="34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산업인력공단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,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우수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프로그램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경진대회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금상</a:t>
              </a:r>
              <a:endParaRPr lang="en-US" altLang="ko-KR" sz="1000" kern="0" spc="-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anumBarunGothic" pitchFamily="34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인터넷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원격훈련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(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이러닝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)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개시</a:t>
              </a:r>
              <a:endParaRPr lang="en-US" altLang="ko-KR" sz="1000" kern="0" spc="-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anumBarunGothic" pitchFamily="34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누적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고객사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1,000개,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누적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교육생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50만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돌파</a:t>
              </a:r>
              <a:endParaRPr lang="ko-KR" altLang="en-US" sz="10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58ABF39-18A7-90A3-1324-3788FDC2812F}"/>
                </a:ext>
              </a:extLst>
            </p:cNvPr>
            <p:cNvSpPr/>
            <p:nvPr/>
          </p:nvSpPr>
          <p:spPr>
            <a:xfrm>
              <a:off x="6285297" y="4674433"/>
              <a:ext cx="1227524" cy="71313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i="1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성장과 </a:t>
              </a:r>
              <a:r>
                <a:rPr lang="ko-KR" altLang="en-US" sz="1100" b="1" i="1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향상기</a:t>
              </a:r>
              <a:endParaRPr lang="ko-KR" altLang="en-US" sz="1100" b="1" i="1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1000" b="1" i="1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2011 ~ 2015</a:t>
              </a:r>
            </a:p>
          </p:txBody>
        </p:sp>
        <p:sp>
          <p:nvSpPr>
            <p:cNvPr id="42" name="순서도: 대체 처리 41">
              <a:extLst>
                <a:ext uri="{FF2B5EF4-FFF2-40B4-BE49-F238E27FC236}">
                  <a16:creationId xmlns:a16="http://schemas.microsoft.com/office/drawing/2014/main" id="{5AE07D2E-93B0-93D4-37DF-F6112FDD1C8B}"/>
                </a:ext>
              </a:extLst>
            </p:cNvPr>
            <p:cNvSpPr/>
            <p:nvPr/>
          </p:nvSpPr>
          <p:spPr>
            <a:xfrm>
              <a:off x="6330396" y="4790465"/>
              <a:ext cx="1137326" cy="250362"/>
            </a:xfrm>
            <a:prstGeom prst="flowChartAlternateProcess">
              <a:avLst/>
            </a:prstGeom>
            <a:solidFill>
              <a:srgbClr val="002060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성장과 </a:t>
              </a:r>
              <a:r>
                <a:rPr lang="ko-KR" altLang="en-US" sz="1100" dirty="0" err="1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향상기</a:t>
              </a:r>
              <a:endParaRPr lang="ko-KR" altLang="en-US" sz="1100" dirty="0"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25872EA-2F45-F919-403C-64E8C972B5B5}"/>
                </a:ext>
              </a:extLst>
            </p:cNvPr>
            <p:cNvSpPr/>
            <p:nvPr/>
          </p:nvSpPr>
          <p:spPr>
            <a:xfrm>
              <a:off x="7499688" y="5596624"/>
              <a:ext cx="4222293" cy="7131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36000" rtlCol="0" anchor="ctr"/>
            <a:lstStyle/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1999년 9월 1일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설립</a:t>
              </a:r>
              <a:endParaRPr lang="en-US" altLang="ko-KR" sz="1000" kern="0" spc="-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anumBarunGothic" pitchFamily="34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동업계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최초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Web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기반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학습관리시스템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(LMS)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구축</a:t>
              </a:r>
              <a:endParaRPr lang="en-US" altLang="ko-KR" sz="1000" kern="0" spc="-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anumBarunGothic" pitchFamily="34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통신교육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프로세스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개발</a:t>
              </a:r>
              <a:endParaRPr lang="en-US" altLang="ko-KR" sz="1000" kern="0" spc="-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anumBarunGothic" pitchFamily="34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누적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고객사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400개,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누적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교육생</a:t>
              </a:r>
              <a:r>
                <a: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 20만 </a:t>
              </a:r>
              <a:r>
                <a:rPr lang="en-US" altLang="ko-KR" sz="1000" kern="0" spc="-100" dirty="0" err="1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rPr>
                <a:t>돌파</a:t>
              </a:r>
              <a:endParaRPr lang="ko-KR" altLang="en-US" sz="10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5A0FCDE1-6D36-B4C8-8C4F-97D59D0B435F}"/>
                </a:ext>
              </a:extLst>
            </p:cNvPr>
            <p:cNvSpPr/>
            <p:nvPr/>
          </p:nvSpPr>
          <p:spPr>
            <a:xfrm>
              <a:off x="6285297" y="5596624"/>
              <a:ext cx="1227524" cy="71313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i="1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창업과 형성기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1000" b="1" i="1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1999 ~ 2004</a:t>
              </a:r>
            </a:p>
          </p:txBody>
        </p:sp>
        <p:sp>
          <p:nvSpPr>
            <p:cNvPr id="43" name="순서도: 대체 처리 42">
              <a:extLst>
                <a:ext uri="{FF2B5EF4-FFF2-40B4-BE49-F238E27FC236}">
                  <a16:creationId xmlns:a16="http://schemas.microsoft.com/office/drawing/2014/main" id="{DD7ED0A9-F06B-501D-F987-AD36F08F8C77}"/>
                </a:ext>
              </a:extLst>
            </p:cNvPr>
            <p:cNvSpPr/>
            <p:nvPr/>
          </p:nvSpPr>
          <p:spPr>
            <a:xfrm>
              <a:off x="6330396" y="5702827"/>
              <a:ext cx="1137326" cy="250362"/>
            </a:xfrm>
            <a:prstGeom prst="flowChartAlternateProcess">
              <a:avLst/>
            </a:prstGeom>
            <a:solidFill>
              <a:srgbClr val="002060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창업과 형성기</a:t>
              </a:r>
            </a:p>
          </p:txBody>
        </p:sp>
        <p:sp>
          <p:nvSpPr>
            <p:cNvPr id="56" name="순서도: 추출 55">
              <a:extLst>
                <a:ext uri="{FF2B5EF4-FFF2-40B4-BE49-F238E27FC236}">
                  <a16:creationId xmlns:a16="http://schemas.microsoft.com/office/drawing/2014/main" id="{C25A7082-B1D2-0A42-94AE-D72FB450A793}"/>
                </a:ext>
              </a:extLst>
            </p:cNvPr>
            <p:cNvSpPr/>
            <p:nvPr/>
          </p:nvSpPr>
          <p:spPr>
            <a:xfrm>
              <a:off x="6801899" y="2651860"/>
              <a:ext cx="194321" cy="110226"/>
            </a:xfrm>
            <a:prstGeom prst="flowChartExtra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순서도: 추출 56">
              <a:extLst>
                <a:ext uri="{FF2B5EF4-FFF2-40B4-BE49-F238E27FC236}">
                  <a16:creationId xmlns:a16="http://schemas.microsoft.com/office/drawing/2014/main" id="{ED1A7F26-FC75-2C48-EA77-93BCA956BFED}"/>
                </a:ext>
              </a:extLst>
            </p:cNvPr>
            <p:cNvSpPr/>
            <p:nvPr/>
          </p:nvSpPr>
          <p:spPr>
            <a:xfrm>
              <a:off x="6801899" y="3584003"/>
              <a:ext cx="194321" cy="110226"/>
            </a:xfrm>
            <a:prstGeom prst="flowChartExtra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순서도: 추출 57">
              <a:extLst>
                <a:ext uri="{FF2B5EF4-FFF2-40B4-BE49-F238E27FC236}">
                  <a16:creationId xmlns:a16="http://schemas.microsoft.com/office/drawing/2014/main" id="{736A3C62-5D26-6318-E267-D037795F324B}"/>
                </a:ext>
              </a:extLst>
            </p:cNvPr>
            <p:cNvSpPr/>
            <p:nvPr/>
          </p:nvSpPr>
          <p:spPr>
            <a:xfrm>
              <a:off x="6801899" y="4507804"/>
              <a:ext cx="194321" cy="110226"/>
            </a:xfrm>
            <a:prstGeom prst="flowChartExtra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순서도: 추출 58">
              <a:extLst>
                <a:ext uri="{FF2B5EF4-FFF2-40B4-BE49-F238E27FC236}">
                  <a16:creationId xmlns:a16="http://schemas.microsoft.com/office/drawing/2014/main" id="{FEFC16C2-D040-B900-FCC6-96DE29E7928A}"/>
                </a:ext>
              </a:extLst>
            </p:cNvPr>
            <p:cNvSpPr/>
            <p:nvPr/>
          </p:nvSpPr>
          <p:spPr>
            <a:xfrm>
              <a:off x="6801899" y="5433296"/>
              <a:ext cx="194321" cy="110226"/>
            </a:xfrm>
            <a:prstGeom prst="flowChartExtra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6716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6C654-7060-B2C6-BD1D-668CBC099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ADCBC70E-C16A-97D0-40F4-BD3898A02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2336742" algn="l"/>
              </a:tabLst>
            </a:pPr>
            <a:r>
              <a:rPr lang="en-US" altLang="ko-KR" dirty="0">
                <a:solidFill>
                  <a:prstClr val="black">
                    <a:lumMod val="95000"/>
                    <a:lumOff val="5000"/>
                  </a:prstClr>
                </a:solidFill>
              </a:rPr>
              <a:t>2. </a:t>
            </a:r>
            <a:r>
              <a:rPr lang="ko-KR" altLang="en-US" dirty="0">
                <a:solidFill>
                  <a:prstClr val="black">
                    <a:lumMod val="95000"/>
                    <a:lumOff val="5000"/>
                  </a:prstClr>
                </a:solidFill>
              </a:rPr>
              <a:t>주요사업 분야 및 조직구성</a:t>
            </a:r>
          </a:p>
        </p:txBody>
      </p:sp>
      <p:sp>
        <p:nvSpPr>
          <p:cNvPr id="34" name="텍스트 개체 틀 33">
            <a:extLst>
              <a:ext uri="{FF2B5EF4-FFF2-40B4-BE49-F238E27FC236}">
                <a16:creationId xmlns:a16="http://schemas.microsoft.com/office/drawing/2014/main" id="{67B372E0-B509-DCF0-231F-FC42E4AC310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ko-KR" altLang="en-US" dirty="0"/>
              <a:t>각 분야별 전문가 집단 구성형 조직력을 통해 </a:t>
            </a:r>
            <a:r>
              <a:rPr lang="ko-KR" altLang="en-US" dirty="0" err="1"/>
              <a:t>북러닝</a:t>
            </a:r>
            <a:r>
              <a:rPr lang="en-US" altLang="ko-KR" dirty="0"/>
              <a:t>, </a:t>
            </a:r>
            <a:r>
              <a:rPr lang="ko-KR" altLang="en-US" dirty="0"/>
              <a:t>이러닝</a:t>
            </a:r>
            <a:r>
              <a:rPr lang="en-US" altLang="ko-KR" dirty="0"/>
              <a:t>, DX </a:t>
            </a:r>
            <a:r>
              <a:rPr lang="ko-KR" altLang="en-US" dirty="0"/>
              <a:t>교육까지 기업의 성장에 필요한 </a:t>
            </a:r>
            <a:r>
              <a:rPr lang="en-US" altLang="ko-KR" dirty="0"/>
              <a:t>All in One </a:t>
            </a:r>
            <a:r>
              <a:rPr lang="ko-KR" altLang="en-US" dirty="0"/>
              <a:t>교육 서비스를 제공</a:t>
            </a:r>
            <a:endParaRPr lang="en-US" altLang="ko-KR" dirty="0"/>
          </a:p>
        </p:txBody>
      </p:sp>
      <p:graphicFrame>
        <p:nvGraphicFramePr>
          <p:cNvPr id="212" name="표 211">
            <a:extLst>
              <a:ext uri="{FF2B5EF4-FFF2-40B4-BE49-F238E27FC236}">
                <a16:creationId xmlns:a16="http://schemas.microsoft.com/office/drawing/2014/main" id="{8D1D81B9-3165-4066-8B36-48AF5DD73B86}"/>
              </a:ext>
            </a:extLst>
          </p:cNvPr>
          <p:cNvGraphicFramePr>
            <a:graphicFrameLocks noGrp="1"/>
          </p:cNvGraphicFramePr>
          <p:nvPr/>
        </p:nvGraphicFramePr>
        <p:xfrm>
          <a:off x="442914" y="1657884"/>
          <a:ext cx="5580814" cy="4708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948">
                  <a:extLst>
                    <a:ext uri="{9D8B030D-6E8A-4147-A177-3AD203B41FA5}">
                      <a16:colId xmlns:a16="http://schemas.microsoft.com/office/drawing/2014/main" val="3806160415"/>
                    </a:ext>
                  </a:extLst>
                </a:gridCol>
                <a:gridCol w="4524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7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북러닝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3500</a:t>
                      </a: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여개 </a:t>
                      </a:r>
                      <a:r>
                        <a:rPr kumimoji="0" lang="ko-KR" altLang="en-US" sz="1000" b="0" i="0" u="none" strike="noStrike" kern="120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비환급</a:t>
                      </a: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 과정</a:t>
                      </a:r>
                      <a:r>
                        <a:rPr kumimoji="0" lang="en-US" altLang="ko-KR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,</a:t>
                      </a: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280</a:t>
                      </a: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여개 환급 과정을  </a:t>
                      </a:r>
                      <a:r>
                        <a:rPr kumimoji="0" lang="en-US" altLang="ko-KR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61</a:t>
                      </a: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개 카테고리로 제공</a:t>
                      </a:r>
                      <a:endParaRPr kumimoji="0" lang="en-US" altLang="ko-KR" sz="1000" b="0" i="0" u="none" strike="noStrike" kern="120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기업별 니즈에 맞춘 </a:t>
                      </a:r>
                      <a:r>
                        <a:rPr kumimoji="0" lang="ko-KR" altLang="en-US" sz="1000" b="0" i="0" u="none" strike="noStrike" kern="120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북러닝</a:t>
                      </a: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 콘텐츠 제작 및 도서 큐레이션 지원</a:t>
                      </a:r>
                      <a:endParaRPr kumimoji="0" lang="en-US" altLang="ko-KR" sz="1000" b="0" i="0" u="none" strike="noStrike" kern="120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최신 도서를 반영한 정기 업데이트 및 트렌드 기반 추천 도서 제공</a:t>
                      </a:r>
                      <a:endParaRPr kumimoji="0" lang="en-US" altLang="ko-KR" sz="1000" b="0" i="0" u="none" strike="noStrike" kern="120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조직 내 지속적인 학습 문화 정착을 위한 </a:t>
                      </a:r>
                      <a:r>
                        <a:rPr kumimoji="0" lang="ko-KR" altLang="en-US" sz="1000" b="0" i="0" u="none" strike="noStrike" kern="120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북러닝</a:t>
                      </a: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 코칭 및 컨설팅 지원</a:t>
                      </a:r>
                      <a:endParaRPr kumimoji="0" lang="en-US" altLang="ko-KR" sz="1000" b="0" i="0" u="none" strike="noStrike" kern="120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</a:txBody>
                  <a:tcPr marL="10800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056000"/>
                  </a:ext>
                </a:extLst>
              </a:tr>
              <a:tr h="927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이러닝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377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269875" algn="l"/>
                        </a:tabLst>
                        <a:defRPr/>
                      </a:pPr>
                      <a:r>
                        <a:rPr lang="ko-KR" altLang="en-US" sz="1000" b="0" kern="1200" spc="-2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약 </a:t>
                      </a:r>
                      <a:r>
                        <a:rPr lang="en-US" altLang="ko-KR" sz="1000" b="0" kern="1200" spc="-2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300</a:t>
                      </a:r>
                      <a:r>
                        <a:rPr lang="ko-KR" altLang="en-US" sz="1000" b="0" kern="1200" spc="-2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여개의 과정을 </a:t>
                      </a:r>
                      <a:r>
                        <a:rPr lang="en-US" altLang="ko-KR" sz="1000" b="0" kern="1200" spc="-2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44</a:t>
                      </a:r>
                      <a:r>
                        <a:rPr lang="ko-KR" altLang="en-US" sz="1000" b="0" kern="1200" spc="-2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개의 카테고리로</a:t>
                      </a:r>
                      <a:r>
                        <a:rPr lang="en-US" altLang="ko-KR" sz="1000" b="0" kern="1200" spc="-2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 </a:t>
                      </a:r>
                      <a:r>
                        <a:rPr lang="ko-KR" altLang="en-US" sz="1000" b="0" kern="1200" spc="-2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제공</a:t>
                      </a:r>
                      <a:endParaRPr lang="en-US" altLang="ko-KR" sz="1000" b="0" kern="1200" spc="-2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marR="0" lvl="0" indent="-171450" algn="l" defTabSz="914377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269875" algn="l"/>
                        </a:tabLst>
                        <a:defRPr/>
                      </a:pPr>
                      <a:r>
                        <a:rPr lang="ko-KR" altLang="en-US" sz="1000" b="0" kern="1200" spc="-2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최신 </a:t>
                      </a:r>
                      <a:r>
                        <a:rPr lang="en-US" altLang="ko-KR" sz="1000" b="0" kern="1200" spc="-2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DX </a:t>
                      </a:r>
                      <a:r>
                        <a:rPr lang="ko-KR" altLang="en-US" sz="1000" b="0" kern="1200" spc="-2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트렌드를 반영한 지속적인 교육 콘텐츠 업데이트</a:t>
                      </a:r>
                      <a:endParaRPr lang="en-US" altLang="ko-KR" sz="1000" b="0" kern="1200" spc="-2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marR="0" lvl="0" indent="-171450" algn="l" defTabSz="914377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269875" algn="l"/>
                        </a:tabLst>
                        <a:defRPr/>
                      </a:pPr>
                      <a:r>
                        <a:rPr lang="ko-KR" altLang="en-US" sz="1000" b="0" kern="1200" spc="-2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학습 </a:t>
                      </a:r>
                      <a:r>
                        <a:rPr lang="ko-KR" altLang="en-US" sz="1000" b="0" kern="1200" spc="-20" noProof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튜터와</a:t>
                      </a:r>
                      <a:r>
                        <a:rPr lang="ko-KR" altLang="en-US" sz="1000" b="0" kern="1200" spc="-2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 학습자간 상호작용 제공</a:t>
                      </a:r>
                      <a:endParaRPr lang="en-US" altLang="ko-KR" sz="1000" b="0" kern="1200" spc="-2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marR="0" lvl="0" indent="-171450" algn="l" defTabSz="914377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269875" algn="l"/>
                        </a:tabLst>
                        <a:defRPr/>
                      </a:pPr>
                      <a:r>
                        <a:rPr lang="ko-KR" altLang="en-US" sz="1000" b="0" kern="1200" spc="-2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기초부터 실무 적용까지 </a:t>
                      </a: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단계별 교육 커리큘럼 제안</a:t>
                      </a:r>
                      <a:endParaRPr kumimoji="0" lang="en-US" altLang="ko-KR" sz="1000" b="0" i="0" u="none" strike="noStrike" kern="120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</a:txBody>
                  <a:tcPr marL="10800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825897"/>
                  </a:ext>
                </a:extLst>
              </a:tr>
              <a:tr h="1076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기업 </a:t>
                      </a:r>
                      <a:endParaRPr lang="en-US" altLang="ko-KR" sz="11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DX </a:t>
                      </a:r>
                      <a:r>
                        <a:rPr lang="ko-KR" altLang="en-US" sz="11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교육</a:t>
                      </a:r>
                      <a:endParaRPr lang="en-US" altLang="ko-KR" sz="11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매년 </a:t>
                      </a:r>
                      <a:r>
                        <a:rPr lang="en-US" altLang="ko-KR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300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개사</a:t>
                      </a:r>
                      <a:r>
                        <a:rPr lang="en-US" altLang="ko-KR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수강생 </a:t>
                      </a:r>
                      <a:r>
                        <a:rPr lang="en-US" altLang="ko-KR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25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만명 대상 온</a:t>
                      </a:r>
                      <a:r>
                        <a:rPr lang="en-US" altLang="ko-KR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·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오프라인 교육서비스 제공</a:t>
                      </a:r>
                      <a:endParaRPr lang="en-US" altLang="ko-KR" sz="1000" b="0" spc="-2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indent="-171450" algn="l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DX 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트렌드에 맞춘 체계화된 교육 로드맵을 통한 교육 제공</a:t>
                      </a:r>
                      <a:endParaRPr lang="en-US" altLang="ko-KR" sz="1000" b="0" spc="-2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indent="-171450" algn="l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기업의 디지털 업무 전환을 위한 프로세스 컨설팅 및 구축</a:t>
                      </a:r>
                      <a:endParaRPr lang="en-US" altLang="ko-KR" sz="1000" b="0" spc="-2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비전공자 및 경력자 모두를 위한 맞춤형 </a:t>
                      </a:r>
                      <a:r>
                        <a:rPr lang="en-US" altLang="ko-KR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DX 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교육 진행</a:t>
                      </a:r>
                      <a:endParaRPr lang="en-US" altLang="ko-KR" sz="1000" b="0" spc="-2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금융</a:t>
                      </a:r>
                      <a:r>
                        <a:rPr lang="en-US" altLang="ko-KR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제조</a:t>
                      </a:r>
                      <a:r>
                        <a:rPr lang="en-US" altLang="ko-KR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유통 등 산업별 </a:t>
                      </a:r>
                      <a:r>
                        <a:rPr lang="en-US" altLang="ko-KR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DX 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적용 사례 기반 실습형 교육 과정 운영</a:t>
                      </a:r>
                      <a:endParaRPr lang="en-US" altLang="ko-KR" sz="1000" b="0" spc="-2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indent="-171450" algn="l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B2B 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교육 플랫폼 운영 및 기업 내 디지털 학습 환경 구축</a:t>
                      </a:r>
                    </a:p>
                  </a:txBody>
                  <a:tcPr marL="10800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590317"/>
                  </a:ext>
                </a:extLst>
              </a:tr>
              <a:tr h="881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디지털 교육</a:t>
                      </a: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전국민 디지털 역량 강화를 위한 공유 개방과 디지털 교육 운영</a:t>
                      </a:r>
                      <a:endParaRPr lang="en-US" altLang="ko-KR" sz="1000" b="0" spc="-2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indent="-171450" algn="l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디지털 인재 양성 사업 운영 주관 및 디지털 교육 프로그램 협력 파트너</a:t>
                      </a:r>
                      <a:endParaRPr lang="en-US" altLang="ko-KR" sz="1000" b="0" spc="-2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indent="-171450" algn="l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온</a:t>
                      </a:r>
                      <a:r>
                        <a:rPr lang="en-US" altLang="ko-KR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·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오프라인 연계 학습 인프라 구축</a:t>
                      </a:r>
                      <a:endParaRPr lang="en-US" altLang="ko-KR" sz="1000" b="0" spc="-2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</a:txBody>
                  <a:tcPr marL="10800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294308"/>
                  </a:ext>
                </a:extLst>
              </a:tr>
              <a:tr h="881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커스텀 과정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기업의 목표와 인재 육성 전략에 따른 </a:t>
                      </a:r>
                      <a:r>
                        <a:rPr lang="ko-KR" altLang="en-US" sz="1000" b="0" spc="-2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맞춤화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 된 교육 과정 기획</a:t>
                      </a:r>
                      <a:endParaRPr lang="en-US" altLang="ko-KR" sz="1000" b="0" spc="-2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indent="-171450" algn="l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조직의 실제 업무와 연계된 실전형 교육 프로그램 개발</a:t>
                      </a:r>
                      <a:endParaRPr kumimoji="0" lang="en-US" altLang="ko-KR" sz="1000" b="0" i="0" u="none" strike="noStrike" kern="1200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indent="-171450" algn="l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기업 내부 사례</a:t>
                      </a:r>
                      <a:r>
                        <a:rPr kumimoji="0" lang="en-US" altLang="ko-KR" sz="10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데이터</a:t>
                      </a:r>
                      <a:r>
                        <a:rPr kumimoji="0" lang="en-US" altLang="ko-KR" sz="10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시스템을 활용한 맞춤형 실습 제공</a:t>
                      </a:r>
                      <a:endParaRPr kumimoji="0" lang="en-US" altLang="ko-KR" sz="1000" b="0" i="0" u="none" strike="noStrike" kern="1200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교육 후 지속적인 피드백과 맞춤형 컨설팅을 통해 실무 적용 강화</a:t>
                      </a:r>
                      <a:endParaRPr kumimoji="0" lang="en-US" altLang="ko-KR" sz="1000" b="0" i="0" u="none" strike="noStrike" kern="1200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58312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54B9EA03-BD11-45A9-DB58-881B34E9013C}"/>
              </a:ext>
            </a:extLst>
          </p:cNvPr>
          <p:cNvSpPr/>
          <p:nvPr/>
        </p:nvSpPr>
        <p:spPr>
          <a:xfrm>
            <a:off x="442914" y="1305598"/>
            <a:ext cx="1224000" cy="30183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377"/>
            <a:r>
              <a:rPr lang="ko-KR" altLang="en-US" sz="1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주요 사업 분야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B635E4-A0F3-6CF3-F95C-24B1FD10B8B6}"/>
              </a:ext>
            </a:extLst>
          </p:cNvPr>
          <p:cNvSpPr/>
          <p:nvPr/>
        </p:nvSpPr>
        <p:spPr>
          <a:xfrm>
            <a:off x="6162707" y="1305598"/>
            <a:ext cx="1266612" cy="3018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377"/>
            <a:r>
              <a:rPr lang="ko-KR" altLang="en-US" sz="1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조직도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5101465-CE10-0201-6573-C7E18BEFD577}"/>
              </a:ext>
            </a:extLst>
          </p:cNvPr>
          <p:cNvSpPr/>
          <p:nvPr/>
        </p:nvSpPr>
        <p:spPr>
          <a:xfrm>
            <a:off x="442914" y="1652884"/>
            <a:ext cx="197647" cy="1759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377"/>
            <a:r>
              <a:rPr lang="en-US" altLang="ko-KR" sz="9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</a:t>
            </a:r>
            <a:endParaRPr lang="ko-KR" altLang="en-US" sz="9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36F42E9-1B26-88FB-083F-78964091AE06}"/>
              </a:ext>
            </a:extLst>
          </p:cNvPr>
          <p:cNvSpPr/>
          <p:nvPr/>
        </p:nvSpPr>
        <p:spPr>
          <a:xfrm>
            <a:off x="442914" y="2587680"/>
            <a:ext cx="197647" cy="1759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377"/>
            <a:r>
              <a:rPr lang="en-US" altLang="ko-KR" sz="9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</a:t>
            </a:r>
            <a:endParaRPr lang="ko-KR" altLang="en-US" sz="9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D05871-C960-7A4D-CBAA-F3E9A79B44B7}"/>
              </a:ext>
            </a:extLst>
          </p:cNvPr>
          <p:cNvSpPr/>
          <p:nvPr/>
        </p:nvSpPr>
        <p:spPr>
          <a:xfrm>
            <a:off x="442914" y="3508877"/>
            <a:ext cx="197647" cy="1759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377"/>
            <a:r>
              <a:rPr lang="en-US" altLang="ko-KR" sz="9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</a:t>
            </a:r>
            <a:endParaRPr lang="ko-KR" altLang="en-US" sz="9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9FC0C6C-8882-B82C-2AE4-6BDA3DB286BA}"/>
              </a:ext>
            </a:extLst>
          </p:cNvPr>
          <p:cNvSpPr/>
          <p:nvPr/>
        </p:nvSpPr>
        <p:spPr>
          <a:xfrm>
            <a:off x="442914" y="4601806"/>
            <a:ext cx="197647" cy="1759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377"/>
            <a:r>
              <a:rPr lang="en-US" altLang="ko-KR" sz="9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4</a:t>
            </a:r>
            <a:endParaRPr lang="ko-KR" altLang="en-US" sz="9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2A9846D-4551-5DF7-94D4-97218DAB60D2}"/>
              </a:ext>
            </a:extLst>
          </p:cNvPr>
          <p:cNvSpPr/>
          <p:nvPr/>
        </p:nvSpPr>
        <p:spPr>
          <a:xfrm>
            <a:off x="442914" y="5479901"/>
            <a:ext cx="197647" cy="1759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377"/>
            <a:r>
              <a:rPr lang="en-US" altLang="ko-KR" sz="9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5</a:t>
            </a:r>
            <a:endParaRPr lang="ko-KR" altLang="en-US" sz="9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40D4DC4-2CF8-B8E3-8B9A-1C6707436EA8}"/>
              </a:ext>
            </a:extLst>
          </p:cNvPr>
          <p:cNvSpPr/>
          <p:nvPr/>
        </p:nvSpPr>
        <p:spPr>
          <a:xfrm>
            <a:off x="6163185" y="1661368"/>
            <a:ext cx="5631425" cy="4691307"/>
          </a:xfrm>
          <a:prstGeom prst="rect">
            <a:avLst/>
          </a:prstGeom>
          <a:noFill/>
          <a:ln w="31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AA1CBAF-97BC-48A2-0BB7-C861B58146C4}"/>
              </a:ext>
            </a:extLst>
          </p:cNvPr>
          <p:cNvSpPr/>
          <p:nvPr/>
        </p:nvSpPr>
        <p:spPr>
          <a:xfrm>
            <a:off x="9754443" y="1761217"/>
            <a:ext cx="1946284" cy="275601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총원</a:t>
            </a:r>
            <a:r>
              <a:rPr lang="en-US" altLang="ko-KR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63</a:t>
            </a:r>
            <a:r>
              <a:rPr lang="ko-KR" altLang="en-US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명 </a:t>
            </a:r>
            <a:r>
              <a:rPr lang="en-US" altLang="ko-KR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(※ ’25</a:t>
            </a:r>
            <a:r>
              <a:rPr lang="ko-KR" altLang="en-US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년 </a:t>
            </a:r>
            <a:r>
              <a:rPr lang="en-US" altLang="ko-KR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</a:t>
            </a:r>
            <a:r>
              <a:rPr lang="ko-KR" altLang="en-US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월 </a:t>
            </a:r>
            <a:r>
              <a:rPr lang="en-US" altLang="ko-KR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31</a:t>
            </a:r>
            <a:r>
              <a:rPr lang="ko-KR" altLang="en-US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일</a:t>
            </a:r>
            <a:r>
              <a:rPr lang="en-US" altLang="ko-KR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기준</a:t>
            </a:r>
            <a:r>
              <a:rPr lang="en-US" altLang="ko-KR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591D77-51E3-29DB-93F3-ED1C9E3E7604}"/>
              </a:ext>
            </a:extLst>
          </p:cNvPr>
          <p:cNvSpPr/>
          <p:nvPr/>
        </p:nvSpPr>
        <p:spPr>
          <a:xfrm>
            <a:off x="9646336" y="4699126"/>
            <a:ext cx="624976" cy="121563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097D139-0CD8-8789-F392-9210DBFD370C}"/>
              </a:ext>
            </a:extLst>
          </p:cNvPr>
          <p:cNvSpPr/>
          <p:nvPr/>
        </p:nvSpPr>
        <p:spPr>
          <a:xfrm>
            <a:off x="8950342" y="4699126"/>
            <a:ext cx="624976" cy="93542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DB355DB-51C1-AEBA-4EDF-DF611C56396B}"/>
              </a:ext>
            </a:extLst>
          </p:cNvPr>
          <p:cNvCxnSpPr>
            <a:cxnSpLocks/>
          </p:cNvCxnSpPr>
          <p:nvPr/>
        </p:nvCxnSpPr>
        <p:spPr>
          <a:xfrm>
            <a:off x="8998405" y="3699714"/>
            <a:ext cx="100821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B97D7DA-2D7E-5B2E-F662-9930B2AD7C34}"/>
              </a:ext>
            </a:extLst>
          </p:cNvPr>
          <p:cNvCxnSpPr>
            <a:cxnSpLocks/>
          </p:cNvCxnSpPr>
          <p:nvPr/>
        </p:nvCxnSpPr>
        <p:spPr>
          <a:xfrm>
            <a:off x="8992606" y="3816820"/>
            <a:ext cx="0" cy="43762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22AE616-06F9-260F-0D58-EFDFD9DEB9D3}"/>
              </a:ext>
            </a:extLst>
          </p:cNvPr>
          <p:cNvCxnSpPr>
            <a:stCxn id="38" idx="2"/>
            <a:endCxn id="49" idx="0"/>
          </p:cNvCxnSpPr>
          <p:nvPr/>
        </p:nvCxnSpPr>
        <p:spPr>
          <a:xfrm>
            <a:off x="8992606" y="2710078"/>
            <a:ext cx="0" cy="824102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4A7B0AB-9A95-371A-34D1-B6A685623E33}"/>
              </a:ext>
            </a:extLst>
          </p:cNvPr>
          <p:cNvCxnSpPr>
            <a:cxnSpLocks/>
          </p:cNvCxnSpPr>
          <p:nvPr/>
        </p:nvCxnSpPr>
        <p:spPr>
          <a:xfrm>
            <a:off x="7923259" y="4253040"/>
            <a:ext cx="3397262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28704BA-18FC-8171-787E-81945EA5F221}"/>
              </a:ext>
            </a:extLst>
          </p:cNvPr>
          <p:cNvCxnSpPr>
            <a:cxnSpLocks/>
          </p:cNvCxnSpPr>
          <p:nvPr/>
        </p:nvCxnSpPr>
        <p:spPr>
          <a:xfrm>
            <a:off x="7925561" y="4242025"/>
            <a:ext cx="0" cy="43762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32ED9021-1427-B2D1-7180-3793FFF551DA}"/>
              </a:ext>
            </a:extLst>
          </p:cNvPr>
          <p:cNvCxnSpPr>
            <a:cxnSpLocks/>
          </p:cNvCxnSpPr>
          <p:nvPr/>
        </p:nvCxnSpPr>
        <p:spPr>
          <a:xfrm>
            <a:off x="9274961" y="4250602"/>
            <a:ext cx="0" cy="43762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A5BA136-CF6D-9A35-1EF8-D31645433C45}"/>
              </a:ext>
            </a:extLst>
          </p:cNvPr>
          <p:cNvCxnSpPr>
            <a:cxnSpLocks/>
          </p:cNvCxnSpPr>
          <p:nvPr/>
        </p:nvCxnSpPr>
        <p:spPr>
          <a:xfrm>
            <a:off x="9956306" y="4250602"/>
            <a:ext cx="0" cy="43762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70E0D99-26CF-97EE-069F-811A0D106C65}"/>
              </a:ext>
            </a:extLst>
          </p:cNvPr>
          <p:cNvCxnSpPr>
            <a:cxnSpLocks/>
          </p:cNvCxnSpPr>
          <p:nvPr/>
        </p:nvCxnSpPr>
        <p:spPr>
          <a:xfrm>
            <a:off x="10612920" y="4250602"/>
            <a:ext cx="0" cy="43762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3F67068-56AD-FFA8-88C3-CA3A0037E066}"/>
              </a:ext>
            </a:extLst>
          </p:cNvPr>
          <p:cNvCxnSpPr>
            <a:cxnSpLocks/>
          </p:cNvCxnSpPr>
          <p:nvPr/>
        </p:nvCxnSpPr>
        <p:spPr>
          <a:xfrm>
            <a:off x="11318102" y="4250602"/>
            <a:ext cx="0" cy="43762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98A53AF-B86B-30C7-F4EE-766E72801F31}"/>
              </a:ext>
            </a:extLst>
          </p:cNvPr>
          <p:cNvCxnSpPr>
            <a:cxnSpLocks/>
          </p:cNvCxnSpPr>
          <p:nvPr/>
        </p:nvCxnSpPr>
        <p:spPr>
          <a:xfrm>
            <a:off x="8992606" y="3313750"/>
            <a:ext cx="1008219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6B24912-DB8F-155F-7C17-7D98DED1825B}"/>
              </a:ext>
            </a:extLst>
          </p:cNvPr>
          <p:cNvSpPr/>
          <p:nvPr/>
        </p:nvSpPr>
        <p:spPr>
          <a:xfrm>
            <a:off x="7601675" y="4570737"/>
            <a:ext cx="640040" cy="340378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컨설팅</a:t>
            </a:r>
            <a:endParaRPr lang="en-US" altLang="ko-KR" sz="8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algn="ctr"/>
            <a:r>
              <a:rPr lang="ko-KR" altLang="en-US" sz="8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사업본부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0867AD90-5E03-1819-9ABE-126F1BFFC481}"/>
              </a:ext>
            </a:extLst>
          </p:cNvPr>
          <p:cNvSpPr/>
          <p:nvPr/>
        </p:nvSpPr>
        <p:spPr>
          <a:xfrm>
            <a:off x="10317336" y="4570737"/>
            <a:ext cx="640040" cy="34037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시스템지원팀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D446C26-2A53-0776-111C-BCA66FF97F70}"/>
              </a:ext>
            </a:extLst>
          </p:cNvPr>
          <p:cNvSpPr/>
          <p:nvPr/>
        </p:nvSpPr>
        <p:spPr>
          <a:xfrm>
            <a:off x="8966939" y="4956613"/>
            <a:ext cx="591781" cy="291753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1~3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캠퍼스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B30D76F-1F81-FDEE-8AD5-9FACB3548A44}"/>
              </a:ext>
            </a:extLst>
          </p:cNvPr>
          <p:cNvSpPr/>
          <p:nvPr/>
        </p:nvSpPr>
        <p:spPr>
          <a:xfrm>
            <a:off x="9636286" y="4570737"/>
            <a:ext cx="640040" cy="34037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운영관리실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EAD085D-88D9-2CB5-F5E0-143B3A6980AB}"/>
              </a:ext>
            </a:extLst>
          </p:cNvPr>
          <p:cNvSpPr/>
          <p:nvPr/>
        </p:nvSpPr>
        <p:spPr>
          <a:xfrm>
            <a:off x="8945208" y="4570737"/>
            <a:ext cx="640040" cy="340378"/>
          </a:xfrm>
          <a:prstGeom prst="roundRect">
            <a:avLst>
              <a:gd name="adj" fmla="val 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제안사</a:t>
            </a:r>
            <a:endParaRPr lang="en-US" altLang="ko-KR" sz="8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algn="ctr"/>
            <a:r>
              <a:rPr lang="ko-KR" altLang="en-US" sz="8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캠퍼스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542EE12-F79D-F86E-FC97-F62EA42D50BC}"/>
              </a:ext>
            </a:extLst>
          </p:cNvPr>
          <p:cNvGrpSpPr/>
          <p:nvPr/>
        </p:nvGrpSpPr>
        <p:grpSpPr>
          <a:xfrm>
            <a:off x="9913393" y="2833081"/>
            <a:ext cx="701370" cy="1130017"/>
            <a:chOff x="6465391" y="2232318"/>
            <a:chExt cx="1152000" cy="1096669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57ACC2ED-D753-D42B-B48B-B4FEBA9A6F1B}"/>
                </a:ext>
              </a:extLst>
            </p:cNvPr>
            <p:cNvSpPr/>
            <p:nvPr/>
          </p:nvSpPr>
          <p:spPr>
            <a:xfrm>
              <a:off x="6483950" y="2333025"/>
              <a:ext cx="1116000" cy="99596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endParaRPr>
            </a:p>
          </p:txBody>
        </p: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5B7E849F-3D59-8752-5134-00620CC5C887}"/>
                </a:ext>
              </a:extLst>
            </p:cNvPr>
            <p:cNvSpPr/>
            <p:nvPr/>
          </p:nvSpPr>
          <p:spPr>
            <a:xfrm>
              <a:off x="6465391" y="2232318"/>
              <a:ext cx="1152000" cy="252000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경영지원실</a:t>
              </a:r>
            </a:p>
          </p:txBody>
        </p:sp>
      </p:grp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88BA66F-4BD5-9FB8-AC17-F5B4CAC713F5}"/>
              </a:ext>
            </a:extLst>
          </p:cNvPr>
          <p:cNvSpPr/>
          <p:nvPr/>
        </p:nvSpPr>
        <p:spPr>
          <a:xfrm>
            <a:off x="9968187" y="3186345"/>
            <a:ext cx="591781" cy="291753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재무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회계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2631875-9D5B-E97B-CE2A-67BEAA829597}"/>
              </a:ext>
            </a:extLst>
          </p:cNvPr>
          <p:cNvSpPr/>
          <p:nvPr/>
        </p:nvSpPr>
        <p:spPr>
          <a:xfrm>
            <a:off x="11003400" y="4570737"/>
            <a:ext cx="640040" cy="34037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R&amp;D</a:t>
            </a:r>
            <a:r>
              <a:rPr lang="ko-KR" altLang="en-US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실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78A4427-ACD3-FE83-A6E8-6460EF1B1324}"/>
              </a:ext>
            </a:extLst>
          </p:cNvPr>
          <p:cNvSpPr/>
          <p:nvPr/>
        </p:nvSpPr>
        <p:spPr>
          <a:xfrm>
            <a:off x="8641922" y="2369700"/>
            <a:ext cx="701370" cy="340378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대표이사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34A7976-2F1B-D91B-F744-FFF9D67F7856}"/>
              </a:ext>
            </a:extLst>
          </p:cNvPr>
          <p:cNvSpPr/>
          <p:nvPr/>
        </p:nvSpPr>
        <p:spPr>
          <a:xfrm>
            <a:off x="9968187" y="3551414"/>
            <a:ext cx="591781" cy="291753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인사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총무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53CC8BA-F4B1-EE4F-70F5-8F3C4DD94E0A}"/>
              </a:ext>
            </a:extLst>
          </p:cNvPr>
          <p:cNvSpPr/>
          <p:nvPr/>
        </p:nvSpPr>
        <p:spPr>
          <a:xfrm>
            <a:off x="7625804" y="5454656"/>
            <a:ext cx="591781" cy="460105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교육전략</a:t>
            </a:r>
            <a:endParaRPr lang="en-US" altLang="ko-KR" sz="800" spc="-10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algn="ctr"/>
            <a:r>
              <a:rPr lang="ko-KR" altLang="en-US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사업팀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B43FD56C-B198-8216-ADDA-00087F2668D2}"/>
              </a:ext>
            </a:extLst>
          </p:cNvPr>
          <p:cNvSpPr/>
          <p:nvPr/>
        </p:nvSpPr>
        <p:spPr>
          <a:xfrm>
            <a:off x="8252842" y="5454656"/>
            <a:ext cx="591781" cy="460105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미래교육</a:t>
            </a:r>
            <a:endParaRPr lang="en-US" altLang="ko-KR" sz="800" spc="-10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algn="ctr"/>
            <a:r>
              <a:rPr lang="ko-KR" altLang="en-US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사업팀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48D8A1C2-0F25-7FC4-E4F4-750115FB9D9E}"/>
              </a:ext>
            </a:extLst>
          </p:cNvPr>
          <p:cNvSpPr/>
          <p:nvPr/>
        </p:nvSpPr>
        <p:spPr>
          <a:xfrm>
            <a:off x="6990827" y="5454656"/>
            <a:ext cx="591781" cy="460105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기업성장</a:t>
            </a:r>
            <a:br>
              <a:rPr lang="en-US" altLang="ko-KR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</a:br>
            <a:r>
              <a:rPr lang="en-US" altLang="ko-KR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·</a:t>
            </a:r>
            <a:r>
              <a:rPr lang="ko-KR" altLang="en-US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혁신 실</a:t>
            </a: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A5B0EA4D-0D77-CA6A-71CE-FFE04F5B61C4}"/>
              </a:ext>
            </a:extLst>
          </p:cNvPr>
          <p:cNvCxnSpPr>
            <a:cxnSpLocks/>
          </p:cNvCxnSpPr>
          <p:nvPr/>
        </p:nvCxnSpPr>
        <p:spPr>
          <a:xfrm>
            <a:off x="6646326" y="4051336"/>
            <a:ext cx="234520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B9B02912-8479-0C83-70A2-30044B9C8C6A}"/>
              </a:ext>
            </a:extLst>
          </p:cNvPr>
          <p:cNvCxnSpPr>
            <a:cxnSpLocks/>
          </p:cNvCxnSpPr>
          <p:nvPr/>
        </p:nvCxnSpPr>
        <p:spPr>
          <a:xfrm>
            <a:off x="6649910" y="4056055"/>
            <a:ext cx="0" cy="15073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0FD5B244-1330-04CE-30E5-91E90415A5CB}"/>
              </a:ext>
            </a:extLst>
          </p:cNvPr>
          <p:cNvSpPr/>
          <p:nvPr/>
        </p:nvSpPr>
        <p:spPr>
          <a:xfrm>
            <a:off x="8966939" y="5289464"/>
            <a:ext cx="591781" cy="291753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대구캠퍼스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3AD3B05C-2FF7-028A-6186-184404600856}"/>
              </a:ext>
            </a:extLst>
          </p:cNvPr>
          <p:cNvSpPr/>
          <p:nvPr/>
        </p:nvSpPr>
        <p:spPr>
          <a:xfrm>
            <a:off x="9666355" y="4949801"/>
            <a:ext cx="591781" cy="291753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기업교육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E5C4061-0FEE-D4F8-92BB-E444C20398DC}"/>
              </a:ext>
            </a:extLst>
          </p:cNvPr>
          <p:cNvSpPr/>
          <p:nvPr/>
        </p:nvSpPr>
        <p:spPr>
          <a:xfrm>
            <a:off x="9666355" y="5276185"/>
            <a:ext cx="591781" cy="291753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에듀케어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D590E85-C7E3-8664-FC7D-A7417C2D6E92}"/>
              </a:ext>
            </a:extLst>
          </p:cNvPr>
          <p:cNvSpPr/>
          <p:nvPr/>
        </p:nvSpPr>
        <p:spPr>
          <a:xfrm>
            <a:off x="9666355" y="5594961"/>
            <a:ext cx="591781" cy="291753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학교컨설팅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4748490-A0CC-9098-3EDD-EA6025D47CB6}"/>
              </a:ext>
            </a:extLst>
          </p:cNvPr>
          <p:cNvSpPr/>
          <p:nvPr/>
        </p:nvSpPr>
        <p:spPr>
          <a:xfrm>
            <a:off x="8641922" y="3534179"/>
            <a:ext cx="701370" cy="340378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사업총괄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414F69A7-6DAB-A7B6-2CD6-66E9BF446B03}"/>
              </a:ext>
            </a:extLst>
          </p:cNvPr>
          <p:cNvCxnSpPr>
            <a:cxnSpLocks/>
          </p:cNvCxnSpPr>
          <p:nvPr/>
        </p:nvCxnSpPr>
        <p:spPr>
          <a:xfrm>
            <a:off x="7286718" y="5012155"/>
            <a:ext cx="0" cy="43762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662DAAD7-3BBF-73E4-2AFA-B9457A306B9E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7921696" y="4911116"/>
            <a:ext cx="0" cy="53866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FED66429-1009-16F4-38AB-FA6180F43580}"/>
              </a:ext>
            </a:extLst>
          </p:cNvPr>
          <p:cNvCxnSpPr>
            <a:cxnSpLocks/>
          </p:cNvCxnSpPr>
          <p:nvPr/>
        </p:nvCxnSpPr>
        <p:spPr>
          <a:xfrm>
            <a:off x="8548732" y="5012155"/>
            <a:ext cx="0" cy="43762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FE6FBF27-DE77-DF97-2522-1FC176899498}"/>
              </a:ext>
            </a:extLst>
          </p:cNvPr>
          <p:cNvCxnSpPr>
            <a:cxnSpLocks/>
          </p:cNvCxnSpPr>
          <p:nvPr/>
        </p:nvCxnSpPr>
        <p:spPr>
          <a:xfrm>
            <a:off x="7285115" y="5012155"/>
            <a:ext cx="1263617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01E439A8-9854-4F46-86F4-3ECA99F937B9}"/>
              </a:ext>
            </a:extLst>
          </p:cNvPr>
          <p:cNvSpPr/>
          <p:nvPr/>
        </p:nvSpPr>
        <p:spPr>
          <a:xfrm>
            <a:off x="6314354" y="5464820"/>
            <a:ext cx="617917" cy="458914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전략영업팀</a:t>
            </a:r>
            <a:endParaRPr lang="ko-KR" altLang="en-US" sz="800" spc="-10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7984DBC-654C-B01C-DF6B-063856864596}"/>
              </a:ext>
            </a:extLst>
          </p:cNvPr>
          <p:cNvGrpSpPr/>
          <p:nvPr/>
        </p:nvGrpSpPr>
        <p:grpSpPr>
          <a:xfrm>
            <a:off x="9754433" y="2041151"/>
            <a:ext cx="1371450" cy="230832"/>
            <a:chOff x="9756846" y="2060201"/>
            <a:chExt cx="1431459" cy="230832"/>
          </a:xfrm>
        </p:grpSpPr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05B5C9E2-3087-8B14-9E67-E35DAEFE2031}"/>
                </a:ext>
              </a:extLst>
            </p:cNvPr>
            <p:cNvSpPr/>
            <p:nvPr/>
          </p:nvSpPr>
          <p:spPr>
            <a:xfrm>
              <a:off x="9756846" y="2121617"/>
              <a:ext cx="272375" cy="108000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0D1ED6B-1CDA-365C-8863-104B1CF59FA9}"/>
                </a:ext>
              </a:extLst>
            </p:cNvPr>
            <p:cNvSpPr txBox="1"/>
            <p:nvPr/>
          </p:nvSpPr>
          <p:spPr>
            <a:xfrm>
              <a:off x="10000038" y="2060201"/>
              <a:ext cx="1188267" cy="230832"/>
            </a:xfrm>
            <a:prstGeom prst="rect">
              <a:avLst/>
            </a:prstGeom>
            <a:noFill/>
          </p:spPr>
          <p:txBody>
            <a:bodyPr wrap="none" anchor="ctr" anchorCtr="0">
              <a:spAutoFit/>
            </a:bodyPr>
            <a:lstStyle/>
            <a:p>
              <a:r>
                <a:rPr lang="ko-KR" altLang="en-US" sz="9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금번</a:t>
              </a:r>
              <a:r>
                <a:rPr lang="en-US" altLang="ko-KR" sz="9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</a:t>
              </a:r>
              <a:r>
                <a:rPr lang="ko-KR" altLang="en-US" sz="9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사업 참여 부서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11998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76057-4263-D4AF-76FF-45183CE4A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BECBEFF4-167F-962C-2922-B138D09C4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prstClr val="black">
                    <a:lumMod val="95000"/>
                    <a:lumOff val="5000"/>
                  </a:prstClr>
                </a:solidFill>
              </a:rPr>
              <a:t>3.</a:t>
            </a:r>
            <a:r>
              <a:rPr lang="ko-KR" altLang="en-US" dirty="0">
                <a:solidFill>
                  <a:prstClr val="black">
                    <a:lumMod val="95000"/>
                    <a:lumOff val="5000"/>
                  </a:prstClr>
                </a:solidFill>
              </a:rPr>
              <a:t> 알파코 조직역량</a:t>
            </a:r>
            <a:r>
              <a:rPr lang="en-US" altLang="ko-KR" dirty="0">
                <a:solidFill>
                  <a:prstClr val="black">
                    <a:lumMod val="95000"/>
                    <a:lumOff val="5000"/>
                  </a:prstClr>
                </a:solidFill>
              </a:rPr>
              <a:t>  </a:t>
            </a:r>
            <a:r>
              <a:rPr lang="ko-KR" altLang="en-US" sz="1400" dirty="0">
                <a:solidFill>
                  <a:prstClr val="black">
                    <a:lumMod val="95000"/>
                    <a:lumOff val="5000"/>
                  </a:prstClr>
                </a:solidFill>
              </a:rPr>
              <a:t>검증된 전문가 그룹</a:t>
            </a:r>
          </a:p>
        </p:txBody>
      </p:sp>
      <p:sp>
        <p:nvSpPr>
          <p:cNvPr id="36" name="내용 개체 틀 35">
            <a:extLst>
              <a:ext uri="{FF2B5EF4-FFF2-40B4-BE49-F238E27FC236}">
                <a16:creationId xmlns:a16="http://schemas.microsoft.com/office/drawing/2014/main" id="{57A32F23-3AFA-D83A-5B9B-D1CAA1C3C6A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40563" y="926898"/>
            <a:ext cx="11000576" cy="734471"/>
          </a:xfrm>
        </p:spPr>
        <p:txBody>
          <a:bodyPr>
            <a:normAutofit/>
          </a:bodyPr>
          <a:lstStyle/>
          <a:p>
            <a:r>
              <a:rPr lang="ko-KR" altLang="en-US" dirty="0"/>
              <a:t>특히 원격통신 교육</a:t>
            </a:r>
            <a:r>
              <a:rPr lang="en-US" altLang="ko-KR" dirty="0"/>
              <a:t>(</a:t>
            </a:r>
            <a:r>
              <a:rPr lang="ko-KR" altLang="en-US" dirty="0" err="1"/>
              <a:t>북러닝</a:t>
            </a:r>
            <a:r>
              <a:rPr lang="en-US" altLang="ko-KR" dirty="0"/>
              <a:t>, </a:t>
            </a:r>
            <a:r>
              <a:rPr lang="ko-KR" altLang="en-US" dirty="0"/>
              <a:t>이러닝</a:t>
            </a:r>
            <a:r>
              <a:rPr lang="en-US" altLang="ko-KR" dirty="0"/>
              <a:t>)</a:t>
            </a:r>
            <a:r>
              <a:rPr lang="ko-KR" altLang="en-US" dirty="0"/>
              <a:t>분야의 전문성 확보를 위한 인재확보를 지속 강화하고 있음</a:t>
            </a:r>
            <a:endParaRPr lang="ko-KR" altLang="en-US" b="1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64D4DAD-4BF1-CD95-D416-A12867BF0B10}"/>
              </a:ext>
            </a:extLst>
          </p:cNvPr>
          <p:cNvSpPr txBox="1"/>
          <p:nvPr/>
        </p:nvSpPr>
        <p:spPr>
          <a:xfrm>
            <a:off x="706206" y="2762629"/>
            <a:ext cx="31983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해당분야 </a:t>
            </a:r>
            <a:r>
              <a:rPr lang="ko-KR" altLang="en-US" sz="1600" b="1" dirty="0">
                <a:solidFill>
                  <a:srgbClr val="2382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경력 </a:t>
            </a:r>
            <a:r>
              <a:rPr lang="en-US" altLang="ko-KR" sz="1600" b="1" dirty="0">
                <a:solidFill>
                  <a:srgbClr val="2382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5</a:t>
            </a:r>
            <a:r>
              <a:rPr lang="ko-KR" altLang="en-US" sz="1600" b="1" dirty="0">
                <a:solidFill>
                  <a:srgbClr val="2382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년 이상</a:t>
            </a:r>
            <a:r>
              <a:rPr lang="en-US" altLang="ko-KR" sz="1600" b="1" dirty="0">
                <a:solidFill>
                  <a:srgbClr val="2382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60%</a:t>
            </a:r>
            <a:r>
              <a:rPr lang="ko-KR" altLang="en-US" sz="1600" b="1" dirty="0">
                <a:solidFill>
                  <a:srgbClr val="2382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이상</a:t>
            </a:r>
            <a:r>
              <a:rPr lang="en-US" altLang="ko-KR" sz="1600" b="1" dirty="0">
                <a:solidFill>
                  <a:srgbClr val="2382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</a:t>
            </a:r>
            <a:br>
              <a:rPr lang="en-US" altLang="ko-KR" sz="1600" b="1" dirty="0">
                <a:solidFill>
                  <a:srgbClr val="2382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sz="1600" b="1" dirty="0">
                <a:solidFill>
                  <a:srgbClr val="2382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10</a:t>
            </a:r>
            <a:r>
              <a:rPr lang="ko-KR" altLang="en-US" sz="1600" b="1" dirty="0">
                <a:solidFill>
                  <a:srgbClr val="2382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년 이상 </a:t>
            </a:r>
            <a:r>
              <a:rPr lang="en-US" altLang="ko-KR" sz="1600" b="1" dirty="0">
                <a:solidFill>
                  <a:srgbClr val="2382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41% </a:t>
            </a:r>
            <a:r>
              <a:rPr lang="ko-KR" altLang="en-US" sz="1600" b="1" dirty="0">
                <a:solidFill>
                  <a:srgbClr val="2382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이상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EC6B829-6E09-7301-6E22-EDF7121DB713}"/>
              </a:ext>
            </a:extLst>
          </p:cNvPr>
          <p:cNvSpPr txBox="1"/>
          <p:nvPr/>
        </p:nvSpPr>
        <p:spPr>
          <a:xfrm>
            <a:off x="5283919" y="2789450"/>
            <a:ext cx="16241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자격보유 의무화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/>
            <a:r>
              <a:rPr lang="en-US" altLang="ko-KR" sz="1600" b="1" dirty="0">
                <a:solidFill>
                  <a:srgbClr val="2382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HR</a:t>
            </a:r>
            <a:r>
              <a:rPr lang="ko-KR" altLang="en-US" sz="1600" b="1" dirty="0">
                <a:solidFill>
                  <a:srgbClr val="2382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전문가 육성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BC89C6F-F249-E674-B082-688D635ABB9C}"/>
              </a:ext>
            </a:extLst>
          </p:cNvPr>
          <p:cNvSpPr txBox="1"/>
          <p:nvPr/>
        </p:nvSpPr>
        <p:spPr>
          <a:xfrm>
            <a:off x="8864880" y="2789450"/>
            <a:ext cx="2077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전공자 위주의 개발팀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/>
            <a:r>
              <a:rPr lang="ko-KR" altLang="en-US" sz="1600" b="1" dirty="0">
                <a:solidFill>
                  <a:srgbClr val="2382F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개발인력 전문성 강화</a:t>
            </a:r>
            <a:endParaRPr lang="en-US" altLang="ko-KR" sz="1600" b="1" dirty="0">
              <a:solidFill>
                <a:srgbClr val="2382FE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8D4FC5D3-726F-298C-C23C-D40F2BF68DEE}"/>
              </a:ext>
            </a:extLst>
          </p:cNvPr>
          <p:cNvSpPr/>
          <p:nvPr/>
        </p:nvSpPr>
        <p:spPr>
          <a:xfrm>
            <a:off x="9725205" y="2340858"/>
            <a:ext cx="357162" cy="357162"/>
          </a:xfrm>
          <a:prstGeom prst="ellipse">
            <a:avLst/>
          </a:prstGeom>
          <a:solidFill>
            <a:srgbClr val="2382FE"/>
          </a:solidFill>
          <a:ln>
            <a:solidFill>
              <a:srgbClr val="008F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</a:t>
            </a:r>
            <a:endParaRPr lang="ko-KR" altLang="en-US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42193F47-D344-740B-7724-D8F763DCD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708017"/>
              </p:ext>
            </p:extLst>
          </p:nvPr>
        </p:nvGraphicFramePr>
        <p:xfrm>
          <a:off x="615634" y="3429000"/>
          <a:ext cx="3379445" cy="2652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7726">
                  <a:extLst>
                    <a:ext uri="{9D8B030D-6E8A-4147-A177-3AD203B41FA5}">
                      <a16:colId xmlns:a16="http://schemas.microsoft.com/office/drawing/2014/main" val="1612350552"/>
                    </a:ext>
                  </a:extLst>
                </a:gridCol>
                <a:gridCol w="1241719">
                  <a:extLst>
                    <a:ext uri="{9D8B030D-6E8A-4147-A177-3AD203B41FA5}">
                      <a16:colId xmlns:a16="http://schemas.microsoft.com/office/drawing/2014/main" val="2668262217"/>
                    </a:ext>
                  </a:extLst>
                </a:gridCol>
              </a:tblGrid>
              <a:tr h="4420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경력기간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비율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121306"/>
                  </a:ext>
                </a:extLst>
              </a:tr>
              <a:tr h="44202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년 이상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41.6%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2149099"/>
                  </a:ext>
                </a:extLst>
              </a:tr>
              <a:tr h="44202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년 미만 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~ 5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년 이상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25.0%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1215443"/>
                  </a:ext>
                </a:extLst>
              </a:tr>
              <a:tr h="44202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5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년 미만 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~ 3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년 이상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12.5%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977480"/>
                  </a:ext>
                </a:extLst>
              </a:tr>
              <a:tr h="44202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년 미만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~ 1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년 이상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12.5%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5076402"/>
                  </a:ext>
                </a:extLst>
              </a:tr>
              <a:tr h="44202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년 이하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8.3%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72971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FE0D5D5-F5A3-EBFD-A7EF-23F73D101623}"/>
              </a:ext>
            </a:extLst>
          </p:cNvPr>
          <p:cNvSpPr/>
          <p:nvPr/>
        </p:nvSpPr>
        <p:spPr>
          <a:xfrm>
            <a:off x="524194" y="1544302"/>
            <a:ext cx="1965006" cy="4680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377"/>
            <a:r>
              <a:rPr lang="ko-KR" altLang="en-US" sz="1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검증된 전문가 그룹 확보</a:t>
            </a:r>
            <a:endParaRPr lang="en-US" altLang="ko-KR" sz="1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0" scaled="1"/>
              </a:gra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3AA29D-1714-0888-052D-C835C20A4AD4}"/>
              </a:ext>
            </a:extLst>
          </p:cNvPr>
          <p:cNvSpPr txBox="1"/>
          <p:nvPr/>
        </p:nvSpPr>
        <p:spPr>
          <a:xfrm>
            <a:off x="2503003" y="1499036"/>
            <a:ext cx="3927678" cy="5586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marR="0" lvl="0" indent="-285750" algn="l" defTabSz="914377" rtl="0" eaLnBrk="1" fontAlgn="auto" latinLnBrk="0" hangingPunct="1">
              <a:lnSpc>
                <a:spcPct val="120000"/>
              </a:lnSpc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운영인력 및 전 직원 교육관련 자격증 취득 의무화</a:t>
            </a:r>
            <a:endParaRPr kumimoji="0" lang="en-US" altLang="ko-KR" sz="13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marR="0" lvl="0" indent="-285750" algn="l" defTabSz="914377" rtl="0" eaLnBrk="1" fontAlgn="auto" latinLnBrk="0" hangingPunct="1">
              <a:lnSpc>
                <a:spcPct val="120000"/>
              </a:lnSpc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고품질의 교육서비스 제공을 위한 인재육성 지속</a:t>
            </a:r>
            <a:endParaRPr kumimoji="0" lang="en-US" altLang="ko-KR" sz="13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graphicFrame>
        <p:nvGraphicFramePr>
          <p:cNvPr id="18" name="표 3">
            <a:extLst>
              <a:ext uri="{FF2B5EF4-FFF2-40B4-BE49-F238E27FC236}">
                <a16:creationId xmlns:a16="http://schemas.microsoft.com/office/drawing/2014/main" id="{6C3BBBE1-E3BA-427F-51C9-085495745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279298"/>
              </p:ext>
            </p:extLst>
          </p:nvPr>
        </p:nvGraphicFramePr>
        <p:xfrm>
          <a:off x="4406278" y="3429000"/>
          <a:ext cx="3379445" cy="2652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7726">
                  <a:extLst>
                    <a:ext uri="{9D8B030D-6E8A-4147-A177-3AD203B41FA5}">
                      <a16:colId xmlns:a16="http://schemas.microsoft.com/office/drawing/2014/main" val="1612350552"/>
                    </a:ext>
                  </a:extLst>
                </a:gridCol>
                <a:gridCol w="1241719">
                  <a:extLst>
                    <a:ext uri="{9D8B030D-6E8A-4147-A177-3AD203B41FA5}">
                      <a16:colId xmlns:a16="http://schemas.microsoft.com/office/drawing/2014/main" val="2668262217"/>
                    </a:ext>
                  </a:extLst>
                </a:gridCol>
              </a:tblGrid>
              <a:tr h="442020">
                <a:tc>
                  <a:txBody>
                    <a:bodyPr/>
                    <a:lstStyle/>
                    <a:p>
                      <a:pPr marL="0" algn="ctr" defTabSz="914377" rtl="0" eaLnBrk="1" latinLnBrk="1" hangingPunct="1"/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보유자격증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1" hangingPunct="1"/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인원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121306"/>
                  </a:ext>
                </a:extLst>
              </a:tr>
              <a:tr h="442020">
                <a:tc>
                  <a:txBody>
                    <a:bodyPr/>
                    <a:lstStyle/>
                    <a:p>
                      <a:pPr marL="0" algn="l" defTabSz="914377" rtl="0" eaLnBrk="1" latinLnBrk="1" hangingPunct="1"/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이러닝 </a:t>
                      </a:r>
                      <a:r>
                        <a:rPr lang="ko-KR" altLang="en-US" sz="13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지도사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1" hangingPunct="1"/>
                      <a:r>
                        <a:rPr lang="en-US" altLang="ko-KR" sz="13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16</a:t>
                      </a:r>
                      <a:r>
                        <a:rPr lang="ko-KR" altLang="en-US" sz="13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2149099"/>
                  </a:ext>
                </a:extLst>
              </a:tr>
              <a:tr h="442020">
                <a:tc>
                  <a:txBody>
                    <a:bodyPr/>
                    <a:lstStyle/>
                    <a:p>
                      <a:pPr marL="0" algn="l" defTabSz="914377" rtl="0" eaLnBrk="1" latinLnBrk="1" hangingPunct="1"/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인적자원 개발사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1" hangingPunct="1"/>
                      <a:r>
                        <a:rPr lang="en-US" altLang="ko-KR" sz="13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12</a:t>
                      </a:r>
                      <a:r>
                        <a:rPr lang="ko-KR" altLang="en-US" sz="13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1215443"/>
                  </a:ext>
                </a:extLst>
              </a:tr>
              <a:tr h="442020">
                <a:tc>
                  <a:txBody>
                    <a:bodyPr/>
                    <a:lstStyle/>
                    <a:p>
                      <a:pPr marL="0" algn="l" defTabSz="914377" rtl="0" eaLnBrk="1" latinLnBrk="1" hangingPunct="1"/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평생교육사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1" hangingPunct="1"/>
                      <a:r>
                        <a:rPr lang="en-US" altLang="ko-KR" sz="13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7</a:t>
                      </a:r>
                      <a:r>
                        <a:rPr lang="ko-KR" altLang="en-US" sz="13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977480"/>
                  </a:ext>
                </a:extLst>
              </a:tr>
              <a:tr h="442020">
                <a:tc>
                  <a:txBody>
                    <a:bodyPr/>
                    <a:lstStyle/>
                    <a:p>
                      <a:pPr marL="0" algn="l" defTabSz="914377" rtl="0" eaLnBrk="1" latinLnBrk="1" hangingPunct="1"/>
                      <a:r>
                        <a:rPr lang="en-US" altLang="ko-KR" sz="13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CS</a:t>
                      </a: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관리사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1" hangingPunct="1"/>
                      <a:r>
                        <a:rPr lang="en-US" altLang="ko-KR" sz="13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3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5076402"/>
                  </a:ext>
                </a:extLst>
              </a:tr>
              <a:tr h="442020">
                <a:tc>
                  <a:txBody>
                    <a:bodyPr/>
                    <a:lstStyle/>
                    <a:p>
                      <a:pPr marL="0" algn="l" defTabSz="914377" rtl="0" eaLnBrk="1" latinLnBrk="1" hangingPunct="1"/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개인정보보호사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1" hangingPunct="1"/>
                      <a:r>
                        <a:rPr lang="en-US" altLang="ko-KR" sz="13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3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729714"/>
                  </a:ext>
                </a:extLst>
              </a:tr>
            </a:tbl>
          </a:graphicData>
        </a:graphic>
      </p:graphicFrame>
      <p:graphicFrame>
        <p:nvGraphicFramePr>
          <p:cNvPr id="19" name="표 3">
            <a:extLst>
              <a:ext uri="{FF2B5EF4-FFF2-40B4-BE49-F238E27FC236}">
                <a16:creationId xmlns:a16="http://schemas.microsoft.com/office/drawing/2014/main" id="{0FB1D436-F77D-AD98-E696-ABC8887C4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105645"/>
              </p:ext>
            </p:extLst>
          </p:nvPr>
        </p:nvGraphicFramePr>
        <p:xfrm>
          <a:off x="8214064" y="3429000"/>
          <a:ext cx="3379445" cy="263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7726">
                  <a:extLst>
                    <a:ext uri="{9D8B030D-6E8A-4147-A177-3AD203B41FA5}">
                      <a16:colId xmlns:a16="http://schemas.microsoft.com/office/drawing/2014/main" val="1612350552"/>
                    </a:ext>
                  </a:extLst>
                </a:gridCol>
                <a:gridCol w="1241719">
                  <a:extLst>
                    <a:ext uri="{9D8B030D-6E8A-4147-A177-3AD203B41FA5}">
                      <a16:colId xmlns:a16="http://schemas.microsoft.com/office/drawing/2014/main" val="2668262217"/>
                    </a:ext>
                  </a:extLst>
                </a:gridCol>
              </a:tblGrid>
              <a:tr h="442020">
                <a:tc>
                  <a:txBody>
                    <a:bodyPr/>
                    <a:lstStyle/>
                    <a:p>
                      <a:pPr marL="0" algn="ctr" defTabSz="914377" rtl="0" eaLnBrk="1" latinLnBrk="1" hangingPunct="1"/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보유자격증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1" hangingPunct="1"/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인원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121306"/>
                  </a:ext>
                </a:extLst>
              </a:tr>
              <a:tr h="731500">
                <a:tc>
                  <a:txBody>
                    <a:bodyPr/>
                    <a:lstStyle/>
                    <a:p>
                      <a:pPr marL="0" algn="l" defTabSz="914377" rtl="0" eaLnBrk="1" latinLnBrk="1" hangingPunct="1"/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교육공학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1" hangingPunct="1"/>
                      <a:r>
                        <a:rPr lang="en-US" altLang="ko-KR" sz="13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6</a:t>
                      </a:r>
                      <a:r>
                        <a:rPr lang="ko-KR" altLang="en-US" sz="13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2149099"/>
                  </a:ext>
                </a:extLst>
              </a:tr>
              <a:tr h="731500">
                <a:tc>
                  <a:txBody>
                    <a:bodyPr/>
                    <a:lstStyle/>
                    <a:p>
                      <a:pPr marL="0" algn="l" defTabSz="914377" rtl="0" eaLnBrk="1" latinLnBrk="1" hangingPunct="1"/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교육학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1" hangingPunct="1"/>
                      <a:r>
                        <a:rPr lang="en-US" altLang="ko-KR" sz="13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5</a:t>
                      </a:r>
                      <a:r>
                        <a:rPr lang="ko-KR" altLang="en-US" sz="13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1215443"/>
                  </a:ext>
                </a:extLst>
              </a:tr>
              <a:tr h="731500">
                <a:tc>
                  <a:txBody>
                    <a:bodyPr/>
                    <a:lstStyle/>
                    <a:p>
                      <a:pPr marL="0" algn="l" defTabSz="914377" rtl="0" eaLnBrk="1" latinLnBrk="1" hangingPunct="1"/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경영 및 기타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1" hangingPunct="1"/>
                      <a:r>
                        <a:rPr lang="en-US" altLang="ko-KR" sz="13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4</a:t>
                      </a:r>
                      <a:r>
                        <a:rPr lang="ko-KR" altLang="en-US" sz="13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977480"/>
                  </a:ext>
                </a:extLst>
              </a:tr>
            </a:tbl>
          </a:graphicData>
        </a:graphic>
      </p:graphicFrame>
      <p:sp>
        <p:nvSpPr>
          <p:cNvPr id="22" name="타원 21">
            <a:extLst>
              <a:ext uri="{FF2B5EF4-FFF2-40B4-BE49-F238E27FC236}">
                <a16:creationId xmlns:a16="http://schemas.microsoft.com/office/drawing/2014/main" id="{EB1D436E-6CE3-7B3E-DB42-23E88D578D6B}"/>
              </a:ext>
            </a:extLst>
          </p:cNvPr>
          <p:cNvSpPr/>
          <p:nvPr/>
        </p:nvSpPr>
        <p:spPr>
          <a:xfrm>
            <a:off x="5917419" y="2340858"/>
            <a:ext cx="357162" cy="357162"/>
          </a:xfrm>
          <a:prstGeom prst="ellipse">
            <a:avLst/>
          </a:prstGeom>
          <a:solidFill>
            <a:srgbClr val="2382FE"/>
          </a:solidFill>
          <a:ln>
            <a:solidFill>
              <a:srgbClr val="008F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endParaRPr lang="ko-KR" altLang="en-US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7FDB8EB-42B8-E1F3-CEBF-FB1B55690CF9}"/>
              </a:ext>
            </a:extLst>
          </p:cNvPr>
          <p:cNvSpPr/>
          <p:nvPr/>
        </p:nvSpPr>
        <p:spPr>
          <a:xfrm>
            <a:off x="2126775" y="2340858"/>
            <a:ext cx="357162" cy="357162"/>
          </a:xfrm>
          <a:prstGeom prst="ellipse">
            <a:avLst/>
          </a:prstGeom>
          <a:solidFill>
            <a:srgbClr val="2382FE"/>
          </a:solidFill>
          <a:ln>
            <a:solidFill>
              <a:srgbClr val="008F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</a:t>
            </a:r>
            <a:endParaRPr lang="ko-KR" altLang="en-US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4925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BF7A20-E07E-603D-E20B-8B483FCA9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정부 인증 및 수상 내역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123063-1424-64E2-7BFC-FDB560564B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ko-KR" altLang="en-US" dirty="0"/>
              <a:t>알파코는 원격훈련 우수기관 </a:t>
            </a:r>
            <a:r>
              <a:rPr lang="en-US" altLang="ko-KR" dirty="0"/>
              <a:t>5</a:t>
            </a:r>
            <a:r>
              <a:rPr lang="ko-KR" altLang="en-US" dirty="0"/>
              <a:t>년 인증을 지속 획득한 신뢰받는 기관으로</a:t>
            </a:r>
            <a:r>
              <a:rPr lang="en-US" altLang="ko-KR" dirty="0"/>
              <a:t>, </a:t>
            </a:r>
            <a:r>
              <a:rPr lang="ko-KR" altLang="en-US" dirty="0"/>
              <a:t>다수의 수상 경력과 다양한 정부 인증을 보유하고 있음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AD976D-4467-0787-3F3E-560FBA33276E}"/>
              </a:ext>
            </a:extLst>
          </p:cNvPr>
          <p:cNvSpPr/>
          <p:nvPr/>
        </p:nvSpPr>
        <p:spPr>
          <a:xfrm>
            <a:off x="0" y="1574146"/>
            <a:ext cx="12192000" cy="1557105"/>
          </a:xfrm>
          <a:prstGeom prst="rect">
            <a:avLst/>
          </a:prstGeom>
          <a:solidFill>
            <a:srgbClr val="00206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2000" rtlCol="0" anchor="t" anchorCtr="0"/>
          <a:lstStyle/>
          <a:p>
            <a:pPr defTabSz="914377">
              <a:spcBef>
                <a:spcPts val="200"/>
              </a:spcBef>
            </a:pPr>
            <a:endParaRPr lang="ko-KR" altLang="en-US" sz="10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A1E16F9-2551-6CC9-CEF0-6860ECC7B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110978"/>
              </p:ext>
            </p:extLst>
          </p:nvPr>
        </p:nvGraphicFramePr>
        <p:xfrm>
          <a:off x="423312" y="3294881"/>
          <a:ext cx="11345376" cy="16926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6344">
                  <a:extLst>
                    <a:ext uri="{9D8B030D-6E8A-4147-A177-3AD203B41FA5}">
                      <a16:colId xmlns:a16="http://schemas.microsoft.com/office/drawing/2014/main" val="2981739168"/>
                    </a:ext>
                  </a:extLst>
                </a:gridCol>
                <a:gridCol w="2836344">
                  <a:extLst>
                    <a:ext uri="{9D8B030D-6E8A-4147-A177-3AD203B41FA5}">
                      <a16:colId xmlns:a16="http://schemas.microsoft.com/office/drawing/2014/main" val="1472893042"/>
                    </a:ext>
                  </a:extLst>
                </a:gridCol>
                <a:gridCol w="2836344">
                  <a:extLst>
                    <a:ext uri="{9D8B030D-6E8A-4147-A177-3AD203B41FA5}">
                      <a16:colId xmlns:a16="http://schemas.microsoft.com/office/drawing/2014/main" val="2304872100"/>
                    </a:ext>
                  </a:extLst>
                </a:gridCol>
                <a:gridCol w="2836344">
                  <a:extLst>
                    <a:ext uri="{9D8B030D-6E8A-4147-A177-3AD203B41FA5}">
                      <a16:colId xmlns:a16="http://schemas.microsoft.com/office/drawing/2014/main" val="2026269083"/>
                    </a:ext>
                  </a:extLst>
                </a:gridCol>
              </a:tblGrid>
              <a:tr h="13308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굿 콘텐츠 서비스 인증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(2019.10)</a:t>
                      </a:r>
                    </a:p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과학기술정보통신부</a:t>
                      </a:r>
                    </a:p>
                  </a:txBody>
                  <a:tcPr marT="900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경영혁신형 중소기업 인증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(2020.05)</a:t>
                      </a:r>
                    </a:p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중소기업벤처본부</a:t>
                      </a:r>
                    </a:p>
                    <a:p>
                      <a:pPr algn="ctr" latinLnBrk="1">
                        <a:lnSpc>
                          <a:spcPct val="11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T="900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1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인적자원개발 우수기관 인증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0" indent="0" algn="ctr" latinLnBrk="1">
                        <a:lnSpc>
                          <a:spcPct val="11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(2020.09)</a:t>
                      </a:r>
                    </a:p>
                    <a:p>
                      <a:pPr marL="0" indent="0" algn="ctr" latinLnBrk="1">
                        <a:lnSpc>
                          <a:spcPct val="11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고용노동부</a:t>
                      </a:r>
                      <a:endParaRPr lang="en-US" altLang="ko-KR" sz="11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 latinLnBrk="1">
                        <a:lnSpc>
                          <a:spcPct val="11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T="900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가족친화기업 인증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(2023.12.01-2025.11.30)</a:t>
                      </a:r>
                    </a:p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여성가족부</a:t>
                      </a:r>
                    </a:p>
                  </a:txBody>
                  <a:tcPr marT="900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24236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27DF14E0-C5D1-0EEB-B916-69FED089DB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6" t="23256" r="11886" b="23986"/>
          <a:stretch/>
        </p:blipFill>
        <p:spPr>
          <a:xfrm>
            <a:off x="5709552" y="1673613"/>
            <a:ext cx="772896" cy="768559"/>
          </a:xfrm>
          <a:prstGeom prst="rect">
            <a:avLst/>
          </a:prstGeom>
        </p:spPr>
      </p:pic>
      <p:pic>
        <p:nvPicPr>
          <p:cNvPr id="7" name="Picture 20" descr="내일의 Best를 위한 정책, &lt;인적자원개발 우수기관인증제도&gt;를 소개합니다!">
            <a:extLst>
              <a:ext uri="{FF2B5EF4-FFF2-40B4-BE49-F238E27FC236}">
                <a16:creationId xmlns:a16="http://schemas.microsoft.com/office/drawing/2014/main" id="{24B3119A-CDB0-6443-E1C5-3D5D214563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4" t="7091" r="8518" b="8523"/>
          <a:stretch/>
        </p:blipFill>
        <p:spPr bwMode="auto">
          <a:xfrm>
            <a:off x="6859687" y="3433341"/>
            <a:ext cx="1327248" cy="59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ABA6BC4-199A-95F7-E07E-A2EC98748FF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87473" y="3556425"/>
            <a:ext cx="996080" cy="388444"/>
          </a:xfrm>
          <a:prstGeom prst="rect">
            <a:avLst/>
          </a:prstGeom>
        </p:spPr>
      </p:pic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7F6AA31C-1F19-2F8E-B936-04815EF3290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22557" y="3560468"/>
            <a:ext cx="1734628" cy="399407"/>
          </a:xfrm>
          <a:prstGeom prst="rect">
            <a:avLst/>
          </a:prstGeom>
        </p:spPr>
      </p:pic>
      <p:pic>
        <p:nvPicPr>
          <p:cNvPr id="10" name="Picture 8" descr="남원시 홈페이지 2회 연속 굿콘텐츠서비스 인증 - np남원뉴스">
            <a:extLst>
              <a:ext uri="{FF2B5EF4-FFF2-40B4-BE49-F238E27FC236}">
                <a16:creationId xmlns:a16="http://schemas.microsoft.com/office/drawing/2014/main" id="{37A8A124-38AA-A20C-AF37-7F4F41C5B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592" y="3490176"/>
            <a:ext cx="1571091" cy="539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2BEBB1-3110-F11C-8F4C-27AC9E3AD6E9}"/>
              </a:ext>
            </a:extLst>
          </p:cNvPr>
          <p:cNvSpPr txBox="1"/>
          <p:nvPr/>
        </p:nvSpPr>
        <p:spPr>
          <a:xfrm>
            <a:off x="3048786" y="2524423"/>
            <a:ext cx="609442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ko-KR" altLang="en-US" sz="16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원격교육 </a:t>
            </a:r>
            <a:r>
              <a:rPr lang="ko-KR" altLang="en-US" sz="1600" b="1" dirty="0">
                <a:solidFill>
                  <a:srgbClr val="FFFF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우수훈련기관 지속</a:t>
            </a:r>
            <a:r>
              <a:rPr lang="ko-KR" altLang="en-US" sz="16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600" b="1" dirty="0">
                <a:solidFill>
                  <a:srgbClr val="FFFF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인증</a:t>
            </a:r>
            <a:endParaRPr lang="en-US" altLang="ko-KR" sz="1600" b="1" dirty="0">
              <a:solidFill>
                <a:srgbClr val="FFFF0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/>
            <a:r>
              <a:rPr lang="ko-KR" altLang="en-US" sz="11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고용노동부 직업능력심사평가원</a:t>
            </a:r>
            <a:endParaRPr lang="en-US" altLang="ko-KR" sz="11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FDF879C-CDC1-A014-D052-2BB0788AC0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692120"/>
              </p:ext>
            </p:extLst>
          </p:nvPr>
        </p:nvGraphicFramePr>
        <p:xfrm>
          <a:off x="442166" y="5148982"/>
          <a:ext cx="11345376" cy="1223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2688">
                  <a:extLst>
                    <a:ext uri="{9D8B030D-6E8A-4147-A177-3AD203B41FA5}">
                      <a16:colId xmlns:a16="http://schemas.microsoft.com/office/drawing/2014/main" val="2981739168"/>
                    </a:ext>
                  </a:extLst>
                </a:gridCol>
                <a:gridCol w="5672688">
                  <a:extLst>
                    <a:ext uri="{9D8B030D-6E8A-4147-A177-3AD203B41FA5}">
                      <a16:colId xmlns:a16="http://schemas.microsoft.com/office/drawing/2014/main" val="1492552655"/>
                    </a:ext>
                  </a:extLst>
                </a:gridCol>
              </a:tblGrid>
              <a:tr h="1223243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원격훈련 기관인증평가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년 인증 우수기관 선정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고용노동부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2022.11)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가족친화기업 인증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여성가족부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2023.12)</a:t>
                      </a:r>
                    </a:p>
                    <a:p>
                      <a:pPr marL="171450" indent="-171450" algn="l" latinLnBrk="1">
                        <a:lnSpc>
                          <a:spcPct val="120000"/>
                        </a:lnSpc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2023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아시아에듀테크써밋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(AES)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글로벌어워드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금상 수상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(2023.11)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인적자원개발 우수기관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(Best HRD) 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회 연속 선정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한국산업인력공단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2023.09)</a:t>
                      </a:r>
                    </a:p>
                  </a:txBody>
                  <a:tcPr marL="72000" marR="0" marT="36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20000"/>
                        </a:lnSpc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알파코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DT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그라운드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'K-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하이테크플랫폼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'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최우수 기관 선정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고용노동부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한국산업인력공단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2024.09)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사업주 직업능력개발훈련 우수사례 경진대회 훈련기관부문 최우수상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한국산업인력공단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2024.09)</a:t>
                      </a:r>
                    </a:p>
                    <a:p>
                      <a:pPr marL="171450" indent="-171450" algn="l" latinLnBrk="1">
                        <a:lnSpc>
                          <a:spcPct val="120000"/>
                        </a:lnSpc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디지털새싹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캠프 운영현황 점검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'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우수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'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평가 획득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한국과학창의재단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2024.07)</a:t>
                      </a:r>
                    </a:p>
                    <a:p>
                      <a:pPr marL="171450" indent="-171450" algn="l" latinLnBrk="1">
                        <a:lnSpc>
                          <a:spcPct val="120000"/>
                        </a:lnSpc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K-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하이테크 플랫폼 성과 우수기관 선정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신규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종합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),(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한국산업인력공단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2024.05)</a:t>
                      </a:r>
                    </a:p>
                  </a:txBody>
                  <a:tcPr marL="72000" marR="0" marT="36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2423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E341117-89B0-D8B0-1A68-C56AF3DB0C09}"/>
              </a:ext>
            </a:extLst>
          </p:cNvPr>
          <p:cNvSpPr txBox="1"/>
          <p:nvPr/>
        </p:nvSpPr>
        <p:spPr>
          <a:xfrm>
            <a:off x="442166" y="5151181"/>
            <a:ext cx="1129421" cy="276999"/>
          </a:xfrm>
          <a:prstGeom prst="rect">
            <a:avLst/>
          </a:prstGeom>
          <a:solidFill>
            <a:srgbClr val="002060"/>
          </a:solidFill>
        </p:spPr>
        <p:txBody>
          <a:bodyPr wrap="square" lIns="3600" rIns="3600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2022-2023</a:t>
            </a:r>
            <a:r>
              <a:rPr lang="ko-KR" altLang="en-US" sz="12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년</a:t>
            </a:r>
            <a:endParaRPr lang="en-US" altLang="ko-KR" sz="1200" b="1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C7F5B2-1231-FB0E-9776-7F42701AE79A}"/>
              </a:ext>
            </a:extLst>
          </p:cNvPr>
          <p:cNvSpPr txBox="1"/>
          <p:nvPr/>
        </p:nvSpPr>
        <p:spPr>
          <a:xfrm>
            <a:off x="6094339" y="5148885"/>
            <a:ext cx="1129421" cy="27699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2024</a:t>
            </a:r>
            <a:r>
              <a:rPr lang="ko-KR" altLang="en-US" sz="12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년</a:t>
            </a:r>
            <a:endParaRPr lang="en-US" altLang="ko-KR" sz="1200" b="1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9419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6279D-19B5-A862-ECCF-35A485ED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8F7ABAF-E173-B2A4-4BF6-2476AB6CD228}"/>
              </a:ext>
            </a:extLst>
          </p:cNvPr>
          <p:cNvSpPr/>
          <p:nvPr/>
        </p:nvSpPr>
        <p:spPr>
          <a:xfrm rot="16200000">
            <a:off x="-1515357" y="1515360"/>
            <a:ext cx="6858001" cy="3827277"/>
          </a:xfrm>
          <a:prstGeom prst="rect">
            <a:avLst/>
          </a:prstGeom>
          <a:pattFill prst="dkDnDiag">
            <a:fgClr>
              <a:schemeClr val="bg2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BC539D-D51D-9110-7BAF-21866CFD394A}"/>
              </a:ext>
            </a:extLst>
          </p:cNvPr>
          <p:cNvSpPr txBox="1"/>
          <p:nvPr/>
        </p:nvSpPr>
        <p:spPr>
          <a:xfrm>
            <a:off x="371770" y="1302376"/>
            <a:ext cx="1685077" cy="400110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defTabSz="914377">
              <a:spcBef>
                <a:spcPts val="1000"/>
              </a:spcBef>
              <a:defRPr/>
            </a:pPr>
            <a:r>
              <a:rPr lang="en-US" altLang="ko-KR" sz="2000" dirty="0">
                <a:solidFill>
                  <a:srgbClr val="008448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CONTENTS</a:t>
            </a:r>
            <a:endParaRPr lang="ko-KR" altLang="en-US" sz="2000" dirty="0">
              <a:solidFill>
                <a:srgbClr val="008448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5166616-D498-D9C4-CDD2-2551979266C8}"/>
              </a:ext>
            </a:extLst>
          </p:cNvPr>
          <p:cNvCxnSpPr>
            <a:cxnSpLocks/>
          </p:cNvCxnSpPr>
          <p:nvPr/>
        </p:nvCxnSpPr>
        <p:spPr>
          <a:xfrm>
            <a:off x="438445" y="1286365"/>
            <a:ext cx="237600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CC823F3-0B89-6B1C-436D-1AC57658C4A3}"/>
              </a:ext>
            </a:extLst>
          </p:cNvPr>
          <p:cNvSpPr txBox="1"/>
          <p:nvPr/>
        </p:nvSpPr>
        <p:spPr>
          <a:xfrm>
            <a:off x="419395" y="772330"/>
            <a:ext cx="2509144" cy="490455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2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S-OIL 2025</a:t>
            </a:r>
            <a:r>
              <a:rPr lang="ko-KR" altLang="en-US" sz="12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년</a:t>
            </a:r>
            <a:endParaRPr lang="en-US" altLang="ko-KR" sz="1200" b="1" kern="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Bold" panose="00000800000000000000" pitchFamily="2" charset="-127"/>
              <a:ea typeface="나눔스퀘어 네오 Bold" panose="000008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ko-KR" altLang="en-US" sz="12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독서통신 교육 서비스 수행 용역 제안</a:t>
            </a:r>
            <a:endParaRPr lang="en-US" altLang="ko-KR" sz="1200" b="1" kern="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Bold" panose="00000800000000000000" pitchFamily="2" charset="-127"/>
              <a:ea typeface="나눔스퀘어 네오 Bold" panose="000008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1AE02D-0DAB-D8A2-A9E3-2EA6EDCF93DC}"/>
              </a:ext>
            </a:extLst>
          </p:cNvPr>
          <p:cNvSpPr txBox="1"/>
          <p:nvPr/>
        </p:nvSpPr>
        <p:spPr>
          <a:xfrm>
            <a:off x="5010445" y="3920310"/>
            <a:ext cx="2340829" cy="1018740"/>
          </a:xfrm>
          <a:prstGeom prst="rect">
            <a:avLst/>
          </a:prstGeom>
          <a:solidFill>
            <a:schemeClr val="bg1"/>
          </a:solidFill>
        </p:spPr>
        <p:txBody>
          <a:bodyPr wrap="none" lIns="36000" anchor="t" anchorCtr="0">
            <a:spAutoFit/>
          </a:bodyPr>
          <a:lstStyle/>
          <a:p>
            <a:pPr marL="342891" indent="-342891">
              <a:lnSpc>
                <a:spcPct val="160000"/>
              </a:lnSpc>
              <a:buAutoNum type="arabicPeriod"/>
            </a:pPr>
            <a:r>
              <a:rPr lang="ko-KR" altLang="en-US" sz="13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프로젝트 추진방향</a:t>
            </a:r>
            <a:endParaRPr lang="en-US" altLang="ko-KR" sz="1300" kern="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342891" indent="-342891">
              <a:lnSpc>
                <a:spcPct val="160000"/>
              </a:lnSpc>
              <a:buAutoNum type="arabicPeriod"/>
            </a:pPr>
            <a:r>
              <a:rPr lang="ko-KR" altLang="en-US" sz="13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프로젝트 추진 단계</a:t>
            </a:r>
            <a:endParaRPr lang="en-US" altLang="ko-KR" sz="1300" kern="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342891" indent="-342891">
              <a:lnSpc>
                <a:spcPct val="160000"/>
              </a:lnSpc>
              <a:buAutoNum type="arabicPeriod"/>
            </a:pPr>
            <a:r>
              <a:rPr lang="ko-KR" altLang="en-US" sz="13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프로젝트 추진 단계별 상세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ED2494-D929-919B-A477-FC1071251A42}"/>
              </a:ext>
            </a:extLst>
          </p:cNvPr>
          <p:cNvSpPr txBox="1"/>
          <p:nvPr/>
        </p:nvSpPr>
        <p:spPr>
          <a:xfrm>
            <a:off x="4500564" y="3292005"/>
            <a:ext cx="1544012" cy="400110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defTabSz="914377">
              <a:defRPr/>
            </a:pPr>
            <a:r>
              <a:rPr lang="en-US" altLang="ko-KR" sz="20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Ⅱ. </a:t>
            </a:r>
            <a:r>
              <a:rPr lang="ko-KR" altLang="en-US" sz="20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사업개요</a:t>
            </a: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9C11B6BC-7BC8-74BF-9A3B-2BC7D4BD575F}"/>
              </a:ext>
            </a:extLst>
          </p:cNvPr>
          <p:cNvSpPr/>
          <p:nvPr/>
        </p:nvSpPr>
        <p:spPr>
          <a:xfrm rot="16200000" flipV="1">
            <a:off x="935609" y="3966323"/>
            <a:ext cx="1956061" cy="3827284"/>
          </a:xfrm>
          <a:custGeom>
            <a:avLst/>
            <a:gdLst>
              <a:gd name="connsiteX0" fmla="*/ 4885025 w 4885025"/>
              <a:gd name="connsiteY0" fmla="*/ 2643957 h 2643957"/>
              <a:gd name="connsiteX1" fmla="*/ 0 w 4885025"/>
              <a:gd name="connsiteY1" fmla="*/ 2643957 h 2643957"/>
              <a:gd name="connsiteX2" fmla="*/ 0 w 4885025"/>
              <a:gd name="connsiteY2" fmla="*/ 0 h 2643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85025" h="2643957">
                <a:moveTo>
                  <a:pt x="4885025" y="2643957"/>
                </a:moveTo>
                <a:lnTo>
                  <a:pt x="0" y="2643957"/>
                </a:lnTo>
                <a:lnTo>
                  <a:pt x="0" y="0"/>
                </a:lnTo>
                <a:close/>
              </a:path>
            </a:pathLst>
          </a:custGeom>
          <a:solidFill>
            <a:srgbClr val="FEC3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93DAACC-9E21-B861-C20B-69C36338478C}"/>
              </a:ext>
            </a:extLst>
          </p:cNvPr>
          <p:cNvGrpSpPr/>
          <p:nvPr/>
        </p:nvGrpSpPr>
        <p:grpSpPr>
          <a:xfrm>
            <a:off x="1555426" y="5401558"/>
            <a:ext cx="1986198" cy="1475295"/>
            <a:chOff x="1555426" y="5401558"/>
            <a:chExt cx="1986198" cy="1475295"/>
          </a:xfrm>
        </p:grpSpPr>
        <p:pic>
          <p:nvPicPr>
            <p:cNvPr id="17" name="그림 16" descr="Learning online concept">
              <a:extLst>
                <a:ext uri="{FF2B5EF4-FFF2-40B4-BE49-F238E27FC236}">
                  <a16:creationId xmlns:a16="http://schemas.microsoft.com/office/drawing/2014/main" id="{3D952023-E217-9632-690E-BA64178BBA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EC33B"/>
                </a:clrFrom>
                <a:clrTo>
                  <a:srgbClr val="FEC33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5426" y="5401558"/>
              <a:ext cx="1986198" cy="1475295"/>
            </a:xfrm>
            <a:custGeom>
              <a:avLst/>
              <a:gdLst>
                <a:gd name="connsiteX0" fmla="*/ 0 w 1986198"/>
                <a:gd name="connsiteY0" fmla="*/ 0 h 1475295"/>
                <a:gd name="connsiteX1" fmla="*/ 1986198 w 1986198"/>
                <a:gd name="connsiteY1" fmla="*/ 0 h 1475295"/>
                <a:gd name="connsiteX2" fmla="*/ 1986198 w 1986198"/>
                <a:gd name="connsiteY2" fmla="*/ 308059 h 1475295"/>
                <a:gd name="connsiteX3" fmla="*/ 1627577 w 1986198"/>
                <a:gd name="connsiteY3" fmla="*/ 308059 h 1475295"/>
                <a:gd name="connsiteX4" fmla="*/ 1627577 w 1986198"/>
                <a:gd name="connsiteY4" fmla="*/ 791852 h 1475295"/>
                <a:gd name="connsiteX5" fmla="*/ 1986198 w 1986198"/>
                <a:gd name="connsiteY5" fmla="*/ 791852 h 1475295"/>
                <a:gd name="connsiteX6" fmla="*/ 1986198 w 1986198"/>
                <a:gd name="connsiteY6" fmla="*/ 1475295 h 1475295"/>
                <a:gd name="connsiteX7" fmla="*/ 0 w 1986198"/>
                <a:gd name="connsiteY7" fmla="*/ 1475295 h 1475295"/>
                <a:gd name="connsiteX8" fmla="*/ 0 w 1986198"/>
                <a:gd name="connsiteY8" fmla="*/ 646404 h 1475295"/>
                <a:gd name="connsiteX9" fmla="*/ 357577 w 1986198"/>
                <a:gd name="connsiteY9" fmla="*/ 646404 h 1475295"/>
                <a:gd name="connsiteX10" fmla="*/ 357577 w 1986198"/>
                <a:gd name="connsiteY10" fmla="*/ 245097 h 1475295"/>
                <a:gd name="connsiteX11" fmla="*/ 0 w 1986198"/>
                <a:gd name="connsiteY11" fmla="*/ 245097 h 1475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86198" h="1475295">
                  <a:moveTo>
                    <a:pt x="0" y="0"/>
                  </a:moveTo>
                  <a:lnTo>
                    <a:pt x="1986198" y="0"/>
                  </a:lnTo>
                  <a:lnTo>
                    <a:pt x="1986198" y="308059"/>
                  </a:lnTo>
                  <a:lnTo>
                    <a:pt x="1627577" y="308059"/>
                  </a:lnTo>
                  <a:lnTo>
                    <a:pt x="1627577" y="791852"/>
                  </a:lnTo>
                  <a:lnTo>
                    <a:pt x="1986198" y="791852"/>
                  </a:lnTo>
                  <a:lnTo>
                    <a:pt x="1986198" y="1475295"/>
                  </a:lnTo>
                  <a:lnTo>
                    <a:pt x="0" y="1475295"/>
                  </a:lnTo>
                  <a:lnTo>
                    <a:pt x="0" y="646404"/>
                  </a:lnTo>
                  <a:lnTo>
                    <a:pt x="357577" y="646404"/>
                  </a:lnTo>
                  <a:lnTo>
                    <a:pt x="357577" y="245097"/>
                  </a:lnTo>
                  <a:lnTo>
                    <a:pt x="0" y="245097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2" descr="s-oil">
              <a:extLst>
                <a:ext uri="{FF2B5EF4-FFF2-40B4-BE49-F238E27FC236}">
                  <a16:creationId xmlns:a16="http://schemas.microsoft.com/office/drawing/2014/main" id="{2F4F6622-3247-675B-50F2-2081ECF163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9808" y="5901359"/>
              <a:ext cx="225844" cy="1503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22552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6">
            <a:extLst>
              <a:ext uri="{FF2B5EF4-FFF2-40B4-BE49-F238E27FC236}">
                <a16:creationId xmlns:a16="http://schemas.microsoft.com/office/drawing/2014/main" id="{42ACB65F-4651-C4BF-3A13-7F0A5D79F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</a:t>
            </a:r>
            <a:r>
              <a:rPr lang="ko-KR" altLang="en-US" dirty="0"/>
              <a:t> 프로젝트 추진방향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1E1099-999A-E337-8E1E-96E48C175811}"/>
              </a:ext>
            </a:extLst>
          </p:cNvPr>
          <p:cNvSpPr txBox="1"/>
          <p:nvPr/>
        </p:nvSpPr>
        <p:spPr>
          <a:xfrm>
            <a:off x="498279" y="1026807"/>
            <a:ext cx="4637808" cy="384785"/>
          </a:xfrm>
          <a:prstGeom prst="rect">
            <a:avLst/>
          </a:prstGeom>
          <a:noFill/>
        </p:spPr>
        <p:txBody>
          <a:bodyPr wrap="none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dirty="0">
                <a:solidFill>
                  <a:srgbClr val="0000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임직원 역량강화를 가속화 하는 플랫폼으로서 </a:t>
            </a: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1F965E-A320-2F52-EA1C-22241D204688}"/>
              </a:ext>
            </a:extLst>
          </p:cNvPr>
          <p:cNvSpPr txBox="1"/>
          <p:nvPr/>
        </p:nvSpPr>
        <p:spPr>
          <a:xfrm>
            <a:off x="498279" y="1338104"/>
            <a:ext cx="7885492" cy="384785"/>
          </a:xfrm>
          <a:prstGeom prst="rect">
            <a:avLst/>
          </a:prstGeom>
          <a:noFill/>
        </p:spPr>
        <p:txBody>
          <a:bodyPr wrap="none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dirty="0">
                <a:solidFill>
                  <a:srgbClr val="0000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독서통신 업그레이드 측면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에서 고려해야 할 주요 </a:t>
            </a:r>
            <a:r>
              <a:rPr lang="ko-KR" altLang="en-US" dirty="0">
                <a:solidFill>
                  <a:srgbClr val="0000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이슈 도출 및 대응전략 수립 </a:t>
            </a:r>
            <a:endParaRPr lang="en-US" altLang="ko-KR" dirty="0">
              <a:solidFill>
                <a:srgbClr val="0000FF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23E3618-FD4E-B56B-BD01-0C050E4B4791}"/>
              </a:ext>
            </a:extLst>
          </p:cNvPr>
          <p:cNvSpPr/>
          <p:nvPr/>
        </p:nvSpPr>
        <p:spPr>
          <a:xfrm>
            <a:off x="515938" y="1921418"/>
            <a:ext cx="11248161" cy="4443653"/>
          </a:xfrm>
          <a:prstGeom prst="rect">
            <a:avLst/>
          </a:prstGeom>
          <a:noFill/>
          <a:ln w="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779E8DB-EBD4-7082-54A3-D36E985900C5}"/>
              </a:ext>
            </a:extLst>
          </p:cNvPr>
          <p:cNvSpPr/>
          <p:nvPr/>
        </p:nvSpPr>
        <p:spPr>
          <a:xfrm>
            <a:off x="1000055" y="2159866"/>
            <a:ext cx="8643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u="sng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실행이슈</a:t>
            </a:r>
            <a:endParaRPr lang="ko-KR" altLang="en-US" sz="1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08F813AD-3D65-6242-1372-A5073AFE8F83}"/>
              </a:ext>
            </a:extLst>
          </p:cNvPr>
          <p:cNvGrpSpPr/>
          <p:nvPr/>
        </p:nvGrpSpPr>
        <p:grpSpPr>
          <a:xfrm>
            <a:off x="1007889" y="3992414"/>
            <a:ext cx="2783521" cy="553998"/>
            <a:chOff x="1007889" y="3809120"/>
            <a:chExt cx="2783521" cy="553998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077A06B-34F7-D359-FCFB-BA09D34127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8893" y="3959951"/>
              <a:ext cx="176527" cy="1765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endParaRPr lang="ko-KR" altLang="en-US" sz="1500"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1E2A033-96FC-496D-9D00-C8D287DB69B1}"/>
                </a:ext>
              </a:extLst>
            </p:cNvPr>
            <p:cNvSpPr txBox="1"/>
            <p:nvPr/>
          </p:nvSpPr>
          <p:spPr>
            <a:xfrm>
              <a:off x="1007889" y="3891877"/>
              <a:ext cx="70620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500" dirty="0">
                  <a:solidFill>
                    <a:schemeClr val="bg1"/>
                  </a:solidFill>
                  <a:highlight>
                    <a:srgbClr val="FFFF00"/>
                  </a:highlight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Arial" pitchFamily="34" charset="0"/>
                </a:rPr>
                <a:t>  </a:t>
              </a:r>
              <a:endParaRPr lang="ko-KR" altLang="en-US" sz="1500" dirty="0">
                <a:solidFill>
                  <a:schemeClr val="bg1"/>
                </a:solidFill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F888974-CEF5-04BB-F1E3-9BDA8E7BCDA8}"/>
                </a:ext>
              </a:extLst>
            </p:cNvPr>
            <p:cNvSpPr/>
            <p:nvPr/>
          </p:nvSpPr>
          <p:spPr>
            <a:xfrm>
              <a:off x="1296816" y="3809120"/>
              <a:ext cx="2494594" cy="5539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500" spc="-100" dirty="0">
                  <a:ln>
                    <a:solidFill>
                      <a:srgbClr val="D9196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프로젝트 수행그룹이 각 분야별</a:t>
              </a:r>
              <a:br>
                <a:rPr lang="en-US" altLang="ko-KR" sz="1500" spc="-100" dirty="0">
                  <a:ln>
                    <a:solidFill>
                      <a:srgbClr val="D9196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</a:br>
              <a:r>
                <a:rPr lang="ko-KR" altLang="en-US" sz="1500" spc="-100" dirty="0">
                  <a:ln>
                    <a:solidFill>
                      <a:srgbClr val="D9196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전문성을 보유하고 있는가</a:t>
              </a:r>
              <a:r>
                <a:rPr lang="en-US" altLang="ko-KR" sz="1500" spc="-100" dirty="0">
                  <a:ln>
                    <a:solidFill>
                      <a:srgbClr val="D9196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?</a:t>
              </a:r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80188A29-589C-50BA-36C4-A8C9463A2937}"/>
              </a:ext>
            </a:extLst>
          </p:cNvPr>
          <p:cNvGrpSpPr/>
          <p:nvPr/>
        </p:nvGrpSpPr>
        <p:grpSpPr>
          <a:xfrm>
            <a:off x="1007889" y="5409824"/>
            <a:ext cx="2663741" cy="553998"/>
            <a:chOff x="1007889" y="5046139"/>
            <a:chExt cx="2663741" cy="55399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C1C5B7C2-3EEA-0769-52DC-824D036E88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8893" y="5189058"/>
              <a:ext cx="176527" cy="1765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endParaRPr lang="ko-KR" altLang="en-US" sz="1500"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400DEB-D8E9-833C-8B4E-B5E4FC9E4B79}"/>
                </a:ext>
              </a:extLst>
            </p:cNvPr>
            <p:cNvSpPr txBox="1"/>
            <p:nvPr/>
          </p:nvSpPr>
          <p:spPr>
            <a:xfrm>
              <a:off x="1007889" y="5114190"/>
              <a:ext cx="70620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500" dirty="0">
                  <a:solidFill>
                    <a:schemeClr val="bg1"/>
                  </a:solidFill>
                  <a:highlight>
                    <a:srgbClr val="FFFF00"/>
                  </a:highlight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Arial" pitchFamily="34" charset="0"/>
                </a:rPr>
                <a:t>  </a:t>
              </a:r>
              <a:endParaRPr lang="ko-KR" altLang="en-US" sz="1500" dirty="0">
                <a:solidFill>
                  <a:schemeClr val="bg1"/>
                </a:solidFill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152C29CE-CADE-21E5-3A30-95843EE0DB35}"/>
                </a:ext>
              </a:extLst>
            </p:cNvPr>
            <p:cNvSpPr/>
            <p:nvPr/>
          </p:nvSpPr>
          <p:spPr>
            <a:xfrm>
              <a:off x="1313292" y="5046139"/>
              <a:ext cx="2358338" cy="5539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500" spc="-100" dirty="0">
                  <a:ln>
                    <a:solidFill>
                      <a:srgbClr val="D9196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대규모 인원을 수용할 수 있는</a:t>
              </a:r>
            </a:p>
            <a:p>
              <a:r>
                <a:rPr lang="ko-KR" altLang="en-US" sz="1500" spc="-100" dirty="0">
                  <a:ln>
                    <a:solidFill>
                      <a:srgbClr val="D9196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시스템 구현이 가능한가</a:t>
              </a:r>
              <a:r>
                <a:rPr lang="en-US" altLang="ko-KR" sz="1500" spc="-100" dirty="0">
                  <a:ln>
                    <a:solidFill>
                      <a:srgbClr val="D9196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?</a:t>
              </a: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B8B15855-C817-C302-C6BD-9C88EED846D0}"/>
              </a:ext>
            </a:extLst>
          </p:cNvPr>
          <p:cNvGrpSpPr/>
          <p:nvPr/>
        </p:nvGrpSpPr>
        <p:grpSpPr>
          <a:xfrm>
            <a:off x="1007889" y="4701120"/>
            <a:ext cx="2919774" cy="553998"/>
            <a:chOff x="1007889" y="4429080"/>
            <a:chExt cx="2919774" cy="553998"/>
          </a:xfrm>
        </p:grpSpPr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A50FE058-4179-1276-A030-C65B1C041B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8893" y="4560001"/>
              <a:ext cx="176527" cy="1765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endParaRPr lang="ko-KR" altLang="en-US" sz="1500"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33E45CC-75FC-EFFA-62F0-F27E1CD85FA6}"/>
                </a:ext>
              </a:extLst>
            </p:cNvPr>
            <p:cNvSpPr txBox="1"/>
            <p:nvPr/>
          </p:nvSpPr>
          <p:spPr>
            <a:xfrm>
              <a:off x="1007889" y="4488531"/>
              <a:ext cx="70620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500" dirty="0">
                  <a:solidFill>
                    <a:schemeClr val="bg1"/>
                  </a:solidFill>
                  <a:highlight>
                    <a:srgbClr val="FFFF00"/>
                  </a:highlight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Arial" pitchFamily="34" charset="0"/>
                </a:rPr>
                <a:t>  </a:t>
              </a:r>
              <a:endParaRPr lang="ko-KR" altLang="en-US" sz="1500" dirty="0">
                <a:solidFill>
                  <a:schemeClr val="bg1"/>
                </a:solidFill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D234765E-12F4-EEA0-4927-C4ACF8810758}"/>
                </a:ext>
              </a:extLst>
            </p:cNvPr>
            <p:cNvSpPr/>
            <p:nvPr/>
          </p:nvSpPr>
          <p:spPr>
            <a:xfrm>
              <a:off x="1296815" y="4429080"/>
              <a:ext cx="2630848" cy="5539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500" spc="-100" dirty="0">
                  <a:ln>
                    <a:solidFill>
                      <a:srgbClr val="D9196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학습전이가 효과적으로 적용되는</a:t>
              </a:r>
              <a:br>
                <a:rPr lang="ko-KR" altLang="en-US" sz="1500" spc="-100" dirty="0">
                  <a:ln>
                    <a:solidFill>
                      <a:srgbClr val="D9196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</a:br>
              <a:r>
                <a:rPr lang="ko-KR" altLang="en-US" sz="1500" spc="-100" dirty="0">
                  <a:ln>
                    <a:solidFill>
                      <a:srgbClr val="D9196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구조로 설계되어 있는가</a:t>
              </a:r>
              <a:r>
                <a:rPr lang="en-US" altLang="ko-KR" sz="1500" spc="-100" dirty="0">
                  <a:ln>
                    <a:solidFill>
                      <a:srgbClr val="D9196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?</a:t>
              </a: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AF037E6D-418C-8C9B-29C3-4F03EAE3E8F2}"/>
              </a:ext>
            </a:extLst>
          </p:cNvPr>
          <p:cNvGrpSpPr/>
          <p:nvPr/>
        </p:nvGrpSpPr>
        <p:grpSpPr>
          <a:xfrm>
            <a:off x="1007889" y="2575002"/>
            <a:ext cx="4170118" cy="553998"/>
            <a:chOff x="1007889" y="2575002"/>
            <a:chExt cx="4170118" cy="553998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71F12E63-9151-8472-7B6D-26821609F7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8893" y="2735511"/>
              <a:ext cx="176527" cy="1765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endParaRPr lang="ko-KR" altLang="en-US" sz="1500"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3CF1703-F1F0-8F24-97B0-06980603C348}"/>
                </a:ext>
              </a:extLst>
            </p:cNvPr>
            <p:cNvSpPr txBox="1"/>
            <p:nvPr/>
          </p:nvSpPr>
          <p:spPr>
            <a:xfrm>
              <a:off x="1007889" y="2670834"/>
              <a:ext cx="70620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500" dirty="0">
                  <a:solidFill>
                    <a:schemeClr val="bg1"/>
                  </a:solidFill>
                  <a:highlight>
                    <a:srgbClr val="FFFF00"/>
                  </a:highlight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Arial" pitchFamily="34" charset="0"/>
                </a:rPr>
                <a:t>  </a:t>
              </a:r>
              <a:endParaRPr lang="ko-KR" altLang="en-US" sz="1500" dirty="0">
                <a:solidFill>
                  <a:schemeClr val="bg1"/>
                </a:solidFill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6EB2066-200C-0A87-4493-1FB8DF8D5BBE}"/>
                </a:ext>
              </a:extLst>
            </p:cNvPr>
            <p:cNvSpPr/>
            <p:nvPr/>
          </p:nvSpPr>
          <p:spPr>
            <a:xfrm>
              <a:off x="1296816" y="2575002"/>
              <a:ext cx="3881191" cy="5539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500" spc="-100" dirty="0">
                  <a:ln>
                    <a:solidFill>
                      <a:srgbClr val="D9196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기존 독서통신 교육 서비스를 한단계</a:t>
              </a:r>
              <a:br>
                <a:rPr lang="en-US" altLang="ko-KR" sz="1500" spc="-100" dirty="0">
                  <a:ln>
                    <a:solidFill>
                      <a:srgbClr val="D9196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</a:br>
              <a:r>
                <a:rPr lang="ko-KR" altLang="en-US" sz="1500" spc="-100" dirty="0">
                  <a:ln>
                    <a:solidFill>
                      <a:srgbClr val="D9196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업그레이드 할 수 있는 기본역량을 갖추고 있는가</a:t>
              </a:r>
              <a:r>
                <a:rPr lang="en-US" altLang="ko-KR" sz="1500" spc="-100" dirty="0">
                  <a:ln>
                    <a:solidFill>
                      <a:srgbClr val="D9196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?</a:t>
              </a:r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4D2B6A05-E22B-AE32-AC78-385349826F5A}"/>
              </a:ext>
            </a:extLst>
          </p:cNvPr>
          <p:cNvGrpSpPr/>
          <p:nvPr/>
        </p:nvGrpSpPr>
        <p:grpSpPr>
          <a:xfrm>
            <a:off x="1007889" y="3283708"/>
            <a:ext cx="3333350" cy="553998"/>
            <a:chOff x="1007889" y="3192061"/>
            <a:chExt cx="3333350" cy="553998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7EE8E732-5DB9-BBB3-C1D4-27E120A497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8893" y="3342892"/>
              <a:ext cx="176527" cy="1765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endParaRPr lang="ko-KR" altLang="en-US" sz="1500"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3B2E80E-AE4F-F90C-4EA0-40257C260AAA}"/>
                </a:ext>
              </a:extLst>
            </p:cNvPr>
            <p:cNvSpPr txBox="1"/>
            <p:nvPr/>
          </p:nvSpPr>
          <p:spPr>
            <a:xfrm>
              <a:off x="1007889" y="3274818"/>
              <a:ext cx="70620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ko-KR" sz="1500" dirty="0">
                  <a:solidFill>
                    <a:schemeClr val="bg1"/>
                  </a:solidFill>
                  <a:highlight>
                    <a:srgbClr val="FFFF00"/>
                  </a:highlight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Arial" pitchFamily="34" charset="0"/>
                </a:rPr>
                <a:t>  </a:t>
              </a:r>
              <a:endParaRPr lang="ko-KR" altLang="en-US" sz="1500" dirty="0">
                <a:solidFill>
                  <a:schemeClr val="bg1"/>
                </a:solidFill>
                <a:highlight>
                  <a:srgbClr val="FFFF00"/>
                </a:highlight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9FE888B4-31BB-8332-04ED-1690D43E360C}"/>
                </a:ext>
              </a:extLst>
            </p:cNvPr>
            <p:cNvSpPr/>
            <p:nvPr/>
          </p:nvSpPr>
          <p:spPr>
            <a:xfrm>
              <a:off x="1296816" y="3192061"/>
              <a:ext cx="3044423" cy="5539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500" spc="-100" dirty="0">
                  <a:ln>
                    <a:solidFill>
                      <a:srgbClr val="D9196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잠재적 역량강화 </a:t>
              </a:r>
              <a:r>
                <a:rPr lang="en-US" altLang="ko-KR" sz="1500" spc="-100" dirty="0">
                  <a:ln>
                    <a:solidFill>
                      <a:srgbClr val="D9196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  <a:sym typeface="Wingdings" panose="05000000000000000000" pitchFamily="2" charset="2"/>
                </a:rPr>
                <a:t> </a:t>
              </a:r>
              <a:r>
                <a:rPr lang="ko-KR" altLang="en-US" sz="1500" spc="-100" dirty="0">
                  <a:ln>
                    <a:solidFill>
                      <a:srgbClr val="D9196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  <a:sym typeface="Wingdings" panose="05000000000000000000" pitchFamily="2" charset="2"/>
                </a:rPr>
                <a:t>실제적 역량강화로</a:t>
              </a:r>
              <a:br>
                <a:rPr lang="en-US" altLang="ko-KR" sz="1500" spc="-100" dirty="0">
                  <a:ln>
                    <a:solidFill>
                      <a:srgbClr val="D9196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  <a:sym typeface="Wingdings" panose="05000000000000000000" pitchFamily="2" charset="2"/>
                </a:rPr>
              </a:br>
              <a:r>
                <a:rPr lang="ko-KR" altLang="en-US" sz="1500" spc="-100" dirty="0">
                  <a:ln>
                    <a:solidFill>
                      <a:srgbClr val="D9196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  <a:sym typeface="Wingdings" panose="05000000000000000000" pitchFamily="2" charset="2"/>
                </a:rPr>
                <a:t>전환을 리딩 할 수 있는가</a:t>
              </a:r>
              <a:r>
                <a:rPr lang="en-US" altLang="ko-KR" sz="1500" spc="-100" dirty="0">
                  <a:ln>
                    <a:solidFill>
                      <a:srgbClr val="D91962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  <a:sym typeface="Wingdings" panose="05000000000000000000" pitchFamily="2" charset="2"/>
                </a:rPr>
                <a:t>?</a:t>
              </a:r>
              <a:endParaRPr lang="en-US" altLang="ko-KR" sz="1500" spc="-100" dirty="0">
                <a:ln>
                  <a:solidFill>
                    <a:srgbClr val="D91962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sp>
        <p:nvSpPr>
          <p:cNvPr id="129" name="화살표: 오른쪽 128">
            <a:extLst>
              <a:ext uri="{FF2B5EF4-FFF2-40B4-BE49-F238E27FC236}">
                <a16:creationId xmlns:a16="http://schemas.microsoft.com/office/drawing/2014/main" id="{498B6C91-F8A7-3158-AAD9-B8B34C9679BA}"/>
              </a:ext>
            </a:extLst>
          </p:cNvPr>
          <p:cNvSpPr/>
          <p:nvPr/>
        </p:nvSpPr>
        <p:spPr>
          <a:xfrm>
            <a:off x="5221098" y="2372041"/>
            <a:ext cx="1839453" cy="1214760"/>
          </a:xfrm>
          <a:prstGeom prst="rightArrow">
            <a:avLst>
              <a:gd name="adj1" fmla="val 65397"/>
              <a:gd name="adj2" fmla="val 25460"/>
            </a:avLst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tIns="0" bIns="0" rtlCol="0" anchor="ctr" anchorCtr="0"/>
          <a:lstStyle/>
          <a:p>
            <a:pPr marL="0" marR="0" indent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ko-KR" altLang="en-US" sz="2000" b="0" kern="1200" spc="0" noProof="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7224E47B-7604-0BA3-5FE0-6E1CE4AE45E8}"/>
              </a:ext>
            </a:extLst>
          </p:cNvPr>
          <p:cNvSpPr>
            <a:spLocks noChangeAspect="1"/>
          </p:cNvSpPr>
          <p:nvPr/>
        </p:nvSpPr>
        <p:spPr>
          <a:xfrm>
            <a:off x="5482869" y="2482343"/>
            <a:ext cx="994264" cy="994156"/>
          </a:xfrm>
          <a:prstGeom prst="ellipse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1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21C76748-05D6-894B-2AE2-84F5CABA686D}"/>
              </a:ext>
            </a:extLst>
          </p:cNvPr>
          <p:cNvSpPr>
            <a:spLocks noChangeAspect="1"/>
          </p:cNvSpPr>
          <p:nvPr/>
        </p:nvSpPr>
        <p:spPr>
          <a:xfrm>
            <a:off x="5562456" y="2561875"/>
            <a:ext cx="835091" cy="835091"/>
          </a:xfrm>
          <a:prstGeom prst="ellipse">
            <a:avLst/>
          </a:prstGeom>
          <a:pattFill prst="ltVert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1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1DD449C-4AD9-C3E6-1CA5-F45A6159A2E4}"/>
              </a:ext>
            </a:extLst>
          </p:cNvPr>
          <p:cNvSpPr txBox="1"/>
          <p:nvPr/>
        </p:nvSpPr>
        <p:spPr>
          <a:xfrm>
            <a:off x="5312190" y="2771896"/>
            <a:ext cx="133562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>
                <a:ln w="3175">
                  <a:solidFill>
                    <a:srgbClr val="002060"/>
                  </a:solidFill>
                </a:ln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Customization</a:t>
            </a:r>
          </a:p>
          <a:p>
            <a:pPr algn="ctr"/>
            <a:r>
              <a:rPr lang="en-US" altLang="ko-KR" sz="1200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200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내용</a:t>
            </a:r>
            <a:r>
              <a:rPr lang="en-US" altLang="ko-KR" sz="1200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sz="1100" dirty="0">
              <a:solidFill>
                <a:srgbClr val="002060"/>
              </a:solidFill>
            </a:endParaRPr>
          </a:p>
        </p:txBody>
      </p:sp>
      <p:sp>
        <p:nvSpPr>
          <p:cNvPr id="130" name="화살표: 오른쪽 129">
            <a:extLst>
              <a:ext uri="{FF2B5EF4-FFF2-40B4-BE49-F238E27FC236}">
                <a16:creationId xmlns:a16="http://schemas.microsoft.com/office/drawing/2014/main" id="{C2A93DF0-2A82-E181-47BF-1AE18AD3F98F}"/>
              </a:ext>
            </a:extLst>
          </p:cNvPr>
          <p:cNvSpPr/>
          <p:nvPr/>
        </p:nvSpPr>
        <p:spPr>
          <a:xfrm>
            <a:off x="5221098" y="3609768"/>
            <a:ext cx="1839453" cy="1214760"/>
          </a:xfrm>
          <a:prstGeom prst="rightArrow">
            <a:avLst>
              <a:gd name="adj1" fmla="val 65397"/>
              <a:gd name="adj2" fmla="val 25460"/>
            </a:avLst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tIns="0" bIns="0" rtlCol="0" anchor="ctr" anchorCtr="0"/>
          <a:lstStyle/>
          <a:p>
            <a:pPr marL="0" marR="0" indent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ko-KR" altLang="en-US" sz="2000" b="0" kern="1200" spc="0" noProof="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D2B5EAFB-D30C-AC36-DA7F-986B32E7F50F}"/>
              </a:ext>
            </a:extLst>
          </p:cNvPr>
          <p:cNvSpPr>
            <a:spLocks noChangeAspect="1"/>
          </p:cNvSpPr>
          <p:nvPr/>
        </p:nvSpPr>
        <p:spPr>
          <a:xfrm>
            <a:off x="5478099" y="3720070"/>
            <a:ext cx="994264" cy="994156"/>
          </a:xfrm>
          <a:prstGeom prst="ellipse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1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F36E5356-0915-5254-5FB9-11D6A3B4672C}"/>
              </a:ext>
            </a:extLst>
          </p:cNvPr>
          <p:cNvSpPr>
            <a:spLocks noChangeAspect="1"/>
          </p:cNvSpPr>
          <p:nvPr/>
        </p:nvSpPr>
        <p:spPr>
          <a:xfrm>
            <a:off x="5557686" y="3799602"/>
            <a:ext cx="835091" cy="835091"/>
          </a:xfrm>
          <a:prstGeom prst="ellipse">
            <a:avLst/>
          </a:prstGeom>
          <a:pattFill prst="ltVert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1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C81416C6-CD21-B27C-0EEF-9ADED82AB2A7}"/>
              </a:ext>
            </a:extLst>
          </p:cNvPr>
          <p:cNvSpPr txBox="1"/>
          <p:nvPr/>
        </p:nvSpPr>
        <p:spPr>
          <a:xfrm>
            <a:off x="5456288" y="4009623"/>
            <a:ext cx="1037886" cy="4527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>
                <a:ln w="3175">
                  <a:solidFill>
                    <a:srgbClr val="002060"/>
                  </a:solidFill>
                </a:ln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Facilitation</a:t>
            </a:r>
          </a:p>
          <a:p>
            <a:pPr algn="ctr"/>
            <a:r>
              <a:rPr lang="en-US" altLang="ko-KR" sz="1200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200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촉진</a:t>
            </a:r>
            <a:r>
              <a:rPr lang="en-US" altLang="ko-KR" sz="1200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sz="1100" dirty="0">
              <a:solidFill>
                <a:srgbClr val="002060"/>
              </a:solidFill>
            </a:endParaRPr>
          </a:p>
        </p:txBody>
      </p:sp>
      <p:sp>
        <p:nvSpPr>
          <p:cNvPr id="131" name="화살표: 오른쪽 130">
            <a:extLst>
              <a:ext uri="{FF2B5EF4-FFF2-40B4-BE49-F238E27FC236}">
                <a16:creationId xmlns:a16="http://schemas.microsoft.com/office/drawing/2014/main" id="{87275D17-D124-BC23-A3FF-DCD3E90FECB0}"/>
              </a:ext>
            </a:extLst>
          </p:cNvPr>
          <p:cNvSpPr/>
          <p:nvPr/>
        </p:nvSpPr>
        <p:spPr>
          <a:xfrm>
            <a:off x="5221098" y="4847494"/>
            <a:ext cx="1839453" cy="1214760"/>
          </a:xfrm>
          <a:prstGeom prst="rightArrow">
            <a:avLst>
              <a:gd name="adj1" fmla="val 65397"/>
              <a:gd name="adj2" fmla="val 25460"/>
            </a:avLst>
          </a:prstGeom>
          <a:pattFill prst="lt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tIns="0" bIns="0" rtlCol="0" anchor="ctr" anchorCtr="0"/>
          <a:lstStyle/>
          <a:p>
            <a:pPr marL="0" marR="0" indent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ko-KR" altLang="en-US" sz="2000" b="0" kern="1200" spc="0" noProof="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645CDB08-4FF5-643D-316C-5ABC5B11AED2}"/>
              </a:ext>
            </a:extLst>
          </p:cNvPr>
          <p:cNvSpPr>
            <a:spLocks noChangeAspect="1"/>
          </p:cNvSpPr>
          <p:nvPr/>
        </p:nvSpPr>
        <p:spPr>
          <a:xfrm>
            <a:off x="5478099" y="4957796"/>
            <a:ext cx="994264" cy="994156"/>
          </a:xfrm>
          <a:prstGeom prst="ellipse">
            <a:avLst/>
          </a:prstGeom>
          <a:solidFill>
            <a:srgbClr val="00B0F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1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C8010747-E2BA-A380-08DB-764DC0D2331B}"/>
              </a:ext>
            </a:extLst>
          </p:cNvPr>
          <p:cNvSpPr>
            <a:spLocks noChangeAspect="1"/>
          </p:cNvSpPr>
          <p:nvPr/>
        </p:nvSpPr>
        <p:spPr>
          <a:xfrm>
            <a:off x="5557686" y="5037328"/>
            <a:ext cx="835091" cy="835091"/>
          </a:xfrm>
          <a:prstGeom prst="ellipse">
            <a:avLst/>
          </a:prstGeom>
          <a:pattFill prst="ltVert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1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112613A-2DDB-EC0F-21EE-1AD6FA398C65}"/>
              </a:ext>
            </a:extLst>
          </p:cNvPr>
          <p:cNvSpPr txBox="1"/>
          <p:nvPr/>
        </p:nvSpPr>
        <p:spPr>
          <a:xfrm>
            <a:off x="5500306" y="5256776"/>
            <a:ext cx="949850" cy="4527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1200" dirty="0">
                <a:ln w="3175">
                  <a:solidFill>
                    <a:srgbClr val="002060"/>
                  </a:solidFill>
                </a:ln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Operation</a:t>
            </a:r>
          </a:p>
          <a:p>
            <a:pPr algn="ctr"/>
            <a:r>
              <a:rPr lang="en-US" altLang="ko-KR" sz="1200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200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운영</a:t>
            </a:r>
            <a:r>
              <a:rPr lang="en-US" altLang="ko-KR" sz="1200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sz="1100" dirty="0">
              <a:solidFill>
                <a:srgbClr val="002060"/>
              </a:solidFill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00D1C75B-0FB9-E69E-A4BF-9765BE234799}"/>
              </a:ext>
            </a:extLst>
          </p:cNvPr>
          <p:cNvSpPr/>
          <p:nvPr/>
        </p:nvSpPr>
        <p:spPr>
          <a:xfrm>
            <a:off x="7395797" y="2877454"/>
            <a:ext cx="4214615" cy="5770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974" indent="-180974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원격우수기관이 갖추어야 할 높은 기준을 통과</a:t>
            </a:r>
            <a:endParaRPr lang="en-US" altLang="ko-KR" sz="105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80974" indent="-180974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전문가 그룹의 지속 확보 및 개발을 위한 철저한 내부 검증</a:t>
            </a:r>
            <a:endParaRPr lang="en-US" altLang="ko-KR" sz="105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80974" indent="-180974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정부가 인정한 다수의 수상경력을 통해 획득한 원격훈련 운영 노하우</a:t>
            </a:r>
            <a:endParaRPr lang="en-US" altLang="ko-KR" sz="105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16BA25A0-1B5B-8563-50DE-A32C8F3BCA1D}"/>
              </a:ext>
            </a:extLst>
          </p:cNvPr>
          <p:cNvSpPr/>
          <p:nvPr/>
        </p:nvSpPr>
        <p:spPr>
          <a:xfrm>
            <a:off x="7395797" y="3893271"/>
            <a:ext cx="3995004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974" indent="-180974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S-OIL </a:t>
            </a:r>
            <a:r>
              <a:rPr lang="ko-KR" altLang="en-US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직급별 </a:t>
            </a:r>
            <a:r>
              <a:rPr lang="en-US" altLang="ko-KR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Skill</a:t>
            </a:r>
            <a:r>
              <a:rPr lang="ko-KR" altLang="en-US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의 내용과의 높은 연계성 확보</a:t>
            </a:r>
            <a:endParaRPr lang="en-US" altLang="ko-KR" sz="105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80974" indent="-180974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전체 과정 수</a:t>
            </a:r>
            <a:r>
              <a:rPr lang="en-US" altLang="ko-KR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8</a:t>
            </a:r>
            <a:r>
              <a:rPr lang="ko-KR" altLang="en-US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천 권 이상</a:t>
            </a:r>
            <a:r>
              <a:rPr lang="en-US" altLang="ko-KR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, </a:t>
            </a:r>
            <a:r>
              <a:rPr lang="ko-KR" altLang="en-US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각 직급별 맵핑 과정의 </a:t>
            </a:r>
            <a:r>
              <a:rPr lang="en-US" altLang="ko-KR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Balance </a:t>
            </a:r>
            <a:r>
              <a:rPr lang="ko-KR" altLang="en-US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확보</a:t>
            </a:r>
            <a:endParaRPr lang="en-US" altLang="ko-KR" sz="105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B16B64BC-9508-BAB7-55D1-087B98E6C6FA}"/>
              </a:ext>
            </a:extLst>
          </p:cNvPr>
          <p:cNvSpPr/>
          <p:nvPr/>
        </p:nvSpPr>
        <p:spPr>
          <a:xfrm>
            <a:off x="7395797" y="4742889"/>
            <a:ext cx="421461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4" indent="-180974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직무 적용 포인트 발굴형 과제 채택</a:t>
            </a:r>
            <a:r>
              <a:rPr lang="en-US" altLang="ko-KR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lang="ko-KR" altLang="en-US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및 구조화된 과제작성 양식 활용</a:t>
            </a:r>
            <a:endParaRPr lang="en-US" altLang="ko-KR" sz="105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80974" indent="-180974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 결과의 상호 공유를 통한 창조적 실행력 지속 자극</a:t>
            </a: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7CB7419C-CAA8-1726-D9F2-2ACE32D3D111}"/>
              </a:ext>
            </a:extLst>
          </p:cNvPr>
          <p:cNvSpPr/>
          <p:nvPr/>
        </p:nvSpPr>
        <p:spPr>
          <a:xfrm>
            <a:off x="7395797" y="5601625"/>
            <a:ext cx="4091185" cy="5770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974" indent="-180974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실행력 상향 평준화를 위한 과제 </a:t>
            </a:r>
            <a:r>
              <a:rPr lang="ko-KR" altLang="en-US" sz="105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실행률</a:t>
            </a:r>
            <a:r>
              <a:rPr lang="en-US" altLang="ko-KR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, </a:t>
            </a:r>
            <a:r>
              <a:rPr lang="ko-KR" altLang="en-US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내용 검수</a:t>
            </a:r>
            <a:r>
              <a:rPr lang="en-US" altLang="ko-KR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, </a:t>
            </a:r>
            <a:r>
              <a:rPr lang="ko-KR" altLang="en-US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독려 지속</a:t>
            </a:r>
            <a:endParaRPr lang="en-US" altLang="ko-KR" sz="105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80974" indent="-180974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목적 게시판 운영 및 관리</a:t>
            </a:r>
            <a:r>
              <a:rPr lang="en-US" altLang="ko-KR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</a:t>
            </a:r>
            <a:r>
              <a:rPr lang="ko-KR" altLang="en-US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과정신청 게시판</a:t>
            </a:r>
            <a:r>
              <a:rPr lang="en-US" altLang="ko-KR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, </a:t>
            </a:r>
            <a:r>
              <a:rPr lang="ko-KR" altLang="en-US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아이디어 공유 게시판</a:t>
            </a:r>
            <a:r>
              <a:rPr lang="en-US" altLang="ko-KR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</a:t>
            </a:r>
          </a:p>
          <a:p>
            <a:pPr marL="180974" indent="-180974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학습결과의 적극적 홍보</a:t>
            </a:r>
            <a:r>
              <a:rPr lang="en-US" altLang="ko-KR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, </a:t>
            </a:r>
            <a:r>
              <a:rPr lang="ko-KR" altLang="en-US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사례 지속 발굴 </a:t>
            </a:r>
            <a:r>
              <a:rPr lang="en-US" altLang="ko-KR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&amp; </a:t>
            </a:r>
            <a:r>
              <a:rPr lang="ko-KR" altLang="en-US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전파</a:t>
            </a:r>
          </a:p>
        </p:txBody>
      </p:sp>
      <p:sp>
        <p:nvSpPr>
          <p:cNvPr id="156" name="사각형: 둥근 모서리 155">
            <a:extLst>
              <a:ext uri="{FF2B5EF4-FFF2-40B4-BE49-F238E27FC236}">
                <a16:creationId xmlns:a16="http://schemas.microsoft.com/office/drawing/2014/main" id="{8DCD3694-1B7D-2EE9-6643-F7C79332D804}"/>
              </a:ext>
            </a:extLst>
          </p:cNvPr>
          <p:cNvSpPr/>
          <p:nvPr/>
        </p:nvSpPr>
        <p:spPr>
          <a:xfrm>
            <a:off x="7683865" y="2503006"/>
            <a:ext cx="3759555" cy="367312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5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업력 </a:t>
            </a:r>
            <a:r>
              <a:rPr lang="en-US" altLang="ko-KR" sz="125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26</a:t>
            </a:r>
            <a:r>
              <a:rPr lang="ko-KR" altLang="en-US" sz="125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년</a:t>
            </a:r>
            <a:r>
              <a:rPr lang="en-US" altLang="ko-KR" sz="125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sz="125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국내 최대 원격훈련기관으로서 역량발휘</a:t>
            </a:r>
          </a:p>
        </p:txBody>
      </p:sp>
      <p:sp>
        <p:nvSpPr>
          <p:cNvPr id="157" name="사각형: 둥근 모서리 156">
            <a:extLst>
              <a:ext uri="{FF2B5EF4-FFF2-40B4-BE49-F238E27FC236}">
                <a16:creationId xmlns:a16="http://schemas.microsoft.com/office/drawing/2014/main" id="{26525927-C046-DFE9-ED29-5007D48B88AD}"/>
              </a:ext>
            </a:extLst>
          </p:cNvPr>
          <p:cNvSpPr/>
          <p:nvPr/>
        </p:nvSpPr>
        <p:spPr>
          <a:xfrm>
            <a:off x="7300147" y="2503006"/>
            <a:ext cx="482644" cy="367312"/>
          </a:xfrm>
          <a:prstGeom prst="roundRect">
            <a:avLst>
              <a:gd name="adj" fmla="val 8609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3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</a:t>
            </a:r>
          </a:p>
        </p:txBody>
      </p:sp>
      <p:sp>
        <p:nvSpPr>
          <p:cNvPr id="159" name="사각형: 둥근 모서리 158">
            <a:extLst>
              <a:ext uri="{FF2B5EF4-FFF2-40B4-BE49-F238E27FC236}">
                <a16:creationId xmlns:a16="http://schemas.microsoft.com/office/drawing/2014/main" id="{81BBE7C4-1171-CD0C-EF46-1E1A9CC9584C}"/>
              </a:ext>
            </a:extLst>
          </p:cNvPr>
          <p:cNvSpPr/>
          <p:nvPr/>
        </p:nvSpPr>
        <p:spPr>
          <a:xfrm>
            <a:off x="7683865" y="3516885"/>
            <a:ext cx="3759555" cy="367312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5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직급별 필요 </a:t>
            </a:r>
            <a:r>
              <a:rPr lang="en-US" altLang="ko-KR" sz="125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Skill</a:t>
            </a:r>
            <a:r>
              <a:rPr lang="ko-KR" altLang="en-US" sz="125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25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– </a:t>
            </a:r>
            <a:r>
              <a:rPr lang="ko-KR" altLang="en-US" sz="125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과정과의 연계성 강화</a:t>
            </a:r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5AA95AD7-83D0-FAA5-0233-D1A617666FD4}"/>
              </a:ext>
            </a:extLst>
          </p:cNvPr>
          <p:cNvSpPr/>
          <p:nvPr/>
        </p:nvSpPr>
        <p:spPr>
          <a:xfrm>
            <a:off x="7300147" y="3516885"/>
            <a:ext cx="482644" cy="367312"/>
          </a:xfrm>
          <a:prstGeom prst="roundRect">
            <a:avLst>
              <a:gd name="adj" fmla="val 8609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3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</a:p>
        </p:txBody>
      </p:sp>
      <p:sp>
        <p:nvSpPr>
          <p:cNvPr id="162" name="사각형: 둥근 모서리 161">
            <a:extLst>
              <a:ext uri="{FF2B5EF4-FFF2-40B4-BE49-F238E27FC236}">
                <a16:creationId xmlns:a16="http://schemas.microsoft.com/office/drawing/2014/main" id="{3069B26D-0155-F6AB-79F9-32C32B8BCD6A}"/>
              </a:ext>
            </a:extLst>
          </p:cNvPr>
          <p:cNvSpPr/>
          <p:nvPr/>
        </p:nvSpPr>
        <p:spPr>
          <a:xfrm>
            <a:off x="7683865" y="4366502"/>
            <a:ext cx="3759555" cy="367312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5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「학습효과 제고 선순환」기반 그룹지니어스 발현</a:t>
            </a:r>
          </a:p>
        </p:txBody>
      </p:sp>
      <p:sp>
        <p:nvSpPr>
          <p:cNvPr id="163" name="사각형: 둥근 모서리 162">
            <a:extLst>
              <a:ext uri="{FF2B5EF4-FFF2-40B4-BE49-F238E27FC236}">
                <a16:creationId xmlns:a16="http://schemas.microsoft.com/office/drawing/2014/main" id="{76ECEC4A-C632-5818-6387-5551846387B9}"/>
              </a:ext>
            </a:extLst>
          </p:cNvPr>
          <p:cNvSpPr/>
          <p:nvPr/>
        </p:nvSpPr>
        <p:spPr>
          <a:xfrm>
            <a:off x="7300147" y="4366502"/>
            <a:ext cx="482644" cy="367312"/>
          </a:xfrm>
          <a:prstGeom prst="roundRect">
            <a:avLst>
              <a:gd name="adj" fmla="val 8609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3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</a:t>
            </a:r>
            <a:endParaRPr lang="ko-KR" altLang="en-US" sz="13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65" name="사각형: 둥근 모서리 164">
            <a:extLst>
              <a:ext uri="{FF2B5EF4-FFF2-40B4-BE49-F238E27FC236}">
                <a16:creationId xmlns:a16="http://schemas.microsoft.com/office/drawing/2014/main" id="{6D61A197-78F6-E07B-4189-1614C0381E2A}"/>
              </a:ext>
            </a:extLst>
          </p:cNvPr>
          <p:cNvSpPr/>
          <p:nvPr/>
        </p:nvSpPr>
        <p:spPr>
          <a:xfrm>
            <a:off x="7683865" y="5216119"/>
            <a:ext cx="3759555" cy="367312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5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현업전이가 실제로 발현되는 운영 시나리오</a:t>
            </a:r>
          </a:p>
        </p:txBody>
      </p:sp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4E858119-BD03-F2AA-B521-9A77ADFDF6DB}"/>
              </a:ext>
            </a:extLst>
          </p:cNvPr>
          <p:cNvSpPr/>
          <p:nvPr/>
        </p:nvSpPr>
        <p:spPr>
          <a:xfrm>
            <a:off x="7300147" y="5216119"/>
            <a:ext cx="482644" cy="367312"/>
          </a:xfrm>
          <a:prstGeom prst="roundRect">
            <a:avLst>
              <a:gd name="adj" fmla="val 8609"/>
            </a:avLst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3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4</a:t>
            </a:r>
            <a:endParaRPr lang="ko-KR" altLang="en-US" sz="13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B6E3D57-7BEF-CF50-6575-FAB257328E5C}"/>
              </a:ext>
            </a:extLst>
          </p:cNvPr>
          <p:cNvSpPr/>
          <p:nvPr/>
        </p:nvSpPr>
        <p:spPr>
          <a:xfrm>
            <a:off x="7251695" y="2159866"/>
            <a:ext cx="8643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u="sng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접근전략</a:t>
            </a:r>
            <a:endParaRPr lang="ko-KR" altLang="en-US" sz="1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316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5B91F-985D-E699-876A-E432AE455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7F7E33-DB53-9D25-DCC0-9BB791B32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프로젝트 추진 단계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1C2B95-A950-9E76-810C-3DA250B2113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ko-KR" altLang="en-US" dirty="0"/>
              <a:t>본 프로젝트는 아래 </a:t>
            </a:r>
            <a:r>
              <a:rPr lang="en-US" altLang="ko-KR" dirty="0"/>
              <a:t>5</a:t>
            </a:r>
            <a:r>
              <a:rPr lang="ko-KR" altLang="en-US" dirty="0"/>
              <a:t>단계 프로세스를 기반으로 각 단계별 수행 범위 및 결과물 관리를 명확하게 실시함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52ED66A-988B-8203-474E-CAE752F4B89E}"/>
              </a:ext>
            </a:extLst>
          </p:cNvPr>
          <p:cNvSpPr/>
          <p:nvPr/>
        </p:nvSpPr>
        <p:spPr>
          <a:xfrm>
            <a:off x="531037" y="5685663"/>
            <a:ext cx="2009245" cy="6258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84138" indent="-84138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프로젝트 방향성 구체화</a:t>
            </a:r>
          </a:p>
          <a:p>
            <a:pPr marL="84138" indent="-84138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altLang="ko-KR" sz="700" dirty="0">
              <a:ln w="3175">
                <a:solidFill>
                  <a:schemeClr val="bg1"/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1A157B1-18ED-35F1-6499-32375C7D6E68}"/>
              </a:ext>
            </a:extLst>
          </p:cNvPr>
          <p:cNvSpPr/>
          <p:nvPr/>
        </p:nvSpPr>
        <p:spPr>
          <a:xfrm>
            <a:off x="2823964" y="5685663"/>
            <a:ext cx="2009244" cy="6258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84138" indent="-84138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맞춤형 교육 설계 및 운영 방안</a:t>
            </a:r>
            <a:endParaRPr lang="en-US" altLang="ko-KR" sz="1000" dirty="0">
              <a:ln w="3175">
                <a:solidFill>
                  <a:schemeClr val="bg1"/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84138" indent="-84138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과정개발 기초 </a:t>
            </a:r>
            <a:r>
              <a:rPr lang="ko-KR" altLang="en-US" sz="1000" dirty="0" err="1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설계안</a:t>
            </a:r>
            <a:endParaRPr lang="en-US" altLang="ko-KR" sz="1000" dirty="0">
              <a:ln w="3175">
                <a:solidFill>
                  <a:schemeClr val="bg1"/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33CF3F4-B493-EC26-E306-C3D41D67BA7A}"/>
              </a:ext>
            </a:extLst>
          </p:cNvPr>
          <p:cNvSpPr/>
          <p:nvPr/>
        </p:nvSpPr>
        <p:spPr>
          <a:xfrm>
            <a:off x="5099882" y="5685663"/>
            <a:ext cx="2009245" cy="6258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84138" indent="-84138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과정리스트</a:t>
            </a:r>
            <a:endParaRPr lang="en-US" altLang="ko-KR" sz="1000" dirty="0">
              <a:ln w="3175">
                <a:solidFill>
                  <a:schemeClr val="bg1"/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84138" indent="-84138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ko-KR" sz="10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LMS</a:t>
            </a:r>
            <a:r>
              <a:rPr lang="ko-KR" altLang="en-US" sz="10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시스템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4C40519-D0A8-9862-1FE8-226833E78D08}"/>
              </a:ext>
            </a:extLst>
          </p:cNvPr>
          <p:cNvSpPr/>
          <p:nvPr/>
        </p:nvSpPr>
        <p:spPr>
          <a:xfrm>
            <a:off x="7375801" y="5685663"/>
            <a:ext cx="2009245" cy="6258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altLang="ko-KR" sz="10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lang="ko-KR" altLang="en-US" sz="10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과정 운영 시나리오</a:t>
            </a:r>
            <a:endParaRPr lang="en-US" altLang="ko-KR" sz="1000" dirty="0">
              <a:ln w="3175">
                <a:solidFill>
                  <a:schemeClr val="bg1"/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프로그램 평가 결과</a:t>
            </a:r>
            <a:endParaRPr lang="ko-KR" altLang="en-US" sz="10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DB4147A-BE3D-DDD5-C169-A076DF2611E1}"/>
              </a:ext>
            </a:extLst>
          </p:cNvPr>
          <p:cNvSpPr/>
          <p:nvPr/>
        </p:nvSpPr>
        <p:spPr>
          <a:xfrm>
            <a:off x="9651718" y="5685663"/>
            <a:ext cx="2009245" cy="6258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84138" indent="-84138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 결과물 </a:t>
            </a:r>
            <a:r>
              <a:rPr lang="ko-KR" altLang="en-US" sz="1000" dirty="0" err="1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취합본</a:t>
            </a:r>
            <a:endParaRPr lang="en-US" altLang="ko-KR" sz="1000" dirty="0">
              <a:ln w="3175">
                <a:solidFill>
                  <a:schemeClr val="bg1"/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84138" indent="-84138" latinLnBrk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chemeClr val="bg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최종 결과 보고서</a:t>
            </a:r>
            <a:endParaRPr lang="ko-KR" altLang="en-US" sz="10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4" name="아래쪽 화살표 47">
            <a:extLst>
              <a:ext uri="{FF2B5EF4-FFF2-40B4-BE49-F238E27FC236}">
                <a16:creationId xmlns:a16="http://schemas.microsoft.com/office/drawing/2014/main" id="{C8F03048-B384-7E9D-ED20-4A55035617A1}"/>
              </a:ext>
            </a:extLst>
          </p:cNvPr>
          <p:cNvSpPr/>
          <p:nvPr/>
        </p:nvSpPr>
        <p:spPr>
          <a:xfrm>
            <a:off x="683865" y="2665721"/>
            <a:ext cx="1703589" cy="2973260"/>
          </a:xfrm>
          <a:prstGeom prst="downArrow">
            <a:avLst>
              <a:gd name="adj1" fmla="val 61267"/>
              <a:gd name="adj2" fmla="val 10413"/>
            </a:avLst>
          </a:prstGeom>
          <a:solidFill>
            <a:srgbClr val="BFBFBF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6" name="아래쪽 화살표 47">
            <a:extLst>
              <a:ext uri="{FF2B5EF4-FFF2-40B4-BE49-F238E27FC236}">
                <a16:creationId xmlns:a16="http://schemas.microsoft.com/office/drawing/2014/main" id="{087BC41D-23A7-EB3F-3165-A393A28CCD10}"/>
              </a:ext>
            </a:extLst>
          </p:cNvPr>
          <p:cNvSpPr/>
          <p:nvPr/>
        </p:nvSpPr>
        <p:spPr>
          <a:xfrm>
            <a:off x="2976791" y="2665721"/>
            <a:ext cx="1703589" cy="2973260"/>
          </a:xfrm>
          <a:prstGeom prst="downArrow">
            <a:avLst>
              <a:gd name="adj1" fmla="val 61267"/>
              <a:gd name="adj2" fmla="val 10413"/>
            </a:avLst>
          </a:prstGeom>
          <a:solidFill>
            <a:srgbClr val="BFBFBF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8" name="아래쪽 화살표 47">
            <a:extLst>
              <a:ext uri="{FF2B5EF4-FFF2-40B4-BE49-F238E27FC236}">
                <a16:creationId xmlns:a16="http://schemas.microsoft.com/office/drawing/2014/main" id="{EA6DE9BE-4A40-A4FF-859E-028EB3F33714}"/>
              </a:ext>
            </a:extLst>
          </p:cNvPr>
          <p:cNvSpPr/>
          <p:nvPr/>
        </p:nvSpPr>
        <p:spPr>
          <a:xfrm>
            <a:off x="5252710" y="2665721"/>
            <a:ext cx="1703589" cy="2973260"/>
          </a:xfrm>
          <a:prstGeom prst="downArrow">
            <a:avLst>
              <a:gd name="adj1" fmla="val 61267"/>
              <a:gd name="adj2" fmla="val 10413"/>
            </a:avLst>
          </a:prstGeom>
          <a:solidFill>
            <a:srgbClr val="BFBFBF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0" name="아래쪽 화살표 47">
            <a:extLst>
              <a:ext uri="{FF2B5EF4-FFF2-40B4-BE49-F238E27FC236}">
                <a16:creationId xmlns:a16="http://schemas.microsoft.com/office/drawing/2014/main" id="{E27A9A62-57DF-B595-7CD0-89813F979A2E}"/>
              </a:ext>
            </a:extLst>
          </p:cNvPr>
          <p:cNvSpPr/>
          <p:nvPr/>
        </p:nvSpPr>
        <p:spPr>
          <a:xfrm>
            <a:off x="7528629" y="2665721"/>
            <a:ext cx="1703589" cy="2973260"/>
          </a:xfrm>
          <a:prstGeom prst="downArrow">
            <a:avLst>
              <a:gd name="adj1" fmla="val 61267"/>
              <a:gd name="adj2" fmla="val 10413"/>
            </a:avLst>
          </a:prstGeom>
          <a:solidFill>
            <a:srgbClr val="BFBFBF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2" name="아래쪽 화살표 47">
            <a:extLst>
              <a:ext uri="{FF2B5EF4-FFF2-40B4-BE49-F238E27FC236}">
                <a16:creationId xmlns:a16="http://schemas.microsoft.com/office/drawing/2014/main" id="{19961EDF-56BE-61D5-C2DA-077C92B75393}"/>
              </a:ext>
            </a:extLst>
          </p:cNvPr>
          <p:cNvSpPr/>
          <p:nvPr/>
        </p:nvSpPr>
        <p:spPr>
          <a:xfrm>
            <a:off x="9804546" y="2665721"/>
            <a:ext cx="1703589" cy="2973260"/>
          </a:xfrm>
          <a:prstGeom prst="downArrow">
            <a:avLst>
              <a:gd name="adj1" fmla="val 61267"/>
              <a:gd name="adj2" fmla="val 10413"/>
            </a:avLst>
          </a:prstGeom>
          <a:solidFill>
            <a:srgbClr val="BFBFBF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781629-FF63-8FBE-D870-A51CD58E0E1A}"/>
              </a:ext>
            </a:extLst>
          </p:cNvPr>
          <p:cNvSpPr/>
          <p:nvPr/>
        </p:nvSpPr>
        <p:spPr>
          <a:xfrm>
            <a:off x="531037" y="2437109"/>
            <a:ext cx="2009245" cy="565936"/>
          </a:xfrm>
          <a:prstGeom prst="rect">
            <a:avLst/>
          </a:prstGeom>
          <a:solidFill>
            <a:srgbClr val="D3DBA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사전 분석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93BFDEE-6F5B-8F1F-642E-551F11D2F841}"/>
              </a:ext>
            </a:extLst>
          </p:cNvPr>
          <p:cNvSpPr/>
          <p:nvPr/>
        </p:nvSpPr>
        <p:spPr>
          <a:xfrm>
            <a:off x="531037" y="3003042"/>
            <a:ext cx="2009245" cy="2364980"/>
          </a:xfrm>
          <a:prstGeom prst="rect">
            <a:avLst/>
          </a:prstGeom>
          <a:solidFill>
            <a:srgbClr val="FFFFFF">
              <a:alpha val="72000"/>
            </a:srgb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0B8A998-6536-F77A-AC2D-9F6C9687C39D}"/>
              </a:ext>
            </a:extLst>
          </p:cNvPr>
          <p:cNvSpPr/>
          <p:nvPr/>
        </p:nvSpPr>
        <p:spPr>
          <a:xfrm>
            <a:off x="2823964" y="2437109"/>
            <a:ext cx="2009244" cy="565936"/>
          </a:xfrm>
          <a:prstGeom prst="rect">
            <a:avLst/>
          </a:prstGeom>
          <a:solidFill>
            <a:srgbClr val="D3DBA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설계</a:t>
            </a:r>
            <a:endParaRPr lang="en-US" altLang="ko-KR" sz="130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856DFBF-6E98-A94A-E4CF-EAC833FEC0F1}"/>
              </a:ext>
            </a:extLst>
          </p:cNvPr>
          <p:cNvSpPr/>
          <p:nvPr/>
        </p:nvSpPr>
        <p:spPr>
          <a:xfrm>
            <a:off x="2823964" y="3003042"/>
            <a:ext cx="2009244" cy="2364980"/>
          </a:xfrm>
          <a:prstGeom prst="rect">
            <a:avLst/>
          </a:prstGeom>
          <a:solidFill>
            <a:srgbClr val="FFFFFF">
              <a:alpha val="72000"/>
            </a:srgb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5521CAF-62F4-CA75-C5CF-13244F6B90ED}"/>
              </a:ext>
            </a:extLst>
          </p:cNvPr>
          <p:cNvSpPr/>
          <p:nvPr/>
        </p:nvSpPr>
        <p:spPr>
          <a:xfrm>
            <a:off x="5099882" y="2437109"/>
            <a:ext cx="2009245" cy="565936"/>
          </a:xfrm>
          <a:prstGeom prst="rect">
            <a:avLst/>
          </a:prstGeom>
          <a:solidFill>
            <a:srgbClr val="D3DBA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개발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EA55E07-C4B3-6B09-CF3D-99BB59480736}"/>
              </a:ext>
            </a:extLst>
          </p:cNvPr>
          <p:cNvSpPr/>
          <p:nvPr/>
        </p:nvSpPr>
        <p:spPr>
          <a:xfrm>
            <a:off x="5099882" y="3003042"/>
            <a:ext cx="2009245" cy="2364980"/>
          </a:xfrm>
          <a:prstGeom prst="rect">
            <a:avLst/>
          </a:prstGeom>
          <a:solidFill>
            <a:srgbClr val="FFFFFF">
              <a:alpha val="72000"/>
            </a:srgb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EAC29C0-4FFE-2D86-3496-0855EE446820}"/>
              </a:ext>
            </a:extLst>
          </p:cNvPr>
          <p:cNvSpPr/>
          <p:nvPr/>
        </p:nvSpPr>
        <p:spPr>
          <a:xfrm>
            <a:off x="7375801" y="2437109"/>
            <a:ext cx="2009245" cy="565936"/>
          </a:xfrm>
          <a:prstGeom prst="rect">
            <a:avLst/>
          </a:prstGeom>
          <a:solidFill>
            <a:srgbClr val="D3DBA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운영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7EB7AD7-5CA1-36AA-D41F-0C5067C2DEA4}"/>
              </a:ext>
            </a:extLst>
          </p:cNvPr>
          <p:cNvSpPr/>
          <p:nvPr/>
        </p:nvSpPr>
        <p:spPr>
          <a:xfrm>
            <a:off x="7375801" y="3003042"/>
            <a:ext cx="2009245" cy="2364980"/>
          </a:xfrm>
          <a:prstGeom prst="rect">
            <a:avLst/>
          </a:prstGeom>
          <a:solidFill>
            <a:srgbClr val="FFFFFF">
              <a:alpha val="72000"/>
            </a:srgb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F6D160C-0796-5A3C-1C99-A0852E09CD58}"/>
              </a:ext>
            </a:extLst>
          </p:cNvPr>
          <p:cNvSpPr/>
          <p:nvPr/>
        </p:nvSpPr>
        <p:spPr>
          <a:xfrm>
            <a:off x="9651718" y="2437109"/>
            <a:ext cx="2009245" cy="565936"/>
          </a:xfrm>
          <a:prstGeom prst="rect">
            <a:avLst/>
          </a:prstGeom>
          <a:solidFill>
            <a:srgbClr val="D3DBA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사후관리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D527184-8BFE-4401-91B4-E2903E728ECC}"/>
              </a:ext>
            </a:extLst>
          </p:cNvPr>
          <p:cNvSpPr/>
          <p:nvPr/>
        </p:nvSpPr>
        <p:spPr>
          <a:xfrm>
            <a:off x="9651718" y="3003042"/>
            <a:ext cx="2009245" cy="2364980"/>
          </a:xfrm>
          <a:prstGeom prst="rect">
            <a:avLst/>
          </a:prstGeom>
          <a:solidFill>
            <a:srgbClr val="FFFFFF">
              <a:alpha val="72000"/>
            </a:srgb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8171D5D-380B-EE25-02B0-675C09AB68E8}"/>
              </a:ext>
            </a:extLst>
          </p:cNvPr>
          <p:cNvSpPr/>
          <p:nvPr/>
        </p:nvSpPr>
        <p:spPr>
          <a:xfrm>
            <a:off x="683865" y="3307711"/>
            <a:ext cx="1703589" cy="378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/>
            <a:r>
              <a:rPr lang="ko-KR" altLang="en-US" sz="1100" spc="-150" dirty="0" err="1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퀵</a:t>
            </a:r>
            <a:r>
              <a:rPr lang="ko-KR" altLang="en-US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문헌 리뷰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600F79F-CA1E-1470-8FE1-B07D8EDFF44F}"/>
              </a:ext>
            </a:extLst>
          </p:cNvPr>
          <p:cNvSpPr/>
          <p:nvPr/>
        </p:nvSpPr>
        <p:spPr>
          <a:xfrm>
            <a:off x="683865" y="3873648"/>
            <a:ext cx="1703589" cy="378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/>
            <a:r>
              <a:rPr lang="ko-KR" altLang="en-US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이해관계자 니즈 파악</a:t>
            </a:r>
            <a:endParaRPr lang="en-US" altLang="ko-KR" sz="1100" spc="-15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23B81B1-121C-876C-0CD9-26C530AE161F}"/>
              </a:ext>
            </a:extLst>
          </p:cNvPr>
          <p:cNvSpPr/>
          <p:nvPr/>
        </p:nvSpPr>
        <p:spPr>
          <a:xfrm>
            <a:off x="2976791" y="3307711"/>
            <a:ext cx="1703589" cy="378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/>
            <a:r>
              <a:rPr lang="ko-KR" altLang="en-US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교수 전략 및 매체 선정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5C7BB89-6139-E9AC-488C-7FE2E0BAF133}"/>
              </a:ext>
            </a:extLst>
          </p:cNvPr>
          <p:cNvSpPr/>
          <p:nvPr/>
        </p:nvSpPr>
        <p:spPr>
          <a:xfrm>
            <a:off x="2976791" y="3873647"/>
            <a:ext cx="1703589" cy="378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/>
            <a:r>
              <a:rPr lang="ko-KR" altLang="en-US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운영전략 설계 및 구현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68B9CA6-8CAB-9C6E-A41A-B1B83D22B352}"/>
              </a:ext>
            </a:extLst>
          </p:cNvPr>
          <p:cNvSpPr/>
          <p:nvPr/>
        </p:nvSpPr>
        <p:spPr>
          <a:xfrm>
            <a:off x="2976791" y="4439586"/>
            <a:ext cx="1703589" cy="378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/>
            <a:r>
              <a:rPr lang="ko-KR" altLang="en-US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평가 도구 설계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2DD1F4E-3105-6651-8E70-0B4C17EB5D5C}"/>
              </a:ext>
            </a:extLst>
          </p:cNvPr>
          <p:cNvSpPr/>
          <p:nvPr/>
        </p:nvSpPr>
        <p:spPr>
          <a:xfrm>
            <a:off x="5252710" y="3307710"/>
            <a:ext cx="1703589" cy="378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/>
            <a:r>
              <a:rPr lang="ko-KR" altLang="en-US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교수자료 개발</a:t>
            </a:r>
            <a:endParaRPr lang="en-US" altLang="ko-KR" sz="1100" spc="-15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24E4C07-EBA8-65B1-54B5-BBA03EFD6007}"/>
              </a:ext>
            </a:extLst>
          </p:cNvPr>
          <p:cNvSpPr/>
          <p:nvPr/>
        </p:nvSpPr>
        <p:spPr>
          <a:xfrm>
            <a:off x="5252710" y="4439584"/>
            <a:ext cx="1703589" cy="378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/>
            <a:r>
              <a:rPr lang="en-US" altLang="ko-KR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Pilot </a:t>
            </a:r>
            <a:r>
              <a:rPr lang="ko-KR" altLang="en-US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 및 보완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3D4295F-984D-934A-BA67-40FAD01A2C30}"/>
              </a:ext>
            </a:extLst>
          </p:cNvPr>
          <p:cNvSpPr/>
          <p:nvPr/>
        </p:nvSpPr>
        <p:spPr>
          <a:xfrm>
            <a:off x="7528629" y="3307711"/>
            <a:ext cx="1703589" cy="378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교육 프로그램 안내</a:t>
            </a:r>
            <a:endParaRPr lang="en-US" altLang="ko-KR" sz="1100" spc="-15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850CE0E-1B55-2DDB-C297-1C71FE9BBF28}"/>
              </a:ext>
            </a:extLst>
          </p:cNvPr>
          <p:cNvSpPr/>
          <p:nvPr/>
        </p:nvSpPr>
        <p:spPr>
          <a:xfrm>
            <a:off x="7528629" y="3873647"/>
            <a:ext cx="1703589" cy="378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/>
            <a:r>
              <a:rPr lang="ko-KR" altLang="en-US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독서 통신 과정 실시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642C0A7E-2149-543C-4D8D-9B4B65DB2701}"/>
              </a:ext>
            </a:extLst>
          </p:cNvPr>
          <p:cNvSpPr/>
          <p:nvPr/>
        </p:nvSpPr>
        <p:spPr>
          <a:xfrm>
            <a:off x="9804546" y="3307711"/>
            <a:ext cx="1703589" cy="378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산출물 결과 정리 및 </a:t>
            </a:r>
            <a:br>
              <a:rPr lang="en-US" altLang="ko-KR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</a:br>
            <a:r>
              <a:rPr lang="ko-KR" altLang="en-US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활용방안 제언</a:t>
            </a:r>
            <a:r>
              <a:rPr lang="en-US" altLang="ko-KR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(Achieving)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F25C277-420F-393E-7CC1-157F4169FCAD}"/>
              </a:ext>
            </a:extLst>
          </p:cNvPr>
          <p:cNvSpPr/>
          <p:nvPr/>
        </p:nvSpPr>
        <p:spPr>
          <a:xfrm>
            <a:off x="9804546" y="3873647"/>
            <a:ext cx="1703589" cy="378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/>
            <a:r>
              <a:rPr lang="ko-KR" altLang="en-US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정보보안 및 관리  지속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4148507-F978-DB6B-6FE3-D8D265251191}"/>
              </a:ext>
            </a:extLst>
          </p:cNvPr>
          <p:cNvSpPr/>
          <p:nvPr/>
        </p:nvSpPr>
        <p:spPr>
          <a:xfrm>
            <a:off x="7528629" y="4439585"/>
            <a:ext cx="1703589" cy="378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/>
            <a:r>
              <a:rPr lang="ko-KR" altLang="en-US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효과성 측정</a:t>
            </a:r>
            <a:r>
              <a:rPr lang="en-US" altLang="ko-KR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(CIPP)</a:t>
            </a:r>
            <a:endParaRPr lang="ko-KR" altLang="en-US" sz="1100" spc="-15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A357A02-2F1B-637F-63F1-D7851CAF83D1}"/>
              </a:ext>
            </a:extLst>
          </p:cNvPr>
          <p:cNvSpPr/>
          <p:nvPr/>
        </p:nvSpPr>
        <p:spPr>
          <a:xfrm>
            <a:off x="9804546" y="4439585"/>
            <a:ext cx="1703589" cy="378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/>
            <a:r>
              <a:rPr lang="ko-KR" altLang="en-US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프로젝트 결과 보고</a:t>
            </a:r>
            <a:r>
              <a:rPr lang="en-US" altLang="ko-KR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/</a:t>
            </a:r>
            <a:r>
              <a:rPr lang="ko-KR" altLang="en-US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제언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857D01CC-A7C6-7E79-6069-53DED9118A5F}"/>
              </a:ext>
            </a:extLst>
          </p:cNvPr>
          <p:cNvSpPr/>
          <p:nvPr/>
        </p:nvSpPr>
        <p:spPr>
          <a:xfrm>
            <a:off x="683865" y="4439586"/>
            <a:ext cx="1703589" cy="378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/>
            <a:r>
              <a:rPr lang="ko-KR" altLang="en-US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학습자 특성 분석</a:t>
            </a:r>
            <a:endParaRPr lang="en-US" altLang="ko-KR" sz="1100" spc="-15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B9C0379-5497-9E1B-1A4F-1C7082A93EE8}"/>
              </a:ext>
            </a:extLst>
          </p:cNvPr>
          <p:cNvSpPr/>
          <p:nvPr/>
        </p:nvSpPr>
        <p:spPr>
          <a:xfrm>
            <a:off x="5252710" y="3873647"/>
            <a:ext cx="1703589" cy="378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/>
            <a:r>
              <a:rPr lang="en-US" altLang="ko-KR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LMS</a:t>
            </a:r>
            <a:r>
              <a:rPr lang="ko-KR" altLang="en-US" sz="1100" spc="-1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 시스템  최적화</a:t>
            </a:r>
            <a:endParaRPr lang="en-US" altLang="ko-KR" sz="1100" spc="-15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4E5982-1F9C-17B6-D2D8-F120939DAA77}"/>
              </a:ext>
            </a:extLst>
          </p:cNvPr>
          <p:cNvSpPr txBox="1"/>
          <p:nvPr/>
        </p:nvSpPr>
        <p:spPr>
          <a:xfrm>
            <a:off x="474475" y="2209745"/>
            <a:ext cx="575799" cy="2223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i="1" u="sng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Step 1</a:t>
            </a:r>
            <a:endParaRPr lang="ko-KR" altLang="en-US" sz="1000" i="1" u="sng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1D5EA7-4C79-A6DA-5378-50C39A50B09E}"/>
              </a:ext>
            </a:extLst>
          </p:cNvPr>
          <p:cNvSpPr txBox="1"/>
          <p:nvPr/>
        </p:nvSpPr>
        <p:spPr>
          <a:xfrm>
            <a:off x="2750394" y="2209745"/>
            <a:ext cx="603050" cy="2223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i="1" u="sng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Step 2</a:t>
            </a:r>
            <a:endParaRPr lang="ko-KR" altLang="en-US" sz="1000" i="1" u="sng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FCA390D-1592-E1BB-2DBB-E89EEC05168D}"/>
              </a:ext>
            </a:extLst>
          </p:cNvPr>
          <p:cNvSpPr txBox="1"/>
          <p:nvPr/>
        </p:nvSpPr>
        <p:spPr>
          <a:xfrm>
            <a:off x="5043320" y="2209745"/>
            <a:ext cx="604653" cy="2223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i="1" u="sng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Step 3</a:t>
            </a:r>
            <a:endParaRPr lang="ko-KR" altLang="en-US" sz="1000" i="1" u="sng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92479E-3854-3251-2A36-43ACEF5DFB52}"/>
              </a:ext>
            </a:extLst>
          </p:cNvPr>
          <p:cNvSpPr txBox="1"/>
          <p:nvPr/>
        </p:nvSpPr>
        <p:spPr>
          <a:xfrm>
            <a:off x="7319239" y="2209745"/>
            <a:ext cx="607859" cy="2223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i="1" u="sng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Step 4</a:t>
            </a:r>
            <a:endParaRPr lang="ko-KR" altLang="en-US" sz="1000" i="1" u="sng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1B4D93-43EC-7037-4EF2-211277E0522A}"/>
              </a:ext>
            </a:extLst>
          </p:cNvPr>
          <p:cNvSpPr txBox="1"/>
          <p:nvPr/>
        </p:nvSpPr>
        <p:spPr>
          <a:xfrm>
            <a:off x="9595156" y="2209745"/>
            <a:ext cx="603050" cy="2223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i="1" u="sng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Step 5</a:t>
            </a:r>
            <a:endParaRPr lang="ko-KR" altLang="en-US" sz="1000" i="1" u="sng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60E0F659-D37F-86EB-B104-9B191D72C44A}"/>
              </a:ext>
            </a:extLst>
          </p:cNvPr>
          <p:cNvGrpSpPr/>
          <p:nvPr/>
        </p:nvGrpSpPr>
        <p:grpSpPr>
          <a:xfrm>
            <a:off x="531037" y="1475275"/>
            <a:ext cx="11129926" cy="615739"/>
            <a:chOff x="474367" y="1475275"/>
            <a:chExt cx="11223048" cy="615739"/>
          </a:xfrm>
        </p:grpSpPr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C877450C-410B-391C-7765-83C347EFD9AC}"/>
                </a:ext>
              </a:extLst>
            </p:cNvPr>
            <p:cNvCxnSpPr>
              <a:cxnSpLocks/>
            </p:cNvCxnSpPr>
            <p:nvPr/>
          </p:nvCxnSpPr>
          <p:spPr>
            <a:xfrm>
              <a:off x="474367" y="1780225"/>
              <a:ext cx="11223048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5CD8106-5761-FB24-38ED-1DF6A98785F5}"/>
                </a:ext>
              </a:extLst>
            </p:cNvPr>
            <p:cNvSpPr txBox="1"/>
            <p:nvPr/>
          </p:nvSpPr>
          <p:spPr>
            <a:xfrm>
              <a:off x="4950494" y="1475275"/>
              <a:ext cx="22910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>
                <a:defRPr sz="1600">
                  <a:latin typeface="+mj-ea"/>
                  <a:ea typeface="+mj-ea"/>
                </a:defRPr>
              </a:lvl1pPr>
            </a:lstStyle>
            <a:p>
              <a:pPr algn="ctr"/>
              <a:r>
                <a:rPr lang="en-US" altLang="ko-KR" sz="14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ALPACO </a:t>
              </a:r>
              <a:r>
                <a:rPr lang="en-US" altLang="ko-KR" sz="1400" dirty="0">
                  <a:solidFill>
                    <a:srgbClr val="FF000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SOFT</a:t>
              </a:r>
              <a:r>
                <a:rPr lang="en-US" altLang="ko-KR" sz="14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-ISD </a:t>
              </a:r>
              <a:r>
                <a:rPr lang="ko-KR" altLang="en-US" sz="14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모형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F1088DB-B00B-E560-578B-78E65E75B802}"/>
                </a:ext>
              </a:extLst>
            </p:cNvPr>
            <p:cNvSpPr txBox="1"/>
            <p:nvPr/>
          </p:nvSpPr>
          <p:spPr>
            <a:xfrm>
              <a:off x="1500031" y="1814015"/>
              <a:ext cx="919194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anchorCtr="0"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S</a:t>
              </a:r>
              <a:r>
                <a:rPr kumimoji="1" lang="en-US" altLang="ko-KR" sz="12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ystem(</a:t>
              </a:r>
              <a:r>
                <a:rPr kumimoji="1" lang="ko-KR" altLang="en-US" sz="12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체제적 접근</a:t>
              </a:r>
              <a:r>
                <a:rPr kumimoji="1" lang="en-US" altLang="ko-KR" sz="12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)·</a:t>
              </a:r>
              <a:r>
                <a:rPr kumimoji="1" lang="en-US" altLang="ko-KR" sz="1200" b="1" dirty="0">
                  <a:solidFill>
                    <a:srgbClr val="FF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O</a:t>
              </a:r>
              <a:r>
                <a:rPr kumimoji="1" lang="en-US" altLang="ko-KR" sz="120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bject</a:t>
              </a:r>
              <a:r>
                <a:rPr kumimoji="1" lang="en-US" altLang="ko-KR" sz="12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(</a:t>
              </a:r>
              <a:r>
                <a:rPr kumimoji="1" lang="ko-KR" altLang="en-US" sz="12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명확한 학습목표 중심 교수설계</a:t>
              </a:r>
              <a:r>
                <a:rPr kumimoji="1" lang="en-US" altLang="ko-KR" sz="12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)·</a:t>
              </a:r>
              <a:r>
                <a:rPr kumimoji="1" lang="en-US" altLang="ko-KR" sz="1200" b="1" dirty="0">
                  <a:solidFill>
                    <a:srgbClr val="FF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F</a:t>
              </a:r>
              <a:r>
                <a:rPr kumimoji="1" lang="en-US" altLang="ko-KR" sz="12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un(</a:t>
              </a:r>
              <a:r>
                <a:rPr kumimoji="1" lang="ko-KR" altLang="en-US" sz="12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재미</a:t>
              </a:r>
              <a:r>
                <a:rPr kumimoji="1" lang="en-US" altLang="ko-KR" sz="1200" dirty="0">
                  <a:solidFill>
                    <a:srgbClr val="0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/</a:t>
              </a:r>
              <a:r>
                <a:rPr kumimoji="1" lang="ko-KR" altLang="en-US" sz="1200" dirty="0">
                  <a:solidFill>
                    <a:srgbClr val="0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흥미 유도를 통한 학습동기부여</a:t>
              </a:r>
              <a:r>
                <a:rPr kumimoji="1" lang="en-US" altLang="ko-KR" sz="1200" dirty="0">
                  <a:solidFill>
                    <a:srgbClr val="0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)</a:t>
              </a:r>
              <a:r>
                <a:rPr kumimoji="1" lang="en-US" altLang="ko-KR" sz="12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·</a:t>
              </a:r>
              <a:r>
                <a:rPr kumimoji="1" lang="en-US" altLang="ko-KR" sz="1200" b="1" dirty="0">
                  <a:solidFill>
                    <a:srgbClr val="FF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T</a:t>
              </a:r>
              <a:r>
                <a:rPr kumimoji="1" lang="en-US" altLang="ko-KR" sz="120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ransfer</a:t>
              </a:r>
              <a:r>
                <a:rPr kumimoji="1" lang="en-US" altLang="ko-KR" sz="12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(</a:t>
              </a:r>
              <a:r>
                <a:rPr kumimoji="1" lang="ko-KR" altLang="en-US" sz="12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행동변화로의 전이</a:t>
              </a:r>
              <a:r>
                <a:rPr kumimoji="1" lang="en-US" altLang="ko-KR" sz="12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9955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3DDA4-6D1C-8C4A-DE74-BF896D174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87987D-646A-1E7E-E9CA-FACE7CC57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프로젝트 추진 단계별 상세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D4EC1FA-4A85-181E-A272-1E4CEB80A443}"/>
              </a:ext>
            </a:extLst>
          </p:cNvPr>
          <p:cNvSpPr txBox="1"/>
          <p:nvPr/>
        </p:nvSpPr>
        <p:spPr>
          <a:xfrm>
            <a:off x="522779" y="1770700"/>
            <a:ext cx="6094428" cy="48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역량강화 통합 플랫폼으로서 역할 강화를 위한 목표의 보다 명확한 설정</a:t>
            </a:r>
            <a:endParaRPr lang="en-US" altLang="ko-KR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원격학습 환경에서 성공적인 학습을 지원하는 항목 도출 및 반영</a:t>
            </a:r>
            <a:endParaRPr lang="en-US" altLang="ko-KR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1DFE2FB4-1E12-E70E-1D9B-0FE3612A91F0}"/>
              </a:ext>
            </a:extLst>
          </p:cNvPr>
          <p:cNvCxnSpPr>
            <a:cxnSpLocks/>
          </p:cNvCxnSpPr>
          <p:nvPr/>
        </p:nvCxnSpPr>
        <p:spPr>
          <a:xfrm>
            <a:off x="515938" y="1770700"/>
            <a:ext cx="1119663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54E40864-D42B-719F-5A5A-5B17B0BACD36}"/>
              </a:ext>
            </a:extLst>
          </p:cNvPr>
          <p:cNvSpPr txBox="1"/>
          <p:nvPr/>
        </p:nvSpPr>
        <p:spPr>
          <a:xfrm>
            <a:off x="448698" y="1465750"/>
            <a:ext cx="27366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>
                <a:latin typeface="+mj-ea"/>
                <a:ea typeface="+mj-ea"/>
              </a:defRPr>
            </a:lvl1pPr>
          </a:lstStyle>
          <a:p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현업이슈 발굴 및 과정적용점 도출</a:t>
            </a:r>
          </a:p>
        </p:txBody>
      </p:sp>
      <p:graphicFrame>
        <p:nvGraphicFramePr>
          <p:cNvPr id="119" name="표 118">
            <a:extLst>
              <a:ext uri="{FF2B5EF4-FFF2-40B4-BE49-F238E27FC236}">
                <a16:creationId xmlns:a16="http://schemas.microsoft.com/office/drawing/2014/main" id="{F99A90EF-C1A5-144D-0BD5-7CEDD5242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127448"/>
              </p:ext>
            </p:extLst>
          </p:nvPr>
        </p:nvGraphicFramePr>
        <p:xfrm>
          <a:off x="549128" y="2365903"/>
          <a:ext cx="11093745" cy="3940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915">
                  <a:extLst>
                    <a:ext uri="{9D8B030D-6E8A-4147-A177-3AD203B41FA5}">
                      <a16:colId xmlns:a16="http://schemas.microsoft.com/office/drawing/2014/main" val="2305888179"/>
                    </a:ext>
                  </a:extLst>
                </a:gridCol>
                <a:gridCol w="3697915">
                  <a:extLst>
                    <a:ext uri="{9D8B030D-6E8A-4147-A177-3AD203B41FA5}">
                      <a16:colId xmlns:a16="http://schemas.microsoft.com/office/drawing/2014/main" val="3853092397"/>
                    </a:ext>
                  </a:extLst>
                </a:gridCol>
              </a:tblGrid>
              <a:tr h="312246">
                <a:tc>
                  <a:txBody>
                    <a:bodyPr/>
                    <a:lstStyle/>
                    <a:p>
                      <a:pPr marL="0" indent="0"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퀵 문헌 리뷰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이해관계자 니즈 파악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itchFamily="34" charset="0"/>
                        <a:buNone/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학습자 특성 분석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8382">
                <a:tc>
                  <a:txBody>
                    <a:bodyPr/>
                    <a:lstStyle/>
                    <a:p>
                      <a:pPr marL="92075" marR="0" lvl="0" indent="-92075" algn="l" defTabSz="914377" rtl="0" eaLnBrk="1" fontAlgn="auto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문헌조사 목적</a:t>
                      </a:r>
                      <a:b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S-OIL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현황 이해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92075" indent="-92075" algn="l" latinLnBrk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문헌조사 자료</a:t>
                      </a:r>
                      <a:b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기존 프로젝트 수행 결과보고서 및 관련자료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외부 자료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논문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연구원 보고서 등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  <a:p>
                      <a:pPr marL="92075" indent="-92075" algn="l" latinLnBrk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문헌조사 기간</a:t>
                      </a:r>
                      <a:b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약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주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08000" marT="72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377" rtl="0" eaLnBrk="1" fontAlgn="auto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인터뷰 목적</a:t>
                      </a:r>
                      <a:b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교육 요구 파악 및 이슈 후보군 도출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92075" indent="-92075" algn="l" latinLnBrk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인터뷰 방법</a:t>
                      </a:r>
                      <a:br>
                        <a:rPr lang="en-US" altLang="ko-KR" sz="10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- 1:1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심층 인터뷰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반 구조화 인터뷰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92075" indent="-92075" algn="l" latinLnBrk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인터뷰 대상 및 인원</a:t>
                      </a:r>
                      <a:b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핵심 관련자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 이내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경영진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HR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임원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학습자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  <a:p>
                      <a:pPr marL="92075" indent="-92075" algn="l" latinLnBrk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수행 기간</a:t>
                      </a:r>
                      <a:b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약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주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앞선 단계와 병렬 실시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lang="ko-KR" altLang="en-US" sz="1000" b="0" kern="120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08000" marT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92075" algn="l" latinLnBrk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서베이 목적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원격학습 환경에서 학습자의 성공적인 학습을 지원하는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 중요한 지표 결과 확인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92075" indent="-92075" algn="l" latinLnBrk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서베이 방법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전수조사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92075" indent="-92075" algn="l" latinLnBrk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서베이 항목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학습스타일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학습동기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자가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학습 스케줄관리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학습환경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등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92075" indent="-92075" algn="l" latinLnBrk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30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수행기간</a:t>
                      </a:r>
                      <a:b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-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약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3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일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앞선 단계와 일부 병렬 실시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lang="ko-KR" altLang="en-US" sz="1000" b="0" kern="120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08000" marT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0" name="그림 119">
            <a:extLst>
              <a:ext uri="{FF2B5EF4-FFF2-40B4-BE49-F238E27FC236}">
                <a16:creationId xmlns:a16="http://schemas.microsoft.com/office/drawing/2014/main" id="{17D13AA9-DEF2-3A0F-27E1-D346ACF8B067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43800" y="4388067"/>
            <a:ext cx="2262002" cy="1801218"/>
          </a:xfrm>
          <a:prstGeom prst="rect">
            <a:avLst/>
          </a:prstGeom>
        </p:spPr>
      </p:pic>
      <p:pic>
        <p:nvPicPr>
          <p:cNvPr id="124" name="그림 123">
            <a:extLst>
              <a:ext uri="{FF2B5EF4-FFF2-40B4-BE49-F238E27FC236}">
                <a16:creationId xmlns:a16="http://schemas.microsoft.com/office/drawing/2014/main" id="{D6EAC7ED-C1B1-9793-1487-B57E2018C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725" y="4387185"/>
            <a:ext cx="2265210" cy="1802100"/>
          </a:xfrm>
          <a:prstGeom prst="rect">
            <a:avLst/>
          </a:prstGeom>
        </p:spPr>
      </p:pic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457CF26F-34AA-01AE-6FF7-E78C8FB940E7}"/>
              </a:ext>
            </a:extLst>
          </p:cNvPr>
          <p:cNvGrpSpPr/>
          <p:nvPr/>
        </p:nvGrpSpPr>
        <p:grpSpPr>
          <a:xfrm rot="20375939">
            <a:off x="2732746" y="5155432"/>
            <a:ext cx="1267730" cy="265605"/>
            <a:chOff x="-381001" y="3810000"/>
            <a:chExt cx="1811868" cy="364067"/>
          </a:xfrm>
        </p:grpSpPr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96F20069-CD45-4FFC-8AD8-15FA4EAB7573}"/>
                </a:ext>
              </a:extLst>
            </p:cNvPr>
            <p:cNvSpPr/>
            <p:nvPr/>
          </p:nvSpPr>
          <p:spPr>
            <a:xfrm>
              <a:off x="-381001" y="3810000"/>
              <a:ext cx="1803400" cy="364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ILLUSTRATIVE</a:t>
              </a:r>
              <a:endPara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682FFE10-EF29-5257-C9B9-5CEFFD1C6DA2}"/>
                </a:ext>
              </a:extLst>
            </p:cNvPr>
            <p:cNvCxnSpPr/>
            <p:nvPr/>
          </p:nvCxnSpPr>
          <p:spPr>
            <a:xfrm flipV="1">
              <a:off x="-381001" y="3810000"/>
              <a:ext cx="181186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2B1F176C-58A9-1085-7FE0-DC8507A69F9C}"/>
                </a:ext>
              </a:extLst>
            </p:cNvPr>
            <p:cNvCxnSpPr/>
            <p:nvPr/>
          </p:nvCxnSpPr>
          <p:spPr>
            <a:xfrm flipV="1">
              <a:off x="-381001" y="4174067"/>
              <a:ext cx="181186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995B7751-1AA6-E744-8B3B-6B4B8D9A928B}"/>
              </a:ext>
            </a:extLst>
          </p:cNvPr>
          <p:cNvGrpSpPr/>
          <p:nvPr/>
        </p:nvGrpSpPr>
        <p:grpSpPr>
          <a:xfrm rot="20375939">
            <a:off x="6543741" y="5155432"/>
            <a:ext cx="1267730" cy="265605"/>
            <a:chOff x="-381001" y="3810000"/>
            <a:chExt cx="1811868" cy="364067"/>
          </a:xfrm>
        </p:grpSpPr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961ABBAA-5724-D786-2349-25274E96644D}"/>
                </a:ext>
              </a:extLst>
            </p:cNvPr>
            <p:cNvSpPr/>
            <p:nvPr/>
          </p:nvSpPr>
          <p:spPr>
            <a:xfrm>
              <a:off x="-381001" y="3810000"/>
              <a:ext cx="1803400" cy="364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ILLUSTRATIVE</a:t>
              </a:r>
              <a:endPara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31" name="직선 연결선 130">
              <a:extLst>
                <a:ext uri="{FF2B5EF4-FFF2-40B4-BE49-F238E27FC236}">
                  <a16:creationId xmlns:a16="http://schemas.microsoft.com/office/drawing/2014/main" id="{879AADAF-4955-9386-A649-5A130389631A}"/>
                </a:ext>
              </a:extLst>
            </p:cNvPr>
            <p:cNvCxnSpPr/>
            <p:nvPr/>
          </p:nvCxnSpPr>
          <p:spPr>
            <a:xfrm flipV="1">
              <a:off x="-381001" y="3810000"/>
              <a:ext cx="181186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직선 연결선 131">
              <a:extLst>
                <a:ext uri="{FF2B5EF4-FFF2-40B4-BE49-F238E27FC236}">
                  <a16:creationId xmlns:a16="http://schemas.microsoft.com/office/drawing/2014/main" id="{9FEC46A6-79FD-3E4E-88C5-07718BE3162B}"/>
                </a:ext>
              </a:extLst>
            </p:cNvPr>
            <p:cNvCxnSpPr/>
            <p:nvPr/>
          </p:nvCxnSpPr>
          <p:spPr>
            <a:xfrm flipV="1">
              <a:off x="-381001" y="4174067"/>
              <a:ext cx="181186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" name="그림 24">
            <a:extLst>
              <a:ext uri="{FF2B5EF4-FFF2-40B4-BE49-F238E27FC236}">
                <a16:creationId xmlns:a16="http://schemas.microsoft.com/office/drawing/2014/main" id="{F5A7EE87-50C8-F969-449B-AFBA77AEF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422" y="4319712"/>
            <a:ext cx="1335044" cy="1840548"/>
          </a:xfrm>
          <a:prstGeom prst="rect">
            <a:avLst/>
          </a:prstGeom>
        </p:spPr>
      </p:pic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792A5973-E818-3879-CC65-99D35D90C108}"/>
              </a:ext>
            </a:extLst>
          </p:cNvPr>
          <p:cNvGrpSpPr/>
          <p:nvPr/>
        </p:nvGrpSpPr>
        <p:grpSpPr>
          <a:xfrm rot="20375939">
            <a:off x="10411189" y="5155432"/>
            <a:ext cx="1267730" cy="265605"/>
            <a:chOff x="-381001" y="3810000"/>
            <a:chExt cx="1811868" cy="364067"/>
          </a:xfrm>
        </p:grpSpPr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4C574B14-868A-6C54-C8CF-A78BC79A88D1}"/>
                </a:ext>
              </a:extLst>
            </p:cNvPr>
            <p:cNvSpPr/>
            <p:nvPr/>
          </p:nvSpPr>
          <p:spPr>
            <a:xfrm>
              <a:off x="-381001" y="3810000"/>
              <a:ext cx="1803400" cy="364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ILLUSTRATIVE</a:t>
              </a:r>
              <a:endPara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7AC10596-9F0B-EF08-70FE-1534BB29E778}"/>
                </a:ext>
              </a:extLst>
            </p:cNvPr>
            <p:cNvCxnSpPr/>
            <p:nvPr/>
          </p:nvCxnSpPr>
          <p:spPr>
            <a:xfrm flipV="1">
              <a:off x="-381001" y="3810000"/>
              <a:ext cx="181186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F1B9D941-F698-CB20-95C0-2841FCAF945F}"/>
                </a:ext>
              </a:extLst>
            </p:cNvPr>
            <p:cNvCxnSpPr/>
            <p:nvPr/>
          </p:nvCxnSpPr>
          <p:spPr>
            <a:xfrm flipV="1">
              <a:off x="-381001" y="4174067"/>
              <a:ext cx="181186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42783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1E496-4E68-6B5D-44BF-015DB00AA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7AEE388-8EBD-904A-EAB4-3F620C806AE6}"/>
              </a:ext>
            </a:extLst>
          </p:cNvPr>
          <p:cNvCxnSpPr>
            <a:cxnSpLocks/>
          </p:cNvCxnSpPr>
          <p:nvPr/>
        </p:nvCxnSpPr>
        <p:spPr>
          <a:xfrm>
            <a:off x="515938" y="1770700"/>
            <a:ext cx="1119663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93006F0-FA6F-D3D4-CABD-BDE026201A4C}"/>
              </a:ext>
            </a:extLst>
          </p:cNvPr>
          <p:cNvSpPr txBox="1"/>
          <p:nvPr/>
        </p:nvSpPr>
        <p:spPr>
          <a:xfrm>
            <a:off x="448698" y="1465750"/>
            <a:ext cx="24753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>
                <a:latin typeface="+mj-ea"/>
                <a:ea typeface="+mj-ea"/>
              </a:defRPr>
            </a:lvl1pPr>
          </a:lstStyle>
          <a:p>
            <a:r>
              <a:rPr lang="ko-KR" altLang="en-US" sz="140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신규과정 선정 </a:t>
            </a:r>
            <a:r>
              <a:rPr lang="en-US" altLang="ko-KR" sz="140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5</a:t>
            </a:r>
            <a:r>
              <a:rPr lang="ko-KR" altLang="en-US" sz="140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단계 프로세스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5F1287-CA9E-A463-E7F5-42F2EFBFE8F6}"/>
              </a:ext>
            </a:extLst>
          </p:cNvPr>
          <p:cNvSpPr txBox="1"/>
          <p:nvPr/>
        </p:nvSpPr>
        <p:spPr>
          <a:xfrm>
            <a:off x="522779" y="1770700"/>
            <a:ext cx="6981398" cy="5586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en-US" altLang="ko-KR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5</a:t>
            </a:r>
            <a:r>
              <a:rPr lang="ko-KR" altLang="en-US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단계의 체계적 교재선정 프로세스를 통해 교재 추천으로 콘텐츠 측면의 품질 및 다양성을 확보</a:t>
            </a:r>
            <a:endParaRPr lang="en-US" altLang="ko-KR" sz="1300" dirty="0">
              <a:solidFill>
                <a:prstClr val="black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300" b="1" dirty="0">
                <a:solidFill>
                  <a:srgbClr val="C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매월 약 </a:t>
            </a:r>
            <a:r>
              <a:rPr lang="en-US" altLang="ko-KR" sz="1300" b="1" dirty="0">
                <a:solidFill>
                  <a:srgbClr val="C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100</a:t>
            </a:r>
            <a:r>
              <a:rPr lang="ko-KR" altLang="en-US" sz="1300" b="1" dirty="0">
                <a:solidFill>
                  <a:srgbClr val="C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권 업데이트</a:t>
            </a:r>
            <a:r>
              <a:rPr lang="en-US" altLang="ko-KR" sz="1300" b="1" dirty="0">
                <a:solidFill>
                  <a:srgbClr val="C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</a:t>
            </a:r>
            <a:r>
              <a:rPr lang="ko-KR" altLang="en-US" sz="1300" b="1" dirty="0">
                <a:solidFill>
                  <a:srgbClr val="C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신청</a:t>
            </a:r>
            <a:r>
              <a:rPr lang="en-US" altLang="ko-KR" sz="1300" b="1" dirty="0">
                <a:solidFill>
                  <a:srgbClr val="C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</a:t>
            </a:r>
            <a:r>
              <a:rPr lang="ko-KR" altLang="en-US" sz="1300" b="1" dirty="0">
                <a:solidFill>
                  <a:srgbClr val="C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추천 </a:t>
            </a:r>
            <a:r>
              <a:rPr lang="en-US" altLang="ko-KR" sz="1300" b="1" dirty="0">
                <a:solidFill>
                  <a:srgbClr val="C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= 6:4)</a:t>
            </a: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24A367B9-DAE8-D63E-2F91-74BC93F1CC7D}"/>
              </a:ext>
            </a:extLst>
          </p:cNvPr>
          <p:cNvSpPr/>
          <p:nvPr/>
        </p:nvSpPr>
        <p:spPr bwMode="auto">
          <a:xfrm>
            <a:off x="1213486" y="2693863"/>
            <a:ext cx="1262712" cy="1264195"/>
          </a:xfrm>
          <a:prstGeom prst="ellipse">
            <a:avLst/>
          </a:prstGeom>
          <a:solidFill>
            <a:srgbClr val="D3DB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20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수집</a:t>
            </a:r>
            <a:br>
              <a:rPr lang="en-US" altLang="ko-KR" sz="16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sz="10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Search</a:t>
            </a: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8A88D457-A7B3-99CC-8B66-A77D5F7B83FD}"/>
              </a:ext>
            </a:extLst>
          </p:cNvPr>
          <p:cNvSpPr/>
          <p:nvPr/>
        </p:nvSpPr>
        <p:spPr bwMode="auto">
          <a:xfrm>
            <a:off x="3339722" y="2693863"/>
            <a:ext cx="1262713" cy="1264195"/>
          </a:xfrm>
          <a:prstGeom prst="ellipse">
            <a:avLst/>
          </a:prstGeom>
          <a:solidFill>
            <a:srgbClr val="85C2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20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분류</a:t>
            </a:r>
            <a:endParaRPr lang="en-US" altLang="ko-KR" sz="20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0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Categorization</a:t>
            </a:r>
            <a:endParaRPr lang="ko-KR" altLang="en-US" sz="105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460F9E20-7916-B943-AD35-0C3A1CC65786}"/>
              </a:ext>
            </a:extLst>
          </p:cNvPr>
          <p:cNvSpPr/>
          <p:nvPr/>
        </p:nvSpPr>
        <p:spPr bwMode="auto">
          <a:xfrm>
            <a:off x="5465959" y="2693863"/>
            <a:ext cx="1262713" cy="1264195"/>
          </a:xfrm>
          <a:prstGeom prst="ellipse">
            <a:avLst/>
          </a:prstGeom>
          <a:solidFill>
            <a:srgbClr val="D3DB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20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분석</a:t>
            </a:r>
            <a:br>
              <a:rPr lang="en-US" altLang="ko-KR" sz="20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sz="10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Analysis</a:t>
            </a: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00901422-83B1-6AE0-0CD0-E2876C84BFA9}"/>
              </a:ext>
            </a:extLst>
          </p:cNvPr>
          <p:cNvSpPr/>
          <p:nvPr/>
        </p:nvSpPr>
        <p:spPr bwMode="auto">
          <a:xfrm>
            <a:off x="7592196" y="2693863"/>
            <a:ext cx="1262713" cy="1264195"/>
          </a:xfrm>
          <a:prstGeom prst="ellipse">
            <a:avLst/>
          </a:prstGeom>
          <a:solidFill>
            <a:srgbClr val="85C2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ko-KR" altLang="en-US" sz="20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추천</a:t>
            </a:r>
            <a:endParaRPr lang="en-US" altLang="ko-KR" sz="20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ko-KR" sz="10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Recommendation</a:t>
            </a:r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56145062-E757-0DE0-C025-93C37D9B5DB2}"/>
              </a:ext>
            </a:extLst>
          </p:cNvPr>
          <p:cNvSpPr/>
          <p:nvPr/>
        </p:nvSpPr>
        <p:spPr bwMode="auto">
          <a:xfrm>
            <a:off x="9718431" y="2693863"/>
            <a:ext cx="1262713" cy="1264195"/>
          </a:xfrm>
          <a:prstGeom prst="ellipse">
            <a:avLst/>
          </a:prstGeom>
          <a:solidFill>
            <a:srgbClr val="D3DB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</a:pPr>
            <a:r>
              <a:rPr lang="ko-KR" altLang="en-US" sz="20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결과물</a:t>
            </a:r>
            <a:endParaRPr lang="en-US" altLang="ko-KR" sz="20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R="0" lvl="0" indent="0" algn="ctr" fontAlgn="auto" latinLnBrk="0"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Result</a:t>
            </a:r>
          </a:p>
        </p:txBody>
      </p:sp>
      <p:sp>
        <p:nvSpPr>
          <p:cNvPr id="122" name="TextBox 159">
            <a:extLst>
              <a:ext uri="{FF2B5EF4-FFF2-40B4-BE49-F238E27FC236}">
                <a16:creationId xmlns:a16="http://schemas.microsoft.com/office/drawing/2014/main" id="{26149BB6-C06D-9C1F-EA14-BE378C4E7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658" y="4290562"/>
            <a:ext cx="2089110" cy="428175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14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3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최적합</a:t>
            </a:r>
            <a:r>
              <a:rPr lang="ko-KR" altLang="en-US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정보 수집</a:t>
            </a:r>
            <a:r>
              <a:rPr lang="en-US" altLang="ko-KR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/</a:t>
            </a:r>
            <a:r>
              <a:rPr lang="ko-KR" altLang="en-US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선별</a:t>
            </a:r>
          </a:p>
        </p:txBody>
      </p:sp>
      <p:sp>
        <p:nvSpPr>
          <p:cNvPr id="123" name="TextBox 159">
            <a:extLst>
              <a:ext uri="{FF2B5EF4-FFF2-40B4-BE49-F238E27FC236}">
                <a16:creationId xmlns:a16="http://schemas.microsoft.com/office/drawing/2014/main" id="{1690BCB9-6A5D-C386-2F47-F6B66DC4B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658" y="4722284"/>
            <a:ext cx="2089110" cy="10080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0" rtlCol="0" anchor="t" anchorCtr="0"/>
          <a:lstStyle>
            <a:defPPr>
              <a:defRPr lang="ko-KR"/>
            </a:defPPr>
            <a:lvl1pPr algn="ctr">
              <a:defRPr sz="14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indent="-171450" algn="l">
              <a:lnSpc>
                <a:spcPct val="11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도서정보추출시스템 활용</a:t>
            </a:r>
            <a:endParaRPr lang="en-US" altLang="ko-KR" sz="1150" dirty="0">
              <a:solidFill>
                <a:schemeClr val="tx1">
                  <a:lumMod val="95000"/>
                  <a:lumOff val="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1450" indent="-171450" algn="l">
              <a:lnSpc>
                <a:spcPct val="11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S-OIL Skill</a:t>
            </a:r>
            <a:r>
              <a:rPr lang="ko-KR" alt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기반 교재 추천</a:t>
            </a:r>
            <a:endParaRPr lang="en-US" altLang="ko-KR" sz="1150" dirty="0">
              <a:solidFill>
                <a:schemeClr val="tx1">
                  <a:lumMod val="95000"/>
                  <a:lumOff val="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1450" indent="-171450" algn="l">
              <a:lnSpc>
                <a:spcPct val="11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학습자 희망도서 니즈 반영</a:t>
            </a:r>
            <a:endParaRPr lang="en-US" altLang="ko-KR" sz="1150" dirty="0">
              <a:solidFill>
                <a:schemeClr val="tx1">
                  <a:lumMod val="95000"/>
                  <a:lumOff val="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26" name="TextBox 159">
            <a:extLst>
              <a:ext uri="{FF2B5EF4-FFF2-40B4-BE49-F238E27FC236}">
                <a16:creationId xmlns:a16="http://schemas.microsoft.com/office/drawing/2014/main" id="{1D7FE3DD-6457-EE8C-DDFD-F247A7B02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4552" y="4290562"/>
            <a:ext cx="2089110" cy="428175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14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S-OIL Skill </a:t>
            </a:r>
            <a:r>
              <a:rPr lang="ko-KR" altLang="en-US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분류 적용</a:t>
            </a:r>
          </a:p>
        </p:txBody>
      </p:sp>
      <p:sp>
        <p:nvSpPr>
          <p:cNvPr id="127" name="TextBox 159">
            <a:extLst>
              <a:ext uri="{FF2B5EF4-FFF2-40B4-BE49-F238E27FC236}">
                <a16:creationId xmlns:a16="http://schemas.microsoft.com/office/drawing/2014/main" id="{7D5DD817-C337-158D-55AA-EE9591F9D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4552" y="4722284"/>
            <a:ext cx="2089110" cy="10080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0" rtlCol="0" anchor="t" anchorCtr="0"/>
          <a:lstStyle>
            <a:defPPr>
              <a:defRPr lang="ko-KR"/>
            </a:defPPr>
            <a:lvl1pPr algn="ctr">
              <a:defRPr sz="14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indent="-171450" algn="l">
              <a:lnSpc>
                <a:spcPct val="11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 ~ 3</a:t>
            </a:r>
            <a:r>
              <a:rPr lang="ko-KR" alt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차 카테고리 분류 적용</a:t>
            </a:r>
            <a:endParaRPr lang="en-US" altLang="ko-KR" sz="1150" dirty="0">
              <a:solidFill>
                <a:schemeClr val="tx1">
                  <a:lumMod val="95000"/>
                  <a:lumOff val="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32" name="TextBox 159">
            <a:extLst>
              <a:ext uri="{FF2B5EF4-FFF2-40B4-BE49-F238E27FC236}">
                <a16:creationId xmlns:a16="http://schemas.microsoft.com/office/drawing/2014/main" id="{F8EC21AB-620D-3C76-64E7-0EE434D05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1446" y="4290562"/>
            <a:ext cx="2089110" cy="428175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14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교재 분석 실시</a:t>
            </a:r>
          </a:p>
        </p:txBody>
      </p:sp>
      <p:sp>
        <p:nvSpPr>
          <p:cNvPr id="133" name="TextBox 159">
            <a:extLst>
              <a:ext uri="{FF2B5EF4-FFF2-40B4-BE49-F238E27FC236}">
                <a16:creationId xmlns:a16="http://schemas.microsoft.com/office/drawing/2014/main" id="{EB49849E-3170-273F-2EB4-76EEBFB2F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1446" y="4722284"/>
            <a:ext cx="2089110" cy="10080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0" rtlCol="0" anchor="t" anchorCtr="0"/>
          <a:lstStyle>
            <a:defPPr>
              <a:defRPr lang="ko-KR"/>
            </a:defPPr>
            <a:lvl1pPr algn="ctr">
              <a:defRPr sz="14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indent="-171450" algn="l">
              <a:lnSpc>
                <a:spcPct val="11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역량 개발 측면</a:t>
            </a:r>
            <a:endParaRPr lang="en-US" altLang="ko-KR" sz="1150" dirty="0">
              <a:solidFill>
                <a:schemeClr val="tx1">
                  <a:lumMod val="95000"/>
                  <a:lumOff val="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1450" indent="-171450" algn="l">
              <a:lnSpc>
                <a:spcPct val="11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창의적 사고 증진 측면</a:t>
            </a:r>
            <a:endParaRPr lang="en-US" altLang="ko-KR" sz="1150" dirty="0">
              <a:solidFill>
                <a:schemeClr val="tx1">
                  <a:lumMod val="95000"/>
                  <a:lumOff val="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1450" indent="-171450" algn="l">
              <a:lnSpc>
                <a:spcPct val="11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최신 트렌드 반영 측면</a:t>
            </a:r>
            <a:endParaRPr lang="en-US" altLang="ko-KR" sz="1150" dirty="0">
              <a:solidFill>
                <a:schemeClr val="tx1">
                  <a:lumMod val="95000"/>
                  <a:lumOff val="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35" name="TextBox 159">
            <a:extLst>
              <a:ext uri="{FF2B5EF4-FFF2-40B4-BE49-F238E27FC236}">
                <a16:creationId xmlns:a16="http://schemas.microsoft.com/office/drawing/2014/main" id="{4E0883C0-F71C-96DE-1DA1-277C2C676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8340" y="4290562"/>
            <a:ext cx="2089110" cy="428175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14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추천 교재 목록 도출</a:t>
            </a:r>
          </a:p>
        </p:txBody>
      </p:sp>
      <p:sp>
        <p:nvSpPr>
          <p:cNvPr id="136" name="TextBox 159">
            <a:extLst>
              <a:ext uri="{FF2B5EF4-FFF2-40B4-BE49-F238E27FC236}">
                <a16:creationId xmlns:a16="http://schemas.microsoft.com/office/drawing/2014/main" id="{240B61AE-6403-C138-D678-F3FFAE3CA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8340" y="4722284"/>
            <a:ext cx="2089110" cy="10080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0" rtlCol="0" anchor="t" anchorCtr="0"/>
          <a:lstStyle>
            <a:defPPr>
              <a:defRPr lang="ko-KR"/>
            </a:defPPr>
            <a:lvl1pPr algn="ctr">
              <a:defRPr sz="14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indent="-171450" algn="l">
              <a:lnSpc>
                <a:spcPct val="11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교재 정보 제공</a:t>
            </a:r>
            <a:endParaRPr lang="en-US" altLang="ko-KR" sz="1150" dirty="0">
              <a:solidFill>
                <a:schemeClr val="tx1">
                  <a:lumMod val="95000"/>
                  <a:lumOff val="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1450" indent="-171450" algn="l">
              <a:lnSpc>
                <a:spcPct val="11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S-OIL </a:t>
            </a:r>
            <a:r>
              <a:rPr lang="ko-KR" alt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수강 이력 분석</a:t>
            </a:r>
            <a:endParaRPr lang="en-US" altLang="ko-KR" sz="1150" dirty="0">
              <a:solidFill>
                <a:schemeClr val="tx1">
                  <a:lumMod val="95000"/>
                  <a:lumOff val="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1450" indent="-171450" algn="l">
              <a:lnSpc>
                <a:spcPct val="11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Quick Response Service</a:t>
            </a:r>
          </a:p>
          <a:p>
            <a:pPr marL="171450" indent="-171450" algn="l">
              <a:lnSpc>
                <a:spcPct val="11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필수도서 선정 지원</a:t>
            </a:r>
            <a:endParaRPr lang="en-US" altLang="ko-KR" sz="1150" dirty="0">
              <a:solidFill>
                <a:schemeClr val="tx1">
                  <a:lumMod val="95000"/>
                  <a:lumOff val="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38" name="TextBox 159">
            <a:extLst>
              <a:ext uri="{FF2B5EF4-FFF2-40B4-BE49-F238E27FC236}">
                <a16:creationId xmlns:a16="http://schemas.microsoft.com/office/drawing/2014/main" id="{31476C65-F605-2225-ADB2-0531D2428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5232" y="4289258"/>
            <a:ext cx="2089110" cy="428175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14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업데이트 과정 도출</a:t>
            </a:r>
          </a:p>
        </p:txBody>
      </p:sp>
      <p:sp>
        <p:nvSpPr>
          <p:cNvPr id="139" name="TextBox 159">
            <a:extLst>
              <a:ext uri="{FF2B5EF4-FFF2-40B4-BE49-F238E27FC236}">
                <a16:creationId xmlns:a16="http://schemas.microsoft.com/office/drawing/2014/main" id="{4EE285C6-BFF6-BC70-E7C1-CCF79A9B1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5232" y="4720980"/>
            <a:ext cx="2089110" cy="10080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0" rtlCol="0" anchor="t" anchorCtr="0"/>
          <a:lstStyle>
            <a:defPPr>
              <a:defRPr lang="ko-KR"/>
            </a:defPPr>
            <a:lvl1pPr algn="ctr">
              <a:defRPr sz="14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indent="-171450" algn="l">
              <a:lnSpc>
                <a:spcPct val="11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Skill</a:t>
            </a:r>
            <a:r>
              <a:rPr lang="ko-KR" alt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별 </a:t>
            </a:r>
            <a:r>
              <a:rPr lang="ko-KR" altLang="en-US" sz="11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최적합</a:t>
            </a:r>
            <a:r>
              <a:rPr lang="ko-KR" alt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과정 개설</a:t>
            </a:r>
            <a:endParaRPr lang="en-US" altLang="ko-KR" sz="1150" dirty="0">
              <a:solidFill>
                <a:schemeClr val="tx1">
                  <a:lumMod val="95000"/>
                  <a:lumOff val="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1450" indent="-171450" algn="l">
              <a:lnSpc>
                <a:spcPct val="11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sz="115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월별 업데이트 반복</a:t>
            </a:r>
            <a:endParaRPr lang="en-US" altLang="ko-KR" sz="1150" dirty="0">
              <a:solidFill>
                <a:schemeClr val="tx1">
                  <a:lumMod val="95000"/>
                  <a:lumOff val="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020A8027-E2D5-DB1C-6AE0-6D9B27275289}"/>
              </a:ext>
            </a:extLst>
          </p:cNvPr>
          <p:cNvCxnSpPr>
            <a:cxnSpLocks/>
            <a:stCxn id="70" idx="4"/>
            <a:endCxn id="122" idx="0"/>
          </p:cNvCxnSpPr>
          <p:nvPr/>
        </p:nvCxnSpPr>
        <p:spPr>
          <a:xfrm flipH="1">
            <a:off x="1842213" y="3958058"/>
            <a:ext cx="2629" cy="332504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8FAE6FE1-3CC5-CBBC-D035-B51EA539C8D6}"/>
              </a:ext>
            </a:extLst>
          </p:cNvPr>
          <p:cNvCxnSpPr/>
          <p:nvPr/>
        </p:nvCxnSpPr>
        <p:spPr>
          <a:xfrm flipH="1">
            <a:off x="3969106" y="3958058"/>
            <a:ext cx="0" cy="3312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04EC0FC0-ACC5-83BE-C1F3-7C85F045D65A}"/>
              </a:ext>
            </a:extLst>
          </p:cNvPr>
          <p:cNvCxnSpPr>
            <a:cxnSpLocks/>
          </p:cNvCxnSpPr>
          <p:nvPr/>
        </p:nvCxnSpPr>
        <p:spPr>
          <a:xfrm>
            <a:off x="6096000" y="3958058"/>
            <a:ext cx="0" cy="3312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27DC3CD5-96B6-F3AF-8C60-852609933DBC}"/>
              </a:ext>
            </a:extLst>
          </p:cNvPr>
          <p:cNvCxnSpPr>
            <a:cxnSpLocks/>
          </p:cNvCxnSpPr>
          <p:nvPr/>
        </p:nvCxnSpPr>
        <p:spPr>
          <a:xfrm>
            <a:off x="8222895" y="3958058"/>
            <a:ext cx="0" cy="3312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A28769D8-CA33-6732-AD63-D6D7E2942AAB}"/>
              </a:ext>
            </a:extLst>
          </p:cNvPr>
          <p:cNvCxnSpPr>
            <a:cxnSpLocks/>
          </p:cNvCxnSpPr>
          <p:nvPr/>
        </p:nvCxnSpPr>
        <p:spPr>
          <a:xfrm>
            <a:off x="10349787" y="3958058"/>
            <a:ext cx="0" cy="3312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8D21FA79-90E9-BC41-3C38-2EA547301B1F}"/>
              </a:ext>
            </a:extLst>
          </p:cNvPr>
          <p:cNvSpPr txBox="1"/>
          <p:nvPr/>
        </p:nvSpPr>
        <p:spPr>
          <a:xfrm>
            <a:off x="7127356" y="5732658"/>
            <a:ext cx="2162772" cy="668516"/>
          </a:xfrm>
          <a:prstGeom prst="rect">
            <a:avLst/>
          </a:prstGeom>
          <a:noFill/>
        </p:spPr>
        <p:txBody>
          <a:bodyPr wrap="none" anchor="t" anchorCtr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tabLst/>
              <a:defRPr/>
            </a:pPr>
            <a:r>
              <a:rPr kumimoji="0" lang="en-US" altLang="ko-KR" sz="1150" b="0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※ Quick Response Service</a:t>
            </a:r>
            <a:b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</a:b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     -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인력개발팀 요청 시 과정 </a:t>
            </a:r>
            <a:b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</a:b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       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리스트 도입 빠른 검토</a:t>
            </a:r>
            <a:endParaRPr kumimoji="0" lang="en-US" altLang="ko-KR" sz="11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91" name="제목 190">
            <a:extLst>
              <a:ext uri="{FF2B5EF4-FFF2-40B4-BE49-F238E27FC236}">
                <a16:creationId xmlns:a16="http://schemas.microsoft.com/office/drawing/2014/main" id="{0231EFA8-6BF5-7AB6-FFE7-2017CC999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프로젝트 추진 단계별 상세</a:t>
            </a:r>
          </a:p>
        </p:txBody>
      </p:sp>
      <p:sp>
        <p:nvSpPr>
          <p:cNvPr id="192" name="이등변 삼각형 191">
            <a:extLst>
              <a:ext uri="{FF2B5EF4-FFF2-40B4-BE49-F238E27FC236}">
                <a16:creationId xmlns:a16="http://schemas.microsoft.com/office/drawing/2014/main" id="{20EAA613-2BFC-0529-FF77-D8999B74F3C3}"/>
              </a:ext>
            </a:extLst>
          </p:cNvPr>
          <p:cNvSpPr/>
          <p:nvPr/>
        </p:nvSpPr>
        <p:spPr>
          <a:xfrm rot="5400000">
            <a:off x="2718021" y="3194011"/>
            <a:ext cx="379877" cy="263898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tIns="0" bIns="0" rtlCol="0" anchor="ctr" anchorCtr="0"/>
          <a:lstStyle/>
          <a:p>
            <a:pPr marL="0" marR="0" indent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ko-KR" altLang="en-US" sz="2000" b="0" kern="1200" spc="0" noProof="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93" name="이등변 삼각형 192">
            <a:extLst>
              <a:ext uri="{FF2B5EF4-FFF2-40B4-BE49-F238E27FC236}">
                <a16:creationId xmlns:a16="http://schemas.microsoft.com/office/drawing/2014/main" id="{81859364-77C1-B9B9-3A82-FB7FF45BFD98}"/>
              </a:ext>
            </a:extLst>
          </p:cNvPr>
          <p:cNvSpPr/>
          <p:nvPr/>
        </p:nvSpPr>
        <p:spPr>
          <a:xfrm rot="5400000">
            <a:off x="9096732" y="3194011"/>
            <a:ext cx="379877" cy="263898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tIns="0" bIns="0" rtlCol="0" anchor="ctr" anchorCtr="0"/>
          <a:lstStyle/>
          <a:p>
            <a:pPr marL="0" marR="0" indent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ko-KR" altLang="en-US" sz="2000" b="0" kern="1200" spc="0" noProof="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94" name="이등변 삼각형 193">
            <a:extLst>
              <a:ext uri="{FF2B5EF4-FFF2-40B4-BE49-F238E27FC236}">
                <a16:creationId xmlns:a16="http://schemas.microsoft.com/office/drawing/2014/main" id="{51F4DD1E-41DC-1269-2992-1F1FEA1A6206}"/>
              </a:ext>
            </a:extLst>
          </p:cNvPr>
          <p:cNvSpPr/>
          <p:nvPr/>
        </p:nvSpPr>
        <p:spPr>
          <a:xfrm rot="5400000">
            <a:off x="4844258" y="3194011"/>
            <a:ext cx="379877" cy="263898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tIns="0" bIns="0" rtlCol="0" anchor="ctr" anchorCtr="0"/>
          <a:lstStyle/>
          <a:p>
            <a:pPr marL="0" marR="0" indent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ko-KR" altLang="en-US" sz="2000" b="0" kern="1200" spc="0" noProof="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95" name="이등변 삼각형 194">
            <a:extLst>
              <a:ext uri="{FF2B5EF4-FFF2-40B4-BE49-F238E27FC236}">
                <a16:creationId xmlns:a16="http://schemas.microsoft.com/office/drawing/2014/main" id="{9243E0E2-ADE4-977A-D0FD-2883AB1F9F70}"/>
              </a:ext>
            </a:extLst>
          </p:cNvPr>
          <p:cNvSpPr/>
          <p:nvPr/>
        </p:nvSpPr>
        <p:spPr>
          <a:xfrm rot="5400000">
            <a:off x="6970495" y="3194011"/>
            <a:ext cx="379877" cy="263898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tIns="0" bIns="0" rtlCol="0" anchor="ctr" anchorCtr="0"/>
          <a:lstStyle/>
          <a:p>
            <a:pPr marL="0" marR="0" indent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ko-KR" altLang="en-US" sz="2000" b="0" kern="1200" spc="0" noProof="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6629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332EE-12FE-D05D-4824-E9EC3C874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5AC82EAE-9FFE-C70C-ADD0-8CA5C38EB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프로젝트 추진 단계별 상세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597EB62-8871-F7B9-D3A6-0415DDD1A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104504"/>
              </p:ext>
            </p:extLst>
          </p:nvPr>
        </p:nvGraphicFramePr>
        <p:xfrm>
          <a:off x="3618272" y="2639560"/>
          <a:ext cx="8081679" cy="37033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9294">
                  <a:extLst>
                    <a:ext uri="{9D8B030D-6E8A-4147-A177-3AD203B41FA5}">
                      <a16:colId xmlns:a16="http://schemas.microsoft.com/office/drawing/2014/main" val="1873278741"/>
                    </a:ext>
                  </a:extLst>
                </a:gridCol>
                <a:gridCol w="5885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56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항목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학습 과정 개설 체크리스트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체크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1</a:t>
                      </a:r>
                      <a:endParaRPr lang="ko-KR" altLang="en-US" sz="11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Skill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과의 연관성을 확보하고 있는가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?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ctr" latinLnBrk="1">
                        <a:buClr>
                          <a:srgbClr val="C0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6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endParaRPr lang="ko-KR" altLang="en-US" sz="16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2</a:t>
                      </a:r>
                      <a:endParaRPr lang="ko-KR" altLang="en-US" sz="11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직무과정의 경우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 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직무능력 향상에 도움이 되는가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?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3</a:t>
                      </a:r>
                      <a:endParaRPr lang="ko-KR" altLang="en-US" sz="11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효과적 교수설계기법을 사용하고 있는가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?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7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4</a:t>
                      </a:r>
                      <a:endParaRPr lang="ko-KR" altLang="en-US" sz="11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학습난이도는 적절한가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?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7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5</a:t>
                      </a:r>
                      <a:endParaRPr lang="ko-KR" altLang="en-US" sz="11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콘텐츠와 학습자 간 상호작용을 고려하고 있는가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?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7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6</a:t>
                      </a:r>
                      <a:endParaRPr lang="ko-KR" altLang="en-US" sz="11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SME(Subject Matter Expert, 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내용전문가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 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선정은 적절한가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?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7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7</a:t>
                      </a:r>
                      <a:endParaRPr lang="ko-KR" altLang="en-US" sz="11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학습목표를 이루기 위한 적정한 학습량인가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?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8713069"/>
                  </a:ext>
                </a:extLst>
              </a:tr>
              <a:tr h="3397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8</a:t>
                      </a:r>
                      <a:endParaRPr lang="ko-KR" altLang="en-US" sz="11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적절한 평가방법을 활용하고 있는가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?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7818917"/>
                  </a:ext>
                </a:extLst>
              </a:tr>
              <a:tr h="3397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9</a:t>
                      </a:r>
                      <a:endParaRPr lang="ko-KR" altLang="en-US" sz="11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학습 후 피드백은 적절하게 이루어지고 있는가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?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610421"/>
                  </a:ext>
                </a:extLst>
              </a:tr>
              <a:tr h="3397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10</a:t>
                      </a:r>
                      <a:endParaRPr lang="ko-KR" altLang="en-US" sz="11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월별 업데이트는 활발하게 이루어지고 있는가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?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altLang="ko-KR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endParaRPr kumimoji="0" lang="ko-KR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23380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7F6283C-57A6-0F2F-8FD9-792651940344}"/>
              </a:ext>
            </a:extLst>
          </p:cNvPr>
          <p:cNvSpPr txBox="1"/>
          <p:nvPr/>
        </p:nvSpPr>
        <p:spPr>
          <a:xfrm>
            <a:off x="522779" y="1770700"/>
            <a:ext cx="6094428" cy="318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체크리스트 활용을 통해 구체적 검증</a:t>
            </a:r>
            <a:r>
              <a:rPr lang="en-US" altLang="ko-KR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/</a:t>
            </a:r>
            <a:r>
              <a:rPr lang="ko-KR" altLang="en-US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관리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9F14D4-6746-5617-40CB-B5ED26B1E4C6}"/>
              </a:ext>
            </a:extLst>
          </p:cNvPr>
          <p:cNvSpPr txBox="1"/>
          <p:nvPr/>
        </p:nvSpPr>
        <p:spPr>
          <a:xfrm>
            <a:off x="448698" y="1465750"/>
            <a:ext cx="5001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>
                <a:latin typeface="+mj-ea"/>
                <a:ea typeface="+mj-ea"/>
              </a:defRPr>
            </a:lvl1pPr>
          </a:lstStyle>
          <a:p>
            <a:r>
              <a:rPr lang="ko-KR" altLang="en-US" sz="140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교육 콘텐츠 품질 및 다양성</a:t>
            </a:r>
            <a:r>
              <a:rPr lang="en-US" altLang="ko-KR" sz="140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품질관리 방안</a:t>
            </a:r>
            <a:r>
              <a:rPr lang="en-US" altLang="ko-KR" sz="140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</a:t>
            </a:r>
            <a:r>
              <a:rPr lang="ko-KR" altLang="en-US" sz="140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과정선정 체크리스트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378C8D7-3464-0162-269A-57BEE91EA964}"/>
              </a:ext>
            </a:extLst>
          </p:cNvPr>
          <p:cNvCxnSpPr>
            <a:cxnSpLocks/>
          </p:cNvCxnSpPr>
          <p:nvPr/>
        </p:nvCxnSpPr>
        <p:spPr>
          <a:xfrm>
            <a:off x="515938" y="1770700"/>
            <a:ext cx="1119663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D6E64152-3167-19FB-76E8-31FC02209B49}"/>
              </a:ext>
            </a:extLst>
          </p:cNvPr>
          <p:cNvGrpSpPr/>
          <p:nvPr/>
        </p:nvGrpSpPr>
        <p:grpSpPr>
          <a:xfrm>
            <a:off x="522779" y="2639560"/>
            <a:ext cx="2999739" cy="3703368"/>
            <a:chOff x="522779" y="2425381"/>
            <a:chExt cx="3072476" cy="3917547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A90B1316-ADBF-75A2-32CC-614953D21726}"/>
                </a:ext>
              </a:extLst>
            </p:cNvPr>
            <p:cNvSpPr/>
            <p:nvPr/>
          </p:nvSpPr>
          <p:spPr>
            <a:xfrm>
              <a:off x="522779" y="2425381"/>
              <a:ext cx="3072476" cy="39175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tIns="0" bIns="0" rtlCol="0" anchor="ctr" anchorCtr="0"/>
            <a:lstStyle/>
            <a:p>
              <a:pPr marL="0" marR="0" indent="0" algn="ctr" defTabSz="914400" rtl="0" eaLnBrk="1" fontAlgn="auto" latinLnBrk="0" hangingPunct="1"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ko-KR" altLang="en-US" sz="2000" b="0" kern="1200" spc="0" noProof="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D56FDF2-615B-81BC-E2FC-0182B47E6D21}"/>
                </a:ext>
              </a:extLst>
            </p:cNvPr>
            <p:cNvSpPr txBox="1"/>
            <p:nvPr/>
          </p:nvSpPr>
          <p:spPr>
            <a:xfrm>
              <a:off x="747428" y="2639560"/>
              <a:ext cx="2623177" cy="491539"/>
            </a:xfrm>
            <a:prstGeom prst="roundRect">
              <a:avLst>
                <a:gd name="adj" fmla="val 11949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defPPr>
                <a:defRPr lang="ko-KR"/>
              </a:defPPr>
              <a:lvl1pPr algn="ctr">
                <a:defRPr sz="1600"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200" b="1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체크리스트</a:t>
              </a:r>
              <a:r>
                <a:rPr lang="en-US" altLang="ko-KR" sz="1200" b="1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 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기반 구체적 검증</a:t>
              </a:r>
              <a:r>
                <a:rPr lang="en-US" altLang="ko-KR" sz="1200" b="1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/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관리</a:t>
              </a:r>
              <a:endParaRPr lang="en-US" altLang="ko-KR" sz="12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pic>
          <p:nvPicPr>
            <p:cNvPr id="1026" name="Picture 2" descr="Business checklist or document in folder isolated on white">
              <a:extLst>
                <a:ext uri="{FF2B5EF4-FFF2-40B4-BE49-F238E27FC236}">
                  <a16:creationId xmlns:a16="http://schemas.microsoft.com/office/drawing/2014/main" id="{857B6F7F-AE81-4713-641F-90F823C7CAC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55" t="7042" r="7258" b="7042"/>
            <a:stretch/>
          </p:blipFill>
          <p:spPr bwMode="auto">
            <a:xfrm>
              <a:off x="1067860" y="3424396"/>
              <a:ext cx="1982314" cy="19516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A215BBE-3689-5374-2E13-84B5E55D49E5}"/>
                </a:ext>
              </a:extLst>
            </p:cNvPr>
            <p:cNvSpPr txBox="1"/>
            <p:nvPr/>
          </p:nvSpPr>
          <p:spPr>
            <a:xfrm>
              <a:off x="620854" y="5582402"/>
              <a:ext cx="2876327" cy="5227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교육내용</a:t>
              </a:r>
              <a:r>
                <a:rPr lang="en-US" altLang="ko-KR" sz="12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, </a:t>
              </a:r>
              <a:r>
                <a:rPr lang="ko-KR" altLang="en-US" sz="12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학습방법</a:t>
              </a:r>
              <a:r>
                <a:rPr lang="en-US" altLang="ko-KR" sz="12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, </a:t>
              </a:r>
              <a:r>
                <a:rPr lang="ko-KR" altLang="en-US" sz="12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교육난이도</a:t>
              </a:r>
              <a:endParaRPr lang="en-US" altLang="ko-KR" sz="12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171450" indent="-1714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교육시간</a:t>
              </a:r>
              <a:r>
                <a:rPr lang="en-US" altLang="ko-KR" sz="12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, </a:t>
              </a:r>
              <a:r>
                <a:rPr lang="ko-KR" altLang="en-US" sz="1200" dirty="0" err="1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최신성</a:t>
              </a:r>
              <a:r>
                <a:rPr lang="ko-KR" altLang="en-US" sz="12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등 적용 </a:t>
              </a:r>
              <a:endPara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0108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1C850-6571-9597-78C9-7D920CB4C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2DB281-7229-5B00-A0BE-037382FF9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프로젝트 추진 단계별 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D582D4-FAD5-C9BD-B857-3ECFDCB3B423}"/>
              </a:ext>
            </a:extLst>
          </p:cNvPr>
          <p:cNvSpPr txBox="1"/>
          <p:nvPr/>
        </p:nvSpPr>
        <p:spPr>
          <a:xfrm>
            <a:off x="460433" y="1770700"/>
            <a:ext cx="4487126" cy="3185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교육담당자가 실시간으로 조회가 가능한 </a:t>
            </a:r>
            <a:r>
              <a:rPr lang="en-US" altLang="ko-KR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VPN </a:t>
            </a:r>
            <a:r>
              <a:rPr lang="ko-KR" altLang="en-US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전송 기능 구현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77AAD3-B992-9516-43DE-F92A86F34056}"/>
              </a:ext>
            </a:extLst>
          </p:cNvPr>
          <p:cNvSpPr txBox="1"/>
          <p:nvPr/>
        </p:nvSpPr>
        <p:spPr>
          <a:xfrm>
            <a:off x="448698" y="1465750"/>
            <a:ext cx="4697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>
                <a:latin typeface="+mj-ea"/>
                <a:ea typeface="+mj-ea"/>
              </a:defRPr>
            </a:lvl1pPr>
          </a:lstStyle>
          <a:p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학습시스템 편의성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(1)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개인화 학습이력 데이터 관리 및 제공</a:t>
            </a:r>
            <a:endParaRPr lang="ko-KR" altLang="en-US" sz="1200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98D082D-E00F-FD67-9D99-D083605B9B87}"/>
              </a:ext>
            </a:extLst>
          </p:cNvPr>
          <p:cNvCxnSpPr>
            <a:cxnSpLocks/>
          </p:cNvCxnSpPr>
          <p:nvPr/>
        </p:nvCxnSpPr>
        <p:spPr>
          <a:xfrm>
            <a:off x="515938" y="1770700"/>
            <a:ext cx="1119663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AE78F873-1921-0543-DB6B-10AA63049FEF}"/>
              </a:ext>
            </a:extLst>
          </p:cNvPr>
          <p:cNvSpPr/>
          <p:nvPr/>
        </p:nvSpPr>
        <p:spPr>
          <a:xfrm>
            <a:off x="556053" y="2343041"/>
            <a:ext cx="3174282" cy="31854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S-OIL 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학습센터 전송 항목 주요 구성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1443C04-83B2-3015-327E-01F46CECA5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056639"/>
              </p:ext>
            </p:extLst>
          </p:nvPr>
        </p:nvGraphicFramePr>
        <p:xfrm>
          <a:off x="556053" y="2731496"/>
          <a:ext cx="7488490" cy="35772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1545">
                  <a:extLst>
                    <a:ext uri="{9D8B030D-6E8A-4147-A177-3AD203B41FA5}">
                      <a16:colId xmlns:a16="http://schemas.microsoft.com/office/drawing/2014/main" val="1918760752"/>
                    </a:ext>
                  </a:extLst>
                </a:gridCol>
                <a:gridCol w="1552489">
                  <a:extLst>
                    <a:ext uri="{9D8B030D-6E8A-4147-A177-3AD203B41FA5}">
                      <a16:colId xmlns:a16="http://schemas.microsoft.com/office/drawing/2014/main" val="104994780"/>
                    </a:ext>
                  </a:extLst>
                </a:gridCol>
                <a:gridCol w="5374456">
                  <a:extLst>
                    <a:ext uri="{9D8B030D-6E8A-4147-A177-3AD203B41FA5}">
                      <a16:colId xmlns:a16="http://schemas.microsoft.com/office/drawing/2014/main" val="3206508404"/>
                    </a:ext>
                  </a:extLst>
                </a:gridCol>
              </a:tblGrid>
              <a:tr h="3747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항목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기능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073669"/>
                  </a:ext>
                </a:extLst>
              </a:tr>
              <a:tr h="8006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1</a:t>
                      </a:r>
                      <a:endParaRPr lang="ko-KR" altLang="en-US" sz="1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차수 정보 조회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매 월 개강하는 차수에 대한 정보 조회</a:t>
                      </a:r>
                      <a:r>
                        <a:rPr lang="en-US" altLang="ko-KR" sz="11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개강일</a:t>
                      </a:r>
                      <a:r>
                        <a:rPr lang="en-US" altLang="ko-KR" sz="11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종료일</a:t>
                      </a:r>
                      <a:r>
                        <a:rPr lang="en-US" altLang="ko-KR" sz="11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오픈 과정 등</a:t>
                      </a:r>
                      <a:r>
                        <a:rPr lang="en-US" altLang="ko-KR" sz="11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3933489"/>
                  </a:ext>
                </a:extLst>
              </a:tr>
              <a:tr h="8006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2</a:t>
                      </a:r>
                      <a:endParaRPr lang="ko-KR" altLang="en-US" sz="1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수강 신청자 명단 조회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수강 신청기간 종료 후 수강 신청자 명단 일괄 조회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0361438"/>
                  </a:ext>
                </a:extLst>
              </a:tr>
              <a:tr h="8006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3</a:t>
                      </a:r>
                      <a:endParaRPr lang="ko-KR" altLang="en-US" sz="1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과제 제출 여부 조회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377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학습기간 내 과제 제출 여부에 대한 조회 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492378"/>
                  </a:ext>
                </a:extLst>
              </a:tr>
              <a:tr h="8006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4</a:t>
                      </a:r>
                      <a:endParaRPr lang="ko-KR" altLang="en-US" sz="1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1" hangingPunct="1"/>
                      <a:r>
                        <a:rPr lang="ko-KR" altLang="en-US" sz="11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연수결과 전송</a:t>
                      </a:r>
                      <a:endParaRPr lang="ko-KR" altLang="en-US" sz="10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학습 종료 후 수강생 수료 여부 등의 상세정보를 </a:t>
                      </a:r>
                      <a:r>
                        <a:rPr lang="en-US" altLang="ko-KR" sz="11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S-OIL</a:t>
                      </a:r>
                      <a:r>
                        <a:rPr lang="ko-KR" altLang="en-US" sz="11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에 전송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60350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F8A2884D-B0E9-AE76-A40C-5B675942B24F}"/>
              </a:ext>
            </a:extLst>
          </p:cNvPr>
          <p:cNvSpPr/>
          <p:nvPr/>
        </p:nvSpPr>
        <p:spPr>
          <a:xfrm>
            <a:off x="8163014" y="2341190"/>
            <a:ext cx="3607540" cy="3204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수강프로세스</a:t>
            </a:r>
          </a:p>
        </p:txBody>
      </p:sp>
      <p:sp>
        <p:nvSpPr>
          <p:cNvPr id="10" name="AutoShape 34">
            <a:extLst>
              <a:ext uri="{FF2B5EF4-FFF2-40B4-BE49-F238E27FC236}">
                <a16:creationId xmlns:a16="http://schemas.microsoft.com/office/drawing/2014/main" id="{F7E376C7-7CDC-F384-CCD1-AFD1DBDC1A49}"/>
              </a:ext>
            </a:extLst>
          </p:cNvPr>
          <p:cNvSpPr>
            <a:spLocks noChangeArrowheads="1"/>
          </p:cNvSpPr>
          <p:nvPr/>
        </p:nvSpPr>
        <p:spPr bwMode="gray">
          <a:xfrm>
            <a:off x="8163995" y="2731496"/>
            <a:ext cx="3575375" cy="3577222"/>
          </a:xfrm>
          <a:prstGeom prst="roundRect">
            <a:avLst>
              <a:gd name="adj" fmla="val 736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endParaRPr lang="ko-KR" altLang="en-US" sz="1100" kern="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F85FD43-FA64-F609-B461-C7A6005219E4}"/>
              </a:ext>
            </a:extLst>
          </p:cNvPr>
          <p:cNvSpPr/>
          <p:nvPr/>
        </p:nvSpPr>
        <p:spPr>
          <a:xfrm>
            <a:off x="8300627" y="5823508"/>
            <a:ext cx="555615" cy="319312"/>
          </a:xfrm>
          <a:prstGeom prst="rect">
            <a:avLst/>
          </a:prstGeom>
          <a:solidFill>
            <a:srgbClr val="1C4792"/>
          </a:solidFill>
          <a:ln>
            <a:solidFill>
              <a:srgbClr val="1C47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⑧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ECA5B4-B4B6-6417-B6D2-5A95677D52B1}"/>
              </a:ext>
            </a:extLst>
          </p:cNvPr>
          <p:cNvSpPr txBox="1"/>
          <p:nvPr/>
        </p:nvSpPr>
        <p:spPr>
          <a:xfrm>
            <a:off x="8855669" y="5845363"/>
            <a:ext cx="1753613" cy="245773"/>
          </a:xfrm>
          <a:prstGeom prst="rect">
            <a:avLst/>
          </a:prstGeom>
          <a:noFill/>
        </p:spPr>
        <p:txBody>
          <a:bodyPr wrap="none" lIns="72000" rtlCol="0" anchor="ctr" anchorCtr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학습 후</a:t>
            </a:r>
            <a:r>
              <a:rPr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 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학습 결과 전송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48DC83-9343-DC9B-F2EC-9F03C9798250}"/>
              </a:ext>
            </a:extLst>
          </p:cNvPr>
          <p:cNvSpPr txBox="1"/>
          <p:nvPr/>
        </p:nvSpPr>
        <p:spPr>
          <a:xfrm>
            <a:off x="8855669" y="2860145"/>
            <a:ext cx="787001" cy="276999"/>
          </a:xfrm>
          <a:prstGeom prst="rect">
            <a:avLst/>
          </a:prstGeom>
          <a:noFill/>
        </p:spPr>
        <p:txBody>
          <a:bodyPr wrap="none" lIns="72000" rtlCol="0" anchor="ctr" anchorCtr="0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과정 선정</a:t>
            </a:r>
          </a:p>
        </p:txBody>
      </p:sp>
      <p:sp>
        <p:nvSpPr>
          <p:cNvPr id="16" name="화살표: 오각형 15">
            <a:extLst>
              <a:ext uri="{FF2B5EF4-FFF2-40B4-BE49-F238E27FC236}">
                <a16:creationId xmlns:a16="http://schemas.microsoft.com/office/drawing/2014/main" id="{3087DF01-DF68-C4C9-DF4F-2D7EAFC2EFFC}"/>
              </a:ext>
            </a:extLst>
          </p:cNvPr>
          <p:cNvSpPr/>
          <p:nvPr/>
        </p:nvSpPr>
        <p:spPr>
          <a:xfrm rot="5400000">
            <a:off x="8413592" y="2809220"/>
            <a:ext cx="328470" cy="554400"/>
          </a:xfrm>
          <a:prstGeom prst="homePlate">
            <a:avLst/>
          </a:prstGeom>
          <a:solidFill>
            <a:srgbClr val="77CCD7"/>
          </a:solidFill>
          <a:ln>
            <a:solidFill>
              <a:srgbClr val="77CC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B1FAD5-B822-2C18-B917-C490000D7856}"/>
              </a:ext>
            </a:extLst>
          </p:cNvPr>
          <p:cNvSpPr txBox="1"/>
          <p:nvPr/>
        </p:nvSpPr>
        <p:spPr>
          <a:xfrm>
            <a:off x="8397663" y="2909101"/>
            <a:ext cx="338555" cy="27699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①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07A2FE-ED9B-C421-CD57-844DDF098C71}"/>
              </a:ext>
            </a:extLst>
          </p:cNvPr>
          <p:cNvSpPr txBox="1"/>
          <p:nvPr/>
        </p:nvSpPr>
        <p:spPr>
          <a:xfrm>
            <a:off x="8855669" y="3262953"/>
            <a:ext cx="787001" cy="276999"/>
          </a:xfrm>
          <a:prstGeom prst="rect">
            <a:avLst/>
          </a:prstGeom>
          <a:noFill/>
        </p:spPr>
        <p:txBody>
          <a:bodyPr wrap="none" lIns="72000" rtlCol="0" anchor="ctr" anchorCtr="0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과정 매핑</a:t>
            </a:r>
          </a:p>
        </p:txBody>
      </p:sp>
      <p:sp>
        <p:nvSpPr>
          <p:cNvPr id="20" name="화살표: 오각형 19">
            <a:extLst>
              <a:ext uri="{FF2B5EF4-FFF2-40B4-BE49-F238E27FC236}">
                <a16:creationId xmlns:a16="http://schemas.microsoft.com/office/drawing/2014/main" id="{E9323134-9DE6-8E79-7F1A-BE3CD1408980}"/>
              </a:ext>
            </a:extLst>
          </p:cNvPr>
          <p:cNvSpPr/>
          <p:nvPr/>
        </p:nvSpPr>
        <p:spPr>
          <a:xfrm rot="5400000">
            <a:off x="8413592" y="3201316"/>
            <a:ext cx="328470" cy="554400"/>
          </a:xfrm>
          <a:prstGeom prst="homePlate">
            <a:avLst/>
          </a:prstGeom>
          <a:solidFill>
            <a:srgbClr val="77CCD7"/>
          </a:solidFill>
          <a:ln>
            <a:solidFill>
              <a:srgbClr val="77CC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E75C86-D35B-5B5B-A3FB-D2653959D4F7}"/>
              </a:ext>
            </a:extLst>
          </p:cNvPr>
          <p:cNvSpPr txBox="1"/>
          <p:nvPr/>
        </p:nvSpPr>
        <p:spPr>
          <a:xfrm>
            <a:off x="8397663" y="3308140"/>
            <a:ext cx="338555" cy="27699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②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3747FF-49F2-C5AF-C185-5CB367BA5B87}"/>
              </a:ext>
            </a:extLst>
          </p:cNvPr>
          <p:cNvSpPr txBox="1"/>
          <p:nvPr/>
        </p:nvSpPr>
        <p:spPr>
          <a:xfrm>
            <a:off x="8855669" y="3655049"/>
            <a:ext cx="787001" cy="276999"/>
          </a:xfrm>
          <a:prstGeom prst="rect">
            <a:avLst/>
          </a:prstGeom>
          <a:noFill/>
        </p:spPr>
        <p:txBody>
          <a:bodyPr wrap="none" lIns="72000" rtlCol="0" anchor="ctr" anchorCtr="0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과정 개발</a:t>
            </a:r>
          </a:p>
        </p:txBody>
      </p:sp>
      <p:sp>
        <p:nvSpPr>
          <p:cNvPr id="23" name="화살표: 오각형 22">
            <a:extLst>
              <a:ext uri="{FF2B5EF4-FFF2-40B4-BE49-F238E27FC236}">
                <a16:creationId xmlns:a16="http://schemas.microsoft.com/office/drawing/2014/main" id="{C3A953BC-BB41-3EC8-A917-BF5BC0E5197F}"/>
              </a:ext>
            </a:extLst>
          </p:cNvPr>
          <p:cNvSpPr/>
          <p:nvPr/>
        </p:nvSpPr>
        <p:spPr>
          <a:xfrm rot="5400000">
            <a:off x="8413592" y="3582700"/>
            <a:ext cx="328470" cy="554400"/>
          </a:xfrm>
          <a:prstGeom prst="homePlate">
            <a:avLst/>
          </a:prstGeom>
          <a:solidFill>
            <a:srgbClr val="77CCD7"/>
          </a:solidFill>
          <a:ln>
            <a:solidFill>
              <a:srgbClr val="77CC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C6B0D4-D3C5-5123-D7B7-7D0E60223FC0}"/>
              </a:ext>
            </a:extLst>
          </p:cNvPr>
          <p:cNvSpPr txBox="1"/>
          <p:nvPr/>
        </p:nvSpPr>
        <p:spPr>
          <a:xfrm>
            <a:off x="8397663" y="3677103"/>
            <a:ext cx="338555" cy="27699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③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616BA9-AC18-7134-EDE1-40FA379B050E}"/>
              </a:ext>
            </a:extLst>
          </p:cNvPr>
          <p:cNvSpPr txBox="1"/>
          <p:nvPr/>
        </p:nvSpPr>
        <p:spPr>
          <a:xfrm>
            <a:off x="8855669" y="4059284"/>
            <a:ext cx="787001" cy="276999"/>
          </a:xfrm>
          <a:prstGeom prst="rect">
            <a:avLst/>
          </a:prstGeom>
          <a:noFill/>
        </p:spPr>
        <p:txBody>
          <a:bodyPr wrap="none" lIns="72000" rtlCol="0" anchor="ctr" anchorCtr="0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차수 개설</a:t>
            </a:r>
          </a:p>
        </p:txBody>
      </p:sp>
      <p:sp>
        <p:nvSpPr>
          <p:cNvPr id="26" name="화살표: 오각형 25">
            <a:extLst>
              <a:ext uri="{FF2B5EF4-FFF2-40B4-BE49-F238E27FC236}">
                <a16:creationId xmlns:a16="http://schemas.microsoft.com/office/drawing/2014/main" id="{3C7C53D1-2D43-5A91-8AFE-8E04B3205C9B}"/>
              </a:ext>
            </a:extLst>
          </p:cNvPr>
          <p:cNvSpPr/>
          <p:nvPr/>
        </p:nvSpPr>
        <p:spPr>
          <a:xfrm rot="5400000">
            <a:off x="8413592" y="3976223"/>
            <a:ext cx="328470" cy="554400"/>
          </a:xfrm>
          <a:prstGeom prst="homePlate">
            <a:avLst/>
          </a:prstGeom>
          <a:solidFill>
            <a:srgbClr val="77CCD7"/>
          </a:solidFill>
          <a:ln>
            <a:solidFill>
              <a:srgbClr val="77CC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11DEBC-00F6-3DBC-A3E1-78DFA9A03F0F}"/>
              </a:ext>
            </a:extLst>
          </p:cNvPr>
          <p:cNvSpPr txBox="1"/>
          <p:nvPr/>
        </p:nvSpPr>
        <p:spPr>
          <a:xfrm>
            <a:off x="8397663" y="4058205"/>
            <a:ext cx="338555" cy="27699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④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753823-9071-7711-9C7E-88BA6A69EECF}"/>
              </a:ext>
            </a:extLst>
          </p:cNvPr>
          <p:cNvSpPr txBox="1"/>
          <p:nvPr/>
        </p:nvSpPr>
        <p:spPr>
          <a:xfrm>
            <a:off x="8855669" y="4460905"/>
            <a:ext cx="787001" cy="276999"/>
          </a:xfrm>
          <a:prstGeom prst="rect">
            <a:avLst/>
          </a:prstGeom>
          <a:noFill/>
        </p:spPr>
        <p:txBody>
          <a:bodyPr wrap="none" lIns="72000" rtlCol="0" anchor="ctr" anchorCtr="0">
            <a:spAutoFit/>
          </a:bodyPr>
          <a:lstStyle/>
          <a:p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수강 신청</a:t>
            </a:r>
          </a:p>
        </p:txBody>
      </p:sp>
      <p:sp>
        <p:nvSpPr>
          <p:cNvPr id="29" name="화살표: 오각형 28">
            <a:extLst>
              <a:ext uri="{FF2B5EF4-FFF2-40B4-BE49-F238E27FC236}">
                <a16:creationId xmlns:a16="http://schemas.microsoft.com/office/drawing/2014/main" id="{38276C95-77D8-E447-AC82-3A1215B17608}"/>
              </a:ext>
            </a:extLst>
          </p:cNvPr>
          <p:cNvSpPr/>
          <p:nvPr/>
        </p:nvSpPr>
        <p:spPr>
          <a:xfrm rot="5400000">
            <a:off x="8413592" y="4367132"/>
            <a:ext cx="328470" cy="554400"/>
          </a:xfrm>
          <a:prstGeom prst="homePlate">
            <a:avLst/>
          </a:prstGeom>
          <a:solidFill>
            <a:srgbClr val="009EAC"/>
          </a:solidFill>
          <a:ln>
            <a:solidFill>
              <a:srgbClr val="009E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D219FA-C050-9CB6-4AED-57A6901D13DF}"/>
              </a:ext>
            </a:extLst>
          </p:cNvPr>
          <p:cNvSpPr txBox="1"/>
          <p:nvPr/>
        </p:nvSpPr>
        <p:spPr>
          <a:xfrm>
            <a:off x="8397663" y="4451728"/>
            <a:ext cx="338555" cy="27699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⑤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DBE869-F6FD-77EE-CB90-9D0DE01CBE5C}"/>
              </a:ext>
            </a:extLst>
          </p:cNvPr>
          <p:cNvSpPr txBox="1"/>
          <p:nvPr/>
        </p:nvSpPr>
        <p:spPr>
          <a:xfrm>
            <a:off x="8855669" y="4841220"/>
            <a:ext cx="2375578" cy="276999"/>
          </a:xfrm>
          <a:prstGeom prst="rect">
            <a:avLst/>
          </a:prstGeom>
          <a:noFill/>
        </p:spPr>
        <p:txBody>
          <a:bodyPr wrap="none" lIns="72000" rtlCol="0" anchor="ctr" anchorCtr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학습 전</a:t>
            </a:r>
            <a:r>
              <a:rPr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수강생 신청자 명단 조회</a:t>
            </a:r>
          </a:p>
        </p:txBody>
      </p:sp>
      <p:sp>
        <p:nvSpPr>
          <p:cNvPr id="32" name="화살표: 오각형 31">
            <a:extLst>
              <a:ext uri="{FF2B5EF4-FFF2-40B4-BE49-F238E27FC236}">
                <a16:creationId xmlns:a16="http://schemas.microsoft.com/office/drawing/2014/main" id="{5DF5D9D9-C1EC-3F6D-4C3F-D364CB5BBDD1}"/>
              </a:ext>
            </a:extLst>
          </p:cNvPr>
          <p:cNvSpPr/>
          <p:nvPr/>
        </p:nvSpPr>
        <p:spPr>
          <a:xfrm rot="5400000">
            <a:off x="8413592" y="4758507"/>
            <a:ext cx="328470" cy="554400"/>
          </a:xfrm>
          <a:prstGeom prst="homePlate">
            <a:avLst/>
          </a:prstGeom>
          <a:solidFill>
            <a:srgbClr val="009EAC"/>
          </a:solidFill>
          <a:ln>
            <a:solidFill>
              <a:srgbClr val="009E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A19636-F13B-0B80-122C-A61CD70E8C88}"/>
              </a:ext>
            </a:extLst>
          </p:cNvPr>
          <p:cNvSpPr txBox="1"/>
          <p:nvPr/>
        </p:nvSpPr>
        <p:spPr>
          <a:xfrm>
            <a:off x="8397662" y="4842637"/>
            <a:ext cx="338555" cy="27699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⑥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738EF1-C605-16C1-E4FB-356BE5CAD79E}"/>
              </a:ext>
            </a:extLst>
          </p:cNvPr>
          <p:cNvSpPr txBox="1"/>
          <p:nvPr/>
        </p:nvSpPr>
        <p:spPr>
          <a:xfrm>
            <a:off x="8855669" y="5218294"/>
            <a:ext cx="2083831" cy="276999"/>
          </a:xfrm>
          <a:prstGeom prst="rect">
            <a:avLst/>
          </a:prstGeom>
          <a:noFill/>
        </p:spPr>
        <p:txBody>
          <a:bodyPr wrap="none" lIns="72000" rtlCol="0" anchor="ctr" anchorCtr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학습 중</a:t>
            </a:r>
            <a:r>
              <a:rPr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과제 제출 여부 조회</a:t>
            </a:r>
            <a:endParaRPr lang="en-US" altLang="ko-KR" sz="1200" b="1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5" name="화살표: 오각형 34">
            <a:extLst>
              <a:ext uri="{FF2B5EF4-FFF2-40B4-BE49-F238E27FC236}">
                <a16:creationId xmlns:a16="http://schemas.microsoft.com/office/drawing/2014/main" id="{4CA149CF-7E6C-216E-9585-76FF838D0D36}"/>
              </a:ext>
            </a:extLst>
          </p:cNvPr>
          <p:cNvSpPr/>
          <p:nvPr/>
        </p:nvSpPr>
        <p:spPr>
          <a:xfrm rot="5400000">
            <a:off x="8413592" y="5168413"/>
            <a:ext cx="328470" cy="554400"/>
          </a:xfrm>
          <a:prstGeom prst="homePlate">
            <a:avLst/>
          </a:prstGeom>
          <a:solidFill>
            <a:srgbClr val="009EAC"/>
          </a:solidFill>
          <a:ln>
            <a:solidFill>
              <a:srgbClr val="009E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AB6BBF-4D75-2B7B-81FA-B330EF8BC2BF}"/>
              </a:ext>
            </a:extLst>
          </p:cNvPr>
          <p:cNvSpPr txBox="1"/>
          <p:nvPr/>
        </p:nvSpPr>
        <p:spPr>
          <a:xfrm>
            <a:off x="8397662" y="5234011"/>
            <a:ext cx="338555" cy="27699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⑦</a:t>
            </a: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EDF9359D-0DA8-1FE2-0488-29FB9C27F570}"/>
              </a:ext>
            </a:extLst>
          </p:cNvPr>
          <p:cNvCxnSpPr>
            <a:stCxn id="35" idx="3"/>
          </p:cNvCxnSpPr>
          <p:nvPr/>
        </p:nvCxnSpPr>
        <p:spPr>
          <a:xfrm>
            <a:off x="8577827" y="5609848"/>
            <a:ext cx="0" cy="213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825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59869-0CB1-D626-CE37-657108AE8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A46203F-49D0-6410-0B45-B419B41C8EC5}"/>
              </a:ext>
            </a:extLst>
          </p:cNvPr>
          <p:cNvSpPr txBox="1">
            <a:spLocks/>
          </p:cNvSpPr>
          <p:nvPr/>
        </p:nvSpPr>
        <p:spPr>
          <a:xfrm>
            <a:off x="502877" y="427249"/>
            <a:ext cx="9163639" cy="431006"/>
          </a:xfrm>
          <a:prstGeom prst="rect">
            <a:avLst/>
          </a:prstGeom>
        </p:spPr>
        <p:txBody>
          <a:bodyPr vert="horz" wrap="none" lIns="36000" tIns="36000" rIns="36000" bIns="36000" rtlCol="0" anchor="ctr">
            <a:normAutofit/>
          </a:bodyPr>
          <a:lstStyle>
            <a:lvl1pPr algn="l" defTabSz="914377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2000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defRPr>
            </a:lvl1pPr>
          </a:lstStyle>
          <a:p>
            <a:r>
              <a:rPr lang="en-US" altLang="ko-KR" dirty="0"/>
              <a:t>3. </a:t>
            </a:r>
            <a:r>
              <a:rPr lang="ko-KR" altLang="en-US" dirty="0"/>
              <a:t>프로젝트 추진 단계별 상세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82554A-5289-98C2-DD18-6301FF4B9EF0}"/>
              </a:ext>
            </a:extLst>
          </p:cNvPr>
          <p:cNvSpPr txBox="1"/>
          <p:nvPr/>
        </p:nvSpPr>
        <p:spPr>
          <a:xfrm>
            <a:off x="460433" y="1770700"/>
            <a:ext cx="5009705" cy="3185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목동 </a:t>
            </a:r>
            <a:r>
              <a:rPr lang="en-US" altLang="ko-KR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KT IDC</a:t>
            </a:r>
            <a:r>
              <a:rPr lang="ko-KR" altLang="en-US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에서 교육운영 서버관리</a:t>
            </a:r>
            <a:r>
              <a:rPr lang="en-US" altLang="ko-KR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. DB</a:t>
            </a:r>
            <a:r>
              <a:rPr lang="ko-KR" altLang="en-US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서버와 </a:t>
            </a:r>
            <a:r>
              <a:rPr lang="en-US" altLang="ko-KR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CMS</a:t>
            </a:r>
            <a:r>
              <a:rPr lang="ko-KR" altLang="en-US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서버분리 운영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640210-4A5A-9BE8-E98E-8C0F7597A0D0}"/>
              </a:ext>
            </a:extLst>
          </p:cNvPr>
          <p:cNvSpPr txBox="1"/>
          <p:nvPr/>
        </p:nvSpPr>
        <p:spPr>
          <a:xfrm>
            <a:off x="448698" y="1465750"/>
            <a:ext cx="35573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>
                <a:latin typeface="+mj-ea"/>
                <a:ea typeface="+mj-ea"/>
              </a:defRPr>
            </a:lvl1pPr>
          </a:lstStyle>
          <a:p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학습시스템 편의성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(2)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안정적인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IT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환경구축</a:t>
            </a:r>
            <a:endParaRPr lang="ko-KR" altLang="en-US" sz="12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40F7F9D-0440-D46E-0263-E6FCE0292194}"/>
              </a:ext>
            </a:extLst>
          </p:cNvPr>
          <p:cNvCxnSpPr>
            <a:cxnSpLocks/>
          </p:cNvCxnSpPr>
          <p:nvPr/>
        </p:nvCxnSpPr>
        <p:spPr>
          <a:xfrm>
            <a:off x="515938" y="1770700"/>
            <a:ext cx="1119663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34">
            <a:extLst>
              <a:ext uri="{FF2B5EF4-FFF2-40B4-BE49-F238E27FC236}">
                <a16:creationId xmlns:a16="http://schemas.microsoft.com/office/drawing/2014/main" id="{B196C226-884D-06D6-15A4-8ADE18D0325A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9008" y="2370028"/>
            <a:ext cx="11125200" cy="3965684"/>
          </a:xfrm>
          <a:prstGeom prst="roundRect">
            <a:avLst>
              <a:gd name="adj" fmla="val 736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  <a:effectLst/>
        </p:spPr>
        <p:txBody>
          <a:bodyPr wrap="none" anchor="ctr"/>
          <a:lstStyle/>
          <a:p>
            <a:endParaRPr lang="ko-KR" altLang="en-US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CD150BE-4586-1111-B3CD-99E013BBCDD1}"/>
              </a:ext>
            </a:extLst>
          </p:cNvPr>
          <p:cNvSpPr/>
          <p:nvPr/>
        </p:nvSpPr>
        <p:spPr>
          <a:xfrm>
            <a:off x="659590" y="2758268"/>
            <a:ext cx="84141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/>
            </a:pPr>
            <a:r>
              <a:rPr lang="ko-KR" altLang="en-US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서버 구성 </a:t>
            </a:r>
            <a:r>
              <a:rPr lang="en-US" altLang="ko-KR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</a:t>
            </a:r>
            <a:r>
              <a:rPr lang="ko-KR" altLang="en-US" sz="1400" b="1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웹서버</a:t>
            </a:r>
            <a:r>
              <a:rPr lang="ko-KR" altLang="en-US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r>
              <a:rPr lang="ko-KR" altLang="en-US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대</a:t>
            </a:r>
            <a:r>
              <a:rPr lang="en-US" altLang="ko-KR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WAS </a:t>
            </a:r>
            <a:r>
              <a:rPr lang="ko-KR" altLang="en-US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서버 </a:t>
            </a:r>
            <a:r>
              <a:rPr lang="en-US" altLang="ko-KR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r>
              <a:rPr lang="ko-KR" altLang="en-US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대 </a:t>
            </a:r>
            <a:r>
              <a:rPr lang="en-US" altLang="ko-KR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DB</a:t>
            </a:r>
            <a:r>
              <a:rPr lang="ko-KR" altLang="en-US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서버 </a:t>
            </a:r>
            <a:r>
              <a:rPr lang="en-US" altLang="ko-KR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r>
              <a:rPr lang="ko-KR" altLang="en-US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대</a:t>
            </a:r>
            <a:r>
              <a:rPr lang="en-US" altLang="ko-KR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sz="1400" b="1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컨텐츠</a:t>
            </a:r>
            <a:r>
              <a:rPr lang="ko-KR" altLang="en-US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서버 </a:t>
            </a:r>
            <a:r>
              <a:rPr lang="en-US" altLang="ko-KR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</a:t>
            </a:r>
            <a:r>
              <a:rPr lang="ko-KR" altLang="en-US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대로 분산  </a:t>
            </a:r>
            <a:r>
              <a:rPr lang="en-US" altLang="ko-KR" sz="1400" b="1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sym typeface="Wingdings" panose="05000000000000000000" pitchFamily="2" charset="2"/>
              </a:rPr>
              <a:t>  </a:t>
            </a:r>
            <a:r>
              <a:rPr lang="ko-KR" altLang="en-US" sz="1400" b="1" spc="-50" dirty="0">
                <a:solidFill>
                  <a:srgbClr val="C0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서버 </a:t>
            </a:r>
            <a:r>
              <a:rPr lang="ko-KR" altLang="en-US" sz="1400" b="1" spc="-50" dirty="0" err="1">
                <a:solidFill>
                  <a:srgbClr val="C0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트래픽</a:t>
            </a:r>
            <a:r>
              <a:rPr lang="ko-KR" altLang="en-US" sz="1400" b="1" spc="-50" dirty="0">
                <a:solidFill>
                  <a:srgbClr val="C0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분산 처리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2B78597-F534-BE49-FE89-BD937A58ADB2}"/>
              </a:ext>
            </a:extLst>
          </p:cNvPr>
          <p:cNvGrpSpPr>
            <a:grpSpLocks noChangeAspect="1"/>
          </p:cNvGrpSpPr>
          <p:nvPr/>
        </p:nvGrpSpPr>
        <p:grpSpPr>
          <a:xfrm>
            <a:off x="1699270" y="3212874"/>
            <a:ext cx="4309370" cy="3101131"/>
            <a:chOff x="6119694" y="2908730"/>
            <a:chExt cx="4309370" cy="310113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4391079-D94B-AB37-3669-430C1D66C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9694" y="2908730"/>
              <a:ext cx="4309370" cy="2802995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0C6FCEA-8138-DF23-EB64-FEF56CD628E8}"/>
                </a:ext>
              </a:extLst>
            </p:cNvPr>
            <p:cNvSpPr txBox="1"/>
            <p:nvPr/>
          </p:nvSpPr>
          <p:spPr>
            <a:xfrm>
              <a:off x="6913578" y="5763640"/>
              <a:ext cx="76815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&lt; </a:t>
              </a:r>
              <a:r>
                <a:rPr lang="ko-KR" altLang="en-US" sz="10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내부망 </a:t>
              </a:r>
              <a:r>
                <a:rPr lang="en-US" altLang="ko-KR" sz="10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&gt;</a:t>
              </a:r>
              <a:endParaRPr lang="ko-KR" altLang="en-US" sz="10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DEB3CBE-5703-A5A2-080E-D7E74DAB8E03}"/>
                </a:ext>
              </a:extLst>
            </p:cNvPr>
            <p:cNvSpPr txBox="1"/>
            <p:nvPr/>
          </p:nvSpPr>
          <p:spPr>
            <a:xfrm>
              <a:off x="9072435" y="5763640"/>
              <a:ext cx="70724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&lt; DMZ</a:t>
              </a:r>
              <a:r>
                <a:rPr lang="ko-KR" altLang="en-US" sz="10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</a:t>
              </a:r>
              <a:r>
                <a:rPr lang="en-US" altLang="ko-KR" sz="1000" b="1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&gt;</a:t>
              </a:r>
              <a:endParaRPr lang="ko-KR" altLang="en-US" sz="10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02F4A8B-21E5-CF44-7543-9EE01A6A8DA4}"/>
              </a:ext>
            </a:extLst>
          </p:cNvPr>
          <p:cNvGrpSpPr/>
          <p:nvPr/>
        </p:nvGrpSpPr>
        <p:grpSpPr>
          <a:xfrm>
            <a:off x="6735877" y="3176588"/>
            <a:ext cx="4498533" cy="2845008"/>
            <a:chOff x="5937277" y="2976844"/>
            <a:chExt cx="3657922" cy="330476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19B2DC-F74B-6BF6-6BE9-503B6B5DF8E5}"/>
                </a:ext>
              </a:extLst>
            </p:cNvPr>
            <p:cNvSpPr txBox="1"/>
            <p:nvPr/>
          </p:nvSpPr>
          <p:spPr>
            <a:xfrm>
              <a:off x="5937277" y="2976844"/>
              <a:ext cx="2349096" cy="572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00" b="1" dirty="0">
                  <a:solidFill>
                    <a:srgbClr val="0070C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1. </a:t>
              </a:r>
              <a:r>
                <a:rPr lang="ko-KR" altLang="en-US" sz="1300" b="1" dirty="0">
                  <a:solidFill>
                    <a:srgbClr val="0070C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이중화</a:t>
              </a:r>
              <a:endParaRPr lang="en-US" altLang="ko-KR" sz="1300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  <a:p>
              <a:r>
                <a:rPr lang="en-US" altLang="ko-KR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  - DB, </a:t>
              </a:r>
              <a:r>
                <a:rPr lang="ko-KR" altLang="en-US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웹서버</a:t>
              </a:r>
              <a:r>
                <a:rPr lang="en-US" altLang="ko-KR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, WAS</a:t>
              </a:r>
              <a:r>
                <a:rPr lang="ko-KR" altLang="en-US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서버 각각 이중화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7C49DD7-5315-28AC-643B-15F080ACE269}"/>
                </a:ext>
              </a:extLst>
            </p:cNvPr>
            <p:cNvSpPr txBox="1"/>
            <p:nvPr/>
          </p:nvSpPr>
          <p:spPr>
            <a:xfrm>
              <a:off x="5937277" y="3660029"/>
              <a:ext cx="2491173" cy="572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00" b="1" dirty="0">
                  <a:solidFill>
                    <a:srgbClr val="0070C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2. </a:t>
              </a:r>
              <a:r>
                <a:rPr lang="ko-KR" altLang="en-US" sz="1300" b="1" dirty="0">
                  <a:solidFill>
                    <a:srgbClr val="0070C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방화벽</a:t>
              </a:r>
            </a:p>
            <a:p>
              <a:r>
                <a:rPr lang="ko-KR" altLang="en-US" sz="1300" b="1" dirty="0">
                  <a:solidFill>
                    <a:srgbClr val="0070C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  </a:t>
              </a:r>
              <a:r>
                <a:rPr lang="en-US" altLang="ko-KR" sz="1300" b="1" dirty="0">
                  <a:solidFill>
                    <a:srgbClr val="0070C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- </a:t>
              </a:r>
              <a:r>
                <a:rPr lang="ko-KR" altLang="en-US" sz="1300" b="1" dirty="0">
                  <a:solidFill>
                    <a:srgbClr val="0070C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자체 방화벽 구성</a:t>
              </a:r>
              <a:r>
                <a:rPr lang="en-US" altLang="ko-KR" sz="1300" b="1" dirty="0">
                  <a:solidFill>
                    <a:srgbClr val="0070C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, VPN</a:t>
              </a:r>
              <a:r>
                <a:rPr lang="ko-KR" altLang="en-US" sz="1300" b="1" dirty="0">
                  <a:solidFill>
                    <a:srgbClr val="0070C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으로 서버 접속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05D57CF-A5F1-7CCE-8725-1C18F753D191}"/>
                </a:ext>
              </a:extLst>
            </p:cNvPr>
            <p:cNvSpPr txBox="1"/>
            <p:nvPr/>
          </p:nvSpPr>
          <p:spPr>
            <a:xfrm>
              <a:off x="5937277" y="4343214"/>
              <a:ext cx="2686693" cy="572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00" b="1" dirty="0">
                  <a:solidFill>
                    <a:srgbClr val="0070C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3. </a:t>
              </a:r>
              <a:r>
                <a:rPr lang="ko-KR" altLang="en-US" sz="1300" b="1" dirty="0" err="1">
                  <a:solidFill>
                    <a:srgbClr val="0070C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망분리</a:t>
              </a:r>
              <a:endParaRPr lang="ko-KR" altLang="en-US" sz="1300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  <a:p>
              <a:r>
                <a:rPr lang="en-US" altLang="ko-KR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  - DB</a:t>
              </a:r>
              <a:r>
                <a:rPr lang="ko-KR" altLang="en-US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서버 및  정보처리서버 </a:t>
              </a:r>
              <a:r>
                <a:rPr lang="en-US" altLang="ko-KR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: </a:t>
              </a:r>
              <a:r>
                <a:rPr lang="ko-KR" altLang="en-US" sz="13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내부망에</a:t>
              </a:r>
              <a:r>
                <a:rPr lang="ko-KR" altLang="en-US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 존재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610CE77-1F23-637F-65E0-04E7621C883E}"/>
                </a:ext>
              </a:extLst>
            </p:cNvPr>
            <p:cNvSpPr txBox="1"/>
            <p:nvPr/>
          </p:nvSpPr>
          <p:spPr>
            <a:xfrm>
              <a:off x="5937277" y="5709585"/>
              <a:ext cx="3657922" cy="572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b="1" dirty="0">
                  <a:solidFill>
                    <a:srgbClr val="0070C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* </a:t>
              </a:r>
              <a:r>
                <a:rPr lang="ko-KR" altLang="en-US" sz="1300" b="1" dirty="0">
                  <a:solidFill>
                    <a:srgbClr val="0070C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운영서버용량</a:t>
              </a:r>
              <a:endParaRPr lang="en-US" altLang="ko-KR" sz="1300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  <a:p>
              <a:r>
                <a:rPr lang="en-US" altLang="ko-KR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  - DB</a:t>
              </a:r>
              <a:r>
                <a:rPr lang="ko-KR" altLang="en-US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서버 </a:t>
              </a:r>
              <a:r>
                <a:rPr lang="en-US" altLang="ko-KR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: 1TB  / - </a:t>
              </a:r>
              <a:r>
                <a:rPr lang="ko-KR" altLang="en-US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스토리지서버 </a:t>
              </a:r>
              <a:r>
                <a:rPr lang="en-US" altLang="ko-KR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: 7TB</a:t>
              </a:r>
              <a:endPara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EF4E4B0-32AD-4F49-D953-486E7BB174C3}"/>
                </a:ext>
              </a:extLst>
            </p:cNvPr>
            <p:cNvSpPr txBox="1"/>
            <p:nvPr/>
          </p:nvSpPr>
          <p:spPr>
            <a:xfrm>
              <a:off x="5937277" y="5026400"/>
              <a:ext cx="2849626" cy="572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00" b="1" dirty="0">
                  <a:solidFill>
                    <a:srgbClr val="0070C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4. </a:t>
              </a:r>
              <a:r>
                <a:rPr lang="ko-KR" altLang="en-US" sz="1300" b="1" dirty="0">
                  <a:solidFill>
                    <a:srgbClr val="0070C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독립성</a:t>
              </a:r>
            </a:p>
            <a:p>
              <a:r>
                <a:rPr lang="en-US" altLang="ko-KR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  - </a:t>
              </a:r>
              <a:r>
                <a:rPr lang="ko-KR" altLang="en-US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교육정보와 </a:t>
              </a:r>
              <a:r>
                <a:rPr lang="ko-KR" altLang="en-US" sz="13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콘텐츠</a:t>
              </a:r>
              <a:r>
                <a:rPr lang="ko-KR" altLang="en-US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 서버 분리</a:t>
              </a:r>
              <a:r>
                <a:rPr lang="en-US" altLang="ko-KR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(DB/</a:t>
              </a:r>
              <a:r>
                <a:rPr lang="ko-KR" altLang="en-US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스토리지</a:t>
              </a:r>
              <a:r>
                <a:rPr lang="en-US" altLang="ko-KR" sz="13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)</a:t>
              </a: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9F05AD2-264E-E188-4B0C-6B822F7BD9E6}"/>
              </a:ext>
            </a:extLst>
          </p:cNvPr>
          <p:cNvSpPr/>
          <p:nvPr/>
        </p:nvSpPr>
        <p:spPr>
          <a:xfrm>
            <a:off x="539008" y="2343041"/>
            <a:ext cx="2227341" cy="33055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안정적인 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IT 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환경구축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0092D26C-0F96-168C-E00C-CD7471F6E5E4}"/>
              </a:ext>
            </a:extLst>
          </p:cNvPr>
          <p:cNvCxnSpPr/>
          <p:nvPr/>
        </p:nvCxnSpPr>
        <p:spPr>
          <a:xfrm>
            <a:off x="6424549" y="3213100"/>
            <a:ext cx="0" cy="2802769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161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2E4B4-1F78-0BDB-27E0-870EAC2F9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CC73932-0746-FFCC-ECB7-E443D580C1F4}"/>
              </a:ext>
            </a:extLst>
          </p:cNvPr>
          <p:cNvSpPr txBox="1">
            <a:spLocks/>
          </p:cNvSpPr>
          <p:nvPr/>
        </p:nvSpPr>
        <p:spPr>
          <a:xfrm>
            <a:off x="502877" y="427249"/>
            <a:ext cx="9163639" cy="431006"/>
          </a:xfrm>
          <a:prstGeom prst="rect">
            <a:avLst/>
          </a:prstGeom>
        </p:spPr>
        <p:txBody>
          <a:bodyPr vert="horz" wrap="none" lIns="36000" tIns="36000" rIns="36000" bIns="36000" rtlCol="0" anchor="ctr">
            <a:normAutofit/>
          </a:bodyPr>
          <a:lstStyle>
            <a:lvl1pPr algn="l" defTabSz="914377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2000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defRPr>
            </a:lvl1pPr>
          </a:lstStyle>
          <a:p>
            <a:r>
              <a:rPr lang="en-US" altLang="ko-KR" dirty="0"/>
              <a:t>3. </a:t>
            </a:r>
            <a:r>
              <a:rPr lang="ko-KR" altLang="en-US" dirty="0"/>
              <a:t>프로젝트 추진 단계별 상세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989FBD-37F9-AA04-5702-DEA210D26647}"/>
              </a:ext>
            </a:extLst>
          </p:cNvPr>
          <p:cNvSpPr txBox="1"/>
          <p:nvPr/>
        </p:nvSpPr>
        <p:spPr>
          <a:xfrm>
            <a:off x="460433" y="1770700"/>
            <a:ext cx="5149167" cy="3185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외부 해킹 및 장애 상황 등에 즉각 대응 가능</a:t>
            </a:r>
            <a:r>
              <a:rPr lang="en-US" altLang="ko-KR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. </a:t>
            </a:r>
            <a:r>
              <a:rPr lang="ko-KR" altLang="en-US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단계별 보안 이행사항 준수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EFEBA5-9B47-BF93-A7D2-67758A3CE8C1}"/>
              </a:ext>
            </a:extLst>
          </p:cNvPr>
          <p:cNvSpPr txBox="1"/>
          <p:nvPr/>
        </p:nvSpPr>
        <p:spPr>
          <a:xfrm>
            <a:off x="448698" y="1465750"/>
            <a:ext cx="4146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600">
                <a:latin typeface="+mj-ea"/>
                <a:ea typeface="+mj-ea"/>
              </a:defRPr>
            </a:lvl1pPr>
          </a:lstStyle>
          <a:p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학습시스템 편의성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(3) IT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환경 보안 강화</a:t>
            </a:r>
            <a:endParaRPr lang="ko-KR" altLang="en-US" sz="12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283D26E-8999-3301-716C-3CF1FB596F29}"/>
              </a:ext>
            </a:extLst>
          </p:cNvPr>
          <p:cNvCxnSpPr>
            <a:cxnSpLocks/>
          </p:cNvCxnSpPr>
          <p:nvPr/>
        </p:nvCxnSpPr>
        <p:spPr>
          <a:xfrm>
            <a:off x="515938" y="1770700"/>
            <a:ext cx="1119663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utoShape 34">
            <a:extLst>
              <a:ext uri="{FF2B5EF4-FFF2-40B4-BE49-F238E27FC236}">
                <a16:creationId xmlns:a16="http://schemas.microsoft.com/office/drawing/2014/main" id="{A356C927-6FC8-31AD-F597-CF9C25847DAC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9008" y="2199311"/>
            <a:ext cx="5432228" cy="4153089"/>
          </a:xfrm>
          <a:prstGeom prst="roundRect">
            <a:avLst>
              <a:gd name="adj" fmla="val 736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  <a:effectLst/>
        </p:spPr>
        <p:txBody>
          <a:bodyPr wrap="none" anchor="ctr"/>
          <a:lstStyle/>
          <a:p>
            <a:endParaRPr lang="ko-KR" altLang="en-US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0CD029D-4972-5679-1ACD-1650C1FCAC73}"/>
              </a:ext>
            </a:extLst>
          </p:cNvPr>
          <p:cNvSpPr/>
          <p:nvPr/>
        </p:nvSpPr>
        <p:spPr>
          <a:xfrm>
            <a:off x="539008" y="2199311"/>
            <a:ext cx="2227341" cy="33055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보안관리 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Tool</a:t>
            </a:r>
          </a:p>
        </p:txBody>
      </p:sp>
      <p:sp>
        <p:nvSpPr>
          <p:cNvPr id="3" name="모서리가 둥근 직사각형 45">
            <a:extLst>
              <a:ext uri="{FF2B5EF4-FFF2-40B4-BE49-F238E27FC236}">
                <a16:creationId xmlns:a16="http://schemas.microsoft.com/office/drawing/2014/main" id="{C5C6C7F7-7CF2-E4C2-D5FF-82AB7537FBB7}"/>
              </a:ext>
            </a:extLst>
          </p:cNvPr>
          <p:cNvSpPr/>
          <p:nvPr/>
        </p:nvSpPr>
        <p:spPr bwMode="auto">
          <a:xfrm>
            <a:off x="3358191" y="5644644"/>
            <a:ext cx="1493498" cy="328300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177800" indent="-1778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kumimoji="0" lang="ko-KR" altLang="en-US" sz="12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자체방화벽 구성</a:t>
            </a:r>
            <a:endParaRPr kumimoji="0" lang="en-US" altLang="ko-KR" sz="1200" kern="0" dirty="0">
              <a:solidFill>
                <a:sysClr val="windowText" lastClr="000000">
                  <a:lumMod val="75000"/>
                  <a:lumOff val="25000"/>
                </a:sys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7800" indent="-1778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kumimoji="0" lang="en-US" altLang="ko-KR" sz="12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VPN</a:t>
            </a:r>
            <a:r>
              <a:rPr kumimoji="0" lang="ko-KR" altLang="en-US" sz="12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으로 서버접속</a:t>
            </a:r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4ECB424B-B163-648E-7D65-FADD1A743591}"/>
              </a:ext>
            </a:extLst>
          </p:cNvPr>
          <p:cNvSpPr>
            <a:spLocks noChangeArrowheads="1"/>
          </p:cNvSpPr>
          <p:nvPr/>
        </p:nvSpPr>
        <p:spPr bwMode="gray">
          <a:xfrm rot="5400000" flipH="1">
            <a:off x="2011413" y="2034474"/>
            <a:ext cx="513159" cy="2032031"/>
          </a:xfrm>
          <a:prstGeom prst="upArrow">
            <a:avLst>
              <a:gd name="adj1" fmla="val 67388"/>
              <a:gd name="adj2" fmla="val 85770"/>
            </a:avLst>
          </a:prstGeom>
          <a:gradFill rotWithShape="1">
            <a:gsLst>
              <a:gs pos="59000">
                <a:srgbClr val="C4E7F4"/>
              </a:gs>
              <a:gs pos="0">
                <a:srgbClr val="6FC5E3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outerShdw dist="155023" dir="2099521" sy="50000" kx="2453608" algn="bl" rotWithShape="0">
              <a:srgbClr val="00000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 sz="2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DC6F8602-CA7C-7858-83F8-EB1427A2E0A8}"/>
              </a:ext>
            </a:extLst>
          </p:cNvPr>
          <p:cNvSpPr>
            <a:spLocks noChangeArrowheads="1"/>
          </p:cNvSpPr>
          <p:nvPr/>
        </p:nvSpPr>
        <p:spPr bwMode="gray">
          <a:xfrm rot="5400000" flipH="1">
            <a:off x="2012730" y="2720702"/>
            <a:ext cx="513159" cy="2032036"/>
          </a:xfrm>
          <a:prstGeom prst="upArrow">
            <a:avLst>
              <a:gd name="adj1" fmla="val 67388"/>
              <a:gd name="adj2" fmla="val 85770"/>
            </a:avLst>
          </a:prstGeom>
          <a:gradFill rotWithShape="1">
            <a:gsLst>
              <a:gs pos="59000">
                <a:srgbClr val="C4E7F4"/>
              </a:gs>
              <a:gs pos="0">
                <a:srgbClr val="6FC5E3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outerShdw dist="155023" dir="2099521" sy="50000" kx="2453608" algn="bl" rotWithShape="0">
              <a:srgbClr val="00000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 sz="16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9" name="AutoShape 6">
            <a:extLst>
              <a:ext uri="{FF2B5EF4-FFF2-40B4-BE49-F238E27FC236}">
                <a16:creationId xmlns:a16="http://schemas.microsoft.com/office/drawing/2014/main" id="{CB4A62FF-5D7D-EF59-69D1-6B5C7B56A96F}"/>
              </a:ext>
            </a:extLst>
          </p:cNvPr>
          <p:cNvSpPr>
            <a:spLocks noChangeArrowheads="1"/>
          </p:cNvSpPr>
          <p:nvPr/>
        </p:nvSpPr>
        <p:spPr bwMode="gray">
          <a:xfrm rot="5400000" flipH="1">
            <a:off x="2012729" y="3433087"/>
            <a:ext cx="513159" cy="2032035"/>
          </a:xfrm>
          <a:prstGeom prst="upArrow">
            <a:avLst>
              <a:gd name="adj1" fmla="val 67388"/>
              <a:gd name="adj2" fmla="val 85770"/>
            </a:avLst>
          </a:prstGeom>
          <a:gradFill rotWithShape="1">
            <a:gsLst>
              <a:gs pos="59000">
                <a:srgbClr val="C4E7F4"/>
              </a:gs>
              <a:gs pos="0">
                <a:srgbClr val="6FC5E3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outerShdw dist="155023" dir="2099521" sy="50000" kx="2453608" algn="bl" rotWithShape="0">
              <a:srgbClr val="00000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1" name="AutoShape 6">
            <a:extLst>
              <a:ext uri="{FF2B5EF4-FFF2-40B4-BE49-F238E27FC236}">
                <a16:creationId xmlns:a16="http://schemas.microsoft.com/office/drawing/2014/main" id="{B035CC96-E1F2-95BE-BCC4-4A83A8E4AD57}"/>
              </a:ext>
            </a:extLst>
          </p:cNvPr>
          <p:cNvSpPr>
            <a:spLocks noChangeArrowheads="1"/>
          </p:cNvSpPr>
          <p:nvPr/>
        </p:nvSpPr>
        <p:spPr bwMode="gray">
          <a:xfrm rot="5400000" flipH="1">
            <a:off x="2012727" y="4096935"/>
            <a:ext cx="513159" cy="2032031"/>
          </a:xfrm>
          <a:prstGeom prst="upArrow">
            <a:avLst>
              <a:gd name="adj1" fmla="val 67388"/>
              <a:gd name="adj2" fmla="val 85770"/>
            </a:avLst>
          </a:prstGeom>
          <a:gradFill rotWithShape="1">
            <a:gsLst>
              <a:gs pos="59000">
                <a:srgbClr val="C4E7F4"/>
              </a:gs>
              <a:gs pos="0">
                <a:srgbClr val="6FC5E3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outerShdw dist="155023" dir="2099521" sy="50000" kx="2453608" algn="bl" rotWithShape="0">
              <a:srgbClr val="00000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2" name="AutoShape 6">
            <a:extLst>
              <a:ext uri="{FF2B5EF4-FFF2-40B4-BE49-F238E27FC236}">
                <a16:creationId xmlns:a16="http://schemas.microsoft.com/office/drawing/2014/main" id="{8F1F0A5D-0442-937E-0A73-AAEA31AD232B}"/>
              </a:ext>
            </a:extLst>
          </p:cNvPr>
          <p:cNvSpPr>
            <a:spLocks noChangeArrowheads="1"/>
          </p:cNvSpPr>
          <p:nvPr/>
        </p:nvSpPr>
        <p:spPr bwMode="gray">
          <a:xfrm rot="5400000" flipH="1">
            <a:off x="2012727" y="4789051"/>
            <a:ext cx="513159" cy="2032031"/>
          </a:xfrm>
          <a:prstGeom prst="upArrow">
            <a:avLst>
              <a:gd name="adj1" fmla="val 67388"/>
              <a:gd name="adj2" fmla="val 85770"/>
            </a:avLst>
          </a:prstGeom>
          <a:gradFill rotWithShape="1">
            <a:gsLst>
              <a:gs pos="59000">
                <a:srgbClr val="C4E7F4"/>
              </a:gs>
              <a:gs pos="0">
                <a:srgbClr val="6FC5E3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outerShdw dist="155023" dir="2099521" sy="50000" kx="2453608" algn="bl" rotWithShape="0">
              <a:srgbClr val="00000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 sz="2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CD72B30-40E5-1920-56CE-2B90D7617193}"/>
              </a:ext>
            </a:extLst>
          </p:cNvPr>
          <p:cNvSpPr/>
          <p:nvPr/>
        </p:nvSpPr>
        <p:spPr>
          <a:xfrm>
            <a:off x="1287216" y="2902183"/>
            <a:ext cx="101597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kern="0" dirty="0">
                <a:solidFill>
                  <a:srgbClr val="0066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2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Avast </a:t>
            </a:r>
            <a:endParaRPr lang="ko-KR" altLang="en-US" sz="1200" b="1" kern="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6E0A7D9-24EB-8280-B78C-26AC82266171}"/>
              </a:ext>
            </a:extLst>
          </p:cNvPr>
          <p:cNvSpPr/>
          <p:nvPr/>
        </p:nvSpPr>
        <p:spPr>
          <a:xfrm>
            <a:off x="1282375" y="3597204"/>
            <a:ext cx="19370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2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DB</a:t>
            </a:r>
            <a:r>
              <a:rPr lang="ko-KR" altLang="en-US" sz="12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서버 접속제한</a:t>
            </a:r>
            <a:endParaRPr lang="ko-KR" altLang="en-US" sz="12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99A959F-80D6-2FC7-B4EE-325D32F7ED78}"/>
              </a:ext>
            </a:extLst>
          </p:cNvPr>
          <p:cNvSpPr/>
          <p:nvPr/>
        </p:nvSpPr>
        <p:spPr>
          <a:xfrm>
            <a:off x="1346944" y="4305384"/>
            <a:ext cx="19370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Wide SSL</a:t>
            </a:r>
            <a:endParaRPr lang="ko-KR" altLang="en-US" sz="1200" b="1" kern="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8B878B0-3A23-CB27-FDBE-20340CE486C7}"/>
              </a:ext>
            </a:extLst>
          </p:cNvPr>
          <p:cNvSpPr/>
          <p:nvPr/>
        </p:nvSpPr>
        <p:spPr>
          <a:xfrm>
            <a:off x="1346944" y="4907450"/>
            <a:ext cx="138050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DLP</a:t>
            </a:r>
            <a:r>
              <a:rPr lang="en-US" altLang="ko-KR" sz="600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(Data Loss Prevention)</a:t>
            </a:r>
            <a:endParaRPr lang="ko-KR" altLang="en-US" sz="10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896D783-6099-24D5-E41D-32792456266B}"/>
              </a:ext>
            </a:extLst>
          </p:cNvPr>
          <p:cNvSpPr/>
          <p:nvPr/>
        </p:nvSpPr>
        <p:spPr>
          <a:xfrm>
            <a:off x="1346944" y="5649838"/>
            <a:ext cx="19370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방화벽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BFDE204-4276-9F7D-C6C5-0F5A3560C6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73" y="4046143"/>
            <a:ext cx="581055" cy="59150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AA948050-2BAF-56F2-3B06-CA02277D40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73" y="4745987"/>
            <a:ext cx="581055" cy="59150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0694A8DF-0C6D-4CAB-8FF9-9A54603227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74" y="2662449"/>
            <a:ext cx="581055" cy="59150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7FFA0756-4066-207D-6DDA-C7FDA48A461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89" y="5445832"/>
            <a:ext cx="581055" cy="58887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DF63F0D-D9E3-A3E4-9D6D-88B6B46ECAD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74" y="3354027"/>
            <a:ext cx="581055" cy="59150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4" name="모서리가 둥근 직사각형 63">
            <a:extLst>
              <a:ext uri="{FF2B5EF4-FFF2-40B4-BE49-F238E27FC236}">
                <a16:creationId xmlns:a16="http://schemas.microsoft.com/office/drawing/2014/main" id="{7398CFEF-3962-1C5D-17C2-6855A2078D22}"/>
              </a:ext>
            </a:extLst>
          </p:cNvPr>
          <p:cNvSpPr/>
          <p:nvPr/>
        </p:nvSpPr>
        <p:spPr bwMode="auto">
          <a:xfrm>
            <a:off x="3358191" y="4998742"/>
            <a:ext cx="1400167" cy="328300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177800" indent="-1778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kumimoji="0" lang="ko-KR" altLang="en-US" sz="12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데이터 손실 방지</a:t>
            </a:r>
          </a:p>
        </p:txBody>
      </p:sp>
      <p:sp>
        <p:nvSpPr>
          <p:cNvPr id="35" name="모서리가 둥근 직사각형 64">
            <a:extLst>
              <a:ext uri="{FF2B5EF4-FFF2-40B4-BE49-F238E27FC236}">
                <a16:creationId xmlns:a16="http://schemas.microsoft.com/office/drawing/2014/main" id="{DA0FCBD5-8EB5-8DA4-8F75-BD1322022F94}"/>
              </a:ext>
            </a:extLst>
          </p:cNvPr>
          <p:cNvSpPr/>
          <p:nvPr/>
        </p:nvSpPr>
        <p:spPr bwMode="auto">
          <a:xfrm>
            <a:off x="3358191" y="4332249"/>
            <a:ext cx="1608367" cy="293636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177800" indent="-1778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kumimoji="0" lang="ko-KR" altLang="en-US" sz="12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서버로 보내는 </a:t>
            </a:r>
            <a:r>
              <a:rPr kumimoji="0" lang="en-US" altLang="ko-KR" sz="12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ID/PW </a:t>
            </a:r>
            <a:r>
              <a:rPr kumimoji="0" lang="ko-KR" altLang="en-US" sz="12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암호화 전송</a:t>
            </a:r>
          </a:p>
        </p:txBody>
      </p:sp>
      <p:sp>
        <p:nvSpPr>
          <p:cNvPr id="36" name="모서리가 둥근 직사각형 65">
            <a:extLst>
              <a:ext uri="{FF2B5EF4-FFF2-40B4-BE49-F238E27FC236}">
                <a16:creationId xmlns:a16="http://schemas.microsoft.com/office/drawing/2014/main" id="{51B81498-BD57-C481-B8E2-99DE05FD932D}"/>
              </a:ext>
            </a:extLst>
          </p:cNvPr>
          <p:cNvSpPr/>
          <p:nvPr/>
        </p:nvSpPr>
        <p:spPr bwMode="auto">
          <a:xfrm>
            <a:off x="3358191" y="2933098"/>
            <a:ext cx="1316933" cy="328300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177800" indent="-1778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kumimoji="0" lang="ko-KR" altLang="en-US" sz="12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백신 프로그램</a:t>
            </a:r>
          </a:p>
        </p:txBody>
      </p:sp>
      <p:sp>
        <p:nvSpPr>
          <p:cNvPr id="38" name="모서리가 둥근 직사각형 66">
            <a:extLst>
              <a:ext uri="{FF2B5EF4-FFF2-40B4-BE49-F238E27FC236}">
                <a16:creationId xmlns:a16="http://schemas.microsoft.com/office/drawing/2014/main" id="{0A33B557-3E14-0C10-6107-6EA0E8A60A22}"/>
              </a:ext>
            </a:extLst>
          </p:cNvPr>
          <p:cNvSpPr/>
          <p:nvPr/>
        </p:nvSpPr>
        <p:spPr bwMode="auto">
          <a:xfrm>
            <a:off x="3358191" y="3620262"/>
            <a:ext cx="1608368" cy="326973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177800" indent="-1778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kumimoji="0" lang="en-US" altLang="ko-KR" sz="12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IP/User</a:t>
            </a:r>
            <a:r>
              <a:rPr kumimoji="0" lang="ko-KR" altLang="en-US" sz="12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별 </a:t>
            </a:r>
            <a:r>
              <a:rPr kumimoji="0" lang="en-US" altLang="ko-KR" sz="12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Dbase </a:t>
            </a:r>
            <a:r>
              <a:rPr kumimoji="0" lang="ko-KR" altLang="en-US" sz="12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권한 제한</a:t>
            </a:r>
          </a:p>
        </p:txBody>
      </p:sp>
      <p:sp>
        <p:nvSpPr>
          <p:cNvPr id="41" name="AutoShape 34">
            <a:extLst>
              <a:ext uri="{FF2B5EF4-FFF2-40B4-BE49-F238E27FC236}">
                <a16:creationId xmlns:a16="http://schemas.microsoft.com/office/drawing/2014/main" id="{6FAB1D75-AD09-F866-A79A-16FA79D632AD}"/>
              </a:ext>
            </a:extLst>
          </p:cNvPr>
          <p:cNvSpPr>
            <a:spLocks noChangeArrowheads="1"/>
          </p:cNvSpPr>
          <p:nvPr/>
        </p:nvSpPr>
        <p:spPr bwMode="gray">
          <a:xfrm>
            <a:off x="6128619" y="2199311"/>
            <a:ext cx="5432228" cy="4153089"/>
          </a:xfrm>
          <a:prstGeom prst="roundRect">
            <a:avLst>
              <a:gd name="adj" fmla="val 736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  <a:effectLst/>
        </p:spPr>
        <p:txBody>
          <a:bodyPr wrap="none" anchor="ctr"/>
          <a:lstStyle/>
          <a:p>
            <a:endParaRPr lang="ko-KR" altLang="en-US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A4B220C-59D8-39BB-F427-00A01E88C434}"/>
              </a:ext>
            </a:extLst>
          </p:cNvPr>
          <p:cNvSpPr/>
          <p:nvPr/>
        </p:nvSpPr>
        <p:spPr>
          <a:xfrm>
            <a:off x="6128619" y="2199311"/>
            <a:ext cx="2227341" cy="33055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보안관리 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Process</a:t>
            </a:r>
          </a:p>
        </p:txBody>
      </p:sp>
      <p:sp>
        <p:nvSpPr>
          <p:cNvPr id="43" name="모서리가 둥근 직사각형 72">
            <a:extLst>
              <a:ext uri="{FF2B5EF4-FFF2-40B4-BE49-F238E27FC236}">
                <a16:creationId xmlns:a16="http://schemas.microsoft.com/office/drawing/2014/main" id="{504A51CE-F913-C49B-9BDA-1912B9FE4BB9}"/>
              </a:ext>
            </a:extLst>
          </p:cNvPr>
          <p:cNvSpPr/>
          <p:nvPr/>
        </p:nvSpPr>
        <p:spPr>
          <a:xfrm>
            <a:off x="6532826" y="4831529"/>
            <a:ext cx="961850" cy="364894"/>
          </a:xfrm>
          <a:prstGeom prst="roundRect">
            <a:avLst>
              <a:gd name="adj" fmla="val 7840"/>
            </a:avLst>
          </a:prstGeom>
          <a:solidFill>
            <a:srgbClr val="2382FE"/>
          </a:solidFill>
          <a:ln w="25400" cap="flat" cmpd="sng" algn="ctr">
            <a:noFill/>
            <a:prstDash val="solid"/>
          </a:ln>
          <a:effectLst/>
        </p:spPr>
        <p:txBody>
          <a:bodyPr tIns="0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kern="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파기</a:t>
            </a:r>
          </a:p>
        </p:txBody>
      </p:sp>
      <p:sp>
        <p:nvSpPr>
          <p:cNvPr id="44" name="아래쪽 화살표 74">
            <a:extLst>
              <a:ext uri="{FF2B5EF4-FFF2-40B4-BE49-F238E27FC236}">
                <a16:creationId xmlns:a16="http://schemas.microsoft.com/office/drawing/2014/main" id="{66ED8F78-B4D5-7F09-C5FC-436EB4F87CDC}"/>
              </a:ext>
            </a:extLst>
          </p:cNvPr>
          <p:cNvSpPr/>
          <p:nvPr/>
        </p:nvSpPr>
        <p:spPr>
          <a:xfrm>
            <a:off x="6698212" y="2862772"/>
            <a:ext cx="591907" cy="323753"/>
          </a:xfrm>
          <a:prstGeom prst="downArrow">
            <a:avLst>
              <a:gd name="adj1" fmla="val 54409"/>
              <a:gd name="adj2" fmla="val 43387"/>
            </a:avLst>
          </a:prstGeom>
          <a:solidFill>
            <a:srgbClr val="4F81BD">
              <a:alpha val="82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00" kern="0" dirty="0">
              <a:solidFill>
                <a:sysClr val="window" lastClr="FFFFFF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5" name="모서리가 둥근 직사각형 75">
            <a:extLst>
              <a:ext uri="{FF2B5EF4-FFF2-40B4-BE49-F238E27FC236}">
                <a16:creationId xmlns:a16="http://schemas.microsoft.com/office/drawing/2014/main" id="{AF02E18A-E478-F5CD-9906-C09F50B196B8}"/>
              </a:ext>
            </a:extLst>
          </p:cNvPr>
          <p:cNvSpPr/>
          <p:nvPr/>
        </p:nvSpPr>
        <p:spPr>
          <a:xfrm>
            <a:off x="6532826" y="2651109"/>
            <a:ext cx="961850" cy="364894"/>
          </a:xfrm>
          <a:prstGeom prst="roundRect">
            <a:avLst>
              <a:gd name="adj" fmla="val 7840"/>
            </a:avLst>
          </a:prstGeom>
          <a:solidFill>
            <a:srgbClr val="2382FE"/>
          </a:solidFill>
          <a:ln w="25400" cap="flat" cmpd="sng" algn="ctr">
            <a:noFill/>
            <a:prstDash val="solid"/>
          </a:ln>
          <a:effectLst/>
        </p:spPr>
        <p:txBody>
          <a:bodyPr tIns="0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kern="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수집</a:t>
            </a:r>
          </a:p>
        </p:txBody>
      </p:sp>
      <p:sp>
        <p:nvSpPr>
          <p:cNvPr id="46" name="아래쪽 화살표 76">
            <a:extLst>
              <a:ext uri="{FF2B5EF4-FFF2-40B4-BE49-F238E27FC236}">
                <a16:creationId xmlns:a16="http://schemas.microsoft.com/office/drawing/2014/main" id="{144BD8EF-736A-0372-103A-04430DF3C464}"/>
              </a:ext>
            </a:extLst>
          </p:cNvPr>
          <p:cNvSpPr/>
          <p:nvPr/>
        </p:nvSpPr>
        <p:spPr>
          <a:xfrm>
            <a:off x="6698212" y="3411901"/>
            <a:ext cx="591907" cy="323754"/>
          </a:xfrm>
          <a:prstGeom prst="downArrow">
            <a:avLst>
              <a:gd name="adj1" fmla="val 54409"/>
              <a:gd name="adj2" fmla="val 43387"/>
            </a:avLst>
          </a:prstGeom>
          <a:solidFill>
            <a:srgbClr val="4F81BD">
              <a:alpha val="82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00" kern="0" dirty="0">
              <a:solidFill>
                <a:sysClr val="window" lastClr="FFFFFF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7" name="아래쪽 화살표 77">
            <a:extLst>
              <a:ext uri="{FF2B5EF4-FFF2-40B4-BE49-F238E27FC236}">
                <a16:creationId xmlns:a16="http://schemas.microsoft.com/office/drawing/2014/main" id="{CCC95596-23C5-E8A8-B0B3-F7649B614C25}"/>
              </a:ext>
            </a:extLst>
          </p:cNvPr>
          <p:cNvSpPr/>
          <p:nvPr/>
        </p:nvSpPr>
        <p:spPr>
          <a:xfrm>
            <a:off x="6698212" y="3955664"/>
            <a:ext cx="591907" cy="323754"/>
          </a:xfrm>
          <a:prstGeom prst="downArrow">
            <a:avLst>
              <a:gd name="adj1" fmla="val 54409"/>
              <a:gd name="adj2" fmla="val 43387"/>
            </a:avLst>
          </a:prstGeom>
          <a:solidFill>
            <a:srgbClr val="4F81BD">
              <a:alpha val="82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00" kern="0" dirty="0">
              <a:solidFill>
                <a:sysClr val="window" lastClr="FFFFFF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8" name="아래쪽 화살표 78">
            <a:extLst>
              <a:ext uri="{FF2B5EF4-FFF2-40B4-BE49-F238E27FC236}">
                <a16:creationId xmlns:a16="http://schemas.microsoft.com/office/drawing/2014/main" id="{8B7C2FCC-DEF2-23A2-8A8B-704D3DC49405}"/>
              </a:ext>
            </a:extLst>
          </p:cNvPr>
          <p:cNvSpPr/>
          <p:nvPr/>
        </p:nvSpPr>
        <p:spPr>
          <a:xfrm>
            <a:off x="6698212" y="4503602"/>
            <a:ext cx="591907" cy="325543"/>
          </a:xfrm>
          <a:prstGeom prst="downArrow">
            <a:avLst>
              <a:gd name="adj1" fmla="val 54409"/>
              <a:gd name="adj2" fmla="val 43387"/>
            </a:avLst>
          </a:prstGeom>
          <a:solidFill>
            <a:srgbClr val="4F81BD">
              <a:alpha val="82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00" kern="0" dirty="0">
              <a:solidFill>
                <a:sysClr val="window" lastClr="FFFFFF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9" name="모서리가 둥근 직사각형 79">
            <a:extLst>
              <a:ext uri="{FF2B5EF4-FFF2-40B4-BE49-F238E27FC236}">
                <a16:creationId xmlns:a16="http://schemas.microsoft.com/office/drawing/2014/main" id="{423471C4-A2E1-3370-4F46-4E37B93B9E50}"/>
              </a:ext>
            </a:extLst>
          </p:cNvPr>
          <p:cNvSpPr/>
          <p:nvPr/>
        </p:nvSpPr>
        <p:spPr>
          <a:xfrm>
            <a:off x="6532826" y="3740425"/>
            <a:ext cx="961850" cy="364894"/>
          </a:xfrm>
          <a:prstGeom prst="roundRect">
            <a:avLst>
              <a:gd name="adj" fmla="val 7840"/>
            </a:avLst>
          </a:prstGeom>
          <a:solidFill>
            <a:srgbClr val="2382FE"/>
          </a:solidFill>
          <a:ln w="25400" cap="flat" cmpd="sng" algn="ctr">
            <a:noFill/>
            <a:prstDash val="solid"/>
          </a:ln>
          <a:effectLst/>
        </p:spPr>
        <p:txBody>
          <a:bodyPr tIns="0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kern="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이용</a:t>
            </a:r>
          </a:p>
        </p:txBody>
      </p:sp>
      <p:sp>
        <p:nvSpPr>
          <p:cNvPr id="50" name="모서리가 둥근 직사각형 80">
            <a:extLst>
              <a:ext uri="{FF2B5EF4-FFF2-40B4-BE49-F238E27FC236}">
                <a16:creationId xmlns:a16="http://schemas.microsoft.com/office/drawing/2014/main" id="{97416A52-924D-0BDA-5128-259F54F52AD0}"/>
              </a:ext>
            </a:extLst>
          </p:cNvPr>
          <p:cNvSpPr/>
          <p:nvPr/>
        </p:nvSpPr>
        <p:spPr>
          <a:xfrm>
            <a:off x="6532826" y="4285977"/>
            <a:ext cx="961850" cy="364894"/>
          </a:xfrm>
          <a:prstGeom prst="roundRect">
            <a:avLst>
              <a:gd name="adj" fmla="val 7839"/>
            </a:avLst>
          </a:prstGeom>
          <a:solidFill>
            <a:srgbClr val="2382FE"/>
          </a:solidFill>
          <a:ln w="25400" cap="flat" cmpd="sng" algn="ctr">
            <a:noFill/>
            <a:prstDash val="solid"/>
          </a:ln>
          <a:effectLst/>
        </p:spPr>
        <p:txBody>
          <a:bodyPr tIns="0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kern="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제공</a:t>
            </a:r>
          </a:p>
        </p:txBody>
      </p:sp>
      <p:sp>
        <p:nvSpPr>
          <p:cNvPr id="53" name="모서리가 둥근 직사각형 81">
            <a:extLst>
              <a:ext uri="{FF2B5EF4-FFF2-40B4-BE49-F238E27FC236}">
                <a16:creationId xmlns:a16="http://schemas.microsoft.com/office/drawing/2014/main" id="{DFDC0C20-4223-C81B-1060-737F30A0D0D7}"/>
              </a:ext>
            </a:extLst>
          </p:cNvPr>
          <p:cNvSpPr/>
          <p:nvPr/>
        </p:nvSpPr>
        <p:spPr>
          <a:xfrm>
            <a:off x="6532826" y="3194872"/>
            <a:ext cx="961850" cy="364894"/>
          </a:xfrm>
          <a:prstGeom prst="roundRect">
            <a:avLst>
              <a:gd name="adj" fmla="val 7839"/>
            </a:avLst>
          </a:prstGeom>
          <a:solidFill>
            <a:srgbClr val="2382FE"/>
          </a:solidFill>
          <a:ln w="25400" cap="flat" cmpd="sng" algn="ctr">
            <a:noFill/>
            <a:prstDash val="solid"/>
          </a:ln>
          <a:effectLst/>
        </p:spPr>
        <p:txBody>
          <a:bodyPr tIns="0"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kern="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저장</a:t>
            </a:r>
          </a:p>
        </p:txBody>
      </p:sp>
      <p:sp>
        <p:nvSpPr>
          <p:cNvPr id="54" name="모서리가 둥근 직사각형 82">
            <a:extLst>
              <a:ext uri="{FF2B5EF4-FFF2-40B4-BE49-F238E27FC236}">
                <a16:creationId xmlns:a16="http://schemas.microsoft.com/office/drawing/2014/main" id="{72A15A79-7609-9A84-6D70-07C52781A62C}"/>
              </a:ext>
            </a:extLst>
          </p:cNvPr>
          <p:cNvSpPr/>
          <p:nvPr/>
        </p:nvSpPr>
        <p:spPr>
          <a:xfrm>
            <a:off x="7455505" y="3740425"/>
            <a:ext cx="3701135" cy="365063"/>
          </a:xfrm>
          <a:prstGeom prst="roundRect">
            <a:avLst>
              <a:gd name="adj" fmla="val 2614"/>
            </a:avLst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1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개인 목적 조회 금지</a:t>
            </a:r>
            <a:r>
              <a:rPr kumimoji="0" lang="en-US" altLang="ko-KR" sz="11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kumimoji="0" lang="ko-KR" altLang="en-US" sz="11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동의 없는 마케팅 금지</a:t>
            </a:r>
          </a:p>
        </p:txBody>
      </p:sp>
      <p:sp>
        <p:nvSpPr>
          <p:cNvPr id="55" name="모서리가 둥근 직사각형 83">
            <a:extLst>
              <a:ext uri="{FF2B5EF4-FFF2-40B4-BE49-F238E27FC236}">
                <a16:creationId xmlns:a16="http://schemas.microsoft.com/office/drawing/2014/main" id="{B857564B-6790-3629-F042-FF169D08110F}"/>
              </a:ext>
            </a:extLst>
          </p:cNvPr>
          <p:cNvSpPr/>
          <p:nvPr/>
        </p:nvSpPr>
        <p:spPr>
          <a:xfrm>
            <a:off x="7455505" y="4285977"/>
            <a:ext cx="3701135" cy="365063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1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업무 목적 외 제공 금지</a:t>
            </a:r>
          </a:p>
        </p:txBody>
      </p:sp>
      <p:sp>
        <p:nvSpPr>
          <p:cNvPr id="56" name="모서리가 둥근 직사각형 84">
            <a:extLst>
              <a:ext uri="{FF2B5EF4-FFF2-40B4-BE49-F238E27FC236}">
                <a16:creationId xmlns:a16="http://schemas.microsoft.com/office/drawing/2014/main" id="{3678B8D1-5E78-6FAB-B9CC-B0549F87AB04}"/>
              </a:ext>
            </a:extLst>
          </p:cNvPr>
          <p:cNvSpPr/>
          <p:nvPr/>
        </p:nvSpPr>
        <p:spPr>
          <a:xfrm>
            <a:off x="7455505" y="4831529"/>
            <a:ext cx="3701135" cy="365063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1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복구</a:t>
            </a:r>
            <a:r>
              <a:rPr kumimoji="0" lang="en-US" altLang="ko-KR" sz="11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/</a:t>
            </a:r>
            <a:r>
              <a:rPr kumimoji="0" lang="ko-KR" altLang="en-US" sz="11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재생되지 않도록 기한 내 지체 없이 파기</a:t>
            </a:r>
          </a:p>
        </p:txBody>
      </p:sp>
      <p:sp>
        <p:nvSpPr>
          <p:cNvPr id="57" name="모서리가 둥근 직사각형 85">
            <a:extLst>
              <a:ext uri="{FF2B5EF4-FFF2-40B4-BE49-F238E27FC236}">
                <a16:creationId xmlns:a16="http://schemas.microsoft.com/office/drawing/2014/main" id="{9E2B2A29-292C-EB78-9596-29EB1A8DCF30}"/>
              </a:ext>
            </a:extLst>
          </p:cNvPr>
          <p:cNvSpPr/>
          <p:nvPr/>
        </p:nvSpPr>
        <p:spPr>
          <a:xfrm>
            <a:off x="7455505" y="2651109"/>
            <a:ext cx="3701135" cy="365063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1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고객 동의 후 최소한의 정보 수집</a:t>
            </a:r>
          </a:p>
        </p:txBody>
      </p:sp>
      <p:sp>
        <p:nvSpPr>
          <p:cNvPr id="58" name="모서리가 둥근 직사각형 86">
            <a:extLst>
              <a:ext uri="{FF2B5EF4-FFF2-40B4-BE49-F238E27FC236}">
                <a16:creationId xmlns:a16="http://schemas.microsoft.com/office/drawing/2014/main" id="{C98C8907-F0CE-1166-F947-4815FBB0FC41}"/>
              </a:ext>
            </a:extLst>
          </p:cNvPr>
          <p:cNvSpPr/>
          <p:nvPr/>
        </p:nvSpPr>
        <p:spPr>
          <a:xfrm>
            <a:off x="7455505" y="3194872"/>
            <a:ext cx="3701135" cy="365063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1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개인정보 임의보관 금지</a:t>
            </a:r>
            <a:endParaRPr kumimoji="0" lang="en-US" altLang="ko-KR" sz="1100" kern="0" dirty="0">
              <a:solidFill>
                <a:sysClr val="windowText" lastClr="000000">
                  <a:lumMod val="75000"/>
                  <a:lumOff val="25000"/>
                </a:sys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 (</a:t>
            </a:r>
            <a:r>
              <a:rPr kumimoji="0" lang="ko-KR" altLang="en-US" sz="11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보관 시 암호화</a:t>
            </a:r>
            <a:r>
              <a:rPr kumimoji="0" lang="en-US" altLang="ko-KR" sz="11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kumimoji="0" lang="ko-KR" altLang="en-US" sz="11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고객정보관리기록부에 관리</a:t>
            </a:r>
            <a:r>
              <a:rPr kumimoji="0" lang="en-US" altLang="ko-KR" sz="11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F1A6BC8-01CB-D51A-6F21-1DAE36E6FA9D}"/>
              </a:ext>
            </a:extLst>
          </p:cNvPr>
          <p:cNvSpPr/>
          <p:nvPr/>
        </p:nvSpPr>
        <p:spPr>
          <a:xfrm>
            <a:off x="6441583" y="5288865"/>
            <a:ext cx="268535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■</a:t>
            </a:r>
            <a:r>
              <a:rPr lang="en-US" altLang="ko-KR" sz="14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4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보안점검 대표 회사</a:t>
            </a:r>
            <a:r>
              <a:rPr lang="en-US" altLang="ko-KR" sz="14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4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최근 </a:t>
            </a:r>
            <a:r>
              <a:rPr lang="en-US" altLang="ko-KR" sz="14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</a:t>
            </a:r>
            <a:r>
              <a:rPr lang="ko-KR" altLang="en-US" sz="14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년</a:t>
            </a:r>
            <a:r>
              <a:rPr lang="en-US" altLang="ko-KR" sz="14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sz="1400" b="1" kern="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D7B2DFF-4E01-49BA-5C2E-7C5C09DC0121}"/>
              </a:ext>
            </a:extLst>
          </p:cNvPr>
          <p:cNvSpPr/>
          <p:nvPr/>
        </p:nvSpPr>
        <p:spPr>
          <a:xfrm>
            <a:off x="6570766" y="5587029"/>
            <a:ext cx="4585873" cy="647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1" name="Picture 7">
            <a:extLst>
              <a:ext uri="{FF2B5EF4-FFF2-40B4-BE49-F238E27FC236}">
                <a16:creationId xmlns:a16="http://schemas.microsoft.com/office/drawing/2014/main" id="{2C00DFDB-AE5C-78C6-07AA-270B95F3A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80821" y="5623972"/>
            <a:ext cx="722936" cy="263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C4B3F984-47E3-ED00-725E-7B565245ED7E}"/>
              </a:ext>
            </a:extLst>
          </p:cNvPr>
          <p:cNvGrpSpPr/>
          <p:nvPr/>
        </p:nvGrpSpPr>
        <p:grpSpPr>
          <a:xfrm>
            <a:off x="7543553" y="5903200"/>
            <a:ext cx="2658381" cy="256385"/>
            <a:chOff x="6859685" y="5943840"/>
            <a:chExt cx="2658381" cy="256385"/>
          </a:xfrm>
        </p:grpSpPr>
        <p:pic>
          <p:nvPicPr>
            <p:cNvPr id="62" name="Picture 4" descr="로고">
              <a:extLst>
                <a:ext uri="{FF2B5EF4-FFF2-40B4-BE49-F238E27FC236}">
                  <a16:creationId xmlns:a16="http://schemas.microsoft.com/office/drawing/2014/main" id="{D455B2DE-9AA8-38F7-E794-8E62DCBD8F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2003" t="2182"/>
            <a:stretch>
              <a:fillRect/>
            </a:stretch>
          </p:blipFill>
          <p:spPr bwMode="auto">
            <a:xfrm>
              <a:off x="6859685" y="5943840"/>
              <a:ext cx="927156" cy="256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id="{EF2489F1-8763-7AE3-F958-87F0DC937C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2" t="29841" r="8702" b="29841"/>
            <a:stretch/>
          </p:blipFill>
          <p:spPr>
            <a:xfrm>
              <a:off x="8867307" y="5975356"/>
              <a:ext cx="650759" cy="212108"/>
            </a:xfrm>
            <a:prstGeom prst="rect">
              <a:avLst/>
            </a:prstGeom>
          </p:spPr>
        </p:pic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74AFFF51-75CA-2250-1379-EC93521EC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834279" y="5969635"/>
              <a:ext cx="913226" cy="204797"/>
            </a:xfrm>
            <a:prstGeom prst="rect">
              <a:avLst/>
            </a:prstGeom>
          </p:spPr>
        </p:pic>
      </p:grpSp>
      <p:pic>
        <p:nvPicPr>
          <p:cNvPr id="65" name="그림 64">
            <a:extLst>
              <a:ext uri="{FF2B5EF4-FFF2-40B4-BE49-F238E27FC236}">
                <a16:creationId xmlns:a16="http://schemas.microsoft.com/office/drawing/2014/main" id="{E7106770-4CE6-0A8C-D2B9-FFCBC1844494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79598" y="5636694"/>
            <a:ext cx="727273" cy="255464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05324A91-DD1F-261C-DB6F-84BB459A656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23664" y="5647388"/>
            <a:ext cx="857113" cy="245686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6C90A605-7DF0-C96B-C8D4-6FA4B764229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95770" y="5687871"/>
            <a:ext cx="454308" cy="23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837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E0343D0-5D50-98D6-77AB-80E514931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프로젝트 추진 단계별 상세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9A44F25-3818-8B9D-8708-5598C6D27E53}"/>
              </a:ext>
            </a:extLst>
          </p:cNvPr>
          <p:cNvSpPr/>
          <p:nvPr/>
        </p:nvSpPr>
        <p:spPr>
          <a:xfrm>
            <a:off x="556053" y="2343041"/>
            <a:ext cx="1872000" cy="31854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Single Sign On 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기능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C106AB-C523-A77F-E228-06884BCED134}"/>
              </a:ext>
            </a:extLst>
          </p:cNvPr>
          <p:cNvSpPr txBox="1"/>
          <p:nvPr/>
        </p:nvSpPr>
        <p:spPr>
          <a:xfrm>
            <a:off x="460433" y="1770700"/>
            <a:ext cx="4790094" cy="3185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SSO </a:t>
            </a:r>
            <a:r>
              <a:rPr lang="ko-KR" altLang="en-US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연동을 통해 자동 로그인</a:t>
            </a:r>
            <a:r>
              <a:rPr lang="en-US" altLang="ko-KR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, </a:t>
            </a:r>
            <a:r>
              <a:rPr lang="ko-KR" altLang="en-US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학습장에서 평가 응시 및 결과 확인</a:t>
            </a:r>
            <a:endParaRPr lang="en-US" altLang="ko-KR" sz="1300" dirty="0">
              <a:solidFill>
                <a:prstClr val="black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58FA6F-9829-58A7-4465-B93DEA637048}"/>
              </a:ext>
            </a:extLst>
          </p:cNvPr>
          <p:cNvSpPr txBox="1"/>
          <p:nvPr/>
        </p:nvSpPr>
        <p:spPr>
          <a:xfrm>
            <a:off x="448698" y="1465750"/>
            <a:ext cx="3504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>
                <a:latin typeface="+mj-ea"/>
                <a:ea typeface="+mj-ea"/>
              </a:defRPr>
            </a:lvl1pPr>
          </a:lstStyle>
          <a:p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학습자 편의 사항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(1) Single Sign On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기능 </a:t>
            </a:r>
            <a:endParaRPr lang="ko-KR" altLang="en-US" sz="1200" dirty="0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0A71C63-00B9-B438-6F59-A105A690D51A}"/>
              </a:ext>
            </a:extLst>
          </p:cNvPr>
          <p:cNvCxnSpPr>
            <a:cxnSpLocks/>
          </p:cNvCxnSpPr>
          <p:nvPr/>
        </p:nvCxnSpPr>
        <p:spPr>
          <a:xfrm>
            <a:off x="515938" y="1770700"/>
            <a:ext cx="1119663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그림 33">
            <a:extLst>
              <a:ext uri="{FF2B5EF4-FFF2-40B4-BE49-F238E27FC236}">
                <a16:creationId xmlns:a16="http://schemas.microsoft.com/office/drawing/2014/main" id="{4F67A92A-0B4D-6496-AFFD-D1860233E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53" y="2698616"/>
            <a:ext cx="2998394" cy="263855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6B294772-A908-0243-5C03-2B887BBA5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549" y="2698615"/>
            <a:ext cx="2998394" cy="263855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6618DE9C-26A7-423B-6846-0321E9154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46" y="2698617"/>
            <a:ext cx="4848092" cy="263616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</p:pic>
      <p:sp>
        <p:nvSpPr>
          <p:cNvPr id="48" name="직사각형 47">
            <a:extLst>
              <a:ext uri="{FF2B5EF4-FFF2-40B4-BE49-F238E27FC236}">
                <a16:creationId xmlns:a16="http://schemas.microsoft.com/office/drawing/2014/main" id="{1ABF138F-8709-80A1-DB4E-3D1702CFACCC}"/>
              </a:ext>
            </a:extLst>
          </p:cNvPr>
          <p:cNvSpPr/>
          <p:nvPr/>
        </p:nvSpPr>
        <p:spPr>
          <a:xfrm>
            <a:off x="556053" y="5437453"/>
            <a:ext cx="2998394" cy="86995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tIns="108000" bIns="0" numCol="1" rtlCol="0" anchor="t" anchorCtr="0"/>
          <a:lstStyle/>
          <a:p>
            <a:pPr marL="179388" marR="0" indent="-179388" defTabSz="914400" rtl="0" eaLnBrk="1" fontAlgn="auto" latinLnBrk="0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S-OIL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연수시스템</a:t>
            </a:r>
            <a:b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sym typeface="Wingdings" panose="05000000000000000000" pitchFamily="2" charset="2"/>
              </a:rPr>
              <a:t>알파코 러닝센터로 이동</a:t>
            </a:r>
            <a:endParaRPr lang="ko-KR" altLang="en-US" sz="1100" b="0" kern="1200" spc="0" noProof="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FF88B87-EDCC-5B25-B697-0CA148776435}"/>
              </a:ext>
            </a:extLst>
          </p:cNvPr>
          <p:cNvSpPr/>
          <p:nvPr/>
        </p:nvSpPr>
        <p:spPr>
          <a:xfrm>
            <a:off x="3674550" y="5437453"/>
            <a:ext cx="2998394" cy="86995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tIns="108000" bIns="0" numCol="1" rtlCol="0" anchor="t" anchorCtr="0"/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아이디어 기획 과제확인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과제 작성 및 제출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3D3E0A2-A757-53B2-8C95-A6B706810688}"/>
              </a:ext>
            </a:extLst>
          </p:cNvPr>
          <p:cNvSpPr/>
          <p:nvPr/>
        </p:nvSpPr>
        <p:spPr>
          <a:xfrm>
            <a:off x="6793045" y="5437453"/>
            <a:ext cx="4842901" cy="86995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tIns="108000" bIns="0" numCol="1" rtlCol="0" anchor="t" anchorCtr="0"/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과제 평가 결과 확인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과제 불충분의 경우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 의한 검수 및 학습튜터에 의한 첨삭 피드백이</a:t>
            </a:r>
            <a:b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진행될 예정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4747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97312-CD89-B413-91F0-8A82DB8AF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D0419E-26A5-6D5F-8E6D-334AD984F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프로젝트 추진 단계별 상세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0ADA719-CC15-A3F8-AB5E-6F0AFC457AA0}"/>
              </a:ext>
            </a:extLst>
          </p:cNvPr>
          <p:cNvSpPr/>
          <p:nvPr/>
        </p:nvSpPr>
        <p:spPr>
          <a:xfrm>
            <a:off x="616999" y="5428679"/>
            <a:ext cx="3614713" cy="8699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tIns="108000" bIns="0" numCol="1" rtlCol="0" anchor="t" anchorCtr="0"/>
          <a:lstStyle/>
          <a:p>
            <a:pPr marL="179388" marR="0" indent="-179388" defTabSz="914400" rtl="0" eaLnBrk="1" fontAlgn="auto" latinLnBrk="0" hangingPunct="1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sz="1100" b="0" kern="1200" spc="0" noProof="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최신 트렌드를 반영한 사용자 친화적 인터페이스</a:t>
            </a:r>
            <a:endParaRPr lang="en-US" altLang="ko-KR" sz="1100" b="0" kern="1200" spc="0" noProof="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179388" marR="0" indent="-179388" defTabSz="914400" rtl="0" eaLnBrk="1" fontAlgn="auto" latinLnBrk="0" hangingPunct="1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sz="1100" b="0" kern="1200" spc="0" noProof="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강력한 보안 시스템으로 안전한 학습환경 제공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B2B00FA-74DA-4953-6694-256944EE1B33}"/>
              </a:ext>
            </a:extLst>
          </p:cNvPr>
          <p:cNvSpPr/>
          <p:nvPr/>
        </p:nvSpPr>
        <p:spPr>
          <a:xfrm>
            <a:off x="4309901" y="5428679"/>
            <a:ext cx="3626525" cy="8699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tIns="108000" bIns="0" numCol="1" rtlCol="0" anchor="t" anchorCtr="0"/>
          <a:lstStyle/>
          <a:p>
            <a:pPr marL="179388" indent="-179388" latinLnBrk="0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뛰어난 가독성을 자랑하는 연수 전용 학습장 제공</a:t>
            </a:r>
            <a:endParaRPr lang="en-US" altLang="ko-KR" sz="11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1C974EC-C36B-646A-5923-A664553969AF}"/>
              </a:ext>
            </a:extLst>
          </p:cNvPr>
          <p:cNvSpPr/>
          <p:nvPr/>
        </p:nvSpPr>
        <p:spPr>
          <a:xfrm>
            <a:off x="8014613" y="5428679"/>
            <a:ext cx="3626525" cy="8699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tIns="108000" bIns="0" numCol="1" rtlCol="0" anchor="t" anchorCtr="0"/>
          <a:lstStyle/>
          <a:p>
            <a:pPr marL="179388" indent="-179388" latinLnBrk="0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직관적인 </a:t>
            </a:r>
            <a:r>
              <a:rPr lang="en-US" altLang="ko-KR" sz="1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UI/UX </a:t>
            </a:r>
            <a:r>
              <a:rPr lang="ko-KR" altLang="en-US" sz="1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로 편리한 학습 진행 가능</a:t>
            </a:r>
            <a:endParaRPr lang="en-US" altLang="ko-KR" sz="11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9388" indent="-179388" latinLnBrk="0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반응형 웹을 통한 최적의 화면 구현</a:t>
            </a:r>
            <a:br>
              <a:rPr lang="en-US" altLang="ko-KR" sz="1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</a:br>
            <a:r>
              <a:rPr lang="en-US" altLang="ko-KR" sz="1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</a:t>
            </a:r>
            <a:r>
              <a:rPr lang="ko-KR" altLang="en-US" sz="1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모바일에서도 별도의 앱 설치 없이 학습 가능</a:t>
            </a:r>
            <a:r>
              <a:rPr lang="en-US" altLang="ko-KR" sz="1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43DF75-0311-C5B1-F44E-B86D01A091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902"/>
          <a:stretch/>
        </p:blipFill>
        <p:spPr>
          <a:xfrm>
            <a:off x="622906" y="2488142"/>
            <a:ext cx="3614713" cy="286981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7D0B5960-2D0F-A358-783C-3DB48283376D}"/>
              </a:ext>
            </a:extLst>
          </p:cNvPr>
          <p:cNvSpPr/>
          <p:nvPr/>
        </p:nvSpPr>
        <p:spPr>
          <a:xfrm>
            <a:off x="622906" y="2241550"/>
            <a:ext cx="972000" cy="2460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l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메인페이지</a:t>
            </a:r>
            <a:endParaRPr lang="ko-KR" altLang="en-US" sz="1200" dirty="0">
              <a:solidFill>
                <a:schemeClr val="lt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DC83374-16D3-A9A1-6806-267F63373CF3}"/>
              </a:ext>
            </a:extLst>
          </p:cNvPr>
          <p:cNvSpPr/>
          <p:nvPr/>
        </p:nvSpPr>
        <p:spPr>
          <a:xfrm>
            <a:off x="7995989" y="2241550"/>
            <a:ext cx="972000" cy="2460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l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학습장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EBBDD30-55A4-1AB4-BFA0-02A8BA37009C}"/>
              </a:ext>
            </a:extLst>
          </p:cNvPr>
          <p:cNvGrpSpPr/>
          <p:nvPr/>
        </p:nvGrpSpPr>
        <p:grpSpPr>
          <a:xfrm>
            <a:off x="8011207" y="2488142"/>
            <a:ext cx="3614713" cy="2869818"/>
            <a:chOff x="8034781" y="1726139"/>
            <a:chExt cx="3714308" cy="306286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180B749-0662-87E6-A03E-41881C671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34781" y="1726139"/>
              <a:ext cx="3714308" cy="3062861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94C6AEA-0A72-B528-F438-783A67B55143}"/>
                </a:ext>
              </a:extLst>
            </p:cNvPr>
            <p:cNvSpPr/>
            <p:nvPr/>
          </p:nvSpPr>
          <p:spPr>
            <a:xfrm flipV="1">
              <a:off x="8183805" y="1900009"/>
              <a:ext cx="467435" cy="842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tIns="0" bIns="0" rtlCol="0" anchor="ctr" anchorCtr="0"/>
            <a:lstStyle/>
            <a:p>
              <a:pPr marL="0" marR="0" indent="0" algn="ctr" defTabSz="914400" rtl="0" eaLnBrk="1" fontAlgn="auto" latinLnBrk="0" hangingPunct="1"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ko-KR" altLang="en-US" sz="2000" b="0" kern="1200" spc="0" noProof="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8034038-8EA8-9B68-E2B5-67E747BBD35B}"/>
                </a:ext>
              </a:extLst>
            </p:cNvPr>
            <p:cNvSpPr/>
            <p:nvPr/>
          </p:nvSpPr>
          <p:spPr>
            <a:xfrm flipV="1">
              <a:off x="10703485" y="4206327"/>
              <a:ext cx="840815" cy="3161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tIns="0" bIns="0" rtlCol="0" anchor="ctr" anchorCtr="0"/>
            <a:lstStyle/>
            <a:p>
              <a:pPr marL="0" marR="0" indent="0" algn="ctr" defTabSz="914400" rtl="0" eaLnBrk="1" fontAlgn="auto" latinLnBrk="0" hangingPunct="1"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ko-KR" altLang="en-US" sz="2000" b="0" kern="1200" spc="0" noProof="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endParaRP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7C7201D-927B-C3E9-CD4C-528E8B42FA06}"/>
              </a:ext>
            </a:extLst>
          </p:cNvPr>
          <p:cNvSpPr/>
          <p:nvPr/>
        </p:nvSpPr>
        <p:spPr>
          <a:xfrm>
            <a:off x="4507673" y="3825015"/>
            <a:ext cx="244839" cy="1575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tIns="0" bIns="0" rtlCol="0" anchor="ctr" anchorCtr="0"/>
          <a:lstStyle/>
          <a:p>
            <a:pPr marL="0" marR="0" indent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ko-KR" altLang="en-US" sz="2000" b="0" kern="1200" spc="0" noProof="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110C5A3-EB49-1382-AA17-3D9BA8896045}"/>
              </a:ext>
            </a:extLst>
          </p:cNvPr>
          <p:cNvSpPr/>
          <p:nvPr/>
        </p:nvSpPr>
        <p:spPr>
          <a:xfrm>
            <a:off x="4309448" y="2241550"/>
            <a:ext cx="972000" cy="2460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l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신청현황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C606169-8466-ED7F-CE4D-48AA76D01F71}"/>
              </a:ext>
            </a:extLst>
          </p:cNvPr>
          <p:cNvGrpSpPr/>
          <p:nvPr/>
        </p:nvGrpSpPr>
        <p:grpSpPr>
          <a:xfrm>
            <a:off x="4317057" y="2488142"/>
            <a:ext cx="3614713" cy="2869818"/>
            <a:chOff x="4238847" y="1726139"/>
            <a:chExt cx="3714308" cy="306286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C3CE576-AA6D-F35C-1533-F7B44CBE6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38847" y="1726139"/>
              <a:ext cx="3714308" cy="3062861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426941B-42FC-BB52-E6F8-D845883E6AE5}"/>
                </a:ext>
              </a:extLst>
            </p:cNvPr>
            <p:cNvSpPr/>
            <p:nvPr/>
          </p:nvSpPr>
          <p:spPr>
            <a:xfrm>
              <a:off x="7047319" y="1858099"/>
              <a:ext cx="126912" cy="888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tIns="0" bIns="0" rtlCol="0" anchor="ctr" anchorCtr="0"/>
            <a:lstStyle/>
            <a:p>
              <a:pPr marL="0" marR="0" indent="0" algn="ctr" defTabSz="914400" rtl="0" eaLnBrk="1" fontAlgn="auto" latinLnBrk="0" hangingPunct="1"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ko-KR" altLang="en-US" sz="2000" b="0" kern="1200" spc="0" noProof="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1E2905B-59B2-7A2D-CC7E-842393A36DD9}"/>
                </a:ext>
              </a:extLst>
            </p:cNvPr>
            <p:cNvSpPr/>
            <p:nvPr/>
          </p:nvSpPr>
          <p:spPr>
            <a:xfrm>
              <a:off x="4434715" y="2699093"/>
              <a:ext cx="251585" cy="19015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tIns="0" bIns="0" rtlCol="0" anchor="ctr" anchorCtr="0"/>
            <a:lstStyle/>
            <a:p>
              <a:pPr marL="0" marR="0" indent="0" algn="ctr" defTabSz="914400" rtl="0" eaLnBrk="1" fontAlgn="auto" latinLnBrk="0" hangingPunct="1"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ko-KR" altLang="en-US" sz="2000" b="0" kern="1200" spc="0" noProof="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E0C9B4B-7394-20A3-1FD8-F764111D0595}"/>
              </a:ext>
            </a:extLst>
          </p:cNvPr>
          <p:cNvSpPr txBox="1"/>
          <p:nvPr/>
        </p:nvSpPr>
        <p:spPr>
          <a:xfrm>
            <a:off x="4539442" y="3803312"/>
            <a:ext cx="1325355" cy="173027"/>
          </a:xfrm>
          <a:prstGeom prst="rect">
            <a:avLst/>
          </a:prstGeom>
          <a:solidFill>
            <a:srgbClr val="F0F0F1"/>
          </a:solidFill>
        </p:spPr>
        <p:txBody>
          <a:bodyPr wrap="square">
            <a:spAutoFit/>
          </a:bodyPr>
          <a:lstStyle/>
          <a:p>
            <a:r>
              <a:rPr lang="en-US" altLang="ko-KR" sz="600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22</a:t>
            </a:r>
            <a:r>
              <a:rPr lang="ko-KR" altLang="en-US" sz="600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세기 민주주의</a:t>
            </a:r>
            <a:endParaRPr lang="ko-KR" altLang="en-US" sz="600" b="1" dirty="0">
              <a:solidFill>
                <a:schemeClr val="tx2">
                  <a:lumMod val="90000"/>
                  <a:lumOff val="10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FC8C62-17BF-5DC4-F1C1-73E894F78E2B}"/>
              </a:ext>
            </a:extLst>
          </p:cNvPr>
          <p:cNvSpPr txBox="1"/>
          <p:nvPr/>
        </p:nvSpPr>
        <p:spPr>
          <a:xfrm>
            <a:off x="4940286" y="4234124"/>
            <a:ext cx="814270" cy="14418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400" b="0" i="0" dirty="0">
                <a:solidFill>
                  <a:srgbClr val="242424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2025.05.01~2025.05.31</a:t>
            </a:r>
            <a:endParaRPr lang="ko-KR" altLang="en-US" sz="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527DD5-F60E-C7B6-E7C3-760BC81542DF}"/>
              </a:ext>
            </a:extLst>
          </p:cNvPr>
          <p:cNvSpPr txBox="1"/>
          <p:nvPr/>
        </p:nvSpPr>
        <p:spPr>
          <a:xfrm>
            <a:off x="4940286" y="4394068"/>
            <a:ext cx="814271" cy="14418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400" b="0" i="0">
                <a:solidFill>
                  <a:srgbClr val="242424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</a:t>
            </a:r>
            <a:r>
              <a:rPr lang="ko-KR" altLang="en-US" sz="400" b="0" i="0" dirty="0">
                <a:solidFill>
                  <a:srgbClr val="242424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개월</a:t>
            </a:r>
            <a:endParaRPr lang="ko-KR" altLang="en-US" sz="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A9CE704-0041-7DD8-D0D6-E675021C97A5}"/>
              </a:ext>
            </a:extLst>
          </p:cNvPr>
          <p:cNvSpPr/>
          <p:nvPr/>
        </p:nvSpPr>
        <p:spPr>
          <a:xfrm>
            <a:off x="5538574" y="3383698"/>
            <a:ext cx="67051" cy="178172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tIns="0" bIns="0" rtlCol="0" anchor="ctr" anchorCtr="0"/>
          <a:lstStyle/>
          <a:p>
            <a:pPr marL="0" marR="0" indent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800" b="0" kern="1200" spc="0" noProof="0" dirty="0">
                <a:solidFill>
                  <a:srgbClr val="FF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1</a:t>
            </a:r>
            <a:endParaRPr lang="ko-KR" altLang="en-US" sz="1200" b="0" kern="1200" spc="0" noProof="0" dirty="0">
              <a:solidFill>
                <a:srgbClr val="FF0000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CEDFA6-8827-5918-FF2F-B153ABB28F5D}"/>
              </a:ext>
            </a:extLst>
          </p:cNvPr>
          <p:cNvSpPr txBox="1"/>
          <p:nvPr/>
        </p:nvSpPr>
        <p:spPr>
          <a:xfrm>
            <a:off x="8690574" y="2509862"/>
            <a:ext cx="1325355" cy="2379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000" b="0" i="0" dirty="0">
                <a:solidFill>
                  <a:srgbClr val="242424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22</a:t>
            </a:r>
            <a:r>
              <a:rPr lang="ko-KR" altLang="en-US" sz="1000" b="0" i="0" dirty="0">
                <a:solidFill>
                  <a:srgbClr val="242424"/>
                </a:solidFill>
                <a:effectLst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세기 민주주의</a:t>
            </a:r>
            <a:endParaRPr lang="ko-KR" altLang="en-US" sz="10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3DD966A5-D146-8A22-D932-8D4C4852760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238" t="-8033" r="14682" b="21700"/>
          <a:stretch/>
        </p:blipFill>
        <p:spPr>
          <a:xfrm>
            <a:off x="9317656" y="2736351"/>
            <a:ext cx="622918" cy="12329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D3903676-A444-1B5F-A71F-C3519EB4FE1B}"/>
              </a:ext>
            </a:extLst>
          </p:cNvPr>
          <p:cNvSpPr txBox="1"/>
          <p:nvPr/>
        </p:nvSpPr>
        <p:spPr>
          <a:xfrm>
            <a:off x="460433" y="1735975"/>
            <a:ext cx="7370929" cy="3185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업계 최고 수준의 사용자 친화적인 학습 홈페이지를 제공하여 학습의 접근성과 학습 편의성을 극대화함</a:t>
            </a:r>
            <a:r>
              <a:rPr lang="en-US" altLang="ko-KR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EB47A4-0680-C1B1-1199-EB9F5B039E06}"/>
              </a:ext>
            </a:extLst>
          </p:cNvPr>
          <p:cNvSpPr txBox="1"/>
          <p:nvPr/>
        </p:nvSpPr>
        <p:spPr>
          <a:xfrm>
            <a:off x="448698" y="1465750"/>
            <a:ext cx="36247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>
                <a:latin typeface="+mj-ea"/>
                <a:ea typeface="+mj-ea"/>
              </a:defRPr>
            </a:lvl1pPr>
          </a:lstStyle>
          <a:p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학습자 편의 사항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(2)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직관적인 학습장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UI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구성</a:t>
            </a:r>
            <a:endParaRPr lang="ko-KR" altLang="en-US" sz="1200" dirty="0"/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ACDB4EA-C1A3-776C-2037-D924A81390A9}"/>
              </a:ext>
            </a:extLst>
          </p:cNvPr>
          <p:cNvCxnSpPr>
            <a:cxnSpLocks/>
          </p:cNvCxnSpPr>
          <p:nvPr/>
        </p:nvCxnSpPr>
        <p:spPr>
          <a:xfrm>
            <a:off x="515938" y="1754751"/>
            <a:ext cx="1119663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563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BB956A-E3D4-AA0E-8EA2-1A0491817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프로젝트 추진 단계별 상세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B6E6F75-5503-D504-6CE8-142565C067B1}"/>
              </a:ext>
            </a:extLst>
          </p:cNvPr>
          <p:cNvSpPr txBox="1"/>
          <p:nvPr/>
        </p:nvSpPr>
        <p:spPr>
          <a:xfrm>
            <a:off x="460433" y="1735975"/>
            <a:ext cx="8085868" cy="3185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직관적인 학습 전용 모바일 어플리케이션 제공으로 시공간에 구애 받지 않는 학습 환경과 이용의 편리함을 제공함</a:t>
            </a:r>
            <a:r>
              <a:rPr lang="en-US" altLang="ko-KR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0AE4F6D-3D29-3BBD-03EF-C1A998458C49}"/>
              </a:ext>
            </a:extLst>
          </p:cNvPr>
          <p:cNvSpPr txBox="1"/>
          <p:nvPr/>
        </p:nvSpPr>
        <p:spPr>
          <a:xfrm>
            <a:off x="448698" y="1465750"/>
            <a:ext cx="30460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>
                <a:latin typeface="+mj-ea"/>
                <a:ea typeface="+mj-ea"/>
              </a:defRPr>
            </a:lvl1pPr>
          </a:lstStyle>
          <a:p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학습자 편의 사항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(5)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모바일 버전 지원</a:t>
            </a:r>
            <a:endParaRPr lang="ko-KR" altLang="en-US" sz="1200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49F6A12A-AA89-BA0F-1457-912D2D4D6704}"/>
              </a:ext>
            </a:extLst>
          </p:cNvPr>
          <p:cNvCxnSpPr>
            <a:cxnSpLocks/>
          </p:cNvCxnSpPr>
          <p:nvPr/>
        </p:nvCxnSpPr>
        <p:spPr>
          <a:xfrm>
            <a:off x="515938" y="1754751"/>
            <a:ext cx="1119663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45">
            <a:extLst>
              <a:ext uri="{FF2B5EF4-FFF2-40B4-BE49-F238E27FC236}">
                <a16:creationId xmlns:a16="http://schemas.microsoft.com/office/drawing/2014/main" id="{4E230D89-EA32-6569-68E2-A404DE620F8C}"/>
              </a:ext>
            </a:extLst>
          </p:cNvPr>
          <p:cNvSpPr/>
          <p:nvPr/>
        </p:nvSpPr>
        <p:spPr>
          <a:xfrm>
            <a:off x="1408179" y="2248435"/>
            <a:ext cx="1445371" cy="214991"/>
          </a:xfrm>
          <a:prstGeom prst="roundRect">
            <a:avLst>
              <a:gd name="adj" fmla="val 1260"/>
            </a:avLst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학습 전용 앱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4A7F45D-EECC-0BF8-8875-FA1C98D1980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2" b="7466"/>
          <a:stretch/>
        </p:blipFill>
        <p:spPr>
          <a:xfrm>
            <a:off x="3608137" y="2527353"/>
            <a:ext cx="2249362" cy="3034809"/>
          </a:xfrm>
          <a:prstGeom prst="rect">
            <a:avLst/>
          </a:prstGeom>
          <a:ln>
            <a:solidFill>
              <a:srgbClr val="3EC2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모서리가 둥근 직사각형 46">
            <a:extLst>
              <a:ext uri="{FF2B5EF4-FFF2-40B4-BE49-F238E27FC236}">
                <a16:creationId xmlns:a16="http://schemas.microsoft.com/office/drawing/2014/main" id="{099E289A-7891-47F4-3362-438229F866AE}"/>
              </a:ext>
            </a:extLst>
          </p:cNvPr>
          <p:cNvSpPr/>
          <p:nvPr/>
        </p:nvSpPr>
        <p:spPr>
          <a:xfrm>
            <a:off x="3997261" y="2243817"/>
            <a:ext cx="1471115" cy="214991"/>
          </a:xfrm>
          <a:prstGeom prst="roundRect">
            <a:avLst>
              <a:gd name="adj" fmla="val 1260"/>
            </a:avLst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직관적 학습현황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62CD1F4-10DD-0C4B-46AF-380EF91733B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5" b="7490"/>
          <a:stretch/>
        </p:blipFill>
        <p:spPr>
          <a:xfrm>
            <a:off x="6210090" y="2519709"/>
            <a:ext cx="2249362" cy="3042106"/>
          </a:xfrm>
          <a:prstGeom prst="rect">
            <a:avLst/>
          </a:prstGeom>
          <a:ln>
            <a:solidFill>
              <a:srgbClr val="3EC2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모서리가 둥근 직사각형 47">
            <a:extLst>
              <a:ext uri="{FF2B5EF4-FFF2-40B4-BE49-F238E27FC236}">
                <a16:creationId xmlns:a16="http://schemas.microsoft.com/office/drawing/2014/main" id="{39E4EE39-34E4-9214-F429-5B47426B1447}"/>
              </a:ext>
            </a:extLst>
          </p:cNvPr>
          <p:cNvSpPr/>
          <p:nvPr/>
        </p:nvSpPr>
        <p:spPr>
          <a:xfrm>
            <a:off x="6462936" y="2243719"/>
            <a:ext cx="1743670" cy="214991"/>
          </a:xfrm>
          <a:prstGeom prst="roundRect">
            <a:avLst>
              <a:gd name="adj" fmla="val 1260"/>
            </a:avLst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직접적인 학습 유도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9AEABC69-38AC-D82D-AABE-181A367E6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2044" y="2524424"/>
            <a:ext cx="2373772" cy="3037605"/>
          </a:xfrm>
          <a:prstGeom prst="rect">
            <a:avLst/>
          </a:prstGeom>
          <a:ln>
            <a:solidFill>
              <a:srgbClr val="3EC2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BC74EBD9-9E4C-0417-A67C-E7F98B4693B5}"/>
              </a:ext>
            </a:extLst>
          </p:cNvPr>
          <p:cNvSpPr/>
          <p:nvPr/>
        </p:nvSpPr>
        <p:spPr>
          <a:xfrm>
            <a:off x="8842413" y="4547831"/>
            <a:ext cx="504000" cy="141522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모서리가 둥근 사각형 설명선 24">
            <a:extLst>
              <a:ext uri="{FF2B5EF4-FFF2-40B4-BE49-F238E27FC236}">
                <a16:creationId xmlns:a16="http://schemas.microsoft.com/office/drawing/2014/main" id="{B28BAA68-73EE-50F7-B706-2CEE12D2E0CF}"/>
              </a:ext>
            </a:extLst>
          </p:cNvPr>
          <p:cNvSpPr/>
          <p:nvPr/>
        </p:nvSpPr>
        <p:spPr>
          <a:xfrm>
            <a:off x="9151397" y="4048753"/>
            <a:ext cx="1747125" cy="341949"/>
          </a:xfrm>
          <a:prstGeom prst="wedgeRoundRectCallout">
            <a:avLst>
              <a:gd name="adj1" fmla="val -46547"/>
              <a:gd name="adj2" fmla="val 87793"/>
              <a:gd name="adj3" fmla="val 16667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</a:t>
            </a:r>
            <a:r>
              <a:rPr lang="ko-KR" altLang="en-US" sz="105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사 모바일 연수원 내 연동</a:t>
            </a:r>
          </a:p>
        </p:txBody>
      </p:sp>
      <p:sp>
        <p:nvSpPr>
          <p:cNvPr id="20" name="모서리가 둥근 직사각형 27">
            <a:extLst>
              <a:ext uri="{FF2B5EF4-FFF2-40B4-BE49-F238E27FC236}">
                <a16:creationId xmlns:a16="http://schemas.microsoft.com/office/drawing/2014/main" id="{BF26710C-0D46-FE08-8AF2-B54E3C6BC47B}"/>
              </a:ext>
            </a:extLst>
          </p:cNvPr>
          <p:cNvSpPr/>
          <p:nvPr/>
        </p:nvSpPr>
        <p:spPr>
          <a:xfrm>
            <a:off x="9089375" y="2244097"/>
            <a:ext cx="1743669" cy="214991"/>
          </a:xfrm>
          <a:prstGeom prst="roundRect">
            <a:avLst>
              <a:gd name="adj" fmla="val 1260"/>
            </a:avLst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모바일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연수원 연동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6920BE4-9CB6-A7A6-650C-364B443DF3A6}"/>
              </a:ext>
            </a:extLst>
          </p:cNvPr>
          <p:cNvGrpSpPr/>
          <p:nvPr/>
        </p:nvGrpSpPr>
        <p:grpSpPr>
          <a:xfrm>
            <a:off x="1006184" y="2534996"/>
            <a:ext cx="2249362" cy="3027515"/>
            <a:chOff x="1006184" y="2534996"/>
            <a:chExt cx="2249362" cy="317210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04FA565-3695-88CC-05E4-2C5C46DA4F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22" b="7679"/>
            <a:stretch/>
          </p:blipFill>
          <p:spPr>
            <a:xfrm>
              <a:off x="1006184" y="2534996"/>
              <a:ext cx="2249362" cy="3172101"/>
            </a:xfrm>
            <a:prstGeom prst="rect">
              <a:avLst/>
            </a:prstGeom>
            <a:ln>
              <a:solidFill>
                <a:srgbClr val="3EC2FF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B32F4D58-FCAC-5E54-9006-B34E56AD7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199" t="377" r="79046" b="93709"/>
            <a:stretch/>
          </p:blipFill>
          <p:spPr>
            <a:xfrm>
              <a:off x="2611724" y="2562298"/>
              <a:ext cx="610914" cy="243592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45715D-4C02-F3CA-C825-B7EB333D0A29}"/>
              </a:ext>
            </a:extLst>
          </p:cNvPr>
          <p:cNvSpPr/>
          <p:nvPr/>
        </p:nvSpPr>
        <p:spPr>
          <a:xfrm>
            <a:off x="1006183" y="5671427"/>
            <a:ext cx="10179633" cy="6336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tIns="0" bIns="0" numCol="1" rtlCol="0" anchor="ctr" anchorCtr="0"/>
          <a:lstStyle/>
          <a:p>
            <a:pPr marL="171450" indent="-171450" latinLnBrk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사용자 학습 편의성을 고려한 직관적 인터페이스의 어플리케이션 제공</a:t>
            </a:r>
            <a:endParaRPr lang="en-US" altLang="ko-KR" sz="11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1450" indent="-171450" latinLnBrk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알파코 모바일 어플리케이션 </a:t>
            </a:r>
            <a:r>
              <a:rPr lang="en-US" altLang="ko-KR" sz="1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</a:t>
            </a:r>
            <a:r>
              <a:rPr lang="ko-KR" altLang="en-US" sz="1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전자도서관</a:t>
            </a:r>
            <a:r>
              <a:rPr lang="en-US" altLang="ko-KR" sz="1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(e-book Library) </a:t>
            </a:r>
            <a:r>
              <a:rPr lang="ko-KR" altLang="en-US" sz="1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연결 버튼 지원</a:t>
            </a:r>
            <a:endParaRPr lang="en-US" altLang="ko-KR" sz="11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1450" indent="-171450" latinLnBrk="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모바일에서 제출한 과제와 아이디어게시판 연동 가능</a:t>
            </a:r>
            <a:endParaRPr lang="en-US" altLang="ko-KR" sz="11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9277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26396-91A7-1E90-E0CE-F547F4422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B75B43-D486-85E6-57B8-5393209EC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프로젝트 추진 단계별 상세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78A1F0-0DD5-D73C-DBAD-B4825B559FDE}"/>
              </a:ext>
            </a:extLst>
          </p:cNvPr>
          <p:cNvSpPr txBox="1"/>
          <p:nvPr/>
        </p:nvSpPr>
        <p:spPr>
          <a:xfrm>
            <a:off x="460433" y="1735975"/>
            <a:ext cx="5464958" cy="3185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수강신청에서 교육결과까지 한 눈에 확인 가능한 교육담당자용 페이지 제공</a:t>
            </a:r>
            <a:endParaRPr lang="en-US" altLang="ko-KR" sz="1300" dirty="0">
              <a:solidFill>
                <a:prstClr val="black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5D11E4-CE6E-1964-2EDC-6087A6C9BF67}"/>
              </a:ext>
            </a:extLst>
          </p:cNvPr>
          <p:cNvSpPr txBox="1"/>
          <p:nvPr/>
        </p:nvSpPr>
        <p:spPr>
          <a:xfrm>
            <a:off x="448698" y="1465750"/>
            <a:ext cx="3555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>
                <a:latin typeface="+mj-ea"/>
                <a:ea typeface="+mj-ea"/>
              </a:defRPr>
            </a:lvl1pPr>
          </a:lstStyle>
          <a:p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관리자 편의 사항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: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교육담당자 맞춤형 페이지</a:t>
            </a:r>
            <a:endParaRPr lang="ko-KR" altLang="en-US" sz="1200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40191B9-861D-B861-E84F-425CB05FA3F4}"/>
              </a:ext>
            </a:extLst>
          </p:cNvPr>
          <p:cNvCxnSpPr>
            <a:cxnSpLocks/>
          </p:cNvCxnSpPr>
          <p:nvPr/>
        </p:nvCxnSpPr>
        <p:spPr>
          <a:xfrm>
            <a:off x="515938" y="1754751"/>
            <a:ext cx="1119663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84DDE55-519C-47F1-0C92-CCB85955309B}"/>
              </a:ext>
            </a:extLst>
          </p:cNvPr>
          <p:cNvSpPr/>
          <p:nvPr/>
        </p:nvSpPr>
        <p:spPr>
          <a:xfrm>
            <a:off x="7997822" y="2147610"/>
            <a:ext cx="3293914" cy="419706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0" rtlCol="0" anchor="t"/>
          <a:lstStyle/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ko-KR" altLang="en-US" sz="10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교육 위탁계약서 출력 기능 제공</a:t>
            </a:r>
            <a:endParaRPr lang="en-US" altLang="ko-KR" sz="105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ko-KR" altLang="en-US" sz="10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교육 결과</a:t>
            </a:r>
            <a:r>
              <a:rPr lang="en-US" altLang="ko-KR" sz="10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/</a:t>
            </a:r>
            <a:r>
              <a:rPr lang="ko-KR" altLang="en-US" sz="10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설문현황 다운로드 가능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E87FE3A-E931-3AB9-69C8-A83B21B4C829}"/>
              </a:ext>
            </a:extLst>
          </p:cNvPr>
          <p:cNvSpPr/>
          <p:nvPr/>
        </p:nvSpPr>
        <p:spPr>
          <a:xfrm>
            <a:off x="4451082" y="2141089"/>
            <a:ext cx="3293914" cy="4197066"/>
          </a:xfrm>
          <a:prstGeom prst="roundRect">
            <a:avLst>
              <a:gd name="adj" fmla="val 105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0" rtlCol="0" anchor="t"/>
          <a:lstStyle/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ko-KR" altLang="en-US" sz="10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학습자</a:t>
            </a:r>
            <a:r>
              <a:rPr lang="en-US" altLang="ko-KR" sz="10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/</a:t>
            </a:r>
            <a:r>
              <a:rPr lang="ko-KR" altLang="en-US" sz="10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과정별 신청 현황 확인 가능</a:t>
            </a:r>
            <a:endParaRPr lang="en-US" altLang="ko-KR" sz="105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ko-KR" altLang="en-US" sz="10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실시간 교육 진행 현황 확인 가능</a:t>
            </a:r>
            <a:endParaRPr lang="en-US" altLang="ko-KR" sz="105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78B2637-FE92-E403-FB31-6A7D80921733}"/>
              </a:ext>
            </a:extLst>
          </p:cNvPr>
          <p:cNvSpPr/>
          <p:nvPr/>
        </p:nvSpPr>
        <p:spPr>
          <a:xfrm>
            <a:off x="900264" y="2141088"/>
            <a:ext cx="3293914" cy="4197066"/>
          </a:xfrm>
          <a:prstGeom prst="roundRect">
            <a:avLst>
              <a:gd name="adj" fmla="val 1753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0" rtlCol="0" anchor="t"/>
          <a:lstStyle/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ko-KR" altLang="en-US" sz="10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학습자 계정 정보 확인 가능</a:t>
            </a:r>
            <a:endParaRPr lang="en-US" altLang="ko-KR" sz="105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ko-KR" altLang="en-US" sz="10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수강생별 문자</a:t>
            </a:r>
            <a:r>
              <a:rPr lang="en-US" altLang="ko-KR" sz="10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/</a:t>
            </a:r>
            <a:r>
              <a:rPr lang="ko-KR" altLang="en-US" sz="105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메일발송 기능 제공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F133B5C-D8DD-564B-C275-61C93DC02801}"/>
              </a:ext>
            </a:extLst>
          </p:cNvPr>
          <p:cNvSpPr/>
          <p:nvPr/>
        </p:nvSpPr>
        <p:spPr>
          <a:xfrm>
            <a:off x="1000257" y="3077914"/>
            <a:ext cx="3052892" cy="217752"/>
          </a:xfrm>
          <a:prstGeom prst="rect">
            <a:avLst/>
          </a:prstGeom>
          <a:solidFill>
            <a:srgbClr val="002060"/>
          </a:solidFill>
          <a:ln w="12700" algn="ctr">
            <a:noFill/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377"/>
            <a:r>
              <a:rPr lang="ko-KR" altLang="en-US" sz="12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교육생 계정관리 현황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1C92DC0D-D248-1133-2B97-66CD9642A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516" y="3304576"/>
            <a:ext cx="3036410" cy="122895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3C29B0AE-3AAD-1835-D726-300008797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599" y="3306463"/>
            <a:ext cx="3038524" cy="122706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9FB410A7-E074-4623-BD0E-1F627884E4ED}"/>
              </a:ext>
            </a:extLst>
          </p:cNvPr>
          <p:cNvSpPr/>
          <p:nvPr/>
        </p:nvSpPr>
        <p:spPr>
          <a:xfrm>
            <a:off x="8118333" y="3089939"/>
            <a:ext cx="3052893" cy="217752"/>
          </a:xfrm>
          <a:prstGeom prst="rect">
            <a:avLst/>
          </a:prstGeom>
          <a:solidFill>
            <a:srgbClr val="002060"/>
          </a:solidFill>
          <a:ln w="12700" algn="ctr">
            <a:noFill/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377"/>
            <a:r>
              <a:rPr lang="ko-KR" altLang="en-US" sz="12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교육위탁계약서 현황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5543458-F7FB-4071-5C0E-A260914D7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149" y="4884184"/>
            <a:ext cx="3036411" cy="130614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B0AE4FDC-36BE-EC5A-FD1D-635C98317AE3}"/>
              </a:ext>
            </a:extLst>
          </p:cNvPr>
          <p:cNvSpPr/>
          <p:nvPr/>
        </p:nvSpPr>
        <p:spPr>
          <a:xfrm>
            <a:off x="1009517" y="4659219"/>
            <a:ext cx="3052892" cy="227522"/>
          </a:xfrm>
          <a:prstGeom prst="rect">
            <a:avLst/>
          </a:prstGeom>
          <a:solidFill>
            <a:srgbClr val="0070C0"/>
          </a:solidFill>
          <a:ln w="12700" algn="ctr">
            <a:noFill/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377"/>
            <a:r>
              <a:rPr lang="ko-KR" altLang="en-US" sz="12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수강생 문자</a:t>
            </a:r>
            <a:r>
              <a:rPr lang="en-US" altLang="ko-KR" sz="12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/</a:t>
            </a:r>
            <a:r>
              <a:rPr lang="ko-KR" altLang="en-US" sz="12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메일 발송 기능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9332B42C-708B-EF10-7938-46B129509C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100" y="3285258"/>
            <a:ext cx="3038524" cy="126448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FBE1D297-BA94-E4C3-AD31-1FC52812B2C9}"/>
              </a:ext>
            </a:extLst>
          </p:cNvPr>
          <p:cNvSpPr/>
          <p:nvPr/>
        </p:nvSpPr>
        <p:spPr>
          <a:xfrm>
            <a:off x="4561834" y="3080201"/>
            <a:ext cx="3052892" cy="209649"/>
          </a:xfrm>
          <a:prstGeom prst="rect">
            <a:avLst/>
          </a:prstGeom>
          <a:solidFill>
            <a:srgbClr val="002060"/>
          </a:solidFill>
          <a:ln w="12700" algn="ctr">
            <a:noFill/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377"/>
            <a:r>
              <a:rPr lang="ko-KR" altLang="en-US" sz="12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과정별 신청 현황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C3F9C5CD-A163-7CA1-4A12-D1B8845CFD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1834" y="4871034"/>
            <a:ext cx="3038524" cy="130842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408645B3-4414-3D60-9132-28E810293349}"/>
              </a:ext>
            </a:extLst>
          </p:cNvPr>
          <p:cNvSpPr/>
          <p:nvPr/>
        </p:nvSpPr>
        <p:spPr>
          <a:xfrm>
            <a:off x="4554649" y="4650062"/>
            <a:ext cx="3052893" cy="217752"/>
          </a:xfrm>
          <a:prstGeom prst="rect">
            <a:avLst/>
          </a:prstGeom>
          <a:solidFill>
            <a:srgbClr val="0070C0"/>
          </a:solidFill>
          <a:ln w="12700" algn="ctr">
            <a:noFill/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377"/>
            <a:r>
              <a:rPr lang="ko-KR" altLang="en-US" sz="12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교육 진행 현황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A15EC226-BCDF-2474-E5AE-BE38F11D10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6574" y="4886127"/>
            <a:ext cx="3036411" cy="131335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8BDEB186-2475-1F41-99EF-D1682C9CCD31}"/>
              </a:ext>
            </a:extLst>
          </p:cNvPr>
          <p:cNvSpPr/>
          <p:nvPr/>
        </p:nvSpPr>
        <p:spPr>
          <a:xfrm>
            <a:off x="8120360" y="4668375"/>
            <a:ext cx="3052892" cy="217752"/>
          </a:xfrm>
          <a:prstGeom prst="rect">
            <a:avLst/>
          </a:prstGeom>
          <a:solidFill>
            <a:srgbClr val="0070C0"/>
          </a:solidFill>
          <a:ln w="12700" algn="ctr">
            <a:noFill/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377"/>
            <a:r>
              <a:rPr lang="ko-KR" altLang="en-US" sz="12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교육 결과</a:t>
            </a:r>
            <a:r>
              <a:rPr lang="en-US" altLang="ko-KR" sz="12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/</a:t>
            </a:r>
            <a:r>
              <a:rPr lang="ko-KR" altLang="en-US" sz="12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설문 현황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C543C98-3574-917A-B5CA-A5D4992A954F}"/>
              </a:ext>
            </a:extLst>
          </p:cNvPr>
          <p:cNvSpPr/>
          <p:nvPr/>
        </p:nvSpPr>
        <p:spPr>
          <a:xfrm>
            <a:off x="1255479" y="2285154"/>
            <a:ext cx="2583485" cy="2238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tIns="0" bIns="0" rtlCol="0" anchor="ctr" anchorCtr="0"/>
          <a:lstStyle/>
          <a:p>
            <a:pPr marL="0" marR="0" indent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1400" b="1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개강 초기를 위한</a:t>
            </a:r>
            <a:r>
              <a:rPr lang="en-US" altLang="ko-KR" sz="1400" b="1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!</a:t>
            </a:r>
            <a:endParaRPr lang="ko-KR" altLang="en-US" sz="1400" b="1" kern="1200" spc="0" noProof="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466B71F-A7EB-4563-5879-2A5F4FCE6D42}"/>
              </a:ext>
            </a:extLst>
          </p:cNvPr>
          <p:cNvSpPr/>
          <p:nvPr/>
        </p:nvSpPr>
        <p:spPr>
          <a:xfrm>
            <a:off x="4806297" y="2294604"/>
            <a:ext cx="2583485" cy="2238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tIns="0" bIns="0" rtlCol="0" anchor="ctr" anchorCtr="0"/>
          <a:lstStyle/>
          <a:p>
            <a:pPr marL="0" marR="0" indent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1400" b="1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중간 현황 확인을 위한</a:t>
            </a:r>
            <a:r>
              <a:rPr lang="en-US" altLang="ko-KR" sz="1400" b="1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!</a:t>
            </a:r>
            <a:endParaRPr lang="ko-KR" altLang="en-US" sz="1400" b="1" kern="1200" spc="0" noProof="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4E45961-C4BE-9E92-137C-4CB2BD17137F}"/>
              </a:ext>
            </a:extLst>
          </p:cNvPr>
          <p:cNvSpPr/>
          <p:nvPr/>
        </p:nvSpPr>
        <p:spPr>
          <a:xfrm>
            <a:off x="8353037" y="2294248"/>
            <a:ext cx="2583485" cy="2238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tIns="0" bIns="0" rtlCol="0" anchor="ctr" anchorCtr="0"/>
          <a:lstStyle/>
          <a:p>
            <a:pPr marL="0" marR="0" indent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1400" b="1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교육 마무리를 위한</a:t>
            </a:r>
            <a:r>
              <a:rPr lang="en-US" altLang="ko-KR" sz="1400" b="1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!</a:t>
            </a:r>
            <a:endParaRPr lang="ko-KR" altLang="en-US" sz="1400" b="1" kern="1200" spc="0" noProof="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48684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B47A6-5A74-8E52-8E44-A6B258868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F8013E-AEC6-214F-1EBD-ED24CDB66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프로젝트 추진 단계별 상세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CF0B729-11F3-85F3-74DD-6957D92DC696}"/>
              </a:ext>
            </a:extLst>
          </p:cNvPr>
          <p:cNvSpPr txBox="1"/>
          <p:nvPr/>
        </p:nvSpPr>
        <p:spPr>
          <a:xfrm>
            <a:off x="7026331" y="1649988"/>
            <a:ext cx="388600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풍부한 경험을 보유한 전담 운영그룹 확보 및 관리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2888B22D-6D99-BE73-13F9-977FDD1B1894}"/>
              </a:ext>
            </a:extLst>
          </p:cNvPr>
          <p:cNvCxnSpPr>
            <a:cxnSpLocks/>
          </p:cNvCxnSpPr>
          <p:nvPr/>
        </p:nvCxnSpPr>
        <p:spPr>
          <a:xfrm>
            <a:off x="6597091" y="1999136"/>
            <a:ext cx="474447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EAA1AC7F-0CA1-787F-1DEF-47176696F046}"/>
              </a:ext>
            </a:extLst>
          </p:cNvPr>
          <p:cNvSpPr txBox="1"/>
          <p:nvPr/>
        </p:nvSpPr>
        <p:spPr>
          <a:xfrm>
            <a:off x="7086445" y="2014375"/>
            <a:ext cx="376577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j-cs"/>
              </a:rPr>
              <a:t>On &amp; Offline </a:t>
            </a:r>
            <a:r>
              <a:rPr lang="ko-KR" altLang="en-US" sz="13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j-cs"/>
              </a:rPr>
              <a:t>운영관리 전문가 집단 퀄리티 컨트롤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798746-6111-450F-23C3-1E095DD5BC9E}"/>
              </a:ext>
            </a:extLst>
          </p:cNvPr>
          <p:cNvSpPr txBox="1"/>
          <p:nvPr/>
        </p:nvSpPr>
        <p:spPr>
          <a:xfrm>
            <a:off x="782973" y="1649988"/>
            <a:ext cx="454002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VOC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대응 시스템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Multi-Channel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문제해결 시스템 구축</a:t>
            </a:r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j-cs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8C76872D-9CEB-55A2-1EB8-BF1EE4B7817B}"/>
              </a:ext>
            </a:extLst>
          </p:cNvPr>
          <p:cNvCxnSpPr>
            <a:cxnSpLocks/>
          </p:cNvCxnSpPr>
          <p:nvPr/>
        </p:nvCxnSpPr>
        <p:spPr>
          <a:xfrm>
            <a:off x="680745" y="1999136"/>
            <a:ext cx="474447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197FCC1-E455-E864-AEC5-04CAE6BEB3EA}"/>
              </a:ext>
            </a:extLst>
          </p:cNvPr>
          <p:cNvSpPr txBox="1"/>
          <p:nvPr/>
        </p:nvSpPr>
        <p:spPr>
          <a:xfrm>
            <a:off x="1524832" y="2014375"/>
            <a:ext cx="324159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j-cs"/>
              </a:rPr>
              <a:t>학습자 만족도 증대를 통한 학습효과 극대화</a:t>
            </a:r>
          </a:p>
        </p:txBody>
      </p:sp>
      <p:pic>
        <p:nvPicPr>
          <p:cNvPr id="138" name="그림 137" descr="창의성, 실루엣, 흑백, 예술이(가) 표시된 사진&#10;&#10;자동 생성된 설명">
            <a:extLst>
              <a:ext uri="{FF2B5EF4-FFF2-40B4-BE49-F238E27FC236}">
                <a16:creationId xmlns:a16="http://schemas.microsoft.com/office/drawing/2014/main" id="{CAFB81D6-7F4B-ACF0-C99C-938F947627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1606511" y="3028479"/>
            <a:ext cx="2887152" cy="67902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B853438-6810-3A12-AC9E-94BC57E22D15}"/>
              </a:ext>
            </a:extLst>
          </p:cNvPr>
          <p:cNvSpPr/>
          <p:nvPr/>
        </p:nvSpPr>
        <p:spPr>
          <a:xfrm>
            <a:off x="1898945" y="5632062"/>
            <a:ext cx="3520483" cy="6768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ko-KR" altLang="en-US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196C9FB4-8C4E-D7C0-65F9-7B856A09838B}"/>
              </a:ext>
            </a:extLst>
          </p:cNvPr>
          <p:cNvSpPr/>
          <p:nvPr/>
        </p:nvSpPr>
        <p:spPr>
          <a:xfrm>
            <a:off x="742433" y="5220764"/>
            <a:ext cx="4556248" cy="197563"/>
          </a:xfrm>
          <a:prstGeom prst="roundRect">
            <a:avLst>
              <a:gd name="adj" fmla="val 0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ko-KR" altLang="en-US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D3684C5-CCDB-2401-0F28-36938A196B58}"/>
              </a:ext>
            </a:extLst>
          </p:cNvPr>
          <p:cNvSpPr txBox="1"/>
          <p:nvPr/>
        </p:nvSpPr>
        <p:spPr>
          <a:xfrm>
            <a:off x="742433" y="5218307"/>
            <a:ext cx="1932940" cy="2171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학습자 질의 </a:t>
            </a:r>
            <a:r>
              <a:rPr lang="en-US" altLang="ko-KR" sz="10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/ </a:t>
            </a:r>
            <a:r>
              <a:rPr lang="ko-KR" altLang="en-US" sz="10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상담 </a:t>
            </a:r>
            <a:r>
              <a:rPr lang="en-US" altLang="ko-KR" sz="10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FAQ DB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4D49E68-DEBF-BBD8-CFF3-88F93A7214A0}"/>
              </a:ext>
            </a:extLst>
          </p:cNvPr>
          <p:cNvSpPr txBox="1"/>
          <p:nvPr/>
        </p:nvSpPr>
        <p:spPr>
          <a:xfrm>
            <a:off x="2944430" y="5218307"/>
            <a:ext cx="2354251" cy="2171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VOC</a:t>
            </a:r>
            <a:r>
              <a:rPr lang="ko-KR" altLang="en-US" sz="10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분류 시스템을 통한 자동 필터링</a:t>
            </a:r>
            <a:endParaRPr lang="en-US" altLang="ko-KR" sz="10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pic>
        <p:nvPicPr>
          <p:cNvPr id="10" name="그래픽 9" descr="강의실 단색으로 채워진">
            <a:extLst>
              <a:ext uri="{FF2B5EF4-FFF2-40B4-BE49-F238E27FC236}">
                <a16:creationId xmlns:a16="http://schemas.microsoft.com/office/drawing/2014/main" id="{EAEE6F24-B993-34AB-7A76-B677A542B1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48166" y="5824852"/>
            <a:ext cx="244750" cy="219879"/>
          </a:xfrm>
          <a:prstGeom prst="rect">
            <a:avLst/>
          </a:prstGeom>
        </p:spPr>
      </p:pic>
      <p:pic>
        <p:nvPicPr>
          <p:cNvPr id="11" name="그래픽 10" descr="도움말 단색으로 채워진">
            <a:extLst>
              <a:ext uri="{FF2B5EF4-FFF2-40B4-BE49-F238E27FC236}">
                <a16:creationId xmlns:a16="http://schemas.microsoft.com/office/drawing/2014/main" id="{E465B460-24F8-B373-DF57-7F197EFD3E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4095" y="5824852"/>
            <a:ext cx="244750" cy="219879"/>
          </a:xfrm>
          <a:prstGeom prst="rect">
            <a:avLst/>
          </a:prstGeom>
        </p:spPr>
      </p:pic>
      <p:pic>
        <p:nvPicPr>
          <p:cNvPr id="12" name="그래픽 11" descr="전자 메일 단색으로 채워진">
            <a:extLst>
              <a:ext uri="{FF2B5EF4-FFF2-40B4-BE49-F238E27FC236}">
                <a16:creationId xmlns:a16="http://schemas.microsoft.com/office/drawing/2014/main" id="{3468559B-F5A7-9447-D78D-2572743E74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20142" y="5824852"/>
            <a:ext cx="244750" cy="219879"/>
          </a:xfrm>
          <a:prstGeom prst="rect">
            <a:avLst/>
          </a:prstGeom>
        </p:spPr>
      </p:pic>
      <p:pic>
        <p:nvPicPr>
          <p:cNvPr id="20" name="그래픽 19" descr="수신기 단색으로 채워진">
            <a:extLst>
              <a:ext uri="{FF2B5EF4-FFF2-40B4-BE49-F238E27FC236}">
                <a16:creationId xmlns:a16="http://schemas.microsoft.com/office/drawing/2014/main" id="{040F0282-A732-6B2E-81B4-24B0F11454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92119" y="5824852"/>
            <a:ext cx="244750" cy="21987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7797AD0-5142-7FB6-AE1A-239351A600C2}"/>
              </a:ext>
            </a:extLst>
          </p:cNvPr>
          <p:cNvSpPr txBox="1"/>
          <p:nvPr/>
        </p:nvSpPr>
        <p:spPr>
          <a:xfrm>
            <a:off x="2065807" y="6043453"/>
            <a:ext cx="809467" cy="19741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ko-KR" altLang="en-US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 </a:t>
            </a:r>
            <a:r>
              <a:rPr lang="ko-KR" altLang="en-US" sz="9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질문방</a:t>
            </a:r>
            <a:endParaRPr lang="ko-KR" altLang="en-US" sz="9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C24C14-50B3-3898-DD9C-FDD5B379EDCB}"/>
              </a:ext>
            </a:extLst>
          </p:cNvPr>
          <p:cNvSpPr txBox="1"/>
          <p:nvPr/>
        </p:nvSpPr>
        <p:spPr>
          <a:xfrm>
            <a:off x="2837783" y="6043452"/>
            <a:ext cx="809467" cy="19741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E-MAIL</a:t>
            </a:r>
            <a:endParaRPr lang="ko-KR" altLang="en-US" sz="9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0330B3-4B85-9C7F-5204-6D91639B64F3}"/>
              </a:ext>
            </a:extLst>
          </p:cNvPr>
          <p:cNvSpPr txBox="1"/>
          <p:nvPr/>
        </p:nvSpPr>
        <p:spPr>
          <a:xfrm>
            <a:off x="3647250" y="6043452"/>
            <a:ext cx="809467" cy="19741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ko-KR" altLang="en-US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전화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A4B3E9-733F-ABB1-8BB6-7987058C558D}"/>
              </a:ext>
            </a:extLst>
          </p:cNvPr>
          <p:cNvSpPr txBox="1"/>
          <p:nvPr/>
        </p:nvSpPr>
        <p:spPr>
          <a:xfrm>
            <a:off x="4381736" y="6043452"/>
            <a:ext cx="809467" cy="19741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Q&amp;A</a:t>
            </a:r>
            <a:endParaRPr lang="ko-KR" altLang="en-US" sz="9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E6847B-8937-AA29-31D8-7B021CACA710}"/>
              </a:ext>
            </a:extLst>
          </p:cNvPr>
          <p:cNvSpPr txBox="1"/>
          <p:nvPr/>
        </p:nvSpPr>
        <p:spPr>
          <a:xfrm>
            <a:off x="742433" y="5632063"/>
            <a:ext cx="952324" cy="676806"/>
          </a:xfrm>
          <a:prstGeom prst="rect">
            <a:avLst/>
          </a:prstGeom>
          <a:solidFill>
            <a:srgbClr val="00B0F0"/>
          </a:solidFill>
        </p:spPr>
        <p:txBody>
          <a:bodyPr wrap="none" rtlCol="0" anchor="ctr" anchorCtr="0">
            <a:no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학습자</a:t>
            </a:r>
            <a:endParaRPr lang="en-US" altLang="ko-KR" sz="1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질의사항 발생</a:t>
            </a:r>
          </a:p>
        </p:txBody>
      </p:sp>
      <p:sp>
        <p:nvSpPr>
          <p:cNvPr id="26" name="이등변 삼각형 25">
            <a:extLst>
              <a:ext uri="{FF2B5EF4-FFF2-40B4-BE49-F238E27FC236}">
                <a16:creationId xmlns:a16="http://schemas.microsoft.com/office/drawing/2014/main" id="{E7E9FEA3-397E-86C9-74CA-37B6C3F1E465}"/>
              </a:ext>
            </a:extLst>
          </p:cNvPr>
          <p:cNvSpPr/>
          <p:nvPr/>
        </p:nvSpPr>
        <p:spPr>
          <a:xfrm rot="5400000">
            <a:off x="1697811" y="5919345"/>
            <a:ext cx="198082" cy="102242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ko-KR" altLang="en-US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D6E9A60A-C4B3-61A3-60CA-C5149EC29E33}"/>
              </a:ext>
            </a:extLst>
          </p:cNvPr>
          <p:cNvSpPr/>
          <p:nvPr/>
        </p:nvSpPr>
        <p:spPr>
          <a:xfrm>
            <a:off x="2922970" y="5471013"/>
            <a:ext cx="220488" cy="91852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ko-KR" altLang="en-US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DD7CA5-708D-1D7B-3B3A-5C7B45DB5224}"/>
              </a:ext>
            </a:extLst>
          </p:cNvPr>
          <p:cNvSpPr txBox="1"/>
          <p:nvPr/>
        </p:nvSpPr>
        <p:spPr>
          <a:xfrm>
            <a:off x="3001806" y="5616317"/>
            <a:ext cx="1043876" cy="18425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[ Multi-Channel ]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0ADC1BBE-5E47-A9FD-6CA6-5F4130A170D5}"/>
              </a:ext>
            </a:extLst>
          </p:cNvPr>
          <p:cNvSpPr/>
          <p:nvPr/>
        </p:nvSpPr>
        <p:spPr>
          <a:xfrm>
            <a:off x="742433" y="4693444"/>
            <a:ext cx="1241196" cy="197563"/>
          </a:xfrm>
          <a:prstGeom prst="roundRect">
            <a:avLst>
              <a:gd name="adj" fmla="val 0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105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학습진행 전반</a:t>
            </a:r>
            <a:endParaRPr lang="en-US" altLang="ko-KR" sz="105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BA7680E3-D78C-FB64-A082-AAB2462A6539}"/>
              </a:ext>
            </a:extLst>
          </p:cNvPr>
          <p:cNvSpPr/>
          <p:nvPr/>
        </p:nvSpPr>
        <p:spPr>
          <a:xfrm>
            <a:off x="2167386" y="4693444"/>
            <a:ext cx="1687283" cy="197563"/>
          </a:xfrm>
          <a:prstGeom prst="roundRect">
            <a:avLst>
              <a:gd name="adj" fmla="val 0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105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학습내용</a:t>
            </a:r>
            <a:r>
              <a:rPr lang="en-US" altLang="ko-KR" sz="105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/</a:t>
            </a:r>
            <a:r>
              <a:rPr lang="ko-KR" altLang="en-US" sz="105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콘텐츠 관련</a:t>
            </a:r>
            <a:endParaRPr lang="en-US" altLang="ko-KR" sz="105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26F3EC7A-66BB-F934-68E5-741660FD3D76}"/>
              </a:ext>
            </a:extLst>
          </p:cNvPr>
          <p:cNvSpPr/>
          <p:nvPr/>
        </p:nvSpPr>
        <p:spPr>
          <a:xfrm>
            <a:off x="4038427" y="4693444"/>
            <a:ext cx="1241196" cy="197563"/>
          </a:xfrm>
          <a:prstGeom prst="roundRect">
            <a:avLst>
              <a:gd name="adj" fmla="val 0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105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 시스템 관련</a:t>
            </a:r>
            <a:endParaRPr lang="en-US" altLang="ko-KR" sz="105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B9656140-8732-BDDE-7A3E-420A2280B46C}"/>
              </a:ext>
            </a:extLst>
          </p:cNvPr>
          <p:cNvCxnSpPr>
            <a:cxnSpLocks/>
          </p:cNvCxnSpPr>
          <p:nvPr/>
        </p:nvCxnSpPr>
        <p:spPr>
          <a:xfrm flipH="1" flipV="1">
            <a:off x="3011028" y="4155983"/>
            <a:ext cx="9529" cy="536304"/>
          </a:xfrm>
          <a:prstGeom prst="straightConnector1">
            <a:avLst/>
          </a:prstGeom>
          <a:ln>
            <a:solidFill>
              <a:srgbClr val="009E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EB0A33E8-24D2-C4D1-203D-B44F7C65D603}"/>
              </a:ext>
            </a:extLst>
          </p:cNvPr>
          <p:cNvCxnSpPr>
            <a:cxnSpLocks/>
          </p:cNvCxnSpPr>
          <p:nvPr/>
        </p:nvCxnSpPr>
        <p:spPr>
          <a:xfrm rot="5400000">
            <a:off x="2187901" y="4074449"/>
            <a:ext cx="10304" cy="1647997"/>
          </a:xfrm>
          <a:prstGeom prst="bentConnector3">
            <a:avLst>
              <a:gd name="adj1" fmla="val 1800000"/>
            </a:avLst>
          </a:prstGeom>
          <a:ln>
            <a:solidFill>
              <a:srgbClr val="009E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E0B68417-A614-05D5-1F8B-0454C3ED3B91}"/>
              </a:ext>
            </a:extLst>
          </p:cNvPr>
          <p:cNvCxnSpPr>
            <a:cxnSpLocks/>
          </p:cNvCxnSpPr>
          <p:nvPr/>
        </p:nvCxnSpPr>
        <p:spPr>
          <a:xfrm rot="16200000" flipH="1">
            <a:off x="3835898" y="4074448"/>
            <a:ext cx="10304" cy="1647998"/>
          </a:xfrm>
          <a:prstGeom prst="bentConnector3">
            <a:avLst>
              <a:gd name="adj1" fmla="val 1800000"/>
            </a:avLst>
          </a:prstGeom>
          <a:ln>
            <a:solidFill>
              <a:srgbClr val="009E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019A2C2F-F4C1-3923-892E-D403B2ECD92F}"/>
              </a:ext>
            </a:extLst>
          </p:cNvPr>
          <p:cNvCxnSpPr>
            <a:cxnSpLocks/>
          </p:cNvCxnSpPr>
          <p:nvPr/>
        </p:nvCxnSpPr>
        <p:spPr>
          <a:xfrm flipV="1">
            <a:off x="1363030" y="4155983"/>
            <a:ext cx="0" cy="536304"/>
          </a:xfrm>
          <a:prstGeom prst="straightConnector1">
            <a:avLst/>
          </a:prstGeom>
          <a:ln>
            <a:solidFill>
              <a:srgbClr val="009E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1743879F-E301-57F0-BD99-47FCFFBE4D5D}"/>
              </a:ext>
            </a:extLst>
          </p:cNvPr>
          <p:cNvCxnSpPr>
            <a:cxnSpLocks/>
          </p:cNvCxnSpPr>
          <p:nvPr/>
        </p:nvCxnSpPr>
        <p:spPr>
          <a:xfrm flipV="1">
            <a:off x="4659024" y="4155983"/>
            <a:ext cx="0" cy="536304"/>
          </a:xfrm>
          <a:prstGeom prst="straightConnector1">
            <a:avLst/>
          </a:prstGeom>
          <a:ln>
            <a:solidFill>
              <a:srgbClr val="009E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98718AEA-70A2-04EC-2D6C-9341B073E965}"/>
              </a:ext>
            </a:extLst>
          </p:cNvPr>
          <p:cNvSpPr/>
          <p:nvPr/>
        </p:nvSpPr>
        <p:spPr>
          <a:xfrm>
            <a:off x="742433" y="3954260"/>
            <a:ext cx="4556248" cy="197563"/>
          </a:xfrm>
          <a:prstGeom prst="roundRect">
            <a:avLst>
              <a:gd name="adj" fmla="val 0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ko-KR" altLang="en-US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23410E24-33D1-0AEB-4188-1713550FDE90}"/>
              </a:ext>
            </a:extLst>
          </p:cNvPr>
          <p:cNvSpPr/>
          <p:nvPr/>
        </p:nvSpPr>
        <p:spPr>
          <a:xfrm>
            <a:off x="2167386" y="4355878"/>
            <a:ext cx="1687283" cy="197563"/>
          </a:xfrm>
          <a:prstGeom prst="roundRect">
            <a:avLst>
              <a:gd name="adj" fmla="val 0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105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강사</a:t>
            </a:r>
            <a:r>
              <a:rPr lang="en-US" altLang="ko-KR" sz="105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/</a:t>
            </a:r>
            <a:r>
              <a:rPr lang="ko-KR" altLang="en-US" sz="105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과정개발자 확인</a:t>
            </a:r>
            <a:endParaRPr lang="en-US" altLang="ko-KR" sz="105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0B7CBA0C-DCA0-D7B9-86CE-42931B87D2E0}"/>
              </a:ext>
            </a:extLst>
          </p:cNvPr>
          <p:cNvSpPr/>
          <p:nvPr/>
        </p:nvSpPr>
        <p:spPr>
          <a:xfrm>
            <a:off x="4038427" y="4351795"/>
            <a:ext cx="1241196" cy="197563"/>
          </a:xfrm>
          <a:prstGeom prst="roundRect">
            <a:avLst>
              <a:gd name="adj" fmla="val 0"/>
            </a:avLst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lang="ko-KR" altLang="en-US" sz="105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시스템 담당자 확인</a:t>
            </a:r>
            <a:endParaRPr lang="en-US" altLang="ko-KR" sz="105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CF72BED9-1928-12F4-84F7-229F4BE2AC40}"/>
              </a:ext>
            </a:extLst>
          </p:cNvPr>
          <p:cNvSpPr/>
          <p:nvPr/>
        </p:nvSpPr>
        <p:spPr>
          <a:xfrm>
            <a:off x="2922970" y="3803614"/>
            <a:ext cx="220488" cy="91852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ko-KR" altLang="en-US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FCC5FD3-6CA8-5943-6D31-7D6DA64DCC81}"/>
              </a:ext>
            </a:extLst>
          </p:cNvPr>
          <p:cNvSpPr/>
          <p:nvPr/>
        </p:nvSpPr>
        <p:spPr>
          <a:xfrm>
            <a:off x="742433" y="3257618"/>
            <a:ext cx="4556247" cy="461451"/>
          </a:xfrm>
          <a:prstGeom prst="rect">
            <a:avLst/>
          </a:prstGeom>
          <a:solidFill>
            <a:srgbClr val="F8F8F8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ko-KR" altLang="en-US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pic>
        <p:nvPicPr>
          <p:cNvPr id="54" name="그래픽 53" descr="강의실 단색으로 채워진">
            <a:extLst>
              <a:ext uri="{FF2B5EF4-FFF2-40B4-BE49-F238E27FC236}">
                <a16:creationId xmlns:a16="http://schemas.microsoft.com/office/drawing/2014/main" id="{610182A8-15C7-80A7-4B2E-54AC138936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8695" y="3272892"/>
            <a:ext cx="269057" cy="241716"/>
          </a:xfrm>
          <a:prstGeom prst="rect">
            <a:avLst/>
          </a:prstGeom>
        </p:spPr>
      </p:pic>
      <p:pic>
        <p:nvPicPr>
          <p:cNvPr id="55" name="그래픽 54" descr="도움말 단색으로 채워진">
            <a:extLst>
              <a:ext uri="{FF2B5EF4-FFF2-40B4-BE49-F238E27FC236}">
                <a16:creationId xmlns:a16="http://schemas.microsoft.com/office/drawing/2014/main" id="{924A0D59-54C9-FBDC-1D82-48BBF5C26D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39970" y="3272892"/>
            <a:ext cx="269057" cy="241716"/>
          </a:xfrm>
          <a:prstGeom prst="rect">
            <a:avLst/>
          </a:prstGeom>
        </p:spPr>
      </p:pic>
      <p:pic>
        <p:nvPicPr>
          <p:cNvPr id="56" name="그래픽 55" descr="전자 메일 단색으로 채워진">
            <a:extLst>
              <a:ext uri="{FF2B5EF4-FFF2-40B4-BE49-F238E27FC236}">
                <a16:creationId xmlns:a16="http://schemas.microsoft.com/office/drawing/2014/main" id="{027898D8-ED77-105A-2D3A-A3B61C63EB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5490" y="3272892"/>
            <a:ext cx="269057" cy="241716"/>
          </a:xfrm>
          <a:prstGeom prst="rect">
            <a:avLst/>
          </a:prstGeom>
        </p:spPr>
      </p:pic>
      <p:pic>
        <p:nvPicPr>
          <p:cNvPr id="57" name="그래픽 56" descr="수신기 단색으로 채워진">
            <a:extLst>
              <a:ext uri="{FF2B5EF4-FFF2-40B4-BE49-F238E27FC236}">
                <a16:creationId xmlns:a16="http://schemas.microsoft.com/office/drawing/2014/main" id="{9DF026F7-1CED-FC6F-BA14-890541827E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91323" y="3272892"/>
            <a:ext cx="269057" cy="241716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B204C20C-1043-14A6-1ED1-0F2BAE105F1B}"/>
              </a:ext>
            </a:extLst>
          </p:cNvPr>
          <p:cNvSpPr txBox="1"/>
          <p:nvPr/>
        </p:nvSpPr>
        <p:spPr>
          <a:xfrm>
            <a:off x="818293" y="3531588"/>
            <a:ext cx="889860" cy="19741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ko-KR" altLang="en-US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 </a:t>
            </a:r>
            <a:r>
              <a:rPr lang="ko-KR" altLang="en-US" sz="9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질문방</a:t>
            </a:r>
            <a:endParaRPr lang="ko-KR" altLang="en-US" sz="9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BC2C94E-158E-403E-A2DE-7891FB731DF5}"/>
              </a:ext>
            </a:extLst>
          </p:cNvPr>
          <p:cNvSpPr txBox="1"/>
          <p:nvPr/>
        </p:nvSpPr>
        <p:spPr>
          <a:xfrm>
            <a:off x="1625088" y="3531588"/>
            <a:ext cx="889860" cy="19741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E-MAIL</a:t>
            </a:r>
            <a:endParaRPr lang="ko-KR" altLang="en-US" sz="9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1695AA1-EFA5-A975-400A-B10B0BAA99DA}"/>
              </a:ext>
            </a:extLst>
          </p:cNvPr>
          <p:cNvSpPr txBox="1"/>
          <p:nvPr/>
        </p:nvSpPr>
        <p:spPr>
          <a:xfrm>
            <a:off x="3722136" y="3531588"/>
            <a:ext cx="889860" cy="19741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ko-KR" altLang="en-US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전화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ED61B30-4C5B-49BF-F988-3168A0A67949}"/>
              </a:ext>
            </a:extLst>
          </p:cNvPr>
          <p:cNvSpPr txBox="1"/>
          <p:nvPr/>
        </p:nvSpPr>
        <p:spPr>
          <a:xfrm>
            <a:off x="4529569" y="3531588"/>
            <a:ext cx="889860" cy="19741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Q&amp;A</a:t>
            </a:r>
            <a:endParaRPr lang="ko-KR" altLang="en-US" sz="9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48A2111-BD63-20C8-47FC-F59AAE3EC34C}"/>
              </a:ext>
            </a:extLst>
          </p:cNvPr>
          <p:cNvSpPr txBox="1"/>
          <p:nvPr/>
        </p:nvSpPr>
        <p:spPr>
          <a:xfrm>
            <a:off x="683615" y="3109005"/>
            <a:ext cx="3074425" cy="18425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Multi-Channel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pic>
        <p:nvPicPr>
          <p:cNvPr id="63" name="그래픽 62" descr="보내다 단색으로 채워진">
            <a:extLst>
              <a:ext uri="{FF2B5EF4-FFF2-40B4-BE49-F238E27FC236}">
                <a16:creationId xmlns:a16="http://schemas.microsoft.com/office/drawing/2014/main" id="{B13A15C0-68B0-0634-6416-11005E00342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83372" y="3273567"/>
            <a:ext cx="286069" cy="256999"/>
          </a:xfrm>
          <a:prstGeom prst="rect">
            <a:avLst/>
          </a:prstGeom>
        </p:spPr>
      </p:pic>
      <p:pic>
        <p:nvPicPr>
          <p:cNvPr id="64" name="그래픽 63" descr="봉투 단색으로 채워진">
            <a:extLst>
              <a:ext uri="{FF2B5EF4-FFF2-40B4-BE49-F238E27FC236}">
                <a16:creationId xmlns:a16="http://schemas.microsoft.com/office/drawing/2014/main" id="{D44728B7-2ED6-287E-C95C-515ED604A46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86394" y="3272892"/>
            <a:ext cx="286069" cy="256999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7BC92086-3B6C-5834-115C-AC52441F3824}"/>
              </a:ext>
            </a:extLst>
          </p:cNvPr>
          <p:cNvSpPr txBox="1"/>
          <p:nvPr/>
        </p:nvSpPr>
        <p:spPr>
          <a:xfrm>
            <a:off x="2387659" y="3531589"/>
            <a:ext cx="889860" cy="19741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SMS</a:t>
            </a:r>
            <a:endParaRPr lang="ko-KR" altLang="en-US" sz="9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68E22B1-8B23-8133-2073-9BAC3931724E}"/>
              </a:ext>
            </a:extLst>
          </p:cNvPr>
          <p:cNvSpPr txBox="1"/>
          <p:nvPr/>
        </p:nvSpPr>
        <p:spPr>
          <a:xfrm>
            <a:off x="3078316" y="3531589"/>
            <a:ext cx="889860" cy="19741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ko-KR" altLang="en-US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쪽지</a:t>
            </a: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C45C578F-160B-73DC-8831-4306C9962FF5}"/>
              </a:ext>
            </a:extLst>
          </p:cNvPr>
          <p:cNvCxnSpPr>
            <a:cxnSpLocks/>
          </p:cNvCxnSpPr>
          <p:nvPr/>
        </p:nvCxnSpPr>
        <p:spPr>
          <a:xfrm flipH="1" flipV="1">
            <a:off x="3011028" y="4885310"/>
            <a:ext cx="4764" cy="352164"/>
          </a:xfrm>
          <a:prstGeom prst="straightConnector1">
            <a:avLst/>
          </a:prstGeom>
          <a:ln>
            <a:solidFill>
              <a:srgbClr val="009EA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A3E683B9-178C-5866-0DE3-629E539D382D}"/>
              </a:ext>
            </a:extLst>
          </p:cNvPr>
          <p:cNvSpPr txBox="1"/>
          <p:nvPr/>
        </p:nvSpPr>
        <p:spPr>
          <a:xfrm>
            <a:off x="742433" y="3944466"/>
            <a:ext cx="2669303" cy="2171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학습자 질의 </a:t>
            </a:r>
            <a:r>
              <a:rPr lang="en-US" altLang="ko-KR" sz="10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/ </a:t>
            </a:r>
            <a:r>
              <a:rPr lang="ko-KR" altLang="en-US" sz="10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상담 </a:t>
            </a:r>
            <a:r>
              <a:rPr lang="en-US" altLang="ko-KR" sz="10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One Stop </a:t>
            </a:r>
            <a:r>
              <a:rPr lang="ko-KR" altLang="en-US" sz="10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처리</a:t>
            </a:r>
            <a:r>
              <a:rPr lang="en-US" altLang="ko-KR" sz="10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</a:t>
            </a:r>
            <a:r>
              <a:rPr lang="ko-KR" altLang="en-US" sz="10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운영자</a:t>
            </a:r>
            <a:r>
              <a:rPr lang="en-US" altLang="ko-KR" sz="10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C7424F4-2BF2-F582-96CB-0C01F6A831C9}"/>
              </a:ext>
            </a:extLst>
          </p:cNvPr>
          <p:cNvSpPr txBox="1"/>
          <p:nvPr/>
        </p:nvSpPr>
        <p:spPr>
          <a:xfrm>
            <a:off x="3308197" y="3947755"/>
            <a:ext cx="1990483" cy="21057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/>
            <a:r>
              <a:rPr lang="ko-KR" altLang="en-US" sz="10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문제해결 후 </a:t>
            </a:r>
            <a:r>
              <a:rPr lang="en-US" altLang="ko-KR" sz="10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24</a:t>
            </a:r>
            <a:r>
              <a:rPr lang="ko-KR" altLang="en-US" sz="10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시간 이내 피드백</a:t>
            </a:r>
            <a:endParaRPr lang="en-US" altLang="ko-KR" sz="10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985FBEB6-08CA-3702-4DC1-F71EA9DCDC17}"/>
              </a:ext>
            </a:extLst>
          </p:cNvPr>
          <p:cNvGrpSpPr/>
          <p:nvPr/>
        </p:nvGrpSpPr>
        <p:grpSpPr>
          <a:xfrm>
            <a:off x="680745" y="2649931"/>
            <a:ext cx="4738684" cy="332398"/>
            <a:chOff x="680745" y="2362717"/>
            <a:chExt cx="4738684" cy="359093"/>
          </a:xfrm>
        </p:grpSpPr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87DB8050-8BD4-1AAA-5288-1BE34C6040C5}"/>
                </a:ext>
              </a:extLst>
            </p:cNvPr>
            <p:cNvSpPr/>
            <p:nvPr/>
          </p:nvSpPr>
          <p:spPr>
            <a:xfrm>
              <a:off x="680745" y="2362717"/>
              <a:ext cx="1100963" cy="35909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사전예방</a:t>
              </a: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17DDBC05-B63B-8D28-1510-119CA59272A3}"/>
                </a:ext>
              </a:extLst>
            </p:cNvPr>
            <p:cNvSpPr/>
            <p:nvPr/>
          </p:nvSpPr>
          <p:spPr>
            <a:xfrm>
              <a:off x="1893319" y="2362717"/>
              <a:ext cx="1100963" cy="35909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채널접근 용이성</a:t>
              </a:r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4EC54EC2-697A-1D92-3177-46F2A058EC2D}"/>
                </a:ext>
              </a:extLst>
            </p:cNvPr>
            <p:cNvSpPr/>
            <p:nvPr/>
          </p:nvSpPr>
          <p:spPr>
            <a:xfrm>
              <a:off x="3105892" y="2362717"/>
              <a:ext cx="1100963" cy="35909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응답 신속</a:t>
              </a:r>
              <a:endPara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en-US" altLang="ko-KR" sz="105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sz="105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학습장</a:t>
              </a:r>
              <a:r>
                <a:rPr lang="en-US" altLang="ko-KR" sz="105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endPara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FDA3AE32-0884-2559-9A42-BD2736F1906D}"/>
                </a:ext>
              </a:extLst>
            </p:cNvPr>
            <p:cNvSpPr/>
            <p:nvPr/>
          </p:nvSpPr>
          <p:spPr>
            <a:xfrm>
              <a:off x="4318466" y="2362717"/>
              <a:ext cx="1100963" cy="359093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응답 신속성</a:t>
              </a:r>
              <a:endParaRPr lang="en-US" altLang="ko-KR" sz="105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en-US" altLang="ko-KR" sz="105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sz="105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담당자</a:t>
              </a:r>
              <a:r>
                <a:rPr lang="en-US" altLang="ko-KR" sz="105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endParaRPr lang="ko-KR" altLang="en-US" sz="105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26099529-9583-F108-1B6B-113145847F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467999"/>
              </p:ext>
            </p:extLst>
          </p:nvPr>
        </p:nvGraphicFramePr>
        <p:xfrm>
          <a:off x="6230366" y="2691191"/>
          <a:ext cx="5685614" cy="35740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5638">
                  <a:extLst>
                    <a:ext uri="{9D8B030D-6E8A-4147-A177-3AD203B41FA5}">
                      <a16:colId xmlns:a16="http://schemas.microsoft.com/office/drawing/2014/main" val="2391644984"/>
                    </a:ext>
                  </a:extLst>
                </a:gridCol>
                <a:gridCol w="1221458">
                  <a:extLst>
                    <a:ext uri="{9D8B030D-6E8A-4147-A177-3AD203B41FA5}">
                      <a16:colId xmlns:a16="http://schemas.microsoft.com/office/drawing/2014/main" val="962331339"/>
                    </a:ext>
                  </a:extLst>
                </a:gridCol>
                <a:gridCol w="886958">
                  <a:extLst>
                    <a:ext uri="{9D8B030D-6E8A-4147-A177-3AD203B41FA5}">
                      <a16:colId xmlns:a16="http://schemas.microsoft.com/office/drawing/2014/main" val="1592376416"/>
                    </a:ext>
                  </a:extLst>
                </a:gridCol>
                <a:gridCol w="2941560">
                  <a:extLst>
                    <a:ext uri="{9D8B030D-6E8A-4147-A177-3AD203B41FA5}">
                      <a16:colId xmlns:a16="http://schemas.microsoft.com/office/drawing/2014/main" val="3298364467"/>
                    </a:ext>
                  </a:extLst>
                </a:gridCol>
              </a:tblGrid>
              <a:tr h="2533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직위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45711" marB="4571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담당 업무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45711" marB="4571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분야경력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45711" marB="4571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자격증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45711" marB="4571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707659"/>
                  </a:ext>
                </a:extLst>
              </a:tr>
              <a:tr h="316698">
                <a:tc>
                  <a:txBody>
                    <a:bodyPr/>
                    <a:lstStyle/>
                    <a:p>
                      <a:pPr marL="136525" marR="133985" algn="ctr" defTabSz="914400" rtl="0" eaLnBrk="1" latinLnBrk="1" hangingPunct="1">
                        <a:spcBef>
                          <a:spcPts val="100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나눔바른고딕" panose="020B0503020000020004" pitchFamily="50" charset="-127"/>
                        </a:rPr>
                        <a:t>실장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algn="ctr" defTabSz="914400" rtl="0" eaLnBrk="1" latinLnBrk="1" hangingPunct="1">
                        <a:spcBef>
                          <a:spcPts val="100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운영관리 총괄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algn="ctr" defTabSz="914400" rtl="0" eaLnBrk="1" latinLnBrk="1" hangingPunct="1">
                        <a:spcBef>
                          <a:spcPts val="1005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27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년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3985" indent="0" algn="l" defTabSz="914400" rtl="0" eaLnBrk="1" latinLnBrk="1" hangingPunct="1">
                        <a:spcBef>
                          <a:spcPts val="100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인적자원개발사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급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e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러닝지도사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급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</a:t>
                      </a:r>
                      <a:b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사회복지사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개인정보보호사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CS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리더스관리사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143432"/>
                  </a:ext>
                </a:extLst>
              </a:tr>
              <a:tr h="273094">
                <a:tc>
                  <a:txBody>
                    <a:bodyPr/>
                    <a:lstStyle/>
                    <a:p>
                      <a:pPr marL="136525" marR="133985" algn="ctr" defTabSz="914400" rtl="0" eaLnBrk="1" latinLnBrk="1" hangingPunct="1">
                        <a:spcBef>
                          <a:spcPts val="100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나눔바른고딕" panose="020B0503020000020004" pitchFamily="50" charset="-127"/>
                        </a:rPr>
                        <a:t>책임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algn="ctr" defTabSz="914400" rtl="0" eaLnBrk="1" latinLnBrk="1" hangingPunct="1">
                        <a:spcBef>
                          <a:spcPts val="100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나눔바른고딕" panose="020B0503020000020004" pitchFamily="50" charset="-127"/>
                        </a:rPr>
                        <a:t>전담 운영관리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algn="ctr" defTabSz="914400" rtl="0" eaLnBrk="1" latinLnBrk="1" hangingPunct="1">
                        <a:spcBef>
                          <a:spcPts val="1005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나눔바른고딕" panose="020B0503020000020004" pitchFamily="50" charset="-127"/>
                        </a:rPr>
                        <a:t>18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나눔바른고딕" panose="020B0503020000020004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3985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인적자원개발사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e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러닝지도사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급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7410746"/>
                  </a:ext>
                </a:extLst>
              </a:tr>
              <a:tr h="273094">
                <a:tc>
                  <a:txBody>
                    <a:bodyPr/>
                    <a:lstStyle/>
                    <a:p>
                      <a:pPr marL="136525" marR="133985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책임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운영관리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noProof="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9</a:t>
                      </a: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000" kern="1200" noProof="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11</a:t>
                      </a: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3985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인적자원과정개발사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급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개인정보보호사</a:t>
                      </a:r>
                      <a:endParaRPr lang="ko-KR" altLang="en-US" sz="1000" kern="1200" noProof="0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2510142"/>
                  </a:ext>
                </a:extLst>
              </a:tr>
              <a:tr h="273094">
                <a:tc>
                  <a:txBody>
                    <a:bodyPr/>
                    <a:lstStyle/>
                    <a:p>
                      <a:pPr marL="136525" marR="133985" algn="ctr" defTabSz="914400" rtl="0" eaLnBrk="1" latinLnBrk="1" hangingPunct="1">
                        <a:spcBef>
                          <a:spcPts val="100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나눔바른고딕" panose="020B0503020000020004" pitchFamily="50" charset="-127"/>
                        </a:rPr>
                        <a:t>선임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algn="ctr" defTabSz="914400" rtl="0" eaLnBrk="1" latinLnBrk="1" hangingPunct="1">
                        <a:spcBef>
                          <a:spcPts val="100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운영관리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algn="ctr" defTabSz="914400" rtl="0" eaLnBrk="1" latinLnBrk="1" hangingPunct="1">
                        <a:spcBef>
                          <a:spcPts val="1005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년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3985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인적자원개발사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e</a:t>
                      </a:r>
                      <a:r>
                        <a:rPr lang="ko-KR" altLang="ko-KR" sz="1000" dirty="0" err="1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러닝지도사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급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519580"/>
                  </a:ext>
                </a:extLst>
              </a:tr>
              <a:tr h="273094">
                <a:tc>
                  <a:txBody>
                    <a:bodyPr/>
                    <a:lstStyle/>
                    <a:p>
                      <a:pPr marL="136525" marR="133985" algn="ctr" defTabSz="914400" rtl="0" eaLnBrk="1" latinLnBrk="1" hangingPunct="1">
                        <a:spcBef>
                          <a:spcPts val="100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선임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운영관리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5</a:t>
                      </a:r>
                      <a:r>
                        <a:rPr kumimoji="0" lang="ko-KR" alt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년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3985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워드프로세서</a:t>
                      </a:r>
                      <a:r>
                        <a:rPr kumimoji="0" lang="en-US" altLang="ko-KR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kumimoji="0" lang="ko-KR" alt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컴퓨터활용능력 </a:t>
                      </a:r>
                      <a:r>
                        <a:rPr kumimoji="0" lang="en-US" altLang="ko-KR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1,2</a:t>
                      </a:r>
                      <a:r>
                        <a:rPr kumimoji="0" lang="ko-KR" alt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급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018552"/>
                  </a:ext>
                </a:extLst>
              </a:tr>
              <a:tr h="273094">
                <a:tc>
                  <a:txBody>
                    <a:bodyPr/>
                    <a:lstStyle/>
                    <a:p>
                      <a:pPr marL="136525" marR="133985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선임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운영관리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행정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8</a:t>
                      </a:r>
                      <a:r>
                        <a:rPr kumimoji="0" lang="ko-KR" alt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년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lvl="0" indent="-1365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CS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리더스관리사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716633"/>
                  </a:ext>
                </a:extLst>
              </a:tr>
              <a:tr h="273094">
                <a:tc>
                  <a:txBody>
                    <a:bodyPr/>
                    <a:lstStyle/>
                    <a:p>
                      <a:pPr marL="136525" marR="133985" algn="ctr" defTabSz="914400" rtl="0" eaLnBrk="1" latinLnBrk="1" hangingPunct="1">
                        <a:spcBef>
                          <a:spcPts val="100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책임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운영관리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 VOC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13</a:t>
                      </a:r>
                      <a:r>
                        <a:rPr kumimoji="0" lang="ko-KR" alt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년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3985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인적자원개발사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</a:t>
                      </a:r>
                      <a:r>
                        <a:rPr lang="ko-KR" altLang="ko-KR" sz="10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개인정보보호사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20604"/>
                  </a:ext>
                </a:extLst>
              </a:tr>
              <a:tr h="273094">
                <a:tc>
                  <a:txBody>
                    <a:bodyPr/>
                    <a:lstStyle/>
                    <a:p>
                      <a:pPr marL="136525" marR="133985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선임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운영관리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/VOC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6</a:t>
                      </a:r>
                      <a:r>
                        <a:rPr kumimoji="0" lang="ko-KR" alt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년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3985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개인정보보호사</a:t>
                      </a:r>
                      <a:endParaRPr lang="ko-KR" altLang="en-US" sz="1000" kern="1200" noProof="0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003535"/>
                  </a:ext>
                </a:extLst>
              </a:tr>
              <a:tr h="273094">
                <a:tc>
                  <a:txBody>
                    <a:bodyPr/>
                    <a:lstStyle/>
                    <a:p>
                      <a:pPr marL="136525" marR="133985" algn="ctr" defTabSz="914400" rtl="0" eaLnBrk="1" latinLnBrk="1" hangingPunct="1">
                        <a:spcBef>
                          <a:spcPts val="100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선임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algn="ctr" defTabSz="914400" rtl="0" eaLnBrk="1" latinLnBrk="1" hangingPunct="1">
                        <a:spcBef>
                          <a:spcPts val="100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운영관리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algn="ctr" defTabSz="914400" rtl="0" eaLnBrk="1" latinLnBrk="1" hangingPunct="1">
                        <a:spcBef>
                          <a:spcPts val="1005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6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3985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CS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리더스관리사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8420144"/>
                  </a:ext>
                </a:extLst>
              </a:tr>
              <a:tr h="273094">
                <a:tc>
                  <a:txBody>
                    <a:bodyPr/>
                    <a:lstStyle/>
                    <a:p>
                      <a:pPr marL="136525" marR="133985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선임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운영관리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noProof="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6</a:t>
                      </a: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000" kern="1200" noProof="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3</a:t>
                      </a: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3985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기업교육전문가</a:t>
                      </a:r>
                      <a:endParaRPr lang="ko-KR" altLang="en-US" sz="1000" kern="1200" noProof="0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184083"/>
                  </a:ext>
                </a:extLst>
              </a:tr>
              <a:tr h="273094">
                <a:tc>
                  <a:txBody>
                    <a:bodyPr/>
                    <a:lstStyle/>
                    <a:p>
                      <a:pPr marL="136525" marR="133985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선임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운영관리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noProof="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3</a:t>
                      </a: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3985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평생교육사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급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JLPT N1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급</a:t>
                      </a:r>
                      <a:endParaRPr lang="ko-KR" altLang="en-US" sz="1000" kern="1200" noProof="0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016010"/>
                  </a:ext>
                </a:extLst>
              </a:tr>
              <a:tr h="273094">
                <a:tc>
                  <a:txBody>
                    <a:bodyPr/>
                    <a:lstStyle/>
                    <a:p>
                      <a:pPr marL="136525" marR="133985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멘토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학습튜터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36525" marR="133985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noProof="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7</a:t>
                      </a: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년 이상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3985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0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학습 </a:t>
                      </a:r>
                      <a:r>
                        <a:rPr lang="ko-KR" altLang="en-US" sz="1000" kern="1200" noProof="0" dirty="0" err="1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튜터</a:t>
                      </a: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경험 </a:t>
                      </a:r>
                      <a:r>
                        <a:rPr lang="en-US" altLang="ko-KR" sz="1000" kern="1200" noProof="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60</a:t>
                      </a: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회 이상</a:t>
                      </a:r>
                      <a:endParaRPr lang="en-US" altLang="ko-KR" sz="1000" kern="1200" noProof="0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0406408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7797ABDC-19C2-D6B9-E294-270C66214BFB}"/>
              </a:ext>
            </a:extLst>
          </p:cNvPr>
          <p:cNvSpPr txBox="1"/>
          <p:nvPr/>
        </p:nvSpPr>
        <p:spPr>
          <a:xfrm>
            <a:off x="6109820" y="2400448"/>
            <a:ext cx="4895892" cy="267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동시 및 장기 차수 운영 경험</a:t>
            </a: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多</a:t>
            </a: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ㅣ 학습자 특성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100%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운영분야 전문 자격 보유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1804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E87609F-63E6-6CCB-50FE-E801EAD6E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프로젝트 추진 단계별 상세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61F2445-825D-E7D1-8D1D-EBEC043CF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186105"/>
              </p:ext>
            </p:extLst>
          </p:nvPr>
        </p:nvGraphicFramePr>
        <p:xfrm>
          <a:off x="569047" y="4595148"/>
          <a:ext cx="2411396" cy="14699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9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2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항목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107369" marR="107369" marT="53676" marB="53676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기준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107369" marR="107369" marT="53676" marB="5367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257">
                <a:tc>
                  <a:txBody>
                    <a:bodyPr/>
                    <a:lstStyle/>
                    <a:p>
                      <a:pPr marL="136525" marR="133985" algn="ctr" defTabSz="914400" rtl="0" eaLnBrk="1" latinLnBrk="1" hangingPunct="1">
                        <a:spcBef>
                          <a:spcPts val="100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경력</a:t>
                      </a:r>
                      <a:endParaRPr lang="ko-KR" sz="1000" dirty="0"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133985" indent="0" algn="l" defTabSz="914400" rtl="0" eaLnBrk="1" latinLnBrk="1" hangingPunct="1">
                        <a:spcBef>
                          <a:spcPts val="100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관련 경력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3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년 이상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257">
                <a:tc>
                  <a:txBody>
                    <a:bodyPr/>
                    <a:lstStyle/>
                    <a:p>
                      <a:pPr marL="136525" marR="133985" algn="ctr" defTabSz="914400" rtl="0" eaLnBrk="1" latinLnBrk="1" hangingPunct="1">
                        <a:spcBef>
                          <a:spcPts val="100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학력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133985" indent="0" algn="l" defTabSz="914400" rtl="0" eaLnBrk="1" latinLnBrk="1" hangingPunct="1">
                        <a:spcBef>
                          <a:spcPts val="100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해당분야 석사 이상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257">
                <a:tc>
                  <a:txBody>
                    <a:bodyPr/>
                    <a:lstStyle/>
                    <a:p>
                      <a:pPr marL="136525" marR="133985" algn="ctr" defTabSz="914400" rtl="0" eaLnBrk="1" latinLnBrk="1" hangingPunct="1">
                        <a:spcBef>
                          <a:spcPts val="100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자격증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marR="133985" indent="0" algn="l" defTabSz="914400" rtl="0" eaLnBrk="1" latinLnBrk="1" hangingPunct="1">
                        <a:spcBef>
                          <a:spcPts val="1005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직업능력훈련교사 자격증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나눔바른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08416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877AEC2-42D4-72F0-7BAB-C7466E42D91F}"/>
              </a:ext>
            </a:extLst>
          </p:cNvPr>
          <p:cNvSpPr txBox="1"/>
          <p:nvPr/>
        </p:nvSpPr>
        <p:spPr>
          <a:xfrm>
            <a:off x="5174114" y="1649988"/>
            <a:ext cx="18437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튜터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 선발 및 관리제도</a:t>
            </a:r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j-cs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C5FA1C7-2E94-10E1-7D69-EEEF0C7E388C}"/>
              </a:ext>
            </a:extLst>
          </p:cNvPr>
          <p:cNvCxnSpPr>
            <a:cxnSpLocks/>
          </p:cNvCxnSpPr>
          <p:nvPr/>
        </p:nvCxnSpPr>
        <p:spPr>
          <a:xfrm>
            <a:off x="2856000" y="1999136"/>
            <a:ext cx="64800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58E79A8-C209-1F0E-4DF6-07C9268638FF}"/>
              </a:ext>
            </a:extLst>
          </p:cNvPr>
          <p:cNvSpPr txBox="1"/>
          <p:nvPr/>
        </p:nvSpPr>
        <p:spPr>
          <a:xfrm>
            <a:off x="3137168" y="2037525"/>
            <a:ext cx="610295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j-cs"/>
              </a:rPr>
              <a:t>튜터들에</a:t>
            </a:r>
            <a:r>
              <a:rPr lang="ko-KR" altLang="en-US" sz="13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j-cs"/>
              </a:rPr>
              <a:t> 대한 상벌 제도 운영하고 철저한  </a:t>
            </a:r>
            <a:r>
              <a:rPr lang="ko-KR" altLang="en-US" sz="13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j-cs"/>
              </a:rPr>
              <a:t>튜터</a:t>
            </a:r>
            <a:r>
              <a:rPr lang="ko-KR" altLang="en-US" sz="13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j-cs"/>
              </a:rPr>
              <a:t> 선발 </a:t>
            </a:r>
            <a:r>
              <a:rPr lang="en-US" altLang="ko-KR" sz="13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j-cs"/>
              </a:rPr>
              <a:t>&amp; </a:t>
            </a:r>
            <a:r>
              <a:rPr lang="ko-KR" altLang="en-US" sz="13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j-cs"/>
              </a:rPr>
              <a:t>관리를 통해 평가품질 확보</a:t>
            </a:r>
            <a:endParaRPr lang="en-US" altLang="ko-KR" sz="13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j-cs"/>
            </a:endParaRPr>
          </a:p>
        </p:txBody>
      </p:sp>
      <p:sp>
        <p:nvSpPr>
          <p:cNvPr id="45" name="AutoShape 34">
            <a:extLst>
              <a:ext uri="{FF2B5EF4-FFF2-40B4-BE49-F238E27FC236}">
                <a16:creationId xmlns:a16="http://schemas.microsoft.com/office/drawing/2014/main" id="{951C68C8-384A-70CC-106D-58761A5EB64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76967" y="2661436"/>
            <a:ext cx="2769529" cy="3656536"/>
          </a:xfrm>
          <a:prstGeom prst="roundRect">
            <a:avLst>
              <a:gd name="adj" fmla="val 736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endParaRPr lang="ko-KR" altLang="en-US" sz="1400" kern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25C88B-435D-F144-A28C-E5D714E00860}"/>
              </a:ext>
            </a:extLst>
          </p:cNvPr>
          <p:cNvSpPr txBox="1"/>
          <p:nvPr/>
        </p:nvSpPr>
        <p:spPr>
          <a:xfrm>
            <a:off x="3435372" y="2911657"/>
            <a:ext cx="1402374" cy="352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latinLnBrk="1">
              <a:lnSpc>
                <a:spcPct val="130000"/>
              </a:lnSpc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1.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우수튜터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선정 기준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" name="AutoShape 34">
            <a:extLst>
              <a:ext uri="{FF2B5EF4-FFF2-40B4-BE49-F238E27FC236}">
                <a16:creationId xmlns:a16="http://schemas.microsoft.com/office/drawing/2014/main" id="{6FAAE9DC-17C6-70BF-B2EE-0C4C658661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9981" y="2661436"/>
            <a:ext cx="2769529" cy="3656536"/>
          </a:xfrm>
          <a:prstGeom prst="roundRect">
            <a:avLst>
              <a:gd name="adj" fmla="val 736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endParaRPr lang="ko-KR" altLang="en-US" sz="1400" kern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154AD2-344E-A6DA-D7B7-A90F089882C9}"/>
              </a:ext>
            </a:extLst>
          </p:cNvPr>
          <p:cNvSpPr txBox="1"/>
          <p:nvPr/>
        </p:nvSpPr>
        <p:spPr>
          <a:xfrm>
            <a:off x="485446" y="2911657"/>
            <a:ext cx="1138386" cy="352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latinLnBrk="1">
              <a:lnSpc>
                <a:spcPct val="130000"/>
              </a:lnSpc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1.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튜터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선발 기준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7" name="모서리가 둥근 직사각형 31">
            <a:extLst>
              <a:ext uri="{FF2B5EF4-FFF2-40B4-BE49-F238E27FC236}">
                <a16:creationId xmlns:a16="http://schemas.microsoft.com/office/drawing/2014/main" id="{76E59858-6955-8A8B-EFD8-C3FF5F1DA411}"/>
              </a:ext>
            </a:extLst>
          </p:cNvPr>
          <p:cNvSpPr/>
          <p:nvPr/>
        </p:nvSpPr>
        <p:spPr>
          <a:xfrm>
            <a:off x="749524" y="2511705"/>
            <a:ext cx="2050443" cy="300665"/>
          </a:xfrm>
          <a:prstGeom prst="roundRect">
            <a:avLst>
              <a:gd name="adj" fmla="val 1260"/>
            </a:avLst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튜터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선발 기준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385EBE-58F4-3287-3692-71FF5D760697}"/>
              </a:ext>
            </a:extLst>
          </p:cNvPr>
          <p:cNvSpPr txBox="1"/>
          <p:nvPr/>
        </p:nvSpPr>
        <p:spPr>
          <a:xfrm>
            <a:off x="614809" y="3259802"/>
            <a:ext cx="19552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고용노동부의 근로자 직업능력개발법에</a:t>
            </a:r>
          </a:p>
          <a:p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근거한 인정요건에 따라 선발</a:t>
            </a:r>
          </a:p>
        </p:txBody>
      </p:sp>
      <p:sp>
        <p:nvSpPr>
          <p:cNvPr id="47" name="모서리가 둥근 직사각형 31">
            <a:extLst>
              <a:ext uri="{FF2B5EF4-FFF2-40B4-BE49-F238E27FC236}">
                <a16:creationId xmlns:a16="http://schemas.microsoft.com/office/drawing/2014/main" id="{5DF9E6A5-1110-60F3-EC1C-F7D3B44D12DB}"/>
              </a:ext>
            </a:extLst>
          </p:cNvPr>
          <p:cNvSpPr/>
          <p:nvPr/>
        </p:nvSpPr>
        <p:spPr>
          <a:xfrm>
            <a:off x="3636510" y="2511705"/>
            <a:ext cx="2050443" cy="300665"/>
          </a:xfrm>
          <a:prstGeom prst="roundRect">
            <a:avLst>
              <a:gd name="adj" fmla="val 1260"/>
            </a:avLst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우수튜터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포상제도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626E774-A2FD-B4FA-EB5A-AC61FC04FFFC}"/>
              </a:ext>
            </a:extLst>
          </p:cNvPr>
          <p:cNvSpPr txBox="1"/>
          <p:nvPr/>
        </p:nvSpPr>
        <p:spPr>
          <a:xfrm>
            <a:off x="3428862" y="3276364"/>
            <a:ext cx="2489784" cy="1096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793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전월 평가 분 대상</a:t>
            </a:r>
          </a:p>
          <a:p>
            <a:pPr marL="171450" indent="-793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평가완료일 준수 </a:t>
            </a:r>
            <a:r>
              <a:rPr lang="ko-KR" altLang="en-US" sz="11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튜터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대상</a:t>
            </a:r>
          </a:p>
          <a:p>
            <a:pPr marL="171450" indent="-793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평가인원 약 </a:t>
            </a: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60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명</a:t>
            </a:r>
          </a:p>
          <a:p>
            <a:pPr marL="171450" indent="-793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선정된 </a:t>
            </a:r>
            <a:r>
              <a:rPr lang="ko-KR" altLang="en-US" sz="11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튜터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중 평가소견의 우수성    </a:t>
            </a:r>
          </a:p>
          <a:p>
            <a:pPr marL="92075">
              <a:lnSpc>
                <a:spcPct val="120000"/>
              </a:lnSpc>
            </a:pP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 여부 판단</a:t>
            </a: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모니터링점수</a:t>
            </a: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F3EE893-1E76-4B83-8102-9863F46CD25E}"/>
              </a:ext>
            </a:extLst>
          </p:cNvPr>
          <p:cNvSpPr txBox="1"/>
          <p:nvPr/>
        </p:nvSpPr>
        <p:spPr>
          <a:xfrm>
            <a:off x="3435372" y="4443972"/>
            <a:ext cx="1728622" cy="352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2.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우수튜터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포상 시행 기준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B86E87-9237-F7ED-8CB4-92FF4C58887B}"/>
              </a:ext>
            </a:extLst>
          </p:cNvPr>
          <p:cNvSpPr txBox="1"/>
          <p:nvPr/>
        </p:nvSpPr>
        <p:spPr>
          <a:xfrm>
            <a:off x="3428862" y="4808680"/>
            <a:ext cx="1884275" cy="1197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793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선정인원 </a:t>
            </a: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분기별 </a:t>
            </a: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10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명</a:t>
            </a:r>
          </a:p>
          <a:p>
            <a:pPr marL="171450" indent="-793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포상금 규모</a:t>
            </a:r>
          </a:p>
          <a:p>
            <a:pPr marL="92075">
              <a:lnSpc>
                <a:spcPct val="120000"/>
              </a:lnSpc>
            </a:pP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- 1~3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위</a:t>
            </a: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_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상품권 </a:t>
            </a: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50,000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원</a:t>
            </a: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+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도서</a:t>
            </a:r>
          </a:p>
          <a:p>
            <a:pPr marL="92075">
              <a:lnSpc>
                <a:spcPct val="120000"/>
              </a:lnSpc>
            </a:pP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- 3~6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위</a:t>
            </a: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_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상품권 </a:t>
            </a: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30,000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원</a:t>
            </a: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+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도서</a:t>
            </a:r>
          </a:p>
          <a:p>
            <a:pPr marL="92075">
              <a:lnSpc>
                <a:spcPct val="120000"/>
              </a:lnSpc>
            </a:pP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- 6~10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위</a:t>
            </a: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_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상품권 </a:t>
            </a: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10,000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원</a:t>
            </a: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+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도서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189A336-CED0-A070-EA60-9FFBB8C683EF}"/>
              </a:ext>
            </a:extLst>
          </p:cNvPr>
          <p:cNvGrpSpPr/>
          <p:nvPr/>
        </p:nvGrpSpPr>
        <p:grpSpPr>
          <a:xfrm>
            <a:off x="6163953" y="2511705"/>
            <a:ext cx="2769529" cy="3806267"/>
            <a:chOff x="6450542" y="2511705"/>
            <a:chExt cx="2843930" cy="3806267"/>
          </a:xfrm>
        </p:grpSpPr>
        <p:sp>
          <p:nvSpPr>
            <p:cNvPr id="49" name="AutoShape 34">
              <a:extLst>
                <a:ext uri="{FF2B5EF4-FFF2-40B4-BE49-F238E27FC236}">
                  <a16:creationId xmlns:a16="http://schemas.microsoft.com/office/drawing/2014/main" id="{4574346D-3EF8-3BB4-1A21-7D94384D18F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450542" y="2661436"/>
              <a:ext cx="2843930" cy="3656536"/>
            </a:xfrm>
            <a:prstGeom prst="roundRect">
              <a:avLst>
                <a:gd name="adj" fmla="val 736"/>
              </a:avLst>
            </a:prstGeom>
            <a:noFill/>
            <a:ln w="1270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285750" indent="-285750">
                <a:lnSpc>
                  <a:spcPct val="130000"/>
                </a:lnSpc>
                <a:buFont typeface="Wingdings" panose="05000000000000000000" pitchFamily="2" charset="2"/>
                <a:buChar char="ü"/>
              </a:pPr>
              <a:endParaRPr lang="ko-KR" altLang="en-US" sz="1400" kern="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모서리가 둥근 직사각형 31">
              <a:extLst>
                <a:ext uri="{FF2B5EF4-FFF2-40B4-BE49-F238E27FC236}">
                  <a16:creationId xmlns:a16="http://schemas.microsoft.com/office/drawing/2014/main" id="{957A1AA0-A5E6-3D24-B2B7-2BADAFE73AAF}"/>
                </a:ext>
              </a:extLst>
            </p:cNvPr>
            <p:cNvSpPr/>
            <p:nvPr/>
          </p:nvSpPr>
          <p:spPr>
            <a:xfrm>
              <a:off x="6819744" y="2511705"/>
              <a:ext cx="2105526" cy="300665"/>
            </a:xfrm>
            <a:prstGeom prst="roundRect">
              <a:avLst>
                <a:gd name="adj" fmla="val 1260"/>
              </a:avLst>
            </a:prstGeom>
            <a:solidFill>
              <a:schemeClr val="tx1">
                <a:lumMod val="85000"/>
                <a:lumOff val="1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삼진아웃 제도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7662FBF-6505-B5DD-6DAF-49D1CA7A8FBF}"/>
                </a:ext>
              </a:extLst>
            </p:cNvPr>
            <p:cNvSpPr txBox="1"/>
            <p:nvPr/>
          </p:nvSpPr>
          <p:spPr>
            <a:xfrm>
              <a:off x="6607099" y="2911657"/>
              <a:ext cx="1745651" cy="3520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latinLnBrk="1">
                <a:lnSpc>
                  <a:spcPct val="130000"/>
                </a:lnSpc>
              </a:pP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1. 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집중관리 </a:t>
              </a:r>
              <a:r>
                <a:rPr lang="ko-KR" altLang="en-US" sz="14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튜터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 선정 기준</a:t>
              </a:r>
              <a:endPara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A415679-3941-4CA5-FA76-3B6D0784B862}"/>
                </a:ext>
              </a:extLst>
            </p:cNvPr>
            <p:cNvSpPr txBox="1"/>
            <p:nvPr/>
          </p:nvSpPr>
          <p:spPr>
            <a:xfrm>
              <a:off x="6646578" y="3287939"/>
              <a:ext cx="2090893" cy="5757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79375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리포트 평가모니터링을 기준으로 </a:t>
              </a:r>
            </a:p>
            <a:p>
              <a:pPr marL="171450" indent="-79375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</a:t>
              </a:r>
              <a:r>
                <a:rPr lang="en-US" altLang="ko-KR" sz="110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3</a:t>
              </a:r>
              <a:r>
                <a:rPr lang="ko-KR" altLang="en-US" sz="110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회 연속 평가항목 </a:t>
              </a:r>
              <a:r>
                <a:rPr lang="en-US" altLang="ko-KR" sz="110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[C]</a:t>
              </a:r>
              <a:r>
                <a:rPr lang="ko-KR" altLang="en-US" sz="110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이하 대상 </a:t>
              </a:r>
              <a:r>
                <a:rPr lang="ko-KR" altLang="en-US" sz="1100" dirty="0" err="1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튜터</a:t>
              </a:r>
              <a:endPara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22D7805-6EF7-EED7-59DE-7EC19FC959FA}"/>
                </a:ext>
              </a:extLst>
            </p:cNvPr>
            <p:cNvSpPr txBox="1"/>
            <p:nvPr/>
          </p:nvSpPr>
          <p:spPr>
            <a:xfrm>
              <a:off x="6607099" y="4443972"/>
              <a:ext cx="1604996" cy="3520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latinLnBrk="1">
                <a:lnSpc>
                  <a:spcPct val="130000"/>
                </a:lnSpc>
              </a:pPr>
              <a:r>
                <a:rPr lang="en-US" altLang="ko-KR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2. </a:t>
              </a:r>
              <a:r>
                <a:rPr lang="ko-KR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삼진아웃제 시행 기준</a:t>
              </a:r>
              <a:endPara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496DDD6-BED3-C8EF-47C1-571AE82B688F}"/>
                </a:ext>
              </a:extLst>
            </p:cNvPr>
            <p:cNvSpPr txBox="1"/>
            <p:nvPr/>
          </p:nvSpPr>
          <p:spPr>
            <a:xfrm>
              <a:off x="6717892" y="4808680"/>
              <a:ext cx="1913157" cy="13374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79375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집중관리 </a:t>
              </a:r>
              <a:r>
                <a:rPr lang="ko-KR" altLang="en-US" sz="1100" dirty="0" err="1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튜터로</a:t>
              </a:r>
              <a:r>
                <a:rPr lang="ko-KR" altLang="en-US" sz="110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</a:t>
              </a:r>
              <a:r>
                <a:rPr lang="en-US" altLang="ko-KR" sz="110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1</a:t>
              </a:r>
              <a:r>
                <a:rPr lang="ko-KR" altLang="en-US" sz="110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회 이상 선정 시</a:t>
              </a:r>
            </a:p>
            <a:p>
              <a:pPr marL="92075">
                <a:lnSpc>
                  <a:spcPct val="150000"/>
                </a:lnSpc>
              </a:pPr>
              <a:r>
                <a:rPr lang="ko-KR" altLang="en-US" sz="110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  </a:t>
              </a:r>
              <a:r>
                <a:rPr lang="en-US" altLang="ko-KR" sz="110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- </a:t>
              </a:r>
              <a:r>
                <a:rPr lang="ko-KR" altLang="en-US" sz="110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평가가이드 재교육 실시</a:t>
              </a:r>
            </a:p>
            <a:p>
              <a:pPr marL="92075">
                <a:lnSpc>
                  <a:spcPct val="150000"/>
                </a:lnSpc>
              </a:pPr>
              <a:r>
                <a:rPr lang="ko-KR" altLang="en-US" sz="110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  </a:t>
              </a:r>
              <a:r>
                <a:rPr lang="en-US" altLang="ko-KR" sz="110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- </a:t>
              </a:r>
              <a:r>
                <a:rPr lang="ko-KR" altLang="en-US" sz="110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평가 품질 개선 수시 모니터링</a:t>
              </a:r>
            </a:p>
            <a:p>
              <a:pPr marL="171450" indent="-79375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집중관리 </a:t>
              </a:r>
              <a:r>
                <a:rPr lang="ko-KR" altLang="en-US" sz="1100" dirty="0" err="1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튜터로</a:t>
              </a:r>
              <a:r>
                <a:rPr lang="ko-KR" altLang="en-US" sz="110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</a:t>
              </a:r>
              <a:r>
                <a:rPr lang="en-US" altLang="ko-KR" sz="110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3</a:t>
              </a:r>
              <a:r>
                <a:rPr lang="ko-KR" altLang="en-US" sz="110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회 이상 선정 시</a:t>
              </a:r>
            </a:p>
            <a:p>
              <a:pPr marL="92075">
                <a:lnSpc>
                  <a:spcPct val="150000"/>
                </a:lnSpc>
              </a:pPr>
              <a:r>
                <a:rPr lang="ko-KR" altLang="en-US" sz="110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  강사 퇴출 및 교체 진행</a:t>
              </a:r>
            </a:p>
          </p:txBody>
        </p:sp>
      </p:grpSp>
      <p:sp>
        <p:nvSpPr>
          <p:cNvPr id="22" name="AutoShape 34">
            <a:extLst>
              <a:ext uri="{FF2B5EF4-FFF2-40B4-BE49-F238E27FC236}">
                <a16:creationId xmlns:a16="http://schemas.microsoft.com/office/drawing/2014/main" id="{AE0D90AD-206D-E517-47F3-99FC04DD6F5A}"/>
              </a:ext>
            </a:extLst>
          </p:cNvPr>
          <p:cNvSpPr>
            <a:spLocks noChangeArrowheads="1"/>
          </p:cNvSpPr>
          <p:nvPr/>
        </p:nvSpPr>
        <p:spPr bwMode="gray">
          <a:xfrm>
            <a:off x="9032492" y="2661436"/>
            <a:ext cx="2769529" cy="3656536"/>
          </a:xfrm>
          <a:prstGeom prst="roundRect">
            <a:avLst>
              <a:gd name="adj" fmla="val 736"/>
            </a:avLst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endParaRPr lang="ko-KR" altLang="en-US" sz="1400" kern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모서리가 둥근 직사각형 31">
            <a:extLst>
              <a:ext uri="{FF2B5EF4-FFF2-40B4-BE49-F238E27FC236}">
                <a16:creationId xmlns:a16="http://schemas.microsoft.com/office/drawing/2014/main" id="{B810BBB2-3C17-1904-BED1-38812C2ACB6F}"/>
              </a:ext>
            </a:extLst>
          </p:cNvPr>
          <p:cNvSpPr/>
          <p:nvPr/>
        </p:nvSpPr>
        <p:spPr>
          <a:xfrm>
            <a:off x="9392036" y="2511705"/>
            <a:ext cx="2050443" cy="300665"/>
          </a:xfrm>
          <a:prstGeom prst="roundRect">
            <a:avLst>
              <a:gd name="adj" fmla="val 1260"/>
            </a:avLst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역량향상 교육 및 간담회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F2FF5D-91B6-F225-2BC4-FFD3A9528A72}"/>
              </a:ext>
            </a:extLst>
          </p:cNvPr>
          <p:cNvSpPr txBox="1"/>
          <p:nvPr/>
        </p:nvSpPr>
        <p:spPr>
          <a:xfrm>
            <a:off x="9184954" y="2911657"/>
            <a:ext cx="1805302" cy="352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latinLnBrk="1">
              <a:lnSpc>
                <a:spcPct val="130000"/>
              </a:lnSpc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1.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튜터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역량향상 교육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8445FD-BD2A-A8BC-76F1-D82892160539}"/>
              </a:ext>
            </a:extLst>
          </p:cNvPr>
          <p:cNvSpPr txBox="1"/>
          <p:nvPr/>
        </p:nvSpPr>
        <p:spPr>
          <a:xfrm>
            <a:off x="9234974" y="3287939"/>
            <a:ext cx="2122697" cy="10835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793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온라인 교육 실시</a:t>
            </a:r>
          </a:p>
          <a:p>
            <a:pPr marL="171450" indent="-793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평가 및 강평 가이드라인 교육</a:t>
            </a:r>
          </a:p>
          <a:p>
            <a:pPr marL="171450" indent="-793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학습자 문의 매뉴얼 교육</a:t>
            </a:r>
          </a:p>
          <a:p>
            <a:pPr marL="171450" indent="-793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멘토링과 코칭 역량 향상 교육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9D0860-562A-E3AA-97D2-0F49B2E5A217}"/>
              </a:ext>
            </a:extLst>
          </p:cNvPr>
          <p:cNvSpPr txBox="1"/>
          <p:nvPr/>
        </p:nvSpPr>
        <p:spPr>
          <a:xfrm>
            <a:off x="9184955" y="4443972"/>
            <a:ext cx="2055371" cy="352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latinLnBrk="1">
              <a:lnSpc>
                <a:spcPct val="130000"/>
              </a:lnSpc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2. 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튜터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역량향상 간담회 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9B1EEF-E79F-7088-0944-A8DC436248FB}"/>
              </a:ext>
            </a:extLst>
          </p:cNvPr>
          <p:cNvSpPr txBox="1"/>
          <p:nvPr/>
        </p:nvSpPr>
        <p:spPr>
          <a:xfrm>
            <a:off x="9234975" y="4808680"/>
            <a:ext cx="2188420" cy="10835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793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신규 </a:t>
            </a:r>
            <a:r>
              <a:rPr lang="ko-KR" altLang="en-US" sz="11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튜터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OJT 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시행</a:t>
            </a:r>
          </a:p>
          <a:p>
            <a:pPr marL="171450" indent="-793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튜터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자문위원의 평가방법 설명</a:t>
            </a:r>
            <a:br>
              <a:rPr lang="en-US" altLang="ko-KR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</a:b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및 노하우 공유</a:t>
            </a:r>
          </a:p>
          <a:p>
            <a:pPr marL="171450" indent="-793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튜터</a:t>
            </a: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활동에 대한 의견수렴</a:t>
            </a:r>
          </a:p>
        </p:txBody>
      </p:sp>
    </p:spTree>
    <p:extLst>
      <p:ext uri="{BB962C8B-B14F-4D97-AF65-F5344CB8AC3E}">
        <p14:creationId xmlns:p14="http://schemas.microsoft.com/office/powerpoint/2010/main" val="37293371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C0341-68C6-31B0-6C8F-312FEA0E5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08CC2-0F61-80D1-C0B0-3E00FD3D3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프로젝트 추진 단계별 상세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EC7B8346-D275-1B3D-DB4D-9660EA474145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48568" y="2687406"/>
            <a:ext cx="2104677" cy="3470684"/>
          </a:xfrm>
          <a:prstGeom prst="rect">
            <a:avLst/>
          </a:prstGeom>
          <a:ln>
            <a:noFill/>
          </a:ln>
          <a:effectLst/>
        </p:spPr>
      </p:pic>
      <p:sp>
        <p:nvSpPr>
          <p:cNvPr id="54" name="Rectangle 45">
            <a:extLst>
              <a:ext uri="{FF2B5EF4-FFF2-40B4-BE49-F238E27FC236}">
                <a16:creationId xmlns:a16="http://schemas.microsoft.com/office/drawing/2014/main" id="{A244D8F0-D3A5-04C4-54D2-52F1D922E49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70072" y="2700612"/>
            <a:ext cx="2119969" cy="3470684"/>
          </a:xfrm>
          <a:prstGeom prst="rect">
            <a:avLst/>
          </a:prstGeom>
          <a:noFill/>
          <a:ln w="28575" algn="ctr">
            <a:solidFill>
              <a:srgbClr val="FF3300">
                <a:alpha val="70195"/>
              </a:srgbClr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 defTabSz="939800"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1pPr>
            <a:lvl2pPr marL="742950" indent="-285750" defTabSz="939800"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2pPr>
            <a:lvl3pPr marL="1143000" indent="-228600" defTabSz="939800"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3pPr>
            <a:lvl4pPr marL="1600200" indent="-228600" defTabSz="939800"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4pPr>
            <a:lvl5pPr marL="2057400" indent="-228600" defTabSz="939800"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5pPr>
            <a:lvl6pPr marL="2514600" indent="-228600" defTabSz="9398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6pPr>
            <a:lvl7pPr marL="2971800" indent="-228600" defTabSz="9398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7pPr>
            <a:lvl8pPr marL="3429000" indent="-228600" defTabSz="9398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8pPr>
            <a:lvl9pPr marL="3886200" indent="-228600" defTabSz="9398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9pPr>
          </a:lstStyle>
          <a:p>
            <a:pPr algn="ctr" fontAlgn="b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400" b="1">
                <a:solidFill>
                  <a:srgbClr val="00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A170EC4A-4D38-4493-EDEF-33CCAB7F7EAB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792005" y="2700611"/>
            <a:ext cx="2104677" cy="3470684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B9817C9D-FE24-453A-949D-229FA595B0E1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439" y="2700611"/>
            <a:ext cx="2104677" cy="3470684"/>
          </a:xfrm>
          <a:prstGeom prst="rect">
            <a:avLst/>
          </a:prstGeom>
          <a:ln>
            <a:noFill/>
          </a:ln>
          <a:effectLst/>
        </p:spPr>
      </p:pic>
      <p:sp>
        <p:nvSpPr>
          <p:cNvPr id="61" name="Rectangle 45">
            <a:extLst>
              <a:ext uri="{FF2B5EF4-FFF2-40B4-BE49-F238E27FC236}">
                <a16:creationId xmlns:a16="http://schemas.microsoft.com/office/drawing/2014/main" id="{F22D4FC3-C6CA-E6B2-76F3-908E98C22466}"/>
              </a:ext>
            </a:extLst>
          </p:cNvPr>
          <p:cNvSpPr>
            <a:spLocks noChangeArrowheads="1"/>
          </p:cNvSpPr>
          <p:nvPr/>
        </p:nvSpPr>
        <p:spPr bwMode="gray">
          <a:xfrm>
            <a:off x="2799212" y="2700610"/>
            <a:ext cx="4240904" cy="3457480"/>
          </a:xfrm>
          <a:prstGeom prst="rect">
            <a:avLst/>
          </a:prstGeom>
          <a:noFill/>
          <a:ln w="28575" algn="ctr">
            <a:solidFill>
              <a:srgbClr val="FF3300">
                <a:alpha val="70195"/>
              </a:srgbClr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 defTabSz="939800"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1pPr>
            <a:lvl2pPr marL="742950" indent="-285750" defTabSz="939800"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2pPr>
            <a:lvl3pPr marL="1143000" indent="-228600" defTabSz="939800"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3pPr>
            <a:lvl4pPr marL="1600200" indent="-228600" defTabSz="939800"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4pPr>
            <a:lvl5pPr marL="2057400" indent="-228600" defTabSz="939800"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5pPr>
            <a:lvl6pPr marL="2514600" indent="-228600" defTabSz="9398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6pPr>
            <a:lvl7pPr marL="2971800" indent="-228600" defTabSz="9398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7pPr>
            <a:lvl8pPr marL="3429000" indent="-228600" defTabSz="9398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8pPr>
            <a:lvl9pPr marL="3886200" indent="-228600" defTabSz="9398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9pPr>
          </a:lstStyle>
          <a:p>
            <a:pPr algn="ctr" fontAlgn="b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400" b="1">
                <a:solidFill>
                  <a:srgbClr val="00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</a:p>
        </p:txBody>
      </p:sp>
      <p:sp>
        <p:nvSpPr>
          <p:cNvPr id="74" name="Rectangle 45">
            <a:extLst>
              <a:ext uri="{FF2B5EF4-FFF2-40B4-BE49-F238E27FC236}">
                <a16:creationId xmlns:a16="http://schemas.microsoft.com/office/drawing/2014/main" id="{92EE62AD-DC06-869B-261D-D67DE299769C}"/>
              </a:ext>
            </a:extLst>
          </p:cNvPr>
          <p:cNvSpPr>
            <a:spLocks noChangeArrowheads="1"/>
          </p:cNvSpPr>
          <p:nvPr/>
        </p:nvSpPr>
        <p:spPr bwMode="gray">
          <a:xfrm>
            <a:off x="984157" y="4143932"/>
            <a:ext cx="1121701" cy="210268"/>
          </a:xfrm>
          <a:prstGeom prst="rect">
            <a:avLst/>
          </a:prstGeom>
          <a:noFill/>
          <a:ln w="28575" algn="ctr">
            <a:solidFill>
              <a:srgbClr val="FF3300">
                <a:alpha val="70195"/>
              </a:srgbClr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 defTabSz="939800"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1pPr>
            <a:lvl2pPr marL="742950" indent="-285750" defTabSz="939800"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2pPr>
            <a:lvl3pPr marL="1143000" indent="-228600" defTabSz="939800"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3pPr>
            <a:lvl4pPr marL="1600200" indent="-228600" defTabSz="939800"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4pPr>
            <a:lvl5pPr marL="2057400" indent="-228600" defTabSz="939800"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5pPr>
            <a:lvl6pPr marL="2514600" indent="-228600" defTabSz="9398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6pPr>
            <a:lvl7pPr marL="2971800" indent="-228600" defTabSz="9398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7pPr>
            <a:lvl8pPr marL="3429000" indent="-228600" defTabSz="9398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8pPr>
            <a:lvl9pPr marL="3886200" indent="-228600" defTabSz="939800" eaLnBrk="0" fontAlgn="base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sz="120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9pPr>
          </a:lstStyle>
          <a:p>
            <a:pPr algn="ctr" fontAlgn="b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400" b="1">
                <a:solidFill>
                  <a:srgbClr val="00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BD4ABF9B-0519-B877-2D8C-F81226CCD497}"/>
              </a:ext>
            </a:extLst>
          </p:cNvPr>
          <p:cNvSpPr>
            <a:spLocks noChangeAspect="1"/>
          </p:cNvSpPr>
          <p:nvPr/>
        </p:nvSpPr>
        <p:spPr bwMode="auto">
          <a:xfrm>
            <a:off x="746220" y="2851841"/>
            <a:ext cx="224329" cy="224329"/>
          </a:xfrm>
          <a:prstGeom prst="ellipse">
            <a:avLst/>
          </a:prstGeom>
          <a:solidFill>
            <a:srgbClr val="00B0F0"/>
          </a:solidFill>
          <a:ln w="12700">
            <a:noFill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ko-KR" sz="10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</a:rPr>
              <a:t>1</a:t>
            </a:r>
            <a:endParaRPr lang="ko-KR" altLang="en-US" sz="10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네오 Bold" panose="00000800000000000000" pitchFamily="2" charset="-127"/>
              <a:ea typeface="나눔스퀘어 네오 Bold" panose="00000800000000000000" pitchFamily="2" charset="-127"/>
              <a:cs typeface="Arial" pitchFamily="34" charset="0"/>
            </a:endParaRP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5589C71D-BEB1-BCFE-7626-14C6D761577C}"/>
              </a:ext>
            </a:extLst>
          </p:cNvPr>
          <p:cNvSpPr>
            <a:spLocks noChangeAspect="1"/>
          </p:cNvSpPr>
          <p:nvPr/>
        </p:nvSpPr>
        <p:spPr bwMode="auto">
          <a:xfrm>
            <a:off x="746220" y="4114469"/>
            <a:ext cx="224329" cy="224329"/>
          </a:xfrm>
          <a:prstGeom prst="ellipse">
            <a:avLst/>
          </a:prstGeom>
          <a:solidFill>
            <a:srgbClr val="00B0F0"/>
          </a:solidFill>
          <a:ln w="12700">
            <a:noFill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ko-KR" sz="10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</a:rPr>
              <a:t>2</a:t>
            </a:r>
            <a:endParaRPr lang="ko-KR" altLang="en-US" sz="10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네오 Bold" panose="00000800000000000000" pitchFamily="2" charset="-127"/>
              <a:ea typeface="나눔스퀘어 네오 Bold" panose="00000800000000000000" pitchFamily="2" charset="-127"/>
              <a:cs typeface="Arial" pitchFamily="34" charset="0"/>
            </a:endParaRP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F7301BF7-7F62-995A-56DC-3271C014C62E}"/>
              </a:ext>
            </a:extLst>
          </p:cNvPr>
          <p:cNvSpPr>
            <a:spLocks noChangeAspect="1"/>
          </p:cNvSpPr>
          <p:nvPr/>
        </p:nvSpPr>
        <p:spPr bwMode="auto">
          <a:xfrm>
            <a:off x="2861562" y="2851841"/>
            <a:ext cx="224329" cy="224329"/>
          </a:xfrm>
          <a:prstGeom prst="ellipse">
            <a:avLst/>
          </a:prstGeom>
          <a:solidFill>
            <a:srgbClr val="00B0F0"/>
          </a:solidFill>
          <a:ln w="12700">
            <a:noFill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ko-KR" sz="10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</a:rPr>
              <a:t>3</a:t>
            </a:r>
            <a:endParaRPr lang="ko-KR" altLang="en-US" sz="10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네오 Bold" panose="00000800000000000000" pitchFamily="2" charset="-127"/>
              <a:ea typeface="나눔스퀘어 네오 Bold" panose="00000800000000000000" pitchFamily="2" charset="-127"/>
              <a:cs typeface="Arial" pitchFamily="34" charset="0"/>
            </a:endParaRPr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E89167F1-32F0-9B7C-E891-D234E37D84EC}"/>
              </a:ext>
            </a:extLst>
          </p:cNvPr>
          <p:cNvGrpSpPr/>
          <p:nvPr/>
        </p:nvGrpSpPr>
        <p:grpSpPr>
          <a:xfrm>
            <a:off x="7293766" y="2678629"/>
            <a:ext cx="4179151" cy="3367694"/>
            <a:chOff x="7313098" y="2665207"/>
            <a:chExt cx="4179151" cy="3367694"/>
          </a:xfrm>
        </p:grpSpPr>
        <p:sp>
          <p:nvSpPr>
            <p:cNvPr id="51" name="TextBox 35">
              <a:extLst>
                <a:ext uri="{FF2B5EF4-FFF2-40B4-BE49-F238E27FC236}">
                  <a16:creationId xmlns:a16="http://schemas.microsoft.com/office/drawing/2014/main" id="{853E2B52-34DF-D224-4C7F-543162BCB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75962" y="2665207"/>
              <a:ext cx="311976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 anchorCtr="0">
              <a:spAutoFit/>
            </a:bodyPr>
            <a:lstStyle>
              <a:lvl1pPr marL="342900" indent="-3429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105000"/>
                </a:lnSpc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105000"/>
                </a:lnSpc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105000"/>
                </a:lnSpc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105000"/>
                </a:lnSpc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9pPr>
            </a:lstStyle>
            <a:p>
              <a:pPr eaLnBrk="1" latin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 dirty="0">
                  <a:solidFill>
                    <a:srgbClr val="00000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 </a:t>
              </a:r>
              <a:r>
                <a:rPr lang="ko-KR" altLang="en-US" sz="1400" b="1" dirty="0">
                  <a:solidFill>
                    <a:srgbClr val="00000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학습자의 모바일 학습채널 친밀감 증진</a:t>
              </a:r>
              <a:endParaRPr lang="en-US" altLang="ko-KR" sz="1400" b="1" dirty="0">
                <a:solidFill>
                  <a:srgbClr val="00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8416C47C-A123-0C51-93C5-49F3E8BF655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313098" y="2711027"/>
              <a:ext cx="252000" cy="252000"/>
            </a:xfrm>
            <a:prstGeom prst="ellipse">
              <a:avLst/>
            </a:prstGeom>
            <a:solidFill>
              <a:srgbClr val="00B0F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Arial" pitchFamily="34" charset="0"/>
                </a:rPr>
                <a:t>1</a:t>
              </a:r>
              <a:endParaRPr lang="ko-KR" altLang="en-US" sz="10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768DF53-B166-0FB4-16BF-AF73B47439D6}"/>
                </a:ext>
              </a:extLst>
            </p:cNvPr>
            <p:cNvSpPr txBox="1"/>
            <p:nvPr/>
          </p:nvSpPr>
          <p:spPr>
            <a:xfrm>
              <a:off x="7478009" y="2964600"/>
              <a:ext cx="3986989" cy="69358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-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실제 학습자들이 많이 활용하는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모바일 채널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(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카카오톡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)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을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 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활용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하여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학습 안내와 독려를 함으로써 좀 더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익숙하고 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 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편하게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학습을 진행할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수 있도록 함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  </a:t>
              </a:r>
              <a:endPara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58" name="TextBox 35">
              <a:extLst>
                <a:ext uri="{FF2B5EF4-FFF2-40B4-BE49-F238E27FC236}">
                  <a16:creationId xmlns:a16="http://schemas.microsoft.com/office/drawing/2014/main" id="{D4E2B0B8-B4DC-EC9A-844E-2394DD6AB6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75962" y="3948920"/>
              <a:ext cx="294984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 anchorCtr="0">
              <a:spAutoFit/>
            </a:bodyPr>
            <a:lstStyle>
              <a:lvl1pPr marL="342900" indent="-3429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105000"/>
                </a:lnSpc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105000"/>
                </a:lnSpc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105000"/>
                </a:lnSpc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105000"/>
                </a:lnSpc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맑은 고딕" panose="020B0503020000020004" pitchFamily="50" charset="-127"/>
                </a:defRPr>
              </a:lvl9pPr>
            </a:lstStyle>
            <a:p>
              <a:pPr eaLnBrk="1" latin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 b="1" dirty="0">
                  <a:solidFill>
                    <a:srgbClr val="00000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 </a:t>
              </a:r>
              <a:r>
                <a:rPr lang="ko-KR" altLang="en-US" sz="1400" b="1" dirty="0">
                  <a:solidFill>
                    <a:srgbClr val="00000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모바일을 통해 학습사이트 링크 제공</a:t>
              </a:r>
              <a:endParaRPr lang="en-US" altLang="ko-KR" sz="1400" b="1" dirty="0">
                <a:solidFill>
                  <a:srgbClr val="00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DB682E78-F5B6-9F0C-C833-2C50D984EA9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313098" y="3976809"/>
              <a:ext cx="252000" cy="252000"/>
            </a:xfrm>
            <a:prstGeom prst="ellipse">
              <a:avLst/>
            </a:prstGeom>
            <a:solidFill>
              <a:srgbClr val="00B0F0"/>
            </a:solidFill>
            <a:ln w="1270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10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Arial" pitchFamily="34" charset="0"/>
                </a:rPr>
                <a:t>2</a:t>
              </a:r>
              <a:endParaRPr lang="ko-KR" altLang="en-US" sz="10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6DF806C-2323-F125-E98A-5948EB5E3965}"/>
                </a:ext>
              </a:extLst>
            </p:cNvPr>
            <p:cNvSpPr txBox="1"/>
            <p:nvPr/>
          </p:nvSpPr>
          <p:spPr>
            <a:xfrm>
              <a:off x="7478009" y="4290729"/>
              <a:ext cx="4014240" cy="4904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latin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- </a:t>
              </a:r>
              <a:r>
                <a:rPr lang="ko-KR" altLang="en-US" sz="1200" dirty="0">
                  <a:solidFill>
                    <a:srgbClr val="0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학습자들이 </a:t>
              </a:r>
              <a:r>
                <a:rPr lang="ko-KR" altLang="en-US" sz="1200" dirty="0">
                  <a:solidFill>
                    <a:srgbClr val="FF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모바일을 통해 원클릭으로 학습사이트에 접속</a:t>
              </a:r>
              <a:endParaRPr lang="en-US" altLang="ko-KR" sz="1200" dirty="0">
                <a:solidFill>
                  <a:srgbClr val="FF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  <a:p>
              <a:pPr eaLnBrk="1" latin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200" dirty="0">
                  <a:solidFill>
                    <a:srgbClr val="0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   </a:t>
              </a:r>
              <a:r>
                <a:rPr lang="ko-KR" altLang="en-US" sz="1200" dirty="0">
                  <a:solidFill>
                    <a:srgbClr val="0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할 수 있게 함으로써 학습자의 접근성 및 편의성을 증진함</a:t>
              </a:r>
              <a:endParaRPr lang="en-US" altLang="ko-KR" sz="1200" dirty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53B69828-2706-A31F-888E-9D1C5F256A9A}"/>
                </a:ext>
              </a:extLst>
            </p:cNvPr>
            <p:cNvGrpSpPr/>
            <p:nvPr/>
          </p:nvGrpSpPr>
          <p:grpSpPr>
            <a:xfrm>
              <a:off x="7313098" y="5071916"/>
              <a:ext cx="4001218" cy="960985"/>
              <a:chOff x="7585474" y="4967797"/>
              <a:chExt cx="4001218" cy="960985"/>
            </a:xfrm>
          </p:grpSpPr>
          <p:sp>
            <p:nvSpPr>
              <p:cNvPr id="98" name="TextBox 35">
                <a:extLst>
                  <a:ext uri="{FF2B5EF4-FFF2-40B4-BE49-F238E27FC236}">
                    <a16:creationId xmlns:a16="http://schemas.microsoft.com/office/drawing/2014/main" id="{F5FD7DA0-3960-497F-F931-C0D55DFD9F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48338" y="4967797"/>
                <a:ext cx="3600666" cy="5652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 anchorCtr="0">
                <a:spAutoFit/>
              </a:bodyPr>
              <a:lstStyle>
                <a:lvl1pPr marL="342900" indent="-3429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lnSpc>
                    <a:spcPct val="105000"/>
                  </a:lnSpc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q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lnSpc>
                    <a:spcPct val="105000"/>
                  </a:lnSpc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q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lnSpc>
                    <a:spcPct val="105000"/>
                  </a:lnSpc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q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lnSpc>
                    <a:spcPct val="105000"/>
                  </a:lnSpc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q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맑은 고딕" panose="020B0503020000020004" pitchFamily="50" charset="-127"/>
                  </a:defRPr>
                </a:lvl9pPr>
              </a:lstStyle>
              <a:p>
                <a:pPr eaLnBrk="1" latinLnBrk="1" hangingPunct="1">
                  <a:lnSpc>
                    <a:spcPts val="12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ko-KR" sz="1400" b="1" dirty="0">
                    <a:solidFill>
                      <a:srgbClr val="000000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  <a:t> </a:t>
                </a:r>
              </a:p>
              <a:p>
                <a:pPr eaLnBrk="1" latinLnBrk="1" hangingPunct="1">
                  <a:lnSpc>
                    <a:spcPts val="12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ko-KR" sz="1400" b="1" dirty="0">
                    <a:solidFill>
                      <a:srgbClr val="000000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  <a:t> </a:t>
                </a:r>
                <a:r>
                  <a:rPr lang="ko-KR" altLang="en-US" sz="1400" b="1" dirty="0">
                    <a:solidFill>
                      <a:srgbClr val="000000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  <a:t>모바일을 통해 </a:t>
                </a:r>
                <a:r>
                  <a:rPr lang="en-US" altLang="ko-KR" sz="1400" b="1" dirty="0">
                    <a:solidFill>
                      <a:srgbClr val="000000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  <a:t>FAQ</a:t>
                </a:r>
                <a:r>
                  <a:rPr lang="ko-KR" altLang="en-US" sz="1400" b="1" dirty="0">
                    <a:solidFill>
                      <a:srgbClr val="000000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  <a:t>에 대한 실시간 답변 제공</a:t>
                </a:r>
                <a:br>
                  <a:rPr lang="en-US" altLang="ko-KR" sz="1400" b="1" dirty="0">
                    <a:solidFill>
                      <a:srgbClr val="000000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</a:br>
                <a:endParaRPr lang="en-US" altLang="ko-KR" sz="1400" b="1" dirty="0">
                  <a:solidFill>
                    <a:srgbClr val="00000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endParaRPr>
              </a:p>
            </p:txBody>
          </p:sp>
          <p:sp>
            <p:nvSpPr>
              <p:cNvPr id="99" name="타원 98">
                <a:extLst>
                  <a:ext uri="{FF2B5EF4-FFF2-40B4-BE49-F238E27FC236}">
                    <a16:creationId xmlns:a16="http://schemas.microsoft.com/office/drawing/2014/main" id="{E4EFABEB-A326-51AC-1A9E-74AE0E9BBB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585474" y="5124407"/>
                <a:ext cx="252000" cy="252000"/>
              </a:xfrm>
              <a:prstGeom prst="ellipse">
                <a:avLst/>
              </a:prstGeom>
              <a:solidFill>
                <a:srgbClr val="00B0F0"/>
              </a:solidFill>
              <a:ln w="12700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1000" b="1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나눔스퀘어 네오 Bold" panose="00000800000000000000" pitchFamily="2" charset="-127"/>
                    <a:ea typeface="나눔스퀘어 네오 Bold" panose="00000800000000000000" pitchFamily="2" charset="-127"/>
                    <a:cs typeface="Arial" pitchFamily="34" charset="0"/>
                  </a:rPr>
                  <a:t>3</a:t>
                </a:r>
                <a:endParaRPr lang="ko-KR" altLang="en-US" sz="10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Arial" pitchFamily="34" charset="0"/>
                </a:endParaRP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054C27D-0937-982C-C256-6E0D3A633224}"/>
                  </a:ext>
                </a:extLst>
              </p:cNvPr>
              <p:cNvSpPr txBox="1"/>
              <p:nvPr/>
            </p:nvSpPr>
            <p:spPr>
              <a:xfrm>
                <a:off x="7750385" y="5438327"/>
                <a:ext cx="3836307" cy="49045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eaLnBrk="1" latinLnBrk="1" hangingPunct="1"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ko-K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 - </a:t>
                </a:r>
                <a:r>
                  <a:rPr lang="ko-KR" altLang="en-US" sz="1200" dirty="0">
                    <a:solidFill>
                      <a:srgbClr val="000000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학습자들이 </a:t>
                </a:r>
                <a:r>
                  <a:rPr lang="ko-KR" altLang="en-US" sz="1200" dirty="0">
                    <a:solidFill>
                      <a:srgbClr val="FF0000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자주 묻는 질문</a:t>
                </a:r>
                <a:r>
                  <a:rPr lang="en-US" altLang="ko-KR" sz="1200" dirty="0">
                    <a:solidFill>
                      <a:srgbClr val="FF0000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&amp;</a:t>
                </a:r>
                <a:r>
                  <a:rPr lang="ko-KR" altLang="en-US" sz="1200" dirty="0">
                    <a:solidFill>
                      <a:srgbClr val="FF0000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답변을 모바일을 통해</a:t>
                </a:r>
              </a:p>
              <a:p>
                <a:pPr eaLnBrk="1" latinLnBrk="1" hangingPunct="1"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lang="ko-KR" altLang="en-US" sz="1200" dirty="0">
                    <a:solidFill>
                      <a:srgbClr val="FF0000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    즉각 확인</a:t>
                </a:r>
                <a:r>
                  <a:rPr lang="ko-KR" altLang="en-US" sz="1200" dirty="0">
                    <a:solidFill>
                      <a:srgbClr val="000000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할 수 있도록 하여 학습자의 궁금증을 해결함</a:t>
                </a: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28C6850-B1AD-5B8F-DC17-1E01EB01254C}"/>
              </a:ext>
            </a:extLst>
          </p:cNvPr>
          <p:cNvSpPr txBox="1"/>
          <p:nvPr/>
        </p:nvSpPr>
        <p:spPr>
          <a:xfrm>
            <a:off x="4727677" y="1649988"/>
            <a:ext cx="273664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알림톡을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 활용한 학습 편의성 제고</a:t>
            </a:r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j-cs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3A79342-510A-6496-E5D6-825C84F35C12}"/>
              </a:ext>
            </a:extLst>
          </p:cNvPr>
          <p:cNvCxnSpPr>
            <a:cxnSpLocks/>
          </p:cNvCxnSpPr>
          <p:nvPr/>
        </p:nvCxnSpPr>
        <p:spPr>
          <a:xfrm>
            <a:off x="3090000" y="1999136"/>
            <a:ext cx="60120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73388A1-1874-8257-0701-4E588E0FFADB}"/>
              </a:ext>
            </a:extLst>
          </p:cNvPr>
          <p:cNvSpPr txBox="1"/>
          <p:nvPr/>
        </p:nvSpPr>
        <p:spPr>
          <a:xfrm>
            <a:off x="3496240" y="2037525"/>
            <a:ext cx="538480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j-cs"/>
              </a:rPr>
              <a:t>학습안내 채널로 카카오톡을 활용함으로써 학습자의 접근성과 편의성 증진</a:t>
            </a:r>
          </a:p>
        </p:txBody>
      </p:sp>
    </p:spTree>
    <p:extLst>
      <p:ext uri="{BB962C8B-B14F-4D97-AF65-F5344CB8AC3E}">
        <p14:creationId xmlns:p14="http://schemas.microsoft.com/office/powerpoint/2010/main" val="27408137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F5DF1-3E50-0413-1213-CDFFA4A05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8AFC5404-53BB-BDC0-0154-0A72CBE730AF}"/>
              </a:ext>
            </a:extLst>
          </p:cNvPr>
          <p:cNvSpPr/>
          <p:nvPr/>
        </p:nvSpPr>
        <p:spPr>
          <a:xfrm>
            <a:off x="6096000" y="2001806"/>
            <a:ext cx="3024000" cy="229911"/>
          </a:xfrm>
          <a:prstGeom prst="roundRect">
            <a:avLst>
              <a:gd name="adj" fmla="val 1260"/>
            </a:avLst>
          </a:prstGeom>
          <a:solidFill>
            <a:schemeClr val="tx1">
              <a:lumMod val="85000"/>
              <a:lumOff val="1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월별 수료율 및 </a:t>
            </a:r>
            <a:r>
              <a:rPr lang="ko-KR" altLang="en-US" sz="12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미수료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사유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(1~10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월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70E15FFF-491E-965B-346D-8F9444F2D3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491585"/>
              </p:ext>
            </p:extLst>
          </p:nvPr>
        </p:nvGraphicFramePr>
        <p:xfrm>
          <a:off x="6096000" y="2269148"/>
          <a:ext cx="5476214" cy="3649061"/>
        </p:xfrm>
        <a:graphic>
          <a:graphicData uri="http://schemas.openxmlformats.org/drawingml/2006/table">
            <a:tbl>
              <a:tblPr/>
              <a:tblGrid>
                <a:gridCol w="602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3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57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0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7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9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069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 err="1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개강월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수료</a:t>
                      </a:r>
                      <a:br>
                        <a:rPr lang="en-US" altLang="ko-KR" sz="1000" b="1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en-US" altLang="ko-KR" sz="1000" b="1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000" b="1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인원</a:t>
                      </a:r>
                      <a:r>
                        <a:rPr lang="en-US" altLang="ko-KR" sz="1000" b="1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 err="1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미수료</a:t>
                      </a:r>
                      <a:r>
                        <a:rPr lang="en-US" altLang="ko-KR" sz="1000" b="1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000" b="1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인원</a:t>
                      </a:r>
                      <a:r>
                        <a:rPr lang="en-US" altLang="ko-KR" sz="1000" b="1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총합계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수료율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6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 err="1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과제미제출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수료점수미달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합계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4002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115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147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4149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96.46%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4275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145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192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4467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95.70%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4083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58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61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119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4202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97.17%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3954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98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68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166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4120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95.97%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3978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54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161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4139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96.11%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3636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sng" strike="noStrike" dirty="0">
                          <a:solidFill>
                            <a:srgbClr val="C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67</a:t>
                      </a:r>
                      <a:endParaRPr lang="en-US" altLang="ko-KR" sz="1000" b="0" i="0" u="sng" strike="noStrike" dirty="0">
                        <a:solidFill>
                          <a:srgbClr val="C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93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3729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97.51%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7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3478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89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130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3608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96.40%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3378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84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116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3494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96.68%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3413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59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85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3498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97.57%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3300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76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38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114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3414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96.66%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6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총합계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37497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898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425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1323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38820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96.59%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9525" marR="952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2" name="제목 11">
            <a:extLst>
              <a:ext uri="{FF2B5EF4-FFF2-40B4-BE49-F238E27FC236}">
                <a16:creationId xmlns:a16="http://schemas.microsoft.com/office/drawing/2014/main" id="{0AEB7463-9170-4076-D894-D7C15AFB83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프로젝트 추진 단계별 상세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CDD817-0634-942F-0F03-27E9F8A74012}"/>
              </a:ext>
            </a:extLst>
          </p:cNvPr>
          <p:cNvSpPr txBox="1"/>
          <p:nvPr/>
        </p:nvSpPr>
        <p:spPr>
          <a:xfrm>
            <a:off x="448698" y="1465750"/>
            <a:ext cx="7943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>
                <a:latin typeface="+mj-ea"/>
                <a:ea typeface="+mj-ea"/>
              </a:defRPr>
            </a:lvl1pPr>
          </a:lstStyle>
          <a:p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수료율 증진 방안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: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학습자 패턴에 따른 맞춤형 운영 표준화를 통해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,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학습 성취도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,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수료율 상향 표준화 지향</a:t>
            </a:r>
          </a:p>
          <a:p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 </a:t>
            </a:r>
            <a:endParaRPr lang="ko-KR" altLang="en-US" sz="1200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EEA01D0-EE00-0AB0-4C74-728752C7B76D}"/>
              </a:ext>
            </a:extLst>
          </p:cNvPr>
          <p:cNvCxnSpPr>
            <a:cxnSpLocks/>
          </p:cNvCxnSpPr>
          <p:nvPr/>
        </p:nvCxnSpPr>
        <p:spPr>
          <a:xfrm>
            <a:off x="515938" y="1770700"/>
            <a:ext cx="1119663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utoShape 34">
            <a:extLst>
              <a:ext uri="{FF2B5EF4-FFF2-40B4-BE49-F238E27FC236}">
                <a16:creationId xmlns:a16="http://schemas.microsoft.com/office/drawing/2014/main" id="{99546364-B221-20AA-1EA0-FF7D1F09F635}"/>
              </a:ext>
            </a:extLst>
          </p:cNvPr>
          <p:cNvSpPr>
            <a:spLocks noChangeArrowheads="1"/>
          </p:cNvSpPr>
          <p:nvPr/>
        </p:nvSpPr>
        <p:spPr bwMode="gray">
          <a:xfrm>
            <a:off x="525454" y="2248885"/>
            <a:ext cx="5400920" cy="4375366"/>
          </a:xfrm>
          <a:prstGeom prst="roundRect">
            <a:avLst>
              <a:gd name="adj" fmla="val 736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  <a:effectLst/>
        </p:spPr>
        <p:txBody>
          <a:bodyPr wrap="none" anchor="ctr"/>
          <a:lstStyle/>
          <a:p>
            <a:pPr marL="268288" lvl="1">
              <a:lnSpc>
                <a:spcPct val="150000"/>
              </a:lnSpc>
            </a:pPr>
            <a:endParaRPr lang="en-US" altLang="ko-KR" sz="1400" dirty="0">
              <a:solidFill>
                <a:srgbClr val="0070C0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Arial Unicode MS" pitchFamily="50" charset="-127"/>
            </a:endParaRPr>
          </a:p>
          <a:p>
            <a:pPr marL="360363" lvl="1" indent="-92075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dirty="0">
              <a:solidFill>
                <a:srgbClr val="0070C0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Arial Unicode MS" pitchFamily="50" charset="-127"/>
            </a:endParaRPr>
          </a:p>
          <a:p>
            <a:pPr marL="360363" lvl="1" indent="-92075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dirty="0">
              <a:solidFill>
                <a:srgbClr val="0070C0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Arial Unicode MS" pitchFamily="50" charset="-127"/>
            </a:endParaRPr>
          </a:p>
        </p:txBody>
      </p:sp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BC62E940-6210-4431-48C2-3A62DB1982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7572391"/>
              </p:ext>
            </p:extLst>
          </p:nvPr>
        </p:nvGraphicFramePr>
        <p:xfrm>
          <a:off x="781982" y="2474007"/>
          <a:ext cx="4880329" cy="40143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D8997255-1D07-EEA2-E5CA-508C7A69DC5E}"/>
              </a:ext>
            </a:extLst>
          </p:cNvPr>
          <p:cNvSpPr/>
          <p:nvPr/>
        </p:nvSpPr>
        <p:spPr>
          <a:xfrm>
            <a:off x="525454" y="1994629"/>
            <a:ext cx="3024000" cy="233858"/>
          </a:xfrm>
          <a:prstGeom prst="roundRect">
            <a:avLst>
              <a:gd name="adj" fmla="val 1260"/>
            </a:avLst>
          </a:prstGeom>
          <a:solidFill>
            <a:schemeClr val="tx1">
              <a:lumMod val="85000"/>
              <a:lumOff val="1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일별 과제제출인원 평균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(1~10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월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79556C59-0316-0418-9D7B-728D7E778886}"/>
              </a:ext>
            </a:extLst>
          </p:cNvPr>
          <p:cNvSpPr/>
          <p:nvPr/>
        </p:nvSpPr>
        <p:spPr>
          <a:xfrm>
            <a:off x="4739820" y="2555665"/>
            <a:ext cx="787000" cy="3648888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A97FA88-32DF-8A8B-14CA-F09DFC956657}"/>
              </a:ext>
            </a:extLst>
          </p:cNvPr>
          <p:cNvGrpSpPr>
            <a:grpSpLocks noChangeAspect="1"/>
          </p:cNvGrpSpPr>
          <p:nvPr/>
        </p:nvGrpSpPr>
        <p:grpSpPr>
          <a:xfrm>
            <a:off x="2219443" y="3147690"/>
            <a:ext cx="2439300" cy="1201176"/>
            <a:chOff x="1102400" y="2480351"/>
            <a:chExt cx="3429860" cy="1688954"/>
          </a:xfrm>
        </p:grpSpPr>
        <p:sp>
          <p:nvSpPr>
            <p:cNvPr id="29" name="모서리가 둥근 사각형 설명선 28">
              <a:extLst>
                <a:ext uri="{FF2B5EF4-FFF2-40B4-BE49-F238E27FC236}">
                  <a16:creationId xmlns:a16="http://schemas.microsoft.com/office/drawing/2014/main" id="{333DFCB7-7B96-954C-2CB6-EEA9CDAF0FCE}"/>
                </a:ext>
              </a:extLst>
            </p:cNvPr>
            <p:cNvSpPr/>
            <p:nvPr/>
          </p:nvSpPr>
          <p:spPr>
            <a:xfrm>
              <a:off x="1102400" y="2480351"/>
              <a:ext cx="3429860" cy="1688954"/>
            </a:xfrm>
            <a:prstGeom prst="wedgeRectCallout">
              <a:avLst>
                <a:gd name="adj1" fmla="val 62495"/>
                <a:gd name="adj2" fmla="val 90598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7F4E642-D3A7-1E63-6954-D0A28D7DA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1921" y="2597216"/>
              <a:ext cx="3150820" cy="1435858"/>
            </a:xfrm>
            <a:prstGeom prst="rect">
              <a:avLst/>
            </a:prstGeom>
          </p:spPr>
        </p:pic>
      </p:grpSp>
      <p:sp>
        <p:nvSpPr>
          <p:cNvPr id="32" name="AutoShape 34">
            <a:extLst>
              <a:ext uri="{FF2B5EF4-FFF2-40B4-BE49-F238E27FC236}">
                <a16:creationId xmlns:a16="http://schemas.microsoft.com/office/drawing/2014/main" id="{CCF8FEB4-2163-5CC6-EA3D-B348ED3CA13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452880" y="5118371"/>
            <a:ext cx="3205863" cy="648480"/>
          </a:xfrm>
          <a:prstGeom prst="roundRect">
            <a:avLst>
              <a:gd name="adj" fmla="val 797"/>
            </a:avLst>
          </a:prstGeom>
          <a:solidFill>
            <a:schemeClr val="tx1">
              <a:lumMod val="85000"/>
              <a:lumOff val="1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2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과제제출이 많은 </a:t>
            </a:r>
            <a:r>
              <a:rPr lang="en-US" altLang="ko-KR" sz="1200" b="1" dirty="0">
                <a:solidFill>
                  <a:srgbClr val="FFFF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27</a:t>
            </a:r>
            <a:r>
              <a:rPr lang="ko-KR" altLang="en-US" sz="1200" b="1" dirty="0">
                <a:solidFill>
                  <a:srgbClr val="FFFF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일</a:t>
            </a:r>
            <a:r>
              <a:rPr lang="en-US" altLang="ko-KR" sz="1200" b="1" dirty="0">
                <a:solidFill>
                  <a:srgbClr val="FFFF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~</a:t>
            </a:r>
            <a:r>
              <a:rPr lang="ko-KR" altLang="en-US" sz="1200" b="1" dirty="0">
                <a:solidFill>
                  <a:srgbClr val="FFFF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말일 사이 </a:t>
            </a:r>
            <a:r>
              <a:rPr lang="ko-KR" altLang="en-US" sz="1200" b="1" dirty="0" err="1">
                <a:solidFill>
                  <a:srgbClr val="FFFF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알림톡</a:t>
            </a:r>
            <a:br>
              <a:rPr lang="en-US" altLang="ko-KR" sz="1200" b="1" dirty="0">
                <a:solidFill>
                  <a:srgbClr val="FFFF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en-US" sz="1200" b="1" dirty="0">
                <a:solidFill>
                  <a:srgbClr val="FFFF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발송을 통해 수료율 </a:t>
            </a:r>
            <a:r>
              <a:rPr lang="en-US" altLang="ko-KR" sz="1200" b="1" dirty="0">
                <a:solidFill>
                  <a:srgbClr val="FFFF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97% </a:t>
            </a:r>
            <a:r>
              <a:rPr lang="ko-KR" altLang="en-US" sz="1200" b="1" dirty="0">
                <a:solidFill>
                  <a:srgbClr val="FFFF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이상 달성 목표</a:t>
            </a:r>
            <a:r>
              <a:rPr lang="en-US" altLang="ko-KR" sz="1200" b="1" dirty="0">
                <a:solidFill>
                  <a:srgbClr val="FFFF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!</a:t>
            </a:r>
            <a:endParaRPr lang="ko-KR" altLang="en-US" sz="1200" b="1" dirty="0">
              <a:solidFill>
                <a:srgbClr val="FFFF0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3" name="모서리가 둥근 사각형 설명선 42">
            <a:extLst>
              <a:ext uri="{FF2B5EF4-FFF2-40B4-BE49-F238E27FC236}">
                <a16:creationId xmlns:a16="http://schemas.microsoft.com/office/drawing/2014/main" id="{4384EC78-FA0C-6ACD-B8E6-ADB6DA514EF6}"/>
              </a:ext>
            </a:extLst>
          </p:cNvPr>
          <p:cNvSpPr/>
          <p:nvPr/>
        </p:nvSpPr>
        <p:spPr>
          <a:xfrm>
            <a:off x="8452114" y="3783988"/>
            <a:ext cx="1440610" cy="1224162"/>
          </a:xfrm>
          <a:prstGeom prst="wedgeRectCallout">
            <a:avLst>
              <a:gd name="adj1" fmla="val -71031"/>
              <a:gd name="adj2" fmla="val 2234"/>
            </a:avLst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55593-4C2C-EB68-DD89-778182C22BE9}"/>
              </a:ext>
            </a:extLst>
          </p:cNvPr>
          <p:cNvSpPr txBox="1"/>
          <p:nvPr/>
        </p:nvSpPr>
        <p:spPr>
          <a:xfrm>
            <a:off x="8518126" y="4674186"/>
            <a:ext cx="1321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재응시 기회 제공</a:t>
            </a:r>
            <a:r>
              <a:rPr lang="en-US" altLang="ko-KR" sz="1200" b="1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!</a:t>
            </a:r>
            <a:endParaRPr lang="ko-KR" altLang="en-US" sz="1200" b="1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9FC602D2-F50A-484B-FF11-F99DC44EE8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419" y="3851131"/>
            <a:ext cx="1114994" cy="8254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6AA772-C86B-75A3-E27D-CBE168A522B5}"/>
              </a:ext>
            </a:extLst>
          </p:cNvPr>
          <p:cNvSpPr txBox="1"/>
          <p:nvPr/>
        </p:nvSpPr>
        <p:spPr>
          <a:xfrm>
            <a:off x="700438" y="2401693"/>
            <a:ext cx="457934" cy="202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</a:t>
            </a:r>
            <a:r>
              <a:rPr lang="ko-KR" altLang="en-US" sz="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명</a:t>
            </a:r>
            <a:r>
              <a:rPr lang="en-US" altLang="ko-KR" sz="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</a:t>
            </a:r>
            <a:endParaRPr lang="ko-KR" altLang="en-US" sz="8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33BB38-CBD9-F40E-6EBE-A40421C2D3DB}"/>
              </a:ext>
            </a:extLst>
          </p:cNvPr>
          <p:cNvSpPr txBox="1"/>
          <p:nvPr/>
        </p:nvSpPr>
        <p:spPr>
          <a:xfrm>
            <a:off x="5439250" y="6236573"/>
            <a:ext cx="457934" cy="202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</a:t>
            </a:r>
            <a:r>
              <a:rPr lang="ko-KR" altLang="en-US" sz="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일</a:t>
            </a:r>
            <a:r>
              <a:rPr lang="en-US" altLang="ko-KR" sz="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</a:t>
            </a:r>
            <a:endParaRPr lang="ko-KR" altLang="en-US" sz="8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66A8D8-E2B2-5658-8906-962358A1970D}"/>
              </a:ext>
            </a:extLst>
          </p:cNvPr>
          <p:cNvSpPr txBox="1"/>
          <p:nvPr/>
        </p:nvSpPr>
        <p:spPr>
          <a:xfrm>
            <a:off x="6096000" y="6032028"/>
            <a:ext cx="5100423" cy="555088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과제미제출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학습자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주요 </a:t>
            </a:r>
            <a:r>
              <a:rPr lang="ko-KR" alt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미수료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사유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에게 재응시 기회를 제공함으로써</a:t>
            </a:r>
            <a:b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</a:b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수료율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97%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이상 달성 목표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!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52154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직사각형 45"/>
          <p:cNvSpPr/>
          <p:nvPr/>
        </p:nvSpPr>
        <p:spPr>
          <a:xfrm>
            <a:off x="4621841" y="2582307"/>
            <a:ext cx="3022937" cy="35959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schemeClr val="bg2">
                <a:lumMod val="75000"/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prstClr val="white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0A54B4F4-D8E7-FEBB-C12D-02FE21F30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프로젝트 추진 단계별 상세</a:t>
            </a:r>
          </a:p>
        </p:txBody>
      </p:sp>
      <p:graphicFrame>
        <p:nvGraphicFramePr>
          <p:cNvPr id="61" name="표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167891"/>
              </p:ext>
            </p:extLst>
          </p:nvPr>
        </p:nvGraphicFramePr>
        <p:xfrm>
          <a:off x="4803191" y="2684887"/>
          <a:ext cx="2469150" cy="288032"/>
        </p:xfrm>
        <a:graphic>
          <a:graphicData uri="http://schemas.openxmlformats.org/drawingml/2006/table">
            <a:tbl>
              <a:tblPr firstRow="1" bandRow="1"/>
              <a:tblGrid>
                <a:gridCol w="246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교재 개월별 발송 방법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727625"/>
              </p:ext>
            </p:extLst>
          </p:nvPr>
        </p:nvGraphicFramePr>
        <p:xfrm>
          <a:off x="4803191" y="4367359"/>
          <a:ext cx="2469150" cy="288032"/>
        </p:xfrm>
        <a:graphic>
          <a:graphicData uri="http://schemas.openxmlformats.org/drawingml/2006/table">
            <a:tbl>
              <a:tblPr firstRow="1" bandRow="1"/>
              <a:tblGrid>
                <a:gridCol w="246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교재 고객사 및 학습자별 발송 방법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1EBEF6D-76D4-F094-AE29-310A2565B792}"/>
              </a:ext>
            </a:extLst>
          </p:cNvPr>
          <p:cNvSpPr txBox="1"/>
          <p:nvPr/>
        </p:nvSpPr>
        <p:spPr>
          <a:xfrm>
            <a:off x="448698" y="1465750"/>
            <a:ext cx="101216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>
                <a:latin typeface="+mj-ea"/>
                <a:ea typeface="+mj-ea"/>
              </a:defRPr>
            </a:lvl1pPr>
          </a:lstStyle>
          <a:p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교육운영 편의성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: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 맞춤 배송 지원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-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자체 물류 조직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: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업계 유일하게 자체 물류 조직 및 시스템을 보유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.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능동적이고 책임감 있는 교재 배송 </a:t>
            </a:r>
            <a:endParaRPr lang="ko-KR" altLang="en-US" sz="1200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21A6BBA-F491-97AD-CAC7-502E8664B70C}"/>
              </a:ext>
            </a:extLst>
          </p:cNvPr>
          <p:cNvCxnSpPr>
            <a:cxnSpLocks/>
          </p:cNvCxnSpPr>
          <p:nvPr/>
        </p:nvCxnSpPr>
        <p:spPr>
          <a:xfrm>
            <a:off x="515938" y="1770700"/>
            <a:ext cx="1119663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55"/>
          <p:cNvSpPr>
            <a:spLocks noChangeArrowheads="1"/>
          </p:cNvSpPr>
          <p:nvPr/>
        </p:nvSpPr>
        <p:spPr bwMode="gray">
          <a:xfrm>
            <a:off x="805893" y="3637793"/>
            <a:ext cx="2734421" cy="454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defRPr/>
            </a:pPr>
            <a:r>
              <a:rPr lang="en-US" altLang="ko-KR" sz="28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</a:t>
            </a:r>
            <a:r>
              <a:rPr lang="ko-KR" altLang="en-US" sz="28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단계</a:t>
            </a:r>
            <a:br>
              <a:rPr lang="en-US" altLang="ko-KR" sz="28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en-US" sz="28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교재 발송 준비</a:t>
            </a:r>
            <a:endParaRPr lang="en-US" altLang="ko-KR" sz="2800" b="1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 eaLnBrk="0" hangingPunct="0">
              <a:defRPr/>
            </a:pPr>
            <a:r>
              <a:rPr lang="en-US" altLang="ko-KR" sz="28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28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교재 발주</a:t>
            </a:r>
            <a:r>
              <a:rPr lang="en-US" altLang="ko-KR" sz="28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1018236" y="2124882"/>
            <a:ext cx="656905" cy="380727"/>
          </a:xfrm>
          <a:prstGeom prst="rect">
            <a:avLst/>
          </a:prstGeom>
          <a:solidFill>
            <a:srgbClr val="0070C0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934719" y="2557527"/>
            <a:ext cx="3202305" cy="3620712"/>
            <a:chOff x="1221262" y="2805357"/>
            <a:chExt cx="2490788" cy="3312368"/>
          </a:xfrm>
        </p:grpSpPr>
        <p:sp>
          <p:nvSpPr>
            <p:cNvPr id="32" name="직사각형 31"/>
            <p:cNvSpPr/>
            <p:nvPr/>
          </p:nvSpPr>
          <p:spPr>
            <a:xfrm>
              <a:off x="1221262" y="2805357"/>
              <a:ext cx="2490788" cy="331236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schemeClr val="bg2">
                  <a:lumMod val="75000"/>
                  <a:alpha val="40000"/>
                </a:scheme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pic>
          <p:nvPicPr>
            <p:cNvPr id="37" name="Picture 4"/>
            <p:cNvPicPr>
              <a:picLocks noChangeAspect="1" noChangeArrowheads="1"/>
            </p:cNvPicPr>
            <p:nvPr/>
          </p:nvPicPr>
          <p:blipFill>
            <a:blip r:embed="rId2" cstate="print">
              <a:lum bright="-4000"/>
            </a:blip>
            <a:srcRect l="57671" t="43646" r="16998" b="30435"/>
            <a:stretch>
              <a:fillRect/>
            </a:stretch>
          </p:blipFill>
          <p:spPr bwMode="auto">
            <a:xfrm>
              <a:off x="1266409" y="4533276"/>
              <a:ext cx="2376264" cy="1512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2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 l="68849" t="30240" r="20801" b="53920"/>
            <a:stretch>
              <a:fillRect/>
            </a:stretch>
          </p:blipFill>
          <p:spPr bwMode="auto">
            <a:xfrm>
              <a:off x="1274409" y="2840516"/>
              <a:ext cx="1617946" cy="1547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3" name="TextBox 42"/>
            <p:cNvSpPr txBox="1"/>
            <p:nvPr/>
          </p:nvSpPr>
          <p:spPr>
            <a:xfrm>
              <a:off x="2985457" y="2895380"/>
              <a:ext cx="648072" cy="1476000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36000" rIns="36000" rtlCol="0" anchor="ctr" anchorCtr="1"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 </a:t>
              </a:r>
            </a:p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수강신청 후 </a:t>
              </a:r>
              <a:br>
                <a:rPr lang="en-US" altLang="ko-KR" sz="8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</a:br>
              <a:r>
                <a:rPr lang="ko-KR" altLang="en-US" sz="8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과정운영자의 </a:t>
              </a:r>
              <a:br>
                <a:rPr lang="en-US" altLang="ko-KR" sz="8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</a:br>
              <a:r>
                <a:rPr lang="ko-KR" altLang="en-US" sz="8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승인 절차가 </a:t>
              </a:r>
              <a:br>
                <a:rPr lang="en-US" altLang="ko-KR" sz="8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</a:br>
              <a:r>
                <a:rPr lang="ko-KR" altLang="en-US" sz="8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필요함</a:t>
              </a:r>
              <a:r>
                <a:rPr lang="en-US" altLang="ko-KR" sz="8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.</a:t>
              </a:r>
              <a:endParaRPr lang="ko-KR" altLang="en-US" sz="8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sp>
        <p:nvSpPr>
          <p:cNvPr id="44" name="Rectangle 55"/>
          <p:cNvSpPr>
            <a:spLocks noChangeArrowheads="1"/>
          </p:cNvSpPr>
          <p:nvPr/>
        </p:nvSpPr>
        <p:spPr bwMode="gray">
          <a:xfrm>
            <a:off x="1031684" y="2112083"/>
            <a:ext cx="80458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</a:t>
            </a:r>
            <a:r>
              <a:rPr lang="ko-KR" altLang="en-US" sz="12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단계</a:t>
            </a:r>
          </a:p>
        </p:txBody>
      </p:sp>
      <p:sp>
        <p:nvSpPr>
          <p:cNvPr id="45" name="Rectangle 55"/>
          <p:cNvSpPr>
            <a:spLocks noChangeArrowheads="1"/>
          </p:cNvSpPr>
          <p:nvPr/>
        </p:nvSpPr>
        <p:spPr bwMode="gray">
          <a:xfrm>
            <a:off x="1634858" y="2127127"/>
            <a:ext cx="233737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ko-KR" altLang="en-US" sz="1400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교재 발송 준비</a:t>
            </a:r>
            <a:endParaRPr lang="en-US" altLang="ko-KR" sz="1400" b="1" dirty="0">
              <a:solidFill>
                <a:srgbClr val="0070C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eaLnBrk="0" hangingPunct="0">
              <a:defRPr/>
            </a:pPr>
            <a:r>
              <a:rPr lang="en-US" altLang="ko-KR" sz="1400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400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교재 발주</a:t>
            </a:r>
            <a:r>
              <a:rPr lang="en-US" altLang="ko-KR" sz="1400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4626788" y="2124882"/>
            <a:ext cx="656905" cy="372517"/>
          </a:xfrm>
          <a:prstGeom prst="rect">
            <a:avLst/>
          </a:prstGeom>
          <a:solidFill>
            <a:srgbClr val="0070C0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8" name="Rectangle 55"/>
          <p:cNvSpPr>
            <a:spLocks noChangeArrowheads="1"/>
          </p:cNvSpPr>
          <p:nvPr/>
        </p:nvSpPr>
        <p:spPr bwMode="gray">
          <a:xfrm>
            <a:off x="5237149" y="2128051"/>
            <a:ext cx="248980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ko-KR" altLang="en-US" sz="1400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고객사 배송프로세스 파악</a:t>
            </a:r>
            <a:r>
              <a:rPr lang="en-US" altLang="ko-KR" sz="1400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</a:p>
          <a:p>
            <a:pPr eaLnBrk="0" hangingPunct="0">
              <a:defRPr/>
            </a:pPr>
            <a:r>
              <a:rPr lang="en-US" altLang="ko-KR" sz="1400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400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교재 발송방식 선택</a:t>
            </a:r>
            <a:r>
              <a:rPr lang="en-US" altLang="ko-KR" sz="1400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sz="1400" b="1" dirty="0">
              <a:solidFill>
                <a:srgbClr val="0070C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7" name="Rectangle 55"/>
          <p:cNvSpPr>
            <a:spLocks noChangeArrowheads="1"/>
          </p:cNvSpPr>
          <p:nvPr/>
        </p:nvSpPr>
        <p:spPr bwMode="gray">
          <a:xfrm>
            <a:off x="4628952" y="2124609"/>
            <a:ext cx="80458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r>
              <a:rPr lang="ko-KR" altLang="en-US" sz="12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단계</a:t>
            </a:r>
          </a:p>
        </p:txBody>
      </p:sp>
      <p:pic>
        <p:nvPicPr>
          <p:cNvPr id="59" name="Picture 13"/>
          <p:cNvPicPr>
            <a:picLocks noChangeAspect="1" noChangeArrowheads="1"/>
          </p:cNvPicPr>
          <p:nvPr/>
        </p:nvPicPr>
        <p:blipFill>
          <a:blip r:embed="rId4" cstate="print">
            <a:lum bright="-4000"/>
          </a:blip>
          <a:srcRect l="38856" t="73759" r="42800" b="14721"/>
          <a:stretch>
            <a:fillRect/>
          </a:stretch>
        </p:blipFill>
        <p:spPr bwMode="auto">
          <a:xfrm>
            <a:off x="4681942" y="4892283"/>
            <a:ext cx="2806767" cy="932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" name="Picture 13"/>
          <p:cNvPicPr>
            <a:picLocks noChangeAspect="1" noChangeArrowheads="1"/>
          </p:cNvPicPr>
          <p:nvPr/>
        </p:nvPicPr>
        <p:blipFill>
          <a:blip r:embed="rId4" cstate="print">
            <a:lum bright="-4000"/>
          </a:blip>
          <a:srcRect l="38491" t="42393" r="43700" b="48834"/>
          <a:stretch>
            <a:fillRect/>
          </a:stretch>
        </p:blipFill>
        <p:spPr bwMode="auto">
          <a:xfrm>
            <a:off x="4692173" y="3196091"/>
            <a:ext cx="2806776" cy="713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" name="직사각형 62"/>
          <p:cNvSpPr/>
          <p:nvPr/>
        </p:nvSpPr>
        <p:spPr>
          <a:xfrm>
            <a:off x="4541157" y="2655346"/>
            <a:ext cx="5033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ⓛ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4541157" y="4328226"/>
            <a:ext cx="5033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②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5E1914-5172-B0FC-E486-13ED56B8F389}"/>
              </a:ext>
            </a:extLst>
          </p:cNvPr>
          <p:cNvGrpSpPr/>
          <p:nvPr/>
        </p:nvGrpSpPr>
        <p:grpSpPr>
          <a:xfrm>
            <a:off x="8131086" y="2090473"/>
            <a:ext cx="3255021" cy="4062713"/>
            <a:chOff x="8131086" y="2090473"/>
            <a:chExt cx="3255021" cy="4062713"/>
          </a:xfrm>
        </p:grpSpPr>
        <p:sp>
          <p:nvSpPr>
            <p:cNvPr id="67" name="직사각형 66"/>
            <p:cNvSpPr/>
            <p:nvPr/>
          </p:nvSpPr>
          <p:spPr>
            <a:xfrm>
              <a:off x="8156851" y="2095514"/>
              <a:ext cx="656905" cy="372517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ko-KR" altLang="en-US"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68" name="Rectangle 55"/>
            <p:cNvSpPr>
              <a:spLocks noChangeArrowheads="1"/>
            </p:cNvSpPr>
            <p:nvPr/>
          </p:nvSpPr>
          <p:spPr bwMode="gray">
            <a:xfrm>
              <a:off x="8170531" y="2099557"/>
              <a:ext cx="806360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defRPr/>
              </a:pPr>
              <a:r>
                <a:rPr lang="en-US" altLang="ko-KR" sz="1200" b="1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3</a:t>
              </a:r>
              <a:r>
                <a:rPr lang="ko-KR" altLang="en-US" sz="1200" b="1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단계</a:t>
              </a:r>
            </a:p>
          </p:txBody>
        </p:sp>
        <p:grpSp>
          <p:nvGrpSpPr>
            <p:cNvPr id="5" name="그룹 4"/>
            <p:cNvGrpSpPr/>
            <p:nvPr/>
          </p:nvGrpSpPr>
          <p:grpSpPr>
            <a:xfrm>
              <a:off x="8131086" y="2557527"/>
              <a:ext cx="3255021" cy="3595659"/>
              <a:chOff x="7336951" y="2805356"/>
              <a:chExt cx="2730905" cy="3595659"/>
            </a:xfrm>
          </p:grpSpPr>
          <p:sp>
            <p:nvSpPr>
              <p:cNvPr id="27" name="Rectangle 55"/>
              <p:cNvSpPr>
                <a:spLocks noChangeArrowheads="1"/>
              </p:cNvSpPr>
              <p:nvPr/>
            </p:nvSpPr>
            <p:spPr bwMode="gray">
              <a:xfrm>
                <a:off x="7623828" y="3886948"/>
                <a:ext cx="2444028" cy="4546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0" hangingPunct="0">
                  <a:defRPr/>
                </a:pPr>
                <a:r>
                  <a:rPr lang="en-US" altLang="ko-KR" sz="2800" b="1" dirty="0">
                    <a:solidFill>
                      <a:schemeClr val="bg1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  <a:t>3</a:t>
                </a:r>
                <a:r>
                  <a:rPr lang="ko-KR" altLang="en-US" sz="2800" b="1" dirty="0">
                    <a:solidFill>
                      <a:schemeClr val="bg1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  <a:t>단계</a:t>
                </a:r>
                <a:br>
                  <a:rPr lang="en-US" altLang="ko-KR" sz="2800" b="1" dirty="0">
                    <a:solidFill>
                      <a:schemeClr val="bg1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</a:br>
                <a:r>
                  <a:rPr lang="ko-KR" altLang="en-US" sz="2800" b="1" dirty="0">
                    <a:solidFill>
                      <a:schemeClr val="bg1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  <a:t>교재 발송 및</a:t>
                </a:r>
                <a:br>
                  <a:rPr lang="en-US" altLang="ko-KR" sz="2800" b="1" dirty="0">
                    <a:solidFill>
                      <a:schemeClr val="bg1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</a:br>
                <a:r>
                  <a:rPr lang="ko-KR" altLang="en-US" sz="2800" b="1" dirty="0">
                    <a:solidFill>
                      <a:schemeClr val="bg1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  <a:t>수령 체크</a:t>
                </a:r>
                <a:endParaRPr lang="en-US" altLang="ko-KR" sz="2800" b="1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endParaRPr>
              </a:p>
            </p:txBody>
          </p:sp>
          <p:sp>
            <p:nvSpPr>
              <p:cNvPr id="66" name="직사각형 65"/>
              <p:cNvSpPr/>
              <p:nvPr/>
            </p:nvSpPr>
            <p:spPr>
              <a:xfrm>
                <a:off x="7336951" y="2805356"/>
                <a:ext cx="2490788" cy="359565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schemeClr val="bg2">
                    <a:lumMod val="75000"/>
                    <a:alpha val="40000"/>
                  </a:schemeClr>
                </a:outerShdw>
              </a:effectLst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dirty="0">
                  <a:solidFill>
                    <a:prstClr val="white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endParaRPr>
              </a:p>
            </p:txBody>
          </p:sp>
          <p:pic>
            <p:nvPicPr>
              <p:cNvPr id="69" name="Picture 21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 l="44150" t="63680" r="37400" b="21200"/>
              <a:stretch>
                <a:fillRect/>
              </a:stretch>
            </p:blipFill>
            <p:spPr bwMode="auto">
              <a:xfrm>
                <a:off x="7388611" y="2939956"/>
                <a:ext cx="2376000" cy="1305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0" name="Picture 22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 l="44150" t="32000" r="27050" b="36320"/>
              <a:stretch>
                <a:fillRect/>
              </a:stretch>
            </p:blipFill>
            <p:spPr bwMode="auto">
              <a:xfrm>
                <a:off x="7354323" y="4335540"/>
                <a:ext cx="2448000" cy="1683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71" name="직선 화살표 연결선 70"/>
              <p:cNvCxnSpPr/>
              <p:nvPr/>
            </p:nvCxnSpPr>
            <p:spPr>
              <a:xfrm>
                <a:off x="8900779" y="3560596"/>
                <a:ext cx="0" cy="864096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" name="Rectangle 55"/>
            <p:cNvSpPr>
              <a:spLocks noChangeArrowheads="1"/>
            </p:cNvSpPr>
            <p:nvPr/>
          </p:nvSpPr>
          <p:spPr bwMode="gray">
            <a:xfrm>
              <a:off x="8831242" y="2090473"/>
              <a:ext cx="2254752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ko-KR" altLang="en-US" sz="1400" b="1" dirty="0">
                  <a:solidFill>
                    <a:srgbClr val="0070C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교재 발송 및 수령 체크</a:t>
              </a:r>
              <a:br>
                <a:rPr lang="en-US" altLang="ko-KR" sz="1400" b="1" dirty="0">
                  <a:solidFill>
                    <a:srgbClr val="0070C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</a:br>
              <a:r>
                <a:rPr lang="en-US" altLang="ko-KR" sz="1400" b="1" dirty="0">
                  <a:solidFill>
                    <a:srgbClr val="0070C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(</a:t>
              </a:r>
              <a:r>
                <a:rPr lang="ko-KR" altLang="en-US" sz="1400" b="1" dirty="0">
                  <a:solidFill>
                    <a:srgbClr val="0070C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과정 시작 전 도착</a:t>
              </a:r>
              <a:r>
                <a:rPr lang="en-US" altLang="ko-KR" sz="1400" b="1" dirty="0">
                  <a:solidFill>
                    <a:srgbClr val="0070C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)</a:t>
              </a:r>
              <a:endParaRPr lang="ko-KR" altLang="en-US" sz="1400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C913C0D7-9F01-5426-A5B2-BC1B8B8273B3}"/>
                </a:ext>
              </a:extLst>
            </p:cNvPr>
            <p:cNvSpPr/>
            <p:nvPr/>
          </p:nvSpPr>
          <p:spPr>
            <a:xfrm>
              <a:off x="9227127" y="5642263"/>
              <a:ext cx="841663" cy="174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tIns="0" bIns="0" rtlCol="0" anchor="ctr" anchorCtr="0"/>
            <a:lstStyle/>
            <a:p>
              <a:pPr marL="0" marR="0" indent="0" algn="ctr" defTabSz="914400" rtl="0" eaLnBrk="1" fontAlgn="auto" latinLnBrk="0" hangingPunct="1"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ko-KR" altLang="en-US" sz="2000" b="0" kern="1200" spc="0" noProof="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endParaRPr>
            </a:p>
          </p:txBody>
        </p:sp>
      </p:grpSp>
      <p:sp>
        <p:nvSpPr>
          <p:cNvPr id="73" name="AutoShape 34"/>
          <p:cNvSpPr>
            <a:spLocks noChangeArrowheads="1"/>
          </p:cNvSpPr>
          <p:nvPr/>
        </p:nvSpPr>
        <p:spPr bwMode="gray">
          <a:xfrm>
            <a:off x="515938" y="5966357"/>
            <a:ext cx="11196636" cy="411076"/>
          </a:xfrm>
          <a:prstGeom prst="roundRect">
            <a:avLst>
              <a:gd name="adj" fmla="val 797"/>
            </a:avLst>
          </a:prstGeom>
          <a:solidFill>
            <a:schemeClr val="tx1">
              <a:lumMod val="85000"/>
              <a:lumOff val="1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아웃소싱이 아닌 내부 임직원을 통한 책임감 있는 도서배송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/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문제발생 시 즉각적인 사후 대응 가능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!/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원하는 다양한 방식의 교재 배송 가능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6714089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3EF93-E084-FAB2-B60F-DBCE8059F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A67AE51-D811-D7D4-543A-178377A42935}"/>
              </a:ext>
            </a:extLst>
          </p:cNvPr>
          <p:cNvSpPr/>
          <p:nvPr/>
        </p:nvSpPr>
        <p:spPr>
          <a:xfrm rot="16200000">
            <a:off x="-1515357" y="1515360"/>
            <a:ext cx="6858001" cy="3827277"/>
          </a:xfrm>
          <a:prstGeom prst="rect">
            <a:avLst/>
          </a:prstGeom>
          <a:pattFill prst="dkDnDiag">
            <a:fgClr>
              <a:schemeClr val="bg2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1D0B9D-920C-EB53-FE0A-924977A0EF9E}"/>
              </a:ext>
            </a:extLst>
          </p:cNvPr>
          <p:cNvSpPr txBox="1"/>
          <p:nvPr/>
        </p:nvSpPr>
        <p:spPr>
          <a:xfrm>
            <a:off x="371770" y="1302376"/>
            <a:ext cx="1685077" cy="400110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defTabSz="914377">
              <a:spcBef>
                <a:spcPts val="1000"/>
              </a:spcBef>
              <a:defRPr/>
            </a:pPr>
            <a:r>
              <a:rPr lang="en-US" altLang="ko-KR" sz="2000" dirty="0">
                <a:solidFill>
                  <a:srgbClr val="008448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CONTENTS</a:t>
            </a:r>
            <a:endParaRPr lang="ko-KR" altLang="en-US" sz="2000" dirty="0">
              <a:solidFill>
                <a:srgbClr val="008448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BB9EA87-F182-1CF3-40B5-15C46FCE2DDD}"/>
              </a:ext>
            </a:extLst>
          </p:cNvPr>
          <p:cNvCxnSpPr>
            <a:cxnSpLocks/>
          </p:cNvCxnSpPr>
          <p:nvPr/>
        </p:nvCxnSpPr>
        <p:spPr>
          <a:xfrm>
            <a:off x="438445" y="1286365"/>
            <a:ext cx="237600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7E940ED-1A41-CC83-4DEE-750F6FC3B7F7}"/>
              </a:ext>
            </a:extLst>
          </p:cNvPr>
          <p:cNvSpPr txBox="1"/>
          <p:nvPr/>
        </p:nvSpPr>
        <p:spPr>
          <a:xfrm>
            <a:off x="419395" y="772330"/>
            <a:ext cx="2509144" cy="490455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2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S-OIL 2025</a:t>
            </a:r>
            <a:r>
              <a:rPr lang="ko-KR" altLang="en-US" sz="12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년</a:t>
            </a:r>
            <a:endParaRPr lang="en-US" altLang="ko-KR" sz="1200" b="1" kern="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Bold" panose="00000800000000000000" pitchFamily="2" charset="-127"/>
              <a:ea typeface="나눔스퀘어 네오 Bold" panose="000008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ko-KR" altLang="en-US" sz="12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독서통신 교육 서비스 수행 용역 제안</a:t>
            </a:r>
            <a:endParaRPr lang="en-US" altLang="ko-KR" sz="1200" b="1" kern="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Bold" panose="00000800000000000000" pitchFamily="2" charset="-127"/>
              <a:ea typeface="나눔스퀘어 네오 Bold" panose="000008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B2F244-8903-45FA-F72C-4AEC2826CBB7}"/>
              </a:ext>
            </a:extLst>
          </p:cNvPr>
          <p:cNvSpPr txBox="1"/>
          <p:nvPr/>
        </p:nvSpPr>
        <p:spPr>
          <a:xfrm>
            <a:off x="5010445" y="3920310"/>
            <a:ext cx="2518762" cy="1018740"/>
          </a:xfrm>
          <a:prstGeom prst="rect">
            <a:avLst/>
          </a:prstGeom>
          <a:solidFill>
            <a:schemeClr val="bg1"/>
          </a:solidFill>
        </p:spPr>
        <p:txBody>
          <a:bodyPr wrap="none" lIns="36000" anchor="t" anchorCtr="0">
            <a:spAutoFit/>
          </a:bodyPr>
          <a:lstStyle/>
          <a:p>
            <a:pPr marL="342891" indent="-342891">
              <a:lnSpc>
                <a:spcPct val="160000"/>
              </a:lnSpc>
              <a:buAutoNum type="arabicPeriod"/>
            </a:pPr>
            <a:r>
              <a:rPr lang="en-US" altLang="ko-KR" sz="13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E-Library(</a:t>
            </a:r>
            <a:r>
              <a:rPr lang="ko-KR" altLang="en-US" sz="13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전자도서관</a:t>
            </a:r>
            <a:r>
              <a:rPr lang="en-US" altLang="ko-KR" sz="13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) </a:t>
            </a:r>
            <a:r>
              <a:rPr lang="ko-KR" altLang="en-US" sz="13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제공</a:t>
            </a:r>
          </a:p>
          <a:p>
            <a:pPr marL="342891" indent="-342891">
              <a:lnSpc>
                <a:spcPct val="160000"/>
              </a:lnSpc>
              <a:buFontTx/>
              <a:buAutoNum type="arabicPeriod"/>
            </a:pPr>
            <a:r>
              <a:rPr lang="ko-KR" altLang="en-US" sz="13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</a:rPr>
              <a:t>목격왕에게 도서제공</a:t>
            </a:r>
          </a:p>
          <a:p>
            <a:pPr marL="342891" indent="-342891">
              <a:lnSpc>
                <a:spcPct val="160000"/>
              </a:lnSpc>
              <a:buFontTx/>
              <a:buAutoNum type="arabicPeriod"/>
            </a:pPr>
            <a:r>
              <a:rPr lang="ko-KR" altLang="en-US" sz="13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</a:rPr>
              <a:t>다독왕에게 기프티콘 제공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1BB656-CE0F-E5EC-75C2-22E2A2B00061}"/>
              </a:ext>
            </a:extLst>
          </p:cNvPr>
          <p:cNvSpPr txBox="1"/>
          <p:nvPr/>
        </p:nvSpPr>
        <p:spPr>
          <a:xfrm>
            <a:off x="4500564" y="3292005"/>
            <a:ext cx="1869423" cy="400110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defTabSz="914377">
              <a:defRPr/>
            </a:pPr>
            <a:r>
              <a:rPr lang="en-US" altLang="ko-KR" sz="20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Ⅲ. </a:t>
            </a:r>
            <a:r>
              <a:rPr lang="ko-KR" altLang="en-US" sz="20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부가서비스</a:t>
            </a: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FD7D1607-4FA5-3B35-DE33-D2596AD236DB}"/>
              </a:ext>
            </a:extLst>
          </p:cNvPr>
          <p:cNvSpPr/>
          <p:nvPr/>
        </p:nvSpPr>
        <p:spPr>
          <a:xfrm rot="16200000" flipV="1">
            <a:off x="935609" y="3966323"/>
            <a:ext cx="1956061" cy="3827284"/>
          </a:xfrm>
          <a:custGeom>
            <a:avLst/>
            <a:gdLst>
              <a:gd name="connsiteX0" fmla="*/ 4885025 w 4885025"/>
              <a:gd name="connsiteY0" fmla="*/ 2643957 h 2643957"/>
              <a:gd name="connsiteX1" fmla="*/ 0 w 4885025"/>
              <a:gd name="connsiteY1" fmla="*/ 2643957 h 2643957"/>
              <a:gd name="connsiteX2" fmla="*/ 0 w 4885025"/>
              <a:gd name="connsiteY2" fmla="*/ 0 h 2643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85025" h="2643957">
                <a:moveTo>
                  <a:pt x="4885025" y="2643957"/>
                </a:moveTo>
                <a:lnTo>
                  <a:pt x="0" y="2643957"/>
                </a:lnTo>
                <a:lnTo>
                  <a:pt x="0" y="0"/>
                </a:lnTo>
                <a:close/>
              </a:path>
            </a:pathLst>
          </a:custGeom>
          <a:solidFill>
            <a:srgbClr val="0084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68C045B-BDC5-3A66-AF61-329F2492D43B}"/>
              </a:ext>
            </a:extLst>
          </p:cNvPr>
          <p:cNvGrpSpPr/>
          <p:nvPr/>
        </p:nvGrpSpPr>
        <p:grpSpPr>
          <a:xfrm>
            <a:off x="1555426" y="5401558"/>
            <a:ext cx="1986198" cy="1475295"/>
            <a:chOff x="1555426" y="5401558"/>
            <a:chExt cx="1986198" cy="1475295"/>
          </a:xfrm>
        </p:grpSpPr>
        <p:pic>
          <p:nvPicPr>
            <p:cNvPr id="15" name="그림 14" descr="Learning online concept">
              <a:extLst>
                <a:ext uri="{FF2B5EF4-FFF2-40B4-BE49-F238E27FC236}">
                  <a16:creationId xmlns:a16="http://schemas.microsoft.com/office/drawing/2014/main" id="{1A34138C-75BA-EAE1-4D5F-E9A7AA64FD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EC33B"/>
                </a:clrFrom>
                <a:clrTo>
                  <a:srgbClr val="FEC33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5426" y="5401558"/>
              <a:ext cx="1986198" cy="1475295"/>
            </a:xfrm>
            <a:custGeom>
              <a:avLst/>
              <a:gdLst>
                <a:gd name="connsiteX0" fmla="*/ 0 w 1986198"/>
                <a:gd name="connsiteY0" fmla="*/ 0 h 1475295"/>
                <a:gd name="connsiteX1" fmla="*/ 1986198 w 1986198"/>
                <a:gd name="connsiteY1" fmla="*/ 0 h 1475295"/>
                <a:gd name="connsiteX2" fmla="*/ 1986198 w 1986198"/>
                <a:gd name="connsiteY2" fmla="*/ 308059 h 1475295"/>
                <a:gd name="connsiteX3" fmla="*/ 1627577 w 1986198"/>
                <a:gd name="connsiteY3" fmla="*/ 308059 h 1475295"/>
                <a:gd name="connsiteX4" fmla="*/ 1627577 w 1986198"/>
                <a:gd name="connsiteY4" fmla="*/ 791852 h 1475295"/>
                <a:gd name="connsiteX5" fmla="*/ 1986198 w 1986198"/>
                <a:gd name="connsiteY5" fmla="*/ 791852 h 1475295"/>
                <a:gd name="connsiteX6" fmla="*/ 1986198 w 1986198"/>
                <a:gd name="connsiteY6" fmla="*/ 1475295 h 1475295"/>
                <a:gd name="connsiteX7" fmla="*/ 0 w 1986198"/>
                <a:gd name="connsiteY7" fmla="*/ 1475295 h 1475295"/>
                <a:gd name="connsiteX8" fmla="*/ 0 w 1986198"/>
                <a:gd name="connsiteY8" fmla="*/ 646404 h 1475295"/>
                <a:gd name="connsiteX9" fmla="*/ 357577 w 1986198"/>
                <a:gd name="connsiteY9" fmla="*/ 646404 h 1475295"/>
                <a:gd name="connsiteX10" fmla="*/ 357577 w 1986198"/>
                <a:gd name="connsiteY10" fmla="*/ 245097 h 1475295"/>
                <a:gd name="connsiteX11" fmla="*/ 0 w 1986198"/>
                <a:gd name="connsiteY11" fmla="*/ 245097 h 1475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86198" h="1475295">
                  <a:moveTo>
                    <a:pt x="0" y="0"/>
                  </a:moveTo>
                  <a:lnTo>
                    <a:pt x="1986198" y="0"/>
                  </a:lnTo>
                  <a:lnTo>
                    <a:pt x="1986198" y="308059"/>
                  </a:lnTo>
                  <a:lnTo>
                    <a:pt x="1627577" y="308059"/>
                  </a:lnTo>
                  <a:lnTo>
                    <a:pt x="1627577" y="791852"/>
                  </a:lnTo>
                  <a:lnTo>
                    <a:pt x="1986198" y="791852"/>
                  </a:lnTo>
                  <a:lnTo>
                    <a:pt x="1986198" y="1475295"/>
                  </a:lnTo>
                  <a:lnTo>
                    <a:pt x="0" y="1475295"/>
                  </a:lnTo>
                  <a:lnTo>
                    <a:pt x="0" y="646404"/>
                  </a:lnTo>
                  <a:lnTo>
                    <a:pt x="357577" y="646404"/>
                  </a:lnTo>
                  <a:lnTo>
                    <a:pt x="357577" y="245097"/>
                  </a:lnTo>
                  <a:lnTo>
                    <a:pt x="0" y="245097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2" descr="s-oil">
              <a:extLst>
                <a:ext uri="{FF2B5EF4-FFF2-40B4-BE49-F238E27FC236}">
                  <a16:creationId xmlns:a16="http://schemas.microsoft.com/office/drawing/2014/main" id="{2980435E-851B-F409-908D-FBD3163DB3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9808" y="5901359"/>
              <a:ext cx="225844" cy="1503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968051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2" descr="Set of Hand Drawn Yellow Crowns">
            <a:extLst>
              <a:ext uri="{FF2B5EF4-FFF2-40B4-BE49-F238E27FC236}">
                <a16:creationId xmlns:a16="http://schemas.microsoft.com/office/drawing/2014/main" id="{BA21DEAF-1246-8743-C87F-B6BD688945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87" t="49549"/>
          <a:stretch/>
        </p:blipFill>
        <p:spPr bwMode="auto">
          <a:xfrm rot="1253213">
            <a:off x="8921698" y="3751917"/>
            <a:ext cx="1513654" cy="1289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2" descr="Set of Hand Drawn Yellow Crowns">
            <a:extLst>
              <a:ext uri="{FF2B5EF4-FFF2-40B4-BE49-F238E27FC236}">
                <a16:creationId xmlns:a16="http://schemas.microsoft.com/office/drawing/2014/main" id="{332176EE-F924-F2DA-0D41-85A41B31D3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87" b="49414"/>
          <a:stretch/>
        </p:blipFill>
        <p:spPr bwMode="auto">
          <a:xfrm rot="1131418">
            <a:off x="6565099" y="3195164"/>
            <a:ext cx="1242827" cy="1061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668FA41-4454-EBDA-EDE3-C5C9E22C789D}"/>
              </a:ext>
            </a:extLst>
          </p:cNvPr>
          <p:cNvSpPr txBox="1"/>
          <p:nvPr/>
        </p:nvSpPr>
        <p:spPr>
          <a:xfrm>
            <a:off x="1881545" y="1210567"/>
            <a:ext cx="8428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1C4792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차별화된 부가서비스인 플러스 알파 서비스</a:t>
            </a:r>
            <a:r>
              <a:rPr lang="en-US" altLang="ko-KR" sz="1600" b="1" dirty="0">
                <a:solidFill>
                  <a:srgbClr val="1C4792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(+ ALPA Service) </a:t>
            </a:r>
            <a:r>
              <a:rPr lang="ko-KR" altLang="en-US" sz="1600" b="1" dirty="0">
                <a:solidFill>
                  <a:srgbClr val="1C4792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제공 </a:t>
            </a:r>
            <a:r>
              <a:rPr lang="en-US" altLang="ko-KR" sz="1600" b="1" dirty="0">
                <a:solidFill>
                  <a:srgbClr val="1C4792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1600" b="1" dirty="0">
                <a:solidFill>
                  <a:srgbClr val="1C4792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교육만족도 증진에 기여</a:t>
            </a:r>
            <a:endParaRPr lang="en-US" altLang="ko-KR" sz="1600" b="1" dirty="0">
              <a:solidFill>
                <a:srgbClr val="1C4792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C44B7B5C-3C71-5A04-C379-40A87F395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차별화된 부가서비스 </a:t>
            </a:r>
            <a:endParaRPr lang="ko-KR" altLang="en-US" sz="1400" dirty="0"/>
          </a:p>
        </p:txBody>
      </p:sp>
      <p:sp>
        <p:nvSpPr>
          <p:cNvPr id="12" name="AutoShape 34">
            <a:extLst>
              <a:ext uri="{FF2B5EF4-FFF2-40B4-BE49-F238E27FC236}">
                <a16:creationId xmlns:a16="http://schemas.microsoft.com/office/drawing/2014/main" id="{8EC69B31-8E0C-2B63-B319-EDBDDA5C010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11471" y="2047298"/>
            <a:ext cx="3556356" cy="4262062"/>
          </a:xfrm>
          <a:prstGeom prst="roundRect">
            <a:avLst>
              <a:gd name="adj" fmla="val 736"/>
            </a:avLst>
          </a:prstGeom>
          <a:noFill/>
          <a:ln w="9525">
            <a:solidFill>
              <a:srgbClr val="0070C0"/>
            </a:solidFill>
            <a:prstDash val="solid"/>
          </a:ln>
          <a:effectLst/>
        </p:spPr>
        <p:txBody>
          <a:bodyPr wrap="none" anchor="ctr"/>
          <a:lstStyle/>
          <a:p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3" name="모서리가 둥근 직사각형 52">
            <a:extLst>
              <a:ext uri="{FF2B5EF4-FFF2-40B4-BE49-F238E27FC236}">
                <a16:creationId xmlns:a16="http://schemas.microsoft.com/office/drawing/2014/main" id="{B9661044-112E-55E7-ED62-C0044C6FDFB5}"/>
              </a:ext>
            </a:extLst>
          </p:cNvPr>
          <p:cNvSpPr/>
          <p:nvPr/>
        </p:nvSpPr>
        <p:spPr>
          <a:xfrm>
            <a:off x="4647373" y="1766049"/>
            <a:ext cx="3084552" cy="281250"/>
          </a:xfrm>
          <a:prstGeom prst="roundRect">
            <a:avLst>
              <a:gd name="adj" fmla="val 1260"/>
            </a:avLst>
          </a:prstGeom>
          <a:solidFill>
            <a:srgbClr val="0070C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목격왕에게 도서제공</a:t>
            </a:r>
          </a:p>
        </p:txBody>
      </p:sp>
      <p:sp>
        <p:nvSpPr>
          <p:cNvPr id="14" name="AutoShape 34">
            <a:extLst>
              <a:ext uri="{FF2B5EF4-FFF2-40B4-BE49-F238E27FC236}">
                <a16:creationId xmlns:a16="http://schemas.microsoft.com/office/drawing/2014/main" id="{4F42CDC2-3269-8176-74FF-CB834D081C58}"/>
              </a:ext>
            </a:extLst>
          </p:cNvPr>
          <p:cNvSpPr>
            <a:spLocks noChangeArrowheads="1"/>
          </p:cNvSpPr>
          <p:nvPr/>
        </p:nvSpPr>
        <p:spPr bwMode="gray">
          <a:xfrm>
            <a:off x="8188605" y="2047298"/>
            <a:ext cx="3556356" cy="4262062"/>
          </a:xfrm>
          <a:prstGeom prst="roundRect">
            <a:avLst>
              <a:gd name="adj" fmla="val 736"/>
            </a:avLst>
          </a:prstGeom>
          <a:noFill/>
          <a:ln w="9525">
            <a:solidFill>
              <a:schemeClr val="accent2">
                <a:lumMod val="50000"/>
              </a:schemeClr>
            </a:solidFill>
            <a:prstDash val="solid"/>
          </a:ln>
          <a:effectLst/>
        </p:spPr>
        <p:txBody>
          <a:bodyPr wrap="none" anchor="ctr"/>
          <a:lstStyle/>
          <a:p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5" name="모서리가 둥근 직사각형 55">
            <a:extLst>
              <a:ext uri="{FF2B5EF4-FFF2-40B4-BE49-F238E27FC236}">
                <a16:creationId xmlns:a16="http://schemas.microsoft.com/office/drawing/2014/main" id="{FE6B51A4-C6AF-E7AD-3536-E03597EFC520}"/>
              </a:ext>
            </a:extLst>
          </p:cNvPr>
          <p:cNvSpPr/>
          <p:nvPr/>
        </p:nvSpPr>
        <p:spPr>
          <a:xfrm>
            <a:off x="8414346" y="1766049"/>
            <a:ext cx="3084552" cy="281250"/>
          </a:xfrm>
          <a:prstGeom prst="roundRect">
            <a:avLst>
              <a:gd name="adj" fmla="val 1260"/>
            </a:avLst>
          </a:prstGeom>
          <a:solidFill>
            <a:schemeClr val="accent2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다독왕에게 기프티콘 제공 </a:t>
            </a:r>
          </a:p>
        </p:txBody>
      </p:sp>
      <p:sp>
        <p:nvSpPr>
          <p:cNvPr id="21" name="AutoShape 34">
            <a:extLst>
              <a:ext uri="{FF2B5EF4-FFF2-40B4-BE49-F238E27FC236}">
                <a16:creationId xmlns:a16="http://schemas.microsoft.com/office/drawing/2014/main" id="{9B235329-84C8-CCC9-A31B-542D1B5C0F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644498" y="2047298"/>
            <a:ext cx="3556356" cy="4262062"/>
          </a:xfrm>
          <a:prstGeom prst="roundRect">
            <a:avLst>
              <a:gd name="adj" fmla="val 736"/>
            </a:avLst>
          </a:prstGeom>
          <a:solidFill>
            <a:schemeClr val="bg1"/>
          </a:solidFill>
          <a:ln w="9525">
            <a:solidFill>
              <a:srgbClr val="002060"/>
            </a:solidFill>
            <a:prstDash val="solid"/>
          </a:ln>
          <a:effectLst/>
        </p:spPr>
        <p:txBody>
          <a:bodyPr wrap="none" anchor="ctr"/>
          <a:lstStyle/>
          <a:p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2" name="모서리가 둥근 직사각형 50">
            <a:extLst>
              <a:ext uri="{FF2B5EF4-FFF2-40B4-BE49-F238E27FC236}">
                <a16:creationId xmlns:a16="http://schemas.microsoft.com/office/drawing/2014/main" id="{EAAA74C2-5888-D726-247A-ABE71C3EFCB1}"/>
              </a:ext>
            </a:extLst>
          </p:cNvPr>
          <p:cNvSpPr/>
          <p:nvPr/>
        </p:nvSpPr>
        <p:spPr>
          <a:xfrm>
            <a:off x="874713" y="1766049"/>
            <a:ext cx="3084552" cy="281250"/>
          </a:xfrm>
          <a:prstGeom prst="roundRect">
            <a:avLst>
              <a:gd name="adj" fmla="val 1260"/>
            </a:avLst>
          </a:prstGeom>
          <a:solidFill>
            <a:srgbClr val="00206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E-Library(</a:t>
            </a:r>
            <a:r>
              <a:rPr lang="ko-KR" altLang="en-US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전자도서관</a:t>
            </a:r>
            <a:r>
              <a:rPr lang="en-US" altLang="ko-KR" sz="1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49220D-5D36-A291-3D56-C595877E9D73}"/>
              </a:ext>
            </a:extLst>
          </p:cNvPr>
          <p:cNvSpPr txBox="1"/>
          <p:nvPr/>
        </p:nvSpPr>
        <p:spPr>
          <a:xfrm>
            <a:off x="794357" y="2208046"/>
            <a:ext cx="2653612" cy="14507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b="1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업계 최대 장서 보유</a:t>
            </a:r>
            <a:endParaRPr lang="en-US" altLang="ko-KR" sz="1200" b="1" dirty="0">
              <a:solidFill>
                <a:srgbClr val="00206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6213">
              <a:lnSpc>
                <a:spcPct val="150000"/>
              </a:lnSpc>
            </a:pP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－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5,656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권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(3,750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종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보유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b="1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PC, </a:t>
            </a:r>
            <a:r>
              <a:rPr lang="ko-KR" altLang="en-US" sz="1200" b="1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모바일 이용 가능</a:t>
            </a:r>
            <a:r>
              <a:rPr lang="en-US" altLang="ko-KR" sz="1200" b="1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200" b="1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전용앱 제공</a:t>
            </a:r>
            <a:r>
              <a:rPr lang="en-US" altLang="ko-KR" sz="1200" b="1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b="1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매월 </a:t>
            </a:r>
            <a:r>
              <a:rPr lang="en-US" altLang="ko-KR" sz="1200" b="1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30</a:t>
            </a:r>
            <a:r>
              <a:rPr lang="ko-KR" altLang="en-US" sz="1200" b="1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권 이상 업데이트</a:t>
            </a:r>
            <a:endParaRPr lang="en-US" altLang="ko-KR" sz="1200" b="1" dirty="0">
              <a:solidFill>
                <a:srgbClr val="00206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b="1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</a:t>
            </a:r>
            <a:r>
              <a:rPr lang="ko-KR" altLang="en-US" sz="1200" b="1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년 이용권 제공 </a:t>
            </a:r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98598634-05BA-ABFE-0E35-DAE21800E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85" y="3974950"/>
            <a:ext cx="3071782" cy="2049930"/>
          </a:xfrm>
          <a:prstGeom prst="rect">
            <a:avLst/>
          </a:prstGeom>
          <a:ln w="19050">
            <a:solidFill>
              <a:schemeClr val="bg1">
                <a:lumMod val="85000"/>
              </a:schemeClr>
            </a:solidFill>
          </a:ln>
        </p:spPr>
      </p:pic>
      <p:sp>
        <p:nvSpPr>
          <p:cNvPr id="75" name="Content Placeholder 3">
            <a:extLst>
              <a:ext uri="{FF2B5EF4-FFF2-40B4-BE49-F238E27FC236}">
                <a16:creationId xmlns:a16="http://schemas.microsoft.com/office/drawing/2014/main" id="{F4261B59-025B-63AA-B486-26FB895F1887}"/>
              </a:ext>
            </a:extLst>
          </p:cNvPr>
          <p:cNvSpPr txBox="1">
            <a:spLocks/>
          </p:cNvSpPr>
          <p:nvPr/>
        </p:nvSpPr>
        <p:spPr>
          <a:xfrm>
            <a:off x="4721713" y="2713906"/>
            <a:ext cx="2373334" cy="26917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</a:rPr>
              <a:t>★ </a:t>
            </a:r>
            <a:r>
              <a:rPr lang="ko-KR" altLang="en-US" sz="1200" b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</a:rPr>
              <a:t>목격왕</a:t>
            </a:r>
            <a:r>
              <a:rPr lang="ko-KR" altLang="en-US" sz="12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</a:rPr>
              <a:t> </a:t>
            </a:r>
            <a:r>
              <a:rPr lang="en-US" altLang="ko-KR" sz="12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</a:rPr>
              <a:t>(10</a:t>
            </a:r>
            <a:r>
              <a:rPr lang="ko-KR" altLang="en-US" sz="12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</a:rPr>
              <a:t>인</a:t>
            </a:r>
            <a:r>
              <a:rPr lang="en-US" altLang="ko-KR" sz="12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</a:rPr>
              <a:t>) </a:t>
            </a:r>
            <a:r>
              <a:rPr lang="en-US" altLang="ko-KR" sz="12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</a:rPr>
              <a:t>신간 도서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A70530E-1D48-B15A-4680-CE386E364902}"/>
              </a:ext>
            </a:extLst>
          </p:cNvPr>
          <p:cNvSpPr txBox="1"/>
          <p:nvPr/>
        </p:nvSpPr>
        <p:spPr>
          <a:xfrm>
            <a:off x="4647373" y="2208046"/>
            <a:ext cx="20829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6213" indent="-176213">
              <a:buFont typeface="Wingdings" panose="05000000000000000000" pitchFamily="2" charset="2"/>
              <a:buChar char="ü"/>
            </a:pPr>
            <a:r>
              <a:rPr lang="ko-KR" altLang="en-US" sz="1200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분기별 우수한 학습자</a:t>
            </a:r>
            <a:r>
              <a:rPr lang="en-US" altLang="ko-KR" sz="1200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200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선정</a:t>
            </a: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B53DCC57-1DBA-E934-D26D-AD825B529EDA}"/>
              </a:ext>
            </a:extLst>
          </p:cNvPr>
          <p:cNvGrpSpPr/>
          <p:nvPr/>
        </p:nvGrpSpPr>
        <p:grpSpPr>
          <a:xfrm>
            <a:off x="4721713" y="3974950"/>
            <a:ext cx="2935873" cy="2049930"/>
            <a:chOff x="4572367" y="3974950"/>
            <a:chExt cx="3236960" cy="2512902"/>
          </a:xfrm>
        </p:grpSpPr>
        <p:pic>
          <p:nvPicPr>
            <p:cNvPr id="72" name="그림 71" descr="텍스트, 인간의 얼굴, 사람, 포스터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2A808C60-3453-1BFE-269F-87DCADB91A3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367" y="3974950"/>
              <a:ext cx="1026974" cy="1217763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73" name="그림 72" descr="텍스트, 인간의 얼굴, 책, 포스터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F5229D63-D855-CD5D-294D-7792C8781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7847" y="3974950"/>
              <a:ext cx="1026974" cy="1217763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74" name="그림 73" descr="텍스트, 공, 골프, 스포츠 장비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E7EA17E5-EC99-DBA0-98AA-C7E5A9E56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3327" y="3974950"/>
              <a:ext cx="1023604" cy="1221944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79" name="그림 78" descr="텍스트, 의류, 여성, 스크린샷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97086138-2FC1-C0C1-F798-19D5CDDF275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7847" y="5271052"/>
              <a:ext cx="1026000" cy="12168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80" name="그림 79" descr="텍스트, 도표, 스크린샷, 폰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53196A25-1ED2-437D-5B9C-65B2F54D63F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3327" y="5271052"/>
              <a:ext cx="1026000" cy="12168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81" name="그림 80" descr="텍스트, 그래픽, 그래픽 디자인, 클립아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52E5CF0D-8F6E-B715-2A15-1038078AEBD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367" y="5271052"/>
              <a:ext cx="1026000" cy="12168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  <p:pic>
        <p:nvPicPr>
          <p:cNvPr id="84" name="그림 83">
            <a:extLst>
              <a:ext uri="{FF2B5EF4-FFF2-40B4-BE49-F238E27FC236}">
                <a16:creationId xmlns:a16="http://schemas.microsoft.com/office/drawing/2014/main" id="{DD6E4CF8-7957-2430-850F-5AE03ED2C3D1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79849" y="4307841"/>
            <a:ext cx="2025415" cy="1669300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3628813F-9685-D80B-F949-1409A63D0F64}"/>
              </a:ext>
            </a:extLst>
          </p:cNvPr>
          <p:cNvSpPr txBox="1"/>
          <p:nvPr/>
        </p:nvSpPr>
        <p:spPr>
          <a:xfrm>
            <a:off x="8306725" y="2208046"/>
            <a:ext cx="2520562" cy="342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분기별 다독왕에게 기프티콘 제공</a:t>
            </a:r>
            <a:endParaRPr lang="en-US" altLang="ko-KR" sz="1200" b="1" dirty="0">
              <a:solidFill>
                <a:schemeClr val="accent2">
                  <a:lumMod val="50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90" name="Content Placeholder 3">
            <a:extLst>
              <a:ext uri="{FF2B5EF4-FFF2-40B4-BE49-F238E27FC236}">
                <a16:creationId xmlns:a16="http://schemas.microsoft.com/office/drawing/2014/main" id="{3D693742-FD1E-7BD4-6BDF-DD651569B3B3}"/>
              </a:ext>
            </a:extLst>
          </p:cNvPr>
          <p:cNvSpPr txBox="1">
            <a:spLocks/>
          </p:cNvSpPr>
          <p:nvPr/>
        </p:nvSpPr>
        <p:spPr>
          <a:xfrm>
            <a:off x="8479849" y="2713906"/>
            <a:ext cx="2373334" cy="269173"/>
          </a:xfrm>
          <a:prstGeom prst="rect">
            <a:avLst/>
          </a:prstGeom>
        </p:spPr>
        <p:txBody>
          <a:bodyPr wrap="none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</a:rPr>
              <a:t>★ </a:t>
            </a:r>
            <a:r>
              <a:rPr lang="ko-KR" altLang="en-US" sz="1200" b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</a:rPr>
              <a:t>다독왕</a:t>
            </a:r>
            <a:r>
              <a:rPr lang="en-US" altLang="ko-KR" sz="12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</a:rPr>
              <a:t>(10</a:t>
            </a:r>
            <a:r>
              <a:rPr lang="ko-KR" altLang="en-US" sz="12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</a:rPr>
              <a:t>인</a:t>
            </a:r>
            <a:r>
              <a:rPr lang="en-US" altLang="ko-KR" sz="12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</a:rPr>
              <a:t>) </a:t>
            </a:r>
            <a:r>
              <a:rPr lang="en-US" altLang="ko-KR" sz="12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  <a:sym typeface="Wingdings" panose="05000000000000000000" pitchFamily="2" charset="2"/>
              </a:rPr>
              <a:t> </a:t>
            </a:r>
            <a:r>
              <a:rPr lang="ko-KR" altLang="en-US" sz="12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 pitchFamily="34" charset="0"/>
                <a:sym typeface="Wingdings" panose="05000000000000000000" pitchFamily="2" charset="2"/>
              </a:rPr>
              <a:t>기프티콘 제공</a:t>
            </a:r>
            <a:endParaRPr lang="ko-KR" altLang="en-US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8257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, 블랙, 그래픽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C95086F-0949-41D9-ACF5-C3FA1ED97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915" y="5348420"/>
            <a:ext cx="984153" cy="360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5440A6-10C5-9865-5A98-B683E7676131}"/>
              </a:ext>
            </a:extLst>
          </p:cNvPr>
          <p:cNvSpPr txBox="1"/>
          <p:nvPr/>
        </p:nvSpPr>
        <p:spPr>
          <a:xfrm>
            <a:off x="609600" y="2115530"/>
            <a:ext cx="3486976" cy="553998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r>
              <a:rPr lang="en-US" altLang="ko-KR" sz="30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End of Document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6AB842-CC2C-3C8B-4A93-F3764B62DE6D}"/>
              </a:ext>
            </a:extLst>
          </p:cNvPr>
          <p:cNvSpPr txBox="1"/>
          <p:nvPr/>
        </p:nvSpPr>
        <p:spPr>
          <a:xfrm>
            <a:off x="628454" y="1705465"/>
            <a:ext cx="1462383" cy="400110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r>
              <a:rPr lang="en-US" altLang="ko-KR" sz="20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Thank you</a:t>
            </a:r>
            <a:endParaRPr lang="ko-KR" altLang="en-US" sz="2000" kern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EA4EF6-30DC-52CD-036C-C4DC05693B32}"/>
              </a:ext>
            </a:extLst>
          </p:cNvPr>
          <p:cNvSpPr txBox="1"/>
          <p:nvPr/>
        </p:nvSpPr>
        <p:spPr>
          <a:xfrm>
            <a:off x="609600" y="5348419"/>
            <a:ext cx="5200463" cy="27699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문의  ㅣ 알파코 기업성장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·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혁신실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(mylee@alpaco.co.kr/ 010 8507 0915)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2F0EAC-CCB2-5F72-7554-629942CA81EC}"/>
              </a:ext>
            </a:extLst>
          </p:cNvPr>
          <p:cNvSpPr txBox="1"/>
          <p:nvPr/>
        </p:nvSpPr>
        <p:spPr>
          <a:xfrm>
            <a:off x="609600" y="5631570"/>
            <a:ext cx="1556836" cy="27699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www.alpaco.co.kr</a:t>
            </a:r>
          </a:p>
        </p:txBody>
      </p:sp>
    </p:spTree>
    <p:extLst>
      <p:ext uri="{BB962C8B-B14F-4D97-AF65-F5344CB8AC3E}">
        <p14:creationId xmlns:p14="http://schemas.microsoft.com/office/powerpoint/2010/main" val="15008338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0SlyZyt2J4csRlS3yIg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0SlyZyt2J4csRlS3yIg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0SlyZyt2J4csRlS3yIg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0SlyZyt2J4csRlS3yIgg"/>
</p:tagLst>
</file>

<file path=ppt/theme/theme1.xml><?xml version="1.0" encoding="utf-8"?>
<a:theme xmlns:a="http://schemas.openxmlformats.org/drawingml/2006/main" name="Office 테마">
  <a:themeElements>
    <a:clrScheme name="깨끗한나라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/>
      </a:spPr>
      <a:bodyPr wrap="none" tIns="0" bIns="0" rtlCol="0" anchor="ctr" anchorCtr="0"/>
      <a:lstStyle>
        <a:defPPr marL="0" marR="0" indent="0" algn="ctr" defTabSz="914400" rtl="0" eaLnBrk="1" fontAlgn="auto" latinLnBrk="0" hangingPunct="1"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sz="2000" b="0" kern="1200" spc="0" noProof="0" dirty="0" smtClean="0">
            <a:solidFill>
              <a:schemeClr val="bg1"/>
            </a:solidFill>
            <a:latin typeface="나눔스퀘어 네오 Regular" panose="00000500000000000000" pitchFamily="2" charset="-127"/>
            <a:ea typeface="나눔스퀘어 네오 Regular" panose="00000500000000000000" pitchFamily="2" charset="-127"/>
            <a:cs typeface="+mn-cs"/>
          </a:defRPr>
        </a:defPPr>
      </a:lstStyle>
      <a:style>
        <a:lnRef idx="2">
          <a:schemeClr val="accent2">
            <a:shade val="15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marL="285750" marR="0" indent="-285750" algn="l" defTabSz="914377" rtl="0" eaLnBrk="1" fontAlgn="auto" latinLnBrk="0" hangingPunct="1">
          <a:lnSpc>
            <a:spcPct val="120000"/>
          </a:lnSpc>
          <a:spcAft>
            <a:spcPts val="0"/>
          </a:spcAft>
          <a:buClrTx/>
          <a:buSzTx/>
          <a:buFont typeface="Wingdings" panose="05000000000000000000" pitchFamily="2" charset="2"/>
          <a:buChar char="ü"/>
          <a:tabLst/>
          <a:defRPr kumimoji="0" sz="1300" b="0" i="0" u="none" strike="noStrike" kern="1200" cap="none" spc="0" normalizeH="0" baseline="0" noProof="0" dirty="0">
            <a:ln>
              <a:noFill/>
            </a:ln>
            <a:solidFill>
              <a:prstClr val="black">
                <a:lumMod val="85000"/>
                <a:lumOff val="15000"/>
              </a:prstClr>
            </a:solidFill>
            <a:effectLst/>
            <a:uLnTx/>
            <a:uFillTx/>
            <a:latin typeface="나눔스퀘어 네오 Bold" panose="00000800000000000000" pitchFamily="2" charset="-127"/>
            <a:ea typeface="나눔스퀘어 네오 Bold" panose="000008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12661</TotalTime>
  <Words>3777</Words>
  <Application>Microsoft Office PowerPoint</Application>
  <PresentationFormat>와이드스크린</PresentationFormat>
  <Paragraphs>847</Paragraphs>
  <Slides>28</Slides>
  <Notes>7</Notes>
  <HiddenSlides>0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40" baseType="lpstr">
      <vt:lpstr>KoPub돋움체 Light</vt:lpstr>
      <vt:lpstr>나눔고딕</vt:lpstr>
      <vt:lpstr>나눔바른고딕</vt:lpstr>
      <vt:lpstr>나눔스퀘어 네오 Bold</vt:lpstr>
      <vt:lpstr>나눔스퀘어 네오 ExtraBold</vt:lpstr>
      <vt:lpstr>나눔스퀘어 네오 Heavy</vt:lpstr>
      <vt:lpstr>나눔스퀘어 네오 Regular</vt:lpstr>
      <vt:lpstr>맑은 고딕</vt:lpstr>
      <vt:lpstr>Arial</vt:lpstr>
      <vt:lpstr>Wingdings</vt:lpstr>
      <vt:lpstr>Office 테마</vt:lpstr>
      <vt:lpstr>think-cell Slide</vt:lpstr>
      <vt:lpstr>PowerPoint 프레젠테이션</vt:lpstr>
      <vt:lpstr>PowerPoint 프레젠테이션</vt:lpstr>
      <vt:lpstr>PowerPoint 프레젠테이션</vt:lpstr>
      <vt:lpstr>1. 일반현황 및 주요 연혁</vt:lpstr>
      <vt:lpstr>2. 주요사업 분야 및 조직구성</vt:lpstr>
      <vt:lpstr>3. 알파코 조직역량  검증된 전문가 그룹</vt:lpstr>
      <vt:lpstr>4. 정부 인증 및 수상 내역</vt:lpstr>
      <vt:lpstr>PowerPoint 프레젠테이션</vt:lpstr>
      <vt:lpstr>1. 프로젝트 추진방향</vt:lpstr>
      <vt:lpstr>2. 프로젝트 추진 단계</vt:lpstr>
      <vt:lpstr>3. 프로젝트 추진 단계별 상세</vt:lpstr>
      <vt:lpstr>3. 프로젝트 추진 단계별 상세</vt:lpstr>
      <vt:lpstr>3. 프로젝트 추진 단계별 상세</vt:lpstr>
      <vt:lpstr>3. 프로젝트 추진 단계별 상세</vt:lpstr>
      <vt:lpstr>PowerPoint 프레젠테이션</vt:lpstr>
      <vt:lpstr>PowerPoint 프레젠테이션</vt:lpstr>
      <vt:lpstr>3. 프로젝트 추진 단계별 상세</vt:lpstr>
      <vt:lpstr>3. 프로젝트 추진 단계별 상세</vt:lpstr>
      <vt:lpstr>3. 프로젝트 추진 단계별 상세</vt:lpstr>
      <vt:lpstr>3. 프로젝트 추진 단계별 상세</vt:lpstr>
      <vt:lpstr>3. 프로젝트 추진 단계별 상세</vt:lpstr>
      <vt:lpstr>3. 프로젝트 추진 단계별 상세</vt:lpstr>
      <vt:lpstr>3. 프로젝트 추진 단계별 상세</vt:lpstr>
      <vt:lpstr>3. 프로젝트 추진 단계별 상세</vt:lpstr>
      <vt:lpstr>3. 프로젝트 추진 단계별 상세</vt:lpstr>
      <vt:lpstr>PowerPoint 프레젠테이션</vt:lpstr>
      <vt:lpstr>1. 차별화된 부가서비스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김혜정</dc:creator>
  <cp:lastModifiedBy>이미영</cp:lastModifiedBy>
  <cp:revision>2845</cp:revision>
  <cp:lastPrinted>2025-02-24T05:32:51Z</cp:lastPrinted>
  <dcterms:created xsi:type="dcterms:W3CDTF">2024-10-07T05:19:08Z</dcterms:created>
  <dcterms:modified xsi:type="dcterms:W3CDTF">2025-06-05T13:22:52Z</dcterms:modified>
</cp:coreProperties>
</file>