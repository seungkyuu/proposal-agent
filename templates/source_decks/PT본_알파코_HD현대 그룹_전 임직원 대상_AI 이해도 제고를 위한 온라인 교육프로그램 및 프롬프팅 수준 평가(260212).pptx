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33"/>
  </p:notesMasterIdLst>
  <p:handoutMasterIdLst>
    <p:handoutMasterId r:id="rId34"/>
  </p:handoutMasterIdLst>
  <p:sldIdLst>
    <p:sldId id="2134806937" r:id="rId3"/>
    <p:sldId id="2147472124" r:id="rId4"/>
    <p:sldId id="2134807110" r:id="rId5"/>
    <p:sldId id="2134807253" r:id="rId6"/>
    <p:sldId id="2147472035" r:id="rId7"/>
    <p:sldId id="2147472202" r:id="rId8"/>
    <p:sldId id="2147472221" r:id="rId9"/>
    <p:sldId id="2134807072" r:id="rId10"/>
    <p:sldId id="2147472126" r:id="rId11"/>
    <p:sldId id="2147472229" r:id="rId12"/>
    <p:sldId id="2147472228" r:id="rId13"/>
    <p:sldId id="2147472303" r:id="rId14"/>
    <p:sldId id="2147472312" r:id="rId15"/>
    <p:sldId id="2147472239" r:id="rId16"/>
    <p:sldId id="2147472311" r:id="rId17"/>
    <p:sldId id="2147472240" r:id="rId18"/>
    <p:sldId id="2147472305" r:id="rId19"/>
    <p:sldId id="2147472309" r:id="rId20"/>
    <p:sldId id="2147472302" r:id="rId21"/>
    <p:sldId id="2147472129" r:id="rId22"/>
    <p:sldId id="2134807059" r:id="rId23"/>
    <p:sldId id="2134807435" r:id="rId24"/>
    <p:sldId id="2147379481" r:id="rId25"/>
    <p:sldId id="2147472247" r:id="rId26"/>
    <p:sldId id="2134807238" r:id="rId27"/>
    <p:sldId id="2147379584" r:id="rId28"/>
    <p:sldId id="2147472246" r:id="rId29"/>
    <p:sldId id="2147472253" r:id="rId30"/>
    <p:sldId id="2147472304" r:id="rId31"/>
    <p:sldId id="2134806457" r:id="rId32"/>
  </p:sldIdLst>
  <p:sldSz cx="12192000" cy="6858000"/>
  <p:notesSz cx="9939338" cy="6807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4" pos="288" userDrawn="1">
          <p15:clr>
            <a:srgbClr val="A4A3A4"/>
          </p15:clr>
        </p15:guide>
        <p15:guide id="19" pos="7344" userDrawn="1">
          <p15:clr>
            <a:srgbClr val="A4A3A4"/>
          </p15:clr>
        </p15:guide>
        <p15:guide id="20" orient="horz" pos="4080" userDrawn="1">
          <p15:clr>
            <a:srgbClr val="A4A3A4"/>
          </p15:clr>
        </p15:guide>
        <p15:guide id="25" pos="3840" userDrawn="1">
          <p15:clr>
            <a:srgbClr val="A4A3A4"/>
          </p15:clr>
        </p15:guide>
        <p15:guide id="26" orient="horz" pos="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999"/>
    <a:srgbClr val="FF9924"/>
    <a:srgbClr val="6E7B7F"/>
    <a:srgbClr val="456DE8"/>
    <a:srgbClr val="115497"/>
    <a:srgbClr val="0000FF"/>
    <a:srgbClr val="E3EDEF"/>
    <a:srgbClr val="595959"/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6325" autoAdjust="0"/>
  </p:normalViewPr>
  <p:slideViewPr>
    <p:cSldViewPr>
      <p:cViewPr varScale="1">
        <p:scale>
          <a:sx n="108" d="100"/>
          <a:sy n="108" d="100"/>
        </p:scale>
        <p:origin x="499" y="86"/>
      </p:cViewPr>
      <p:guideLst>
        <p:guide pos="288"/>
        <p:guide pos="7344"/>
        <p:guide orient="horz" pos="4080"/>
        <p:guide pos="3840"/>
        <p:guide orient="horz" pos="9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3533"/>
    </p:cViewPr>
  </p:sorterViewPr>
  <p:notesViewPr>
    <p:cSldViewPr>
      <p:cViewPr varScale="1">
        <p:scale>
          <a:sx n="106" d="100"/>
          <a:sy n="106" d="100"/>
        </p:scale>
        <p:origin x="816" y="11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76F5283-E1AD-5523-265F-0E0E3508C5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1936"/>
          </a:xfrm>
          <a:prstGeom prst="rect">
            <a:avLst/>
          </a:prstGeom>
        </p:spPr>
        <p:txBody>
          <a:bodyPr vert="horz" lIns="80376" tIns="40188" rIns="80376" bIns="40188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2A4D54-A751-E03E-D8C6-E62362D2F7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9703" y="0"/>
            <a:ext cx="4307046" cy="341936"/>
          </a:xfrm>
          <a:prstGeom prst="rect">
            <a:avLst/>
          </a:prstGeom>
        </p:spPr>
        <p:txBody>
          <a:bodyPr vert="horz" lIns="80376" tIns="40188" rIns="80376" bIns="40188" rtlCol="0"/>
          <a:lstStyle>
            <a:lvl1pPr algn="r">
              <a:defRPr sz="1100"/>
            </a:lvl1pPr>
          </a:lstStyle>
          <a:p>
            <a:fld id="{67F36DD2-F386-48D0-9FB2-067CB9A599D2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885A9E-75BC-EF7C-D351-96C025F204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65265"/>
            <a:ext cx="4307046" cy="341935"/>
          </a:xfrm>
          <a:prstGeom prst="rect">
            <a:avLst/>
          </a:prstGeom>
        </p:spPr>
        <p:txBody>
          <a:bodyPr vert="horz" lIns="80376" tIns="40188" rIns="80376" bIns="40188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492C84-117E-91C3-971C-5046A01AB34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9703" y="6465265"/>
            <a:ext cx="4307046" cy="341935"/>
          </a:xfrm>
          <a:prstGeom prst="rect">
            <a:avLst/>
          </a:prstGeom>
        </p:spPr>
        <p:txBody>
          <a:bodyPr vert="horz" lIns="80376" tIns="40188" rIns="80376" bIns="40188" rtlCol="0" anchor="b"/>
          <a:lstStyle>
            <a:lvl1pPr algn="r">
              <a:defRPr sz="1100"/>
            </a:lvl1pPr>
          </a:lstStyle>
          <a:p>
            <a:fld id="{7D86865F-91A1-4FC2-8410-EC8823C4AA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4647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4" userDrawn="1">
          <p15:clr>
            <a:srgbClr val="F26B43"/>
          </p15:clr>
        </p15:guide>
        <p15:guide id="2" pos="313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7046" cy="341936"/>
          </a:xfrm>
          <a:prstGeom prst="rect">
            <a:avLst/>
          </a:prstGeom>
        </p:spPr>
        <p:txBody>
          <a:bodyPr vert="horz" lIns="80376" tIns="40188" rIns="80376" bIns="40188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9703" y="0"/>
            <a:ext cx="4307046" cy="341936"/>
          </a:xfrm>
          <a:prstGeom prst="rect">
            <a:avLst/>
          </a:prstGeom>
        </p:spPr>
        <p:txBody>
          <a:bodyPr vert="horz" lIns="80376" tIns="40188" rIns="80376" bIns="40188" rtlCol="0"/>
          <a:lstStyle>
            <a:lvl1pPr algn="r">
              <a:defRPr sz="1100"/>
            </a:lvl1pPr>
          </a:lstStyle>
          <a:p>
            <a:fld id="{C89DC3A0-97ED-402A-A64C-AE1854C2F513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28938" y="850900"/>
            <a:ext cx="4081462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0376" tIns="40188" rIns="80376" bIns="4018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3934" y="3275966"/>
            <a:ext cx="7951470" cy="2680335"/>
          </a:xfrm>
          <a:prstGeom prst="rect">
            <a:avLst/>
          </a:prstGeom>
        </p:spPr>
        <p:txBody>
          <a:bodyPr vert="horz" lIns="80376" tIns="40188" rIns="80376" bIns="4018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65265"/>
            <a:ext cx="4307046" cy="341935"/>
          </a:xfrm>
          <a:prstGeom prst="rect">
            <a:avLst/>
          </a:prstGeom>
        </p:spPr>
        <p:txBody>
          <a:bodyPr vert="horz" lIns="80376" tIns="40188" rIns="80376" bIns="40188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9703" y="6465265"/>
            <a:ext cx="4307046" cy="341935"/>
          </a:xfrm>
          <a:prstGeom prst="rect">
            <a:avLst/>
          </a:prstGeom>
        </p:spPr>
        <p:txBody>
          <a:bodyPr vert="horz" lIns="80376" tIns="40188" rIns="80376" bIns="40188" rtlCol="0" anchor="b"/>
          <a:lstStyle>
            <a:lvl1pPr algn="r">
              <a:defRPr sz="1100"/>
            </a:lvl1pPr>
          </a:lstStyle>
          <a:p>
            <a:fld id="{565AE13B-5892-4AA9-96AB-F5C0B1E1AF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82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44" userDrawn="1">
          <p15:clr>
            <a:srgbClr val="F26B43"/>
          </p15:clr>
        </p15:guide>
        <p15:guide id="2" pos="313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AE13B-5892-4AA9-96AB-F5C0B1E1AF9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6180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64E3-2CB9-A7FD-A398-F38B7611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779756-C61D-EA72-9274-621447AE1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045569-8E09-6F20-2932-9038281AB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디자인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FA97C-0AFC-F7C4-1207-7C3D1C27FD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746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B9611-AF40-8E95-E1CF-8F4E5A6E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3C0C6A-FE31-24DE-78F9-2AA5CA643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DEB186-98D7-D73F-66CC-8E44CED35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디자인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640122-7B77-F08D-E0C6-03DB891E9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98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E557A-B96A-1EFC-CF85-C2E26845F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C8F34-5CFF-A816-8611-AC148FA57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9C5234-A5B4-FC19-CF30-E895BEC52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디자인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796CF-8571-99DE-2024-EFD86F31E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510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31E6-134A-2FB6-5F48-EB74A524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AC7DA-5A50-88D1-2E7E-AE25BD94E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AEC17E-8D77-25F4-4BE3-749DA70CD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 디자인 체크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B5DA3B-C346-4B3A-3F76-944B9827EC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082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620B-FC8B-B3C6-850B-739D03764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045FFA-DC13-92E6-B0C3-9418400D6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0A2BAF-E3CC-6345-F20D-9BAC22554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56207-A64B-3AE7-467E-D3694AAD5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AE13B-5892-4AA9-96AB-F5C0B1E1AF9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94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EDDA-0344-72FE-7A77-CD40C413D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7945F9-BEB8-673F-EDC1-DA8531860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1389D6-3DF5-CF67-62C3-44A674C07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96BB2D-F423-1D34-4D4D-F2BB4708E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AE13B-5892-4AA9-96AB-F5C0B1E1AF9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736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7FE5-60FC-7450-A592-0957AC3AD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44BBDF-4CDE-055A-C177-A3E735774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454B1C-AE09-5F62-F475-AD0FDC387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92522-CFD2-F7FE-B784-4FEC18B63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AE13B-5892-4AA9-96AB-F5C0B1E1AF9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622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937F5-FCEB-C0DF-7558-9C705A8E3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F17E0A-35E0-F675-CF85-327962F11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32167F-DE90-3AE8-B3A8-7B8B4C8F9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05452-CBBD-DD39-BA39-C8D0A963B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AE13B-5892-4AA9-96AB-F5C0B1E1AF9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104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AE13B-5892-4AA9-96AB-F5C0B1E1AF9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41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495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3F471-536E-C52B-882E-8CE9741CB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85A23D-70FC-62CF-E1AC-F3FFC71D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6DE241-4CD1-4A0B-1075-D0666323E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내용 삽입</a:t>
            </a:r>
            <a:endParaRPr lang="en-US" altLang="ko-KR" dirty="0"/>
          </a:p>
          <a:p>
            <a:r>
              <a:rPr lang="ko-KR" altLang="en-US" dirty="0"/>
              <a:t>내용 체크 </a:t>
            </a:r>
            <a:endParaRPr lang="en-US" altLang="ko-KR" dirty="0"/>
          </a:p>
          <a:p>
            <a:r>
              <a:rPr lang="ko-KR" altLang="en-US" dirty="0"/>
              <a:t>디자인 체크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0040C-55BF-4381-FB44-216C78A75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5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6E06-A990-42C6-E0F4-A6F050A1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DDF57E-D55C-CFAA-4978-8AD803B1BE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08E440-5730-8D56-F4A9-CA89FBB67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내용 체크 </a:t>
            </a:r>
            <a:endParaRPr lang="en-US" altLang="ko-KR" dirty="0"/>
          </a:p>
          <a:p>
            <a:r>
              <a:rPr lang="ko-KR" altLang="en-US" dirty="0"/>
              <a:t>디자인 체크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E9B7AD-BEE7-4BBE-842D-7AD559567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0771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1077-4ECE-B90B-9C64-58014BD67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AD0B8D-88B7-4EF6-324D-8C85E3657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BD452E-EF93-D81F-99C6-F644FEB2C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EADE3F-0D71-32AF-5284-BA9DF42DC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575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D1CA-026D-17D7-0BA0-7E3588B47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9A2255-0E30-94B3-43CF-ECBED6B91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0F3AE9-08E5-9C78-3FB1-7AA1ACE1E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9C7FC-8CFA-8C2E-413D-C6D85153B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5997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535A-0ABD-43AF-F5A1-25FBFE6B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7E3288-E15E-9988-A05A-A91BC9294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08EBF6-C9A3-5717-C287-3E555D6CE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C38C5E-C3BC-5DBB-CAD5-06527141FD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7E9AFB-D72A-4918-9833-75E573AF68D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95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jpe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D0D0D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04040"/>
                </a:solidFill>
                <a:latin typeface="Malgun Gothic"/>
                <a:cs typeface="Malgun Gothic"/>
              </a:defRPr>
            </a:lvl1pPr>
          </a:lstStyle>
          <a:p>
            <a:pPr marL="6858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/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6186" y="479501"/>
            <a:ext cx="299021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0D0D0D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나눔스퀘어 네오 Bold" panose="00000800000000000000" pitchFamily="2" charset="-127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04040"/>
                </a:solidFill>
                <a:latin typeface="Malgun Gothic"/>
                <a:cs typeface="Malgun Gothic"/>
              </a:defRPr>
            </a:lvl1pPr>
          </a:lstStyle>
          <a:p>
            <a:pPr marL="6858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/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915AABEA-7C3F-BE6F-E1F5-74CEE43715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941929"/>
            <a:ext cx="11147727" cy="203133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1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D0D0D"/>
                </a:solidFill>
                <a:latin typeface="Malgun Gothic"/>
                <a:cs typeface="Malgun Gothic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04040"/>
                </a:solidFill>
                <a:latin typeface="Malgun Gothic"/>
                <a:cs typeface="Malgun Gothic"/>
              </a:defRPr>
            </a:lvl1pPr>
          </a:lstStyle>
          <a:p>
            <a:pPr marL="6858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/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803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DA33BEB-F0BB-E9B5-A9C1-1060F745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2D44F0D-42EE-734E-83B2-E54DA6AE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FEFF6C-8498-C8C4-F592-A5AD2D64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696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-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B5D26433-42C3-7AC4-6662-56FDDFF4384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04266" y="439017"/>
            <a:ext cx="6529388" cy="48577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3" name="내용 개체 틀 13">
            <a:extLst>
              <a:ext uri="{FF2B5EF4-FFF2-40B4-BE49-F238E27FC236}">
                <a16:creationId xmlns:a16="http://schemas.microsoft.com/office/drawing/2014/main" id="{4C1A8C88-E69D-7A6D-59D1-578D5F33E7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04266" y="1088566"/>
            <a:ext cx="11332014" cy="48577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C208B251-7700-7D62-6DBF-1866B3AED4C7}"/>
              </a:ext>
            </a:extLst>
          </p:cNvPr>
          <p:cNvSpPr txBox="1">
            <a:spLocks/>
          </p:cNvSpPr>
          <p:nvPr userDrawn="1"/>
        </p:nvSpPr>
        <p:spPr>
          <a:xfrm>
            <a:off x="11385297" y="6551524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700C91-CD03-045B-E489-D3128D7D162D}"/>
              </a:ext>
            </a:extLst>
          </p:cNvPr>
          <p:cNvSpPr txBox="1"/>
          <p:nvPr userDrawn="1"/>
        </p:nvSpPr>
        <p:spPr>
          <a:xfrm>
            <a:off x="9983910" y="6562775"/>
            <a:ext cx="1665841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제안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6B6AE7A-BCF4-CAE3-B2F8-3004B8CC09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732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020206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352304-ECD9-99A1-C96D-732E068B6C63}"/>
              </a:ext>
            </a:extLst>
          </p:cNvPr>
          <p:cNvSpPr/>
          <p:nvPr userDrawn="1"/>
        </p:nvSpPr>
        <p:spPr>
          <a:xfrm>
            <a:off x="529227" y="2207305"/>
            <a:ext cx="11053173" cy="4127789"/>
          </a:xfrm>
          <a:prstGeom prst="rect">
            <a:avLst/>
          </a:pr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E52037-7F64-EE67-D4C0-C08082C9ACAE}"/>
              </a:ext>
            </a:extLst>
          </p:cNvPr>
          <p:cNvSpPr txBox="1">
            <a:spLocks/>
          </p:cNvSpPr>
          <p:nvPr userDrawn="1"/>
        </p:nvSpPr>
        <p:spPr>
          <a:xfrm>
            <a:off x="11385297" y="6551524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5F238-077E-C789-738D-A8D359E68C9E}"/>
              </a:ext>
            </a:extLst>
          </p:cNvPr>
          <p:cNvSpPr txBox="1"/>
          <p:nvPr userDrawn="1"/>
        </p:nvSpPr>
        <p:spPr>
          <a:xfrm>
            <a:off x="9983910" y="6562775"/>
            <a:ext cx="1665841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제안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BBBF09D-E704-2A60-C114-6BE5826A88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547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272336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36E55CB5-4DC5-D798-EE32-1B86F21D053B}"/>
              </a:ext>
            </a:extLst>
          </p:cNvPr>
          <p:cNvSpPr txBox="1">
            <a:spLocks/>
          </p:cNvSpPr>
          <p:nvPr userDrawn="1"/>
        </p:nvSpPr>
        <p:spPr>
          <a:xfrm>
            <a:off x="11385297" y="6551524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9CCC9-284F-B2C7-4219-2BBC77F8EEBC}"/>
              </a:ext>
            </a:extLst>
          </p:cNvPr>
          <p:cNvSpPr txBox="1"/>
          <p:nvPr userDrawn="1"/>
        </p:nvSpPr>
        <p:spPr>
          <a:xfrm>
            <a:off x="9983910" y="6562775"/>
            <a:ext cx="1665841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제안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A5AD097-582A-7C59-5A1C-ECDD4F7CF9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16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926896"/>
            <a:ext cx="11147727" cy="7344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lang="en-US" altLang="ko-KR" sz="1200" b="0" kern="1200" spc="0" baseline="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75C9E87D-510D-C09A-0CEC-B832FCF5C71E}"/>
              </a:ext>
            </a:extLst>
          </p:cNvPr>
          <p:cNvSpPr txBox="1">
            <a:spLocks/>
          </p:cNvSpPr>
          <p:nvPr userDrawn="1"/>
        </p:nvSpPr>
        <p:spPr>
          <a:xfrm>
            <a:off x="11385297" y="6551524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B88DA-3B8A-584B-F808-AC0B1465DDA9}"/>
              </a:ext>
            </a:extLst>
          </p:cNvPr>
          <p:cNvSpPr txBox="1"/>
          <p:nvPr userDrawn="1"/>
        </p:nvSpPr>
        <p:spPr>
          <a:xfrm>
            <a:off x="9983910" y="6562775"/>
            <a:ext cx="1665841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제안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C27C4CA-CB86-31B7-15EA-8048F2E38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05601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27249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1898" y="1244139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3BBC776-D586-F139-985E-7CAA812655D5}"/>
              </a:ext>
            </a:extLst>
          </p:cNvPr>
          <p:cNvSpPr txBox="1">
            <a:spLocks/>
          </p:cNvSpPr>
          <p:nvPr userDrawn="1"/>
        </p:nvSpPr>
        <p:spPr>
          <a:xfrm>
            <a:off x="11385297" y="6477000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00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00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5C51D7-D778-F3E7-AA61-6BACDA6EA1C0}"/>
              </a:ext>
            </a:extLst>
          </p:cNvPr>
          <p:cNvSpPr txBox="1"/>
          <p:nvPr userDrawn="1"/>
        </p:nvSpPr>
        <p:spPr>
          <a:xfrm>
            <a:off x="9983910" y="6488251"/>
            <a:ext cx="1665841" cy="215444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8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제안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814C233-FEBB-44B8-599F-4F983C2F00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2578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4917EC4-1A97-407A-00E4-998A6FE29A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180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27343-3229-C0A6-CBA8-668A697D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2A27D8-0154-A539-90F6-4421ACE5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492BC-3D70-4570-B37B-04BA20311834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5AC349-8173-EFEE-18B3-0D678F56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7C41BB-0F8C-43A8-BB49-5CC87975B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7339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EEA545-1515-3F83-ED6A-712337389089}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5" name="그림 4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94424F85-17F4-08CB-81B8-AD8B593F57B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9945" y="6290247"/>
            <a:ext cx="610555" cy="20199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5B39B2-DE32-6D5A-67E0-08E0910AB76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4385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EEA545-1515-3F83-ED6A-712337389089}"/>
              </a:ext>
            </a:extLst>
          </p:cNvPr>
          <p:cNvSpPr/>
          <p:nvPr userDrawn="1"/>
        </p:nvSpPr>
        <p:spPr>
          <a:xfrm>
            <a:off x="0" y="0"/>
            <a:ext cx="40767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25C971A-9FE5-ECBC-7299-574474B7412B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oundRect">
            <a:avLst>
              <a:gd name="adj" fmla="val 0"/>
            </a:avLst>
          </a:prstGeom>
          <a:solidFill>
            <a:srgbClr val="456DE8"/>
          </a:solidFill>
          <a:ln w="12700"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67A924-2239-643F-F626-31712A7602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692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748D7F-132A-9B78-6BEC-E193352696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153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837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>
            <a:extLst>
              <a:ext uri="{FF2B5EF4-FFF2-40B4-BE49-F238E27FC236}">
                <a16:creationId xmlns:a16="http://schemas.microsoft.com/office/drawing/2014/main" id="{21B64908-B9DC-4F3A-B9DD-B7B513ABEF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634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4" name="개체 3" hidden="1">
                        <a:extLst>
                          <a:ext uri="{FF2B5EF4-FFF2-40B4-BE49-F238E27FC236}">
                            <a16:creationId xmlns:a16="http://schemas.microsoft.com/office/drawing/2014/main" id="{21B64908-B9DC-4F3A-B9DD-B7B513ABEF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>
            <a:extLst>
              <a:ext uri="{FF2B5EF4-FFF2-40B4-BE49-F238E27FC236}">
                <a16:creationId xmlns:a16="http://schemas.microsoft.com/office/drawing/2014/main" id="{44ACC6AD-18F0-4074-AB93-0012D72CA08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GB" altLang="ko-KR" sz="3088" b="1" i="0" baseline="0" dirty="0">
              <a:solidFill>
                <a:schemeClr val="tx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55B6642-0A55-4068-B403-FF36CF1D7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875" y="449227"/>
            <a:ext cx="9163639" cy="431006"/>
          </a:xfrm>
          <a:prstGeom prst="rect">
            <a:avLst/>
          </a:prstGeom>
        </p:spPr>
        <p:txBody>
          <a:bodyPr wrap="none" lIns="36000" tIns="36000" rIns="36000" bIns="36000" anchor="ctr"/>
          <a:lstStyle>
            <a:lvl1pPr>
              <a:lnSpc>
                <a:spcPct val="100000"/>
              </a:lnSpc>
              <a:defRPr sz="2000" spc="0" baseline="0">
                <a:solidFill>
                  <a:schemeClr val="tx1">
                    <a:lumMod val="95000"/>
                    <a:lumOff val="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F68A4CE-4D04-33A7-6AFC-2F7ADF760C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0560" y="1020206"/>
            <a:ext cx="11147727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9690E-4BAA-5C11-AB70-C4268D7BA687}"/>
              </a:ext>
            </a:extLst>
          </p:cNvPr>
          <p:cNvSpPr txBox="1">
            <a:spLocks/>
          </p:cNvSpPr>
          <p:nvPr userDrawn="1"/>
        </p:nvSpPr>
        <p:spPr>
          <a:xfrm>
            <a:off x="11629137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ko-KR" sz="813" b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9" name="그림 8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2E41E458-5435-D1DC-DD63-471DA8F4808C}"/>
              </a:ext>
            </a:extLst>
          </p:cNvPr>
          <p:cNvPicPr preferRelativeResize="0"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5701" y="6485645"/>
            <a:ext cx="504000" cy="166741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7D1800E-2650-4B68-1BB8-2A38C2C234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7326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">
            <a:extLst>
              <a:ext uri="{FF2B5EF4-FFF2-40B4-BE49-F238E27FC236}">
                <a16:creationId xmlns:a16="http://schemas.microsoft.com/office/drawing/2014/main" id="{B1D8845D-84DE-4D5C-9ED0-39AD8602F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224" y="260649"/>
            <a:ext cx="10489673" cy="544511"/>
          </a:xfrm>
          <a:prstGeom prst="rect">
            <a:avLst/>
          </a:prstGeom>
        </p:spPr>
        <p:txBody>
          <a:bodyPr tIns="72000" bIns="0" anchor="ctr" anchorCtr="0">
            <a:normAutofit/>
          </a:bodyPr>
          <a:lstStyle>
            <a:lvl1pPr>
              <a:defRPr lang="ko-KR" altLang="en-US" sz="2000" b="1" kern="1200" spc="-100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텍스트 개체 틀 6">
            <a:extLst>
              <a:ext uri="{FF2B5EF4-FFF2-40B4-BE49-F238E27FC236}">
                <a16:creationId xmlns:a16="http://schemas.microsoft.com/office/drawing/2014/main" id="{3094D101-DDD1-493E-A22E-790B50318B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9772" y="908376"/>
            <a:ext cx="11564283" cy="648419"/>
          </a:xfrm>
          <a:prstGeom prst="rect">
            <a:avLst/>
          </a:prstGeom>
        </p:spPr>
        <p:txBody>
          <a:bodyPr>
            <a:normAutofit/>
          </a:bodyPr>
          <a:lstStyle>
            <a:lvl1pPr marL="180975" indent="-180975" algn="l" latinLnBrk="0">
              <a:lnSpc>
                <a:spcPct val="110000"/>
              </a:lnSpc>
              <a:buFont typeface="Wingdings" panose="05000000000000000000" pitchFamily="2" charset="2"/>
              <a:buChar char="§"/>
              <a:defRPr sz="13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12496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ub-Chapter">
  <p:cSld name="8_Sub-Chapt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502875" y="467603"/>
            <a:ext cx="9163639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36000" rIns="36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000"/>
              <a:buFont typeface="Arial"/>
              <a:buNone/>
              <a:defRPr sz="2000">
                <a:solidFill>
                  <a:srgbClr val="0C0C0C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640560" y="963934"/>
            <a:ext cx="11147727" cy="73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0" lvl="0" indent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62626"/>
              </a:buClr>
              <a:buSzPts val="1200"/>
              <a:buNone/>
              <a:defRPr sz="1200" b="0">
                <a:solidFill>
                  <a:srgbClr val="262626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/>
          <p:nvPr/>
        </p:nvSpPr>
        <p:spPr>
          <a:xfrm>
            <a:off x="11270997" y="6435308"/>
            <a:ext cx="451134" cy="230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813" b="0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fld id="{00000000-1234-1234-1234-123412341234}" type="slidenum">
              <a:rPr lang="ko-KR" sz="813" b="0" i="0" u="none" strike="noStrik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813" b="0" i="0" u="none" strike="noStrike" cap="none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" name="Google Shape;19;p2" descr="스크린샷, 블랙, 그래픽, 폰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57561" y="6485645"/>
            <a:ext cx="504000" cy="1667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5220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4">
            <a:extLst>
              <a:ext uri="{FF2B5EF4-FFF2-40B4-BE49-F238E27FC236}">
                <a16:creationId xmlns:a16="http://schemas.microsoft.com/office/drawing/2014/main" id="{0DB9A6BF-BBF4-4B92-A4B9-D88DEE5452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861" y="429014"/>
            <a:ext cx="11147727" cy="3952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00000"/>
              </a:lnSpc>
              <a:defRPr sz="2000" b="1" spc="-50" baseline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en-GB" dirty="0"/>
              <a:t>Key message</a:t>
            </a:r>
            <a:endParaRPr 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785BC9F6-3249-4A2C-800A-2D1F9FE016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5826" y="874457"/>
            <a:ext cx="10689056" cy="734471"/>
          </a:xfrm>
          <a:prstGeom prst="rect">
            <a:avLst/>
          </a:prstGeom>
        </p:spPr>
        <p:txBody>
          <a:bodyPr lIns="0" tIns="0" rIns="0" bIns="0"/>
          <a:lstStyle>
            <a:lvl1pPr marL="0" indent="0" algn="l" latinLnBrk="0">
              <a:lnSpc>
                <a:spcPct val="120000"/>
              </a:lnSpc>
              <a:spcBef>
                <a:spcPts val="200"/>
              </a:spcBef>
              <a:buNone/>
              <a:defRPr sz="1200" b="0" spc="0" baseline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  <a:lvl6pPr marL="2286000" indent="0">
              <a:buNone/>
              <a:defRPr/>
            </a:lvl6pPr>
            <a:lvl7pPr marL="2743200" indent="0">
              <a:buNone/>
              <a:defRPr/>
            </a:lvl7pPr>
            <a:lvl8pPr marL="3200400" indent="0">
              <a:buNone/>
              <a:defRPr/>
            </a:lvl8pPr>
            <a:lvl9pPr marL="3657600" indent="0">
              <a:buNone/>
              <a:defRPr/>
            </a:lvl9pPr>
          </a:lstStyle>
          <a:p>
            <a:pPr lvl="0"/>
            <a:r>
              <a:rPr lang="en-US" altLang="ko-KR" dirty="0"/>
              <a:t>Sub-heading: Add supporting detail.</a:t>
            </a:r>
          </a:p>
        </p:txBody>
      </p:sp>
      <p:sp>
        <p:nvSpPr>
          <p:cNvPr id="3" name="슬라이드 번호 개체 틀 5">
            <a:extLst>
              <a:ext uri="{FF2B5EF4-FFF2-40B4-BE49-F238E27FC236}">
                <a16:creationId xmlns:a16="http://schemas.microsoft.com/office/drawing/2014/main" id="{7A21953F-67A5-266E-5F30-8EA399A2BEEF}"/>
              </a:ext>
            </a:extLst>
          </p:cNvPr>
          <p:cNvSpPr txBox="1">
            <a:spLocks/>
          </p:cNvSpPr>
          <p:nvPr userDrawn="1"/>
        </p:nvSpPr>
        <p:spPr>
          <a:xfrm>
            <a:off x="11377210" y="6435308"/>
            <a:ext cx="451134" cy="230276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3E69C318-79EE-4D33-9269-CA8477FBA421}" type="slidenum">
              <a:rPr lang="ko-KR" altLang="en-US" sz="813" b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pPr algn="r">
                <a:defRPr/>
              </a:pPr>
              <a:t>‹#›</a:t>
            </a:fld>
            <a:endParaRPr lang="ko-KR" altLang="en-US" sz="813" b="0" dirty="0">
              <a:solidFill>
                <a:schemeClr val="tx1">
                  <a:lumMod val="75000"/>
                  <a:lumOff val="2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323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6" Type="http://schemas.openxmlformats.org/officeDocument/2006/relationships/slideLayout" Target="../slideLayouts/slideLayout20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6186" y="479501"/>
            <a:ext cx="2990215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D0D0D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673" y="2408237"/>
            <a:ext cx="11275695" cy="3896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75257" y="6505734"/>
            <a:ext cx="218313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404040"/>
                </a:solidFill>
                <a:latin typeface="Malgun Gothic"/>
                <a:cs typeface="Malgun Gothic"/>
              </a:defRPr>
            </a:lvl1pPr>
          </a:lstStyle>
          <a:p>
            <a:pPr marL="68580">
              <a:lnSpc>
                <a:spcPct val="100000"/>
              </a:lnSpc>
              <a:spcBef>
                <a:spcPts val="185"/>
              </a:spcBef>
            </a:pPr>
            <a:r>
              <a:rPr spc="-25" dirty="0"/>
              <a:t>/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1BB1A83-6D12-C335-A1C1-E09F9742F99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5690" y="457200"/>
            <a:ext cx="854810" cy="371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8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06F9B0-25D6-1E6C-E2D2-B6E7D041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2106AD-3026-46C6-E5D7-9B8E1B532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13A8DB-9945-1E2B-D800-B08B155BA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492BC-3D70-4570-B37B-04BA20311834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8104F-C137-4D2F-AF12-61DBD2603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3B66B3-7C3F-5C03-955D-B7A659DCE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A95FC-6922-4C7D-9604-2AC7CF989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07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91" r:id="rId10"/>
    <p:sldLayoutId id="2147483692" r:id="rId11"/>
    <p:sldLayoutId id="2147483685" r:id="rId12"/>
    <p:sldLayoutId id="2147483686" r:id="rId13"/>
    <p:sldLayoutId id="2147483689" r:id="rId14"/>
    <p:sldLayoutId id="2147483690" r:id="rId15"/>
    <p:sldLayoutId id="2147483693" r:id="rId1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jpeg"/><Relationship Id="rId3" Type="http://schemas.openxmlformats.org/officeDocument/2006/relationships/image" Target="../media/image7.jpe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jpe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png"/><Relationship Id="rId20" Type="http://schemas.openxmlformats.org/officeDocument/2006/relationships/image" Target="../media/image24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24" Type="http://schemas.openxmlformats.org/officeDocument/2006/relationships/image" Target="../media/image28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jpe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8.png"/><Relationship Id="rId5" Type="http://schemas.openxmlformats.org/officeDocument/2006/relationships/image" Target="../media/image57.jpeg"/><Relationship Id="rId4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://211.33.169.220:8888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8.png"/><Relationship Id="rId4" Type="http://schemas.openxmlformats.org/officeDocument/2006/relationships/hyperlink" Target="https://alpacotest.alpaedu.co.kr/usrs/cms/classrm/contentsStudyPopUp.do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74.jpeg"/><Relationship Id="rId5" Type="http://schemas.microsoft.com/office/2007/relationships/media" Target="../media/media3.mp3"/><Relationship Id="rId10" Type="http://schemas.openxmlformats.org/officeDocument/2006/relationships/image" Target="../media/image73.png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8.jpeg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alpaco.co.kr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4B6F-67D5-36C5-BA7C-77DBBF2B8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F4613C-8648-DBD2-90B7-2BD6286AD85E}"/>
              </a:ext>
            </a:extLst>
          </p:cNvPr>
          <p:cNvSpPr/>
          <p:nvPr/>
        </p:nvSpPr>
        <p:spPr>
          <a:xfrm>
            <a:off x="5037841" y="0"/>
            <a:ext cx="71628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94DF88-1161-83DB-AEFA-6E513A12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688441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2B6F24-66FC-7FC6-4085-3223CA6D21BC}"/>
              </a:ext>
            </a:extLst>
          </p:cNvPr>
          <p:cNvSpPr/>
          <p:nvPr/>
        </p:nvSpPr>
        <p:spPr>
          <a:xfrm>
            <a:off x="0" y="0"/>
            <a:ext cx="5029200" cy="6884416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2D3364-8B67-12AB-5736-474CF86A8D0C}"/>
              </a:ext>
            </a:extLst>
          </p:cNvPr>
          <p:cNvSpPr txBox="1"/>
          <p:nvPr/>
        </p:nvSpPr>
        <p:spPr>
          <a:xfrm>
            <a:off x="549258" y="1088151"/>
            <a:ext cx="607983" cy="338554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algn="ctr"/>
            <a:r>
              <a:rPr lang="en-US" altLang="ko-KR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PT</a:t>
            </a:r>
            <a:r>
              <a:rPr lang="ko-KR" altLang="en-US" sz="16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본</a:t>
            </a:r>
            <a:endParaRPr lang="ko-KR" altLang="en-US" sz="1600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823156-8130-4FC2-CF42-FD3C981782F1}"/>
              </a:ext>
            </a:extLst>
          </p:cNvPr>
          <p:cNvCxnSpPr>
            <a:cxnSpLocks/>
          </p:cNvCxnSpPr>
          <p:nvPr/>
        </p:nvCxnSpPr>
        <p:spPr>
          <a:xfrm>
            <a:off x="533400" y="1066800"/>
            <a:ext cx="576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EB5DC4BC-9A65-C47A-4E1E-3D761A574E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003540"/>
            <a:ext cx="658242" cy="24107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14E30C6-3E3A-C4B9-C622-5A0405FEB023}"/>
              </a:ext>
            </a:extLst>
          </p:cNvPr>
          <p:cNvSpPr txBox="1"/>
          <p:nvPr/>
        </p:nvSpPr>
        <p:spPr>
          <a:xfrm>
            <a:off x="1150088" y="5985577"/>
            <a:ext cx="3001143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l  © 2025 ALPACO all rights reserved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AB15A-4C6A-1572-BBE6-AC3BB740044C}"/>
              </a:ext>
            </a:extLst>
          </p:cNvPr>
          <p:cNvSpPr txBox="1"/>
          <p:nvPr/>
        </p:nvSpPr>
        <p:spPr>
          <a:xfrm>
            <a:off x="5489282" y="2350115"/>
            <a:ext cx="1260405" cy="461665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24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lang="ko-KR" altLang="en-US" sz="24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endParaRPr lang="en-US" altLang="ko-KR" sz="240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6B19A8-A9B8-6E1E-2A1D-EC0F3C5B1F78}"/>
              </a:ext>
            </a:extLst>
          </p:cNvPr>
          <p:cNvSpPr txBox="1"/>
          <p:nvPr/>
        </p:nvSpPr>
        <p:spPr>
          <a:xfrm>
            <a:off x="5489282" y="2789455"/>
            <a:ext cx="5495538" cy="1153906"/>
          </a:xfrm>
          <a:prstGeom prst="rect">
            <a:avLst/>
          </a:prstGeom>
          <a:noFill/>
        </p:spPr>
        <p:txBody>
          <a:bodyPr wrap="none" lIns="3600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3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</a:t>
            </a:r>
            <a:br>
              <a:rPr lang="en-US" altLang="ko-KR" sz="3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</a:br>
            <a:r>
              <a:rPr lang="ko-KR" altLang="en-US" sz="3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온라인 교육프로그램 개발 제안</a:t>
            </a:r>
            <a:endParaRPr lang="en-US" altLang="ko-KR" sz="32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/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4712C7-6419-9618-236D-285630ADE31B}"/>
              </a:ext>
            </a:extLst>
          </p:cNvPr>
          <p:cNvSpPr txBox="1"/>
          <p:nvPr/>
        </p:nvSpPr>
        <p:spPr>
          <a:xfrm>
            <a:off x="5452202" y="5961403"/>
            <a:ext cx="2024913" cy="5227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제안일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2026. 1. 30. Fri.</a:t>
            </a:r>
            <a:b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PT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  2026. 2.  11. Wed.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4077BD-4B89-6821-C24F-446BF213456B}"/>
              </a:ext>
            </a:extLst>
          </p:cNvPr>
          <p:cNvSpPr txBox="1"/>
          <p:nvPr/>
        </p:nvSpPr>
        <p:spPr>
          <a:xfrm>
            <a:off x="6573520" y="2483683"/>
            <a:ext cx="3063783" cy="307777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디지털 전환에 따른 일하는 방식의 변화</a:t>
            </a:r>
            <a:endParaRPr kumimoji="0" lang="en-US" altLang="ko-KR" sz="14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5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F3D86-E29E-0EC6-147B-EF704E5DF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6B1A287-39F1-39B8-9245-65236D54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844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5175D7F-E1CA-304B-F98B-1218C9963DD7}"/>
              </a:ext>
            </a:extLst>
          </p:cNvPr>
          <p:cNvSpPr/>
          <p:nvPr/>
        </p:nvSpPr>
        <p:spPr>
          <a:xfrm>
            <a:off x="0" y="0"/>
            <a:ext cx="5029200" cy="6884416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8DA69F-1D99-DBB4-3D9B-33F0A36DDEB3}"/>
              </a:ext>
            </a:extLst>
          </p:cNvPr>
          <p:cNvSpPr txBox="1"/>
          <p:nvPr/>
        </p:nvSpPr>
        <p:spPr>
          <a:xfrm>
            <a:off x="6060522" y="3920308"/>
            <a:ext cx="2836157" cy="1089978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일반현황 및 주요 연혁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주요사업 분야 및 조직구성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en-US" altLang="ko-KR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DX·AI </a:t>
            </a: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변화관리 파트너</a:t>
            </a:r>
            <a:r>
              <a:rPr lang="en-US" altLang="ko-KR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알파코</a:t>
            </a:r>
            <a:endParaRPr lang="en-US" altLang="ko-KR" sz="14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4ECC5-D680-A49B-E172-503CDD19F3B1}"/>
              </a:ext>
            </a:extLst>
          </p:cNvPr>
          <p:cNvSpPr txBox="1"/>
          <p:nvPr/>
        </p:nvSpPr>
        <p:spPr>
          <a:xfrm>
            <a:off x="5550641" y="3292003"/>
            <a:ext cx="2093843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Ⅰ. </a:t>
            </a:r>
            <a:r>
              <a:rPr lang="ko-KR" altLang="en-US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제안업체 일반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5A46599-44B9-0368-5EA6-5BA34AECFEC5}"/>
              </a:ext>
            </a:extLst>
          </p:cNvPr>
          <p:cNvCxnSpPr>
            <a:cxnSpLocks/>
          </p:cNvCxnSpPr>
          <p:nvPr/>
        </p:nvCxnSpPr>
        <p:spPr>
          <a:xfrm>
            <a:off x="430679" y="1466065"/>
            <a:ext cx="215059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3F14565-4B1F-F3A2-2D3A-E200FD95EC00}"/>
              </a:ext>
            </a:extLst>
          </p:cNvPr>
          <p:cNvSpPr txBox="1"/>
          <p:nvPr/>
        </p:nvSpPr>
        <p:spPr>
          <a:xfrm>
            <a:off x="305094" y="928295"/>
            <a:ext cx="2954779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「디지털 전환에 따른 일하는 방식의 변화」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9C1FD-5F42-8264-EFDE-955DDA0A4BF9}"/>
              </a:ext>
            </a:extLst>
          </p:cNvPr>
          <p:cNvSpPr txBox="1"/>
          <p:nvPr/>
        </p:nvSpPr>
        <p:spPr>
          <a:xfrm>
            <a:off x="400344" y="1163533"/>
            <a:ext cx="2057098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40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4CFC-734F-1727-E3A2-FB06EF89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F4F5218C-522D-F367-7B95-0729E2A4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336800" algn="l"/>
              </a:tabLst>
            </a:pPr>
            <a:r>
              <a:rPr lang="en-US" altLang="ko-KR" dirty="0"/>
              <a:t>1. </a:t>
            </a:r>
            <a:r>
              <a:rPr lang="ko-KR" altLang="en-US" sz="2000" dirty="0"/>
              <a:t>일반현황 및 주요 연혁</a:t>
            </a:r>
            <a:endParaRPr lang="ko-KR" altLang="en-US" sz="1200" dirty="0"/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7BE7DE40-7271-79AE-A9EB-6DDCC8B3B2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atinLnBrk="1"/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알파코는 원격교육 환경의 변화를 선제적으로 받아들이는 동시에 디지털 전환</a:t>
            </a:r>
            <a:r>
              <a:rPr lang="en-US" altLang="ko-KR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(DX)</a:t>
            </a:r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의 학습환경을 구축해 나가는 단계를 통하여 디지털우수교육 기관으로 역량강화를 진행함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A3D4D79-BF79-FE76-F01B-98841F073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801840"/>
              </p:ext>
            </p:extLst>
          </p:nvPr>
        </p:nvGraphicFramePr>
        <p:xfrm>
          <a:off x="442913" y="1661367"/>
          <a:ext cx="5545137" cy="46483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95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㈜알파코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 분야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서비스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9579"/>
                  </a:ext>
                </a:extLst>
              </a:tr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 설립일자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1999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법인전환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2006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이윤성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96741"/>
                  </a:ext>
                </a:extLst>
              </a:tr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인적구성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63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88312"/>
                  </a:ext>
                </a:extLst>
              </a:tr>
              <a:tr h="113693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사무실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성수이로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113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제강빌딩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아차산로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111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우행빌딩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 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대구광역시 수성구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달구벌대로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2280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아성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타워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39156"/>
                  </a:ext>
                </a:extLst>
              </a:tr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 전화번호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02-2163-5700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636"/>
                  </a:ext>
                </a:extLst>
              </a:tr>
              <a:tr h="262963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홈페이지 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www.alpaco.co.kr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88166"/>
                  </a:ext>
                </a:extLst>
              </a:tr>
              <a:tr h="1670715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인증  및 수상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트레이닝 운영기관 재선정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사업주 </a:t>
                      </a:r>
                      <a:r>
                        <a:rPr lang="ko-KR" altLang="en-US" sz="950" b="0" kern="1200" spc="-2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직업능력개발훈련우수사례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경진대회 최우수기관 선정</a:t>
                      </a:r>
                      <a:r>
                        <a:rPr lang="en-US" altLang="ko-KR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spc="-2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디지털기초역량 운영기관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하이테크플랫폼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찾아가는 학교 연수 지원 사업 주관 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한국과학창의재단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원격훈련 기관인증평가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인증 우수기관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교실혁명 선도교사 양성 연수 수행기관 선정 외 다수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82711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0B58318-BC6C-B592-E46A-92B2FCB4FE47}"/>
              </a:ext>
            </a:extLst>
          </p:cNvPr>
          <p:cNvSpPr/>
          <p:nvPr/>
        </p:nvSpPr>
        <p:spPr>
          <a:xfrm>
            <a:off x="442913" y="1305597"/>
            <a:ext cx="1224000" cy="3018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일반 현황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B8FC54D-14B9-A1A3-9288-2A6006DA48B3}"/>
              </a:ext>
            </a:extLst>
          </p:cNvPr>
          <p:cNvGrpSpPr/>
          <p:nvPr/>
        </p:nvGrpSpPr>
        <p:grpSpPr>
          <a:xfrm>
            <a:off x="6104322" y="1305597"/>
            <a:ext cx="5644765" cy="5004159"/>
            <a:chOff x="6104322" y="1305597"/>
            <a:chExt cx="5454865" cy="500415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AC8A3E1-33C4-330D-B6B6-5DC545E0EB80}"/>
                </a:ext>
              </a:extLst>
            </p:cNvPr>
            <p:cNvSpPr/>
            <p:nvPr/>
          </p:nvSpPr>
          <p:spPr>
            <a:xfrm>
              <a:off x="6106083" y="1305597"/>
              <a:ext cx="1224001" cy="30183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algn="ctr" defTabSz="914400"/>
              <a:r>
                <a:rPr lang="ko-KR" altLang="en-US" sz="1400" b="1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주요 연혁</a:t>
              </a: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F067057D-ACEA-4472-4E2E-C25BDBB059F0}"/>
                </a:ext>
              </a:extLst>
            </p:cNvPr>
            <p:cNvGrpSpPr/>
            <p:nvPr/>
          </p:nvGrpSpPr>
          <p:grpSpPr>
            <a:xfrm>
              <a:off x="6104322" y="1661368"/>
              <a:ext cx="5454865" cy="4648388"/>
              <a:chOff x="6285297" y="1730008"/>
              <a:chExt cx="5454865" cy="4579747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636A5C1C-40AA-E4A5-614A-E61CB8A73D18}"/>
                  </a:ext>
                </a:extLst>
              </p:cNvPr>
              <p:cNvSpPr/>
              <p:nvPr/>
            </p:nvSpPr>
            <p:spPr>
              <a:xfrm>
                <a:off x="7502565" y="1730182"/>
                <a:ext cx="4212160" cy="8818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K-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사업기관 선정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(2021.09)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전용교육장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스튜디오 및 캠퍼스 오픈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(2021.08)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디지털 전환 콘텐츠 개발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(Python,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빅데이터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AI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등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코딩실습 프로그램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(IDE)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(2021.01)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외 다수 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중소벤처기업부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K-</a:t>
                </a:r>
                <a:r>
                  <a:rPr lang="ko-KR" altLang="en-US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비대면바우처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 공급기업 선정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(2020.09)</a:t>
                </a:r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D3B2EEF3-E9CA-D514-3DE8-E63F6961BFE5}"/>
                  </a:ext>
                </a:extLst>
              </p:cNvPr>
              <p:cNvSpPr/>
              <p:nvPr/>
            </p:nvSpPr>
            <p:spPr>
              <a:xfrm>
                <a:off x="6285297" y="1730008"/>
                <a:ext cx="1227524" cy="88222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디지털 전환기</a:t>
                </a:r>
                <a:endParaRPr lang="en-US" altLang="ko-KR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2020 ~ </a:t>
                </a:r>
                <a:r>
                  <a:rPr lang="ko-KR" altLang="en-US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현재</a:t>
                </a:r>
              </a:p>
            </p:txBody>
          </p:sp>
          <p:sp>
            <p:nvSpPr>
              <p:cNvPr id="39" name="순서도: 대체 처리 38">
                <a:extLst>
                  <a:ext uri="{FF2B5EF4-FFF2-40B4-BE49-F238E27FC236}">
                    <a16:creationId xmlns:a16="http://schemas.microsoft.com/office/drawing/2014/main" id="{C74F173A-C766-3AD5-25E2-86E5105A0620}"/>
                  </a:ext>
                </a:extLst>
              </p:cNvPr>
              <p:cNvSpPr/>
              <p:nvPr/>
            </p:nvSpPr>
            <p:spPr>
              <a:xfrm>
                <a:off x="6330396" y="1932599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디지털 전환기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1CD14587-A6FE-578B-6B32-A228A59E2B56}"/>
                  </a:ext>
                </a:extLst>
              </p:cNvPr>
              <p:cNvSpPr/>
              <p:nvPr/>
            </p:nvSpPr>
            <p:spPr>
              <a:xfrm>
                <a:off x="7492481" y="2825079"/>
                <a:ext cx="4247681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고용노동부 기관인증평가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3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년 우수훈련기관 선정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(2019.12)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과학기술정보통신부 </a:t>
                </a:r>
                <a:r>
                  <a:rPr lang="ko-KR" altLang="en-US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굿콘텐츠서비스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 인증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(2019.10)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헬스케어 사업부분 신설 및 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WELDERS  </a:t>
                </a:r>
                <a:r>
                  <a:rPr lang="ko-KR" altLang="en-US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브랜드 런칭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(2019.03)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2,000개,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(2017.12)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7B9ED887-973F-D9E2-5EEE-50932226DC3F}"/>
                  </a:ext>
                </a:extLst>
              </p:cNvPr>
              <p:cNvSpPr/>
              <p:nvPr/>
            </p:nvSpPr>
            <p:spPr>
              <a:xfrm>
                <a:off x="6285297" y="2825079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새로운 </a:t>
                </a:r>
                <a:r>
                  <a:rPr lang="ko-KR" altLang="en-US" sz="1100" b="1" i="1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도전기</a:t>
                </a:r>
                <a:endParaRPr lang="en-US" altLang="ko-KR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2016 ~ 2019</a:t>
                </a:r>
              </a:p>
            </p:txBody>
          </p:sp>
          <p:sp>
            <p:nvSpPr>
              <p:cNvPr id="40" name="순서도: 대체 처리 39">
                <a:extLst>
                  <a:ext uri="{FF2B5EF4-FFF2-40B4-BE49-F238E27FC236}">
                    <a16:creationId xmlns:a16="http://schemas.microsoft.com/office/drawing/2014/main" id="{A0EA53F0-536E-6997-B00C-E92512595753}"/>
                  </a:ext>
                </a:extLst>
              </p:cNvPr>
              <p:cNvSpPr/>
              <p:nvPr/>
            </p:nvSpPr>
            <p:spPr>
              <a:xfrm>
                <a:off x="6330396" y="2960640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새로운 </a:t>
                </a:r>
                <a:r>
                  <a:rPr lang="ko-KR" altLang="en-US" sz="1100" dirty="0" err="1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도전기</a:t>
                </a:r>
                <a:endPara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038F0EF3-A108-0BF0-7045-4F618F6CA7BC}"/>
                  </a:ext>
                </a:extLst>
              </p:cNvPr>
              <p:cNvSpPr/>
              <p:nvPr/>
            </p:nvSpPr>
            <p:spPr>
              <a:xfrm>
                <a:off x="7503324" y="3752244"/>
                <a:ext cx="4209482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훈련기관평가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4년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연속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최우수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(1위)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직업능력개발원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NIPA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시범사업자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선정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/ICT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사업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1,500개,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100만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ECD2FBC-D925-0E6B-D715-BD45979E66A1}"/>
                  </a:ext>
                </a:extLst>
              </p:cNvPr>
              <p:cNvSpPr/>
              <p:nvPr/>
            </p:nvSpPr>
            <p:spPr>
              <a:xfrm>
                <a:off x="6285297" y="375224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체질 </a:t>
                </a:r>
                <a:r>
                  <a:rPr lang="ko-KR" altLang="en-US" sz="1100" b="1" i="1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강화기</a:t>
                </a:r>
                <a:endParaRPr lang="en-US" altLang="ko-KR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2011 ~ 2015</a:t>
                </a:r>
              </a:p>
            </p:txBody>
          </p:sp>
          <p:sp>
            <p:nvSpPr>
              <p:cNvPr id="41" name="순서도: 대체 처리 40">
                <a:extLst>
                  <a:ext uri="{FF2B5EF4-FFF2-40B4-BE49-F238E27FC236}">
                    <a16:creationId xmlns:a16="http://schemas.microsoft.com/office/drawing/2014/main" id="{5229E5EE-885B-D4ED-DEE5-711F5EBDE163}"/>
                  </a:ext>
                </a:extLst>
              </p:cNvPr>
              <p:cNvSpPr/>
              <p:nvPr/>
            </p:nvSpPr>
            <p:spPr>
              <a:xfrm>
                <a:off x="6330396" y="3884524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체질 </a:t>
                </a:r>
                <a:r>
                  <a:rPr lang="ko-KR" altLang="en-US" sz="1100" dirty="0" err="1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강화기</a:t>
                </a:r>
                <a:endPara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C31A327E-F2EF-CE7B-6F2E-2C3F8CF61F63}"/>
                  </a:ext>
                </a:extLst>
              </p:cNvPr>
              <p:cNvSpPr/>
              <p:nvPr/>
            </p:nvSpPr>
            <p:spPr>
              <a:xfrm>
                <a:off x="7502564" y="4674433"/>
                <a:ext cx="4212160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인적자원우수기관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인증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산업인력공단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우수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프로그램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경진대회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금상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인터넷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원격훈련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이러닝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1,000개,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50만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B770B39-D709-FECA-4EDB-5AF379F775B9}"/>
                  </a:ext>
                </a:extLst>
              </p:cNvPr>
              <p:cNvSpPr/>
              <p:nvPr/>
            </p:nvSpPr>
            <p:spPr>
              <a:xfrm>
                <a:off x="6285297" y="4674433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성장과 </a:t>
                </a:r>
                <a:r>
                  <a:rPr lang="ko-KR" altLang="en-US" sz="1100" b="1" i="1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향상기</a:t>
                </a:r>
                <a:endParaRPr lang="ko-KR" altLang="en-US" sz="1100" b="1" i="1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2011 ~ 2015</a:t>
                </a:r>
              </a:p>
            </p:txBody>
          </p:sp>
          <p:sp>
            <p:nvSpPr>
              <p:cNvPr id="42" name="순서도: 대체 처리 41">
                <a:extLst>
                  <a:ext uri="{FF2B5EF4-FFF2-40B4-BE49-F238E27FC236}">
                    <a16:creationId xmlns:a16="http://schemas.microsoft.com/office/drawing/2014/main" id="{A2C9F8C0-7085-051D-90B5-1D014942F2D2}"/>
                  </a:ext>
                </a:extLst>
              </p:cNvPr>
              <p:cNvSpPr/>
              <p:nvPr/>
            </p:nvSpPr>
            <p:spPr>
              <a:xfrm>
                <a:off x="6330396" y="4790465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성장과 </a:t>
                </a:r>
                <a:r>
                  <a:rPr lang="ko-KR" altLang="en-US" sz="1100" dirty="0" err="1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향상기</a:t>
                </a:r>
                <a:endParaRPr lang="ko-KR" altLang="en-US" sz="1100" dirty="0">
                  <a:solidFill>
                    <a:schemeClr val="bg1"/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DB5F0AF-155D-5946-5AB4-3E394A938662}"/>
                  </a:ext>
                </a:extLst>
              </p:cNvPr>
              <p:cNvSpPr/>
              <p:nvPr/>
            </p:nvSpPr>
            <p:spPr>
              <a:xfrm>
                <a:off x="7499688" y="5596624"/>
                <a:ext cx="4222293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1999년 9월 1일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설립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동업계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최초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Web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기반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학습관리시스템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(LMS)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구축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통신교육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프로세스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endParaRPr lang="en-US" altLang="ko-KR" sz="1000" kern="0" spc="-1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400개,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lang="en-US" altLang="ko-KR" sz="1000" kern="0" spc="-100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20만 </a:t>
                </a:r>
                <a:r>
                  <a:rPr lang="en-US" altLang="ko-KR" sz="1000" kern="0" spc="-100" dirty="0" err="1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lang="ko-KR" altLang="en-US" sz="10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68CD4907-E7E2-723B-74BE-194E93917B25}"/>
                  </a:ext>
                </a:extLst>
              </p:cNvPr>
              <p:cNvSpPr/>
              <p:nvPr/>
            </p:nvSpPr>
            <p:spPr>
              <a:xfrm>
                <a:off x="6285297" y="559662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1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창업과 형성기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000" b="1" i="1" dirty="0">
                    <a:solidFill>
                      <a:schemeClr val="tx1"/>
                    </a:solidFill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</a:rPr>
                  <a:t>1999 ~ 2004</a:t>
                </a:r>
              </a:p>
            </p:txBody>
          </p:sp>
          <p:sp>
            <p:nvSpPr>
              <p:cNvPr id="43" name="순서도: 대체 처리 42">
                <a:extLst>
                  <a:ext uri="{FF2B5EF4-FFF2-40B4-BE49-F238E27FC236}">
                    <a16:creationId xmlns:a16="http://schemas.microsoft.com/office/drawing/2014/main" id="{4AC003D1-B8C6-C703-B2E2-E10E00052329}"/>
                  </a:ext>
                </a:extLst>
              </p:cNvPr>
              <p:cNvSpPr/>
              <p:nvPr/>
            </p:nvSpPr>
            <p:spPr>
              <a:xfrm>
                <a:off x="6330396" y="5702827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</a:rPr>
                  <a:t>창업과 형성기</a:t>
                </a:r>
              </a:p>
            </p:txBody>
          </p:sp>
          <p:sp>
            <p:nvSpPr>
              <p:cNvPr id="56" name="순서도: 추출 55">
                <a:extLst>
                  <a:ext uri="{FF2B5EF4-FFF2-40B4-BE49-F238E27FC236}">
                    <a16:creationId xmlns:a16="http://schemas.microsoft.com/office/drawing/2014/main" id="{D3021107-7875-958E-C945-86FEDDEE2541}"/>
                  </a:ext>
                </a:extLst>
              </p:cNvPr>
              <p:cNvSpPr/>
              <p:nvPr/>
            </p:nvSpPr>
            <p:spPr>
              <a:xfrm>
                <a:off x="6801899" y="2651860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순서도: 추출 56">
                <a:extLst>
                  <a:ext uri="{FF2B5EF4-FFF2-40B4-BE49-F238E27FC236}">
                    <a16:creationId xmlns:a16="http://schemas.microsoft.com/office/drawing/2014/main" id="{41187298-E7E1-CEC9-C834-F53290F1E25D}"/>
                  </a:ext>
                </a:extLst>
              </p:cNvPr>
              <p:cNvSpPr/>
              <p:nvPr/>
            </p:nvSpPr>
            <p:spPr>
              <a:xfrm>
                <a:off x="6801899" y="3584003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순서도: 추출 57">
                <a:extLst>
                  <a:ext uri="{FF2B5EF4-FFF2-40B4-BE49-F238E27FC236}">
                    <a16:creationId xmlns:a16="http://schemas.microsoft.com/office/drawing/2014/main" id="{10F92CE7-C74D-FFFC-481D-1FDF6A7F1C31}"/>
                  </a:ext>
                </a:extLst>
              </p:cNvPr>
              <p:cNvSpPr/>
              <p:nvPr/>
            </p:nvSpPr>
            <p:spPr>
              <a:xfrm>
                <a:off x="6801899" y="4507804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순서도: 추출 58">
                <a:extLst>
                  <a:ext uri="{FF2B5EF4-FFF2-40B4-BE49-F238E27FC236}">
                    <a16:creationId xmlns:a16="http://schemas.microsoft.com/office/drawing/2014/main" id="{47413998-BA3C-21CE-0938-4209F6579E81}"/>
                  </a:ext>
                </a:extLst>
              </p:cNvPr>
              <p:cNvSpPr/>
              <p:nvPr/>
            </p:nvSpPr>
            <p:spPr>
              <a:xfrm>
                <a:off x="6801899" y="5433296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F7F0D383-7C10-E0F4-F224-176F9BD02F7F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4P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9791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26CA-B8DD-57BE-9157-ED7D070DC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CBCEBB0-2142-C8D7-FFE5-94C2D8089E6D}"/>
              </a:ext>
            </a:extLst>
          </p:cNvPr>
          <p:cNvSpPr/>
          <p:nvPr/>
        </p:nvSpPr>
        <p:spPr>
          <a:xfrm>
            <a:off x="6008451" y="1294131"/>
            <a:ext cx="1224001" cy="3018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조직도</a:t>
            </a:r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7F675529-675F-FECF-49A9-43A6925C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336800" algn="l"/>
              </a:tabLst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2.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주요사업 분야 및 조직구성</a:t>
            </a: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81A0A4EA-40F2-8197-BDA2-F3792E6BFA6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각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분야별 전문가들로 구성된 조직력을 통해 </a:t>
            </a:r>
            <a:r>
              <a:rPr lang="en-US" altLang="ko-KR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DX </a:t>
            </a:r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교육부터 이러닝</a:t>
            </a:r>
            <a:r>
              <a:rPr lang="en-US" altLang="ko-KR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/</a:t>
            </a:r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북러닝까지 기업의 성장에 필요한 </a:t>
            </a:r>
            <a:r>
              <a:rPr lang="en-US" altLang="ko-KR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All in One </a:t>
            </a:r>
            <a:r>
              <a:rPr lang="ko-KR" altLang="en-US" sz="1200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교육 서비스를 제공</a:t>
            </a:r>
            <a:endParaRPr lang="en-US" altLang="ko-KR" sz="1200" dirty="0">
              <a:solidFill>
                <a:srgbClr val="262626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/>
            </a:endParaRPr>
          </a:p>
        </p:txBody>
      </p:sp>
      <p:graphicFrame>
        <p:nvGraphicFramePr>
          <p:cNvPr id="212" name="표 211">
            <a:extLst>
              <a:ext uri="{FF2B5EF4-FFF2-40B4-BE49-F238E27FC236}">
                <a16:creationId xmlns:a16="http://schemas.microsoft.com/office/drawing/2014/main" id="{4A932BD9-04C3-08E5-3DCC-CB129F111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268562"/>
              </p:ext>
            </p:extLst>
          </p:nvPr>
        </p:nvGraphicFramePr>
        <p:xfrm>
          <a:off x="627739" y="1657882"/>
          <a:ext cx="5267621" cy="469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684">
                  <a:extLst>
                    <a:ext uri="{9D8B030D-6E8A-4147-A177-3AD203B41FA5}">
                      <a16:colId xmlns:a16="http://schemas.microsoft.com/office/drawing/2014/main" val="3806160415"/>
                    </a:ext>
                  </a:extLst>
                </a:gridCol>
                <a:gridCol w="4367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29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기업 </a:t>
                      </a:r>
                      <a:endParaRPr lang="en-US" altLang="ko-KR" sz="11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DX </a:t>
                      </a:r>
                      <a:r>
                        <a:rPr lang="ko-KR" altLang="en-US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교육</a:t>
                      </a:r>
                      <a:endParaRPr lang="en-US" altLang="ko-KR" sz="1100" b="0" cap="none" spc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매년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300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개사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수강생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25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만명 대상 온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오프라인 교육서비스 제공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트렌드에 맞춘 체계화된 교육 로드맵을 통한 교육 제공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기업의 디지털 업무 전환을 위한 프로세스 컨설팅 및 구축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비전공자 및 경력자 모두를 위한 맞춤형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 진행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금융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제조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유통 등 산업별 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적용 사례 기반 실습형 교육 과정 운영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B2B 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 플랫폼 운영 및 기업 내 디지털 학습 환경 구축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7252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디지털 교육</a:t>
                      </a:r>
                    </a:p>
                  </a:txBody>
                  <a:tcPr marL="36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전국민 디지털 역량 강화를 위한 공유 개방과 디지털 교육 운영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디지털 인재 양성 사업 운영 주관 및 디지털 교육 프로그램 협력 파트너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온</a:t>
                      </a:r>
                      <a:r>
                        <a:rPr lang="en-US" altLang="ko-KR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오프라인 연계 학습 인프라 구축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825897"/>
                  </a:ext>
                </a:extLst>
              </a:tr>
              <a:tr h="865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이러닝</a:t>
                      </a:r>
                      <a:endParaRPr kumimoji="0" lang="en-US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0" lvl="0" indent="-182563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약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300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여개의 과정을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44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개의 카테고리로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제공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269875" marR="0" lvl="0" indent="-182563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최신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트렌드를 반영한 지속적인 교육 콘텐츠 업데이트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269875" marR="0" lvl="0" indent="-182563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학습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튜터와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학습자간 상호작용 제공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269875" marR="0" lvl="0" indent="-182563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>
                          <a:tab pos="269875" algn="l"/>
                        </a:tabLst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기초부터 실무 적용까지 단계별 교육 커리큘럼 제안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0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590317"/>
                  </a:ext>
                </a:extLst>
              </a:tr>
              <a:tr h="880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북러닝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약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280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여개 환급 과정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3500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여개의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비환급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과정을 </a:t>
                      </a:r>
                      <a:r>
                        <a:rPr kumimoji="0" lang="en-US" altLang="ko-KR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61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개 카테고리로 제공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기업별 니즈에 맞춘 독서 큐레이션 및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북러닝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콘텐츠 제작 지원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최신 도서를 반영한 정기 업데이트 및 트렌드 기반 추천 도서 제공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조직 내 지속적인 학습 문화 정착을 위한 </a:t>
                      </a:r>
                      <a:r>
                        <a:rPr kumimoji="0" lang="ko-KR" altLang="en-US" sz="1000" b="0" i="0" u="none" strike="noStrike" kern="1200" cap="none" spc="-2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북러닝</a:t>
                      </a:r>
                      <a:r>
                        <a:rPr kumimoji="0" lang="ko-KR" altLang="en-US" sz="1000" b="0" i="0" u="none" strike="noStrike" kern="1200" cap="none" spc="-2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코칭 및 컨설팅 지원</a:t>
                      </a:r>
                      <a:endParaRPr kumimoji="0" lang="en-US" altLang="ko-KR" sz="1000" b="0" i="0" u="none" strike="noStrike" kern="1200" cap="none" spc="-2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294308"/>
                  </a:ext>
                </a:extLst>
              </a:tr>
              <a:tr h="9568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커스텀 과정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기업의 목표와 인재 육성 전략에 따른 </a:t>
                      </a:r>
                      <a:r>
                        <a:rPr lang="ko-KR" altLang="en-US" sz="1000" b="0" spc="-2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맞춤화</a:t>
                      </a:r>
                      <a:r>
                        <a:rPr lang="ko-KR" altLang="en-US" sz="1000" b="0" spc="-2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 된 교육 과정 기획</a:t>
                      </a:r>
                      <a:endParaRPr lang="en-US" altLang="ko-KR" sz="1000" b="0" spc="-2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조직의 실제 업무와 연계된 실전형 교육 프로그램 개발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기업 내부 사례</a:t>
                      </a:r>
                      <a:r>
                        <a:rPr kumimoji="0" lang="en-US" altLang="ko-KR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데이터</a:t>
                      </a:r>
                      <a:r>
                        <a:rPr kumimoji="0" lang="en-US" altLang="ko-KR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시스템을 활용한 맞춤형 실습 제공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일반적인 </a:t>
                      </a:r>
                      <a:r>
                        <a:rPr kumimoji="0" lang="en-US" altLang="ko-KR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DX </a:t>
                      </a: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교육에서 다루지 않는 전문적 심화 과정 기획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  <a:p>
                      <a:pPr marL="171450" indent="-171450" algn="l" defTabSz="914400" rtl="0" eaLnBrk="1" latinLnBrk="1" hangingPunct="1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kumimoji="0" lang="ko-KR" altLang="en-US" sz="1000" b="0" i="0" u="none" strike="noStrike" kern="1200" cap="none" spc="-2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Pretendard SemiBold" panose="02000703000000020004" pitchFamily="50" charset="-127"/>
                        </a:rPr>
                        <a:t>교육 후 지속적인 피드백과 맞춤형 컨설팅을 통해 실무 적용 강화</a:t>
                      </a:r>
                      <a:endParaRPr kumimoji="0" lang="en-US" altLang="ko-KR" sz="1000" b="0" i="0" u="none" strike="noStrike" kern="1200" cap="none" spc="-2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Pretendard SemiBold" panose="02000703000000020004" pitchFamily="50" charset="-127"/>
                      </a:endParaRPr>
                    </a:p>
                  </a:txBody>
                  <a:tcPr marL="180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58312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4733F015-9885-0617-B1B1-A945B216714F}"/>
              </a:ext>
            </a:extLst>
          </p:cNvPr>
          <p:cNvSpPr/>
          <p:nvPr/>
        </p:nvSpPr>
        <p:spPr>
          <a:xfrm>
            <a:off x="627739" y="1305597"/>
            <a:ext cx="1224000" cy="3018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ko-KR" altLang="en-US" sz="1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0" scaled="1"/>
                </a:gra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주요 사업 분야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D1526-5853-0AF0-7327-1B381B9D7C7E}"/>
              </a:ext>
            </a:extLst>
          </p:cNvPr>
          <p:cNvSpPr/>
          <p:nvPr/>
        </p:nvSpPr>
        <p:spPr>
          <a:xfrm>
            <a:off x="627739" y="1652883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A594D5-779C-92F7-26F4-047A063CCDB4}"/>
              </a:ext>
            </a:extLst>
          </p:cNvPr>
          <p:cNvSpPr/>
          <p:nvPr/>
        </p:nvSpPr>
        <p:spPr>
          <a:xfrm>
            <a:off x="627739" y="2927049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232A8E-94E9-E961-6B8B-3E9C2718381C}"/>
              </a:ext>
            </a:extLst>
          </p:cNvPr>
          <p:cNvSpPr/>
          <p:nvPr/>
        </p:nvSpPr>
        <p:spPr>
          <a:xfrm>
            <a:off x="627739" y="3650281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C1485B-1DBF-433D-7BAA-0CBA888063C2}"/>
              </a:ext>
            </a:extLst>
          </p:cNvPr>
          <p:cNvSpPr/>
          <p:nvPr/>
        </p:nvSpPr>
        <p:spPr>
          <a:xfrm>
            <a:off x="627739" y="4516962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840B12-894D-82B0-3BDC-93A5421656C6}"/>
              </a:ext>
            </a:extLst>
          </p:cNvPr>
          <p:cNvSpPr/>
          <p:nvPr/>
        </p:nvSpPr>
        <p:spPr>
          <a:xfrm>
            <a:off x="627739" y="5395057"/>
            <a:ext cx="197647" cy="17591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</p:spPr>
        <p:txBody>
          <a:bodyPr wrap="none" rtlCol="0" anchor="ctr"/>
          <a:lstStyle/>
          <a:p>
            <a:pPr algn="ctr" defTabSz="914400"/>
            <a:r>
              <a:rPr lang="en-US" altLang="ko-KR" sz="9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</a:t>
            </a:r>
            <a:endParaRPr lang="ko-KR" altLang="en-US" sz="9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CCCEA901-31FA-9FB8-A379-DA11E9B05DC0}"/>
              </a:ext>
            </a:extLst>
          </p:cNvPr>
          <p:cNvSpPr/>
          <p:nvPr/>
        </p:nvSpPr>
        <p:spPr>
          <a:xfrm>
            <a:off x="6008451" y="1661367"/>
            <a:ext cx="5877827" cy="4691307"/>
          </a:xfrm>
          <a:prstGeom prst="rect">
            <a:avLst/>
          </a:prstGeom>
          <a:noFill/>
          <a:ln w="31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769DC2CE-D560-B2B5-014A-1E7F4ED8F0FA}"/>
              </a:ext>
            </a:extLst>
          </p:cNvPr>
          <p:cNvSpPr/>
          <p:nvPr/>
        </p:nvSpPr>
        <p:spPr>
          <a:xfrm>
            <a:off x="9756846" y="1761216"/>
            <a:ext cx="2031442" cy="27560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총원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63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명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(※ ’26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월 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30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기준</a:t>
            </a:r>
            <a:r>
              <a:rPr lang="en-US" altLang="ko-KR" sz="9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64F6F5D-9045-07C0-E229-004995FC445C}"/>
              </a:ext>
            </a:extLst>
          </p:cNvPr>
          <p:cNvSpPr/>
          <p:nvPr/>
        </p:nvSpPr>
        <p:spPr>
          <a:xfrm>
            <a:off x="9644007" y="4699126"/>
            <a:ext cx="652321" cy="121563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C05EA9B-6F94-4AE5-1545-5A44A4F250D0}"/>
              </a:ext>
            </a:extLst>
          </p:cNvPr>
          <p:cNvSpPr/>
          <p:nvPr/>
        </p:nvSpPr>
        <p:spPr>
          <a:xfrm>
            <a:off x="8917559" y="4699126"/>
            <a:ext cx="652321" cy="9354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0783F58A-D9B2-59CE-912E-EF3FF4B93C92}"/>
              </a:ext>
            </a:extLst>
          </p:cNvPr>
          <p:cNvCxnSpPr>
            <a:cxnSpLocks/>
          </p:cNvCxnSpPr>
          <p:nvPr/>
        </p:nvCxnSpPr>
        <p:spPr>
          <a:xfrm>
            <a:off x="8967726" y="3699714"/>
            <a:ext cx="105233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8CCDE7E-5908-4C49-8D1A-0CD61CB3E5C5}"/>
              </a:ext>
            </a:extLst>
          </p:cNvPr>
          <p:cNvCxnSpPr>
            <a:cxnSpLocks/>
          </p:cNvCxnSpPr>
          <p:nvPr/>
        </p:nvCxnSpPr>
        <p:spPr>
          <a:xfrm>
            <a:off x="8961673" y="3816820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512150ED-8F97-B2C0-41B9-21B9813F9713}"/>
              </a:ext>
            </a:extLst>
          </p:cNvPr>
          <p:cNvCxnSpPr>
            <a:stCxn id="145" idx="2"/>
            <a:endCxn id="156" idx="0"/>
          </p:cNvCxnSpPr>
          <p:nvPr/>
        </p:nvCxnSpPr>
        <p:spPr>
          <a:xfrm>
            <a:off x="8961673" y="2710078"/>
            <a:ext cx="0" cy="824102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A189898C-CD75-3504-10A3-403A8DA8B208}"/>
              </a:ext>
            </a:extLst>
          </p:cNvPr>
          <p:cNvCxnSpPr>
            <a:cxnSpLocks/>
          </p:cNvCxnSpPr>
          <p:nvPr/>
        </p:nvCxnSpPr>
        <p:spPr>
          <a:xfrm>
            <a:off x="7845537" y="4253040"/>
            <a:ext cx="3545908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976995D6-7D35-6B13-95DC-0D7A9B2C8EA2}"/>
              </a:ext>
            </a:extLst>
          </p:cNvPr>
          <p:cNvCxnSpPr>
            <a:cxnSpLocks/>
          </p:cNvCxnSpPr>
          <p:nvPr/>
        </p:nvCxnSpPr>
        <p:spPr>
          <a:xfrm>
            <a:off x="7847940" y="4242025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BA1CB65F-152A-6445-84D3-BA59ACD3A6E0}"/>
              </a:ext>
            </a:extLst>
          </p:cNvPr>
          <p:cNvCxnSpPr>
            <a:cxnSpLocks/>
          </p:cNvCxnSpPr>
          <p:nvPr/>
        </p:nvCxnSpPr>
        <p:spPr>
          <a:xfrm>
            <a:off x="9256382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2A0624D7-7FC5-4AC6-F246-94C200064DE5}"/>
              </a:ext>
            </a:extLst>
          </p:cNvPr>
          <p:cNvCxnSpPr>
            <a:cxnSpLocks/>
          </p:cNvCxnSpPr>
          <p:nvPr/>
        </p:nvCxnSpPr>
        <p:spPr>
          <a:xfrm>
            <a:off x="9967539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2AC44A5-23EA-100F-882A-7AFECC6BB481}"/>
              </a:ext>
            </a:extLst>
          </p:cNvPr>
          <p:cNvCxnSpPr>
            <a:cxnSpLocks/>
          </p:cNvCxnSpPr>
          <p:nvPr/>
        </p:nvCxnSpPr>
        <p:spPr>
          <a:xfrm>
            <a:off x="10652883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9FE65469-4F7E-EC97-7EBE-F33D8A01ABA8}"/>
              </a:ext>
            </a:extLst>
          </p:cNvPr>
          <p:cNvCxnSpPr>
            <a:cxnSpLocks/>
          </p:cNvCxnSpPr>
          <p:nvPr/>
        </p:nvCxnSpPr>
        <p:spPr>
          <a:xfrm>
            <a:off x="11388920" y="4250602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43B4A2F3-9C50-FB2E-3296-8FE10FEF6398}"/>
              </a:ext>
            </a:extLst>
          </p:cNvPr>
          <p:cNvCxnSpPr>
            <a:cxnSpLocks/>
          </p:cNvCxnSpPr>
          <p:nvPr/>
        </p:nvCxnSpPr>
        <p:spPr>
          <a:xfrm>
            <a:off x="8961673" y="3313750"/>
            <a:ext cx="1052334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8851D75F-079A-6965-1EE5-F48C67A282BE}"/>
              </a:ext>
            </a:extLst>
          </p:cNvPr>
          <p:cNvSpPr/>
          <p:nvPr/>
        </p:nvSpPr>
        <p:spPr>
          <a:xfrm>
            <a:off x="7509882" y="4570737"/>
            <a:ext cx="668044" cy="340378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컨설팅</a:t>
            </a:r>
            <a:endParaRPr lang="en-US" altLang="ko-KR" sz="800" dirty="0"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사업본부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9C86540A-3C59-853F-9FA3-AE883EA910A1}"/>
              </a:ext>
            </a:extLst>
          </p:cNvPr>
          <p:cNvSpPr/>
          <p:nvPr/>
        </p:nvSpPr>
        <p:spPr>
          <a:xfrm>
            <a:off x="10344366" y="4570737"/>
            <a:ext cx="668044" cy="34037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시스템지원팀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D965EA56-326D-2E8B-22DD-CEF8358C2C99}"/>
              </a:ext>
            </a:extLst>
          </p:cNvPr>
          <p:cNvSpPr/>
          <p:nvPr/>
        </p:nvSpPr>
        <p:spPr>
          <a:xfrm>
            <a:off x="8934883" y="4956613"/>
            <a:ext cx="617674" cy="29175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1~3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캠퍼스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B5C944CE-F821-CF5B-EE14-7990258A7222}"/>
              </a:ext>
            </a:extLst>
          </p:cNvPr>
          <p:cNvSpPr/>
          <p:nvPr/>
        </p:nvSpPr>
        <p:spPr>
          <a:xfrm>
            <a:off x="9633516" y="4570737"/>
            <a:ext cx="668044" cy="340378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운영관리실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816495F3-603B-5063-AAA3-4D1547509E20}"/>
              </a:ext>
            </a:extLst>
          </p:cNvPr>
          <p:cNvSpPr/>
          <p:nvPr/>
        </p:nvSpPr>
        <p:spPr>
          <a:xfrm>
            <a:off x="8912201" y="4570737"/>
            <a:ext cx="668044" cy="340378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알파코</a:t>
            </a:r>
            <a:endParaRPr lang="en-US" altLang="ko-KR" sz="800" spc="-10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캠퍼스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E194CE9B-08CE-84D1-B71F-322E7F7B304C}"/>
              </a:ext>
            </a:extLst>
          </p:cNvPr>
          <p:cNvGrpSpPr/>
          <p:nvPr/>
        </p:nvGrpSpPr>
        <p:grpSpPr>
          <a:xfrm>
            <a:off x="9922748" y="2833081"/>
            <a:ext cx="732058" cy="1130016"/>
            <a:chOff x="6465391" y="2232318"/>
            <a:chExt cx="1152000" cy="1096669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5AB9E88C-0DF4-DA90-855D-FDFBD32EEA2B}"/>
                </a:ext>
              </a:extLst>
            </p:cNvPr>
            <p:cNvSpPr/>
            <p:nvPr/>
          </p:nvSpPr>
          <p:spPr>
            <a:xfrm>
              <a:off x="6483950" y="2333025"/>
              <a:ext cx="1116000" cy="995962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E21BC74E-373F-0C92-C6D3-95AC75205CA4}"/>
                </a:ext>
              </a:extLst>
            </p:cNvPr>
            <p:cNvSpPr/>
            <p:nvPr/>
          </p:nvSpPr>
          <p:spPr>
            <a:xfrm>
              <a:off x="6465391" y="2232318"/>
              <a:ext cx="1152000" cy="252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</a:rPr>
                <a:t>경영지원실</a:t>
              </a:r>
            </a:p>
          </p:txBody>
        </p:sp>
      </p:grp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636689FF-CEE0-1D83-666B-C5C31F4A11FD}"/>
              </a:ext>
            </a:extLst>
          </p:cNvPr>
          <p:cNvSpPr/>
          <p:nvPr/>
        </p:nvSpPr>
        <p:spPr>
          <a:xfrm>
            <a:off x="9979940" y="3186345"/>
            <a:ext cx="617674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재무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회계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E462370-D3BE-5BC8-C862-8EEFBC9235E1}"/>
              </a:ext>
            </a:extLst>
          </p:cNvPr>
          <p:cNvSpPr/>
          <p:nvPr/>
        </p:nvSpPr>
        <p:spPr>
          <a:xfrm>
            <a:off x="11060449" y="4570737"/>
            <a:ext cx="668044" cy="34037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R&amp;D</a:t>
            </a:r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실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E9112B0B-62C8-D355-AE92-8063F67A4234}"/>
              </a:ext>
            </a:extLst>
          </p:cNvPr>
          <p:cNvSpPr/>
          <p:nvPr/>
        </p:nvSpPr>
        <p:spPr>
          <a:xfrm>
            <a:off x="8595645" y="2369700"/>
            <a:ext cx="732058" cy="340378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대표이사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CEA6DD00-F1E9-D7A8-0584-DF878F3D7FD6}"/>
              </a:ext>
            </a:extLst>
          </p:cNvPr>
          <p:cNvSpPr/>
          <p:nvPr/>
        </p:nvSpPr>
        <p:spPr>
          <a:xfrm>
            <a:off x="9979940" y="3551414"/>
            <a:ext cx="617674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인사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총무</a:t>
            </a:r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681F8BDB-637A-C788-2D49-068A953B3CFA}"/>
              </a:ext>
            </a:extLst>
          </p:cNvPr>
          <p:cNvSpPr/>
          <p:nvPr/>
        </p:nvSpPr>
        <p:spPr>
          <a:xfrm>
            <a:off x="7535067" y="5454656"/>
            <a:ext cx="617674" cy="29175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교육전략사업팀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0CB26C7A-3836-B016-61B0-30EF7004B934}"/>
              </a:ext>
            </a:extLst>
          </p:cNvPr>
          <p:cNvSpPr/>
          <p:nvPr/>
        </p:nvSpPr>
        <p:spPr>
          <a:xfrm>
            <a:off x="8189541" y="5454656"/>
            <a:ext cx="617674" cy="29175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미래교육사업팀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CFDB7E53-8E4D-628A-B180-CFE4A8AA86A8}"/>
              </a:ext>
            </a:extLst>
          </p:cNvPr>
          <p:cNvSpPr/>
          <p:nvPr/>
        </p:nvSpPr>
        <p:spPr>
          <a:xfrm>
            <a:off x="6872307" y="5454656"/>
            <a:ext cx="617674" cy="291753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기업성장</a:t>
            </a:r>
            <a:r>
              <a:rPr lang="en-US" altLang="ko-KR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·</a:t>
            </a:r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혁신 실</a:t>
            </a: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3EEB5A99-1965-09EC-2035-D991C16A5786}"/>
              </a:ext>
            </a:extLst>
          </p:cNvPr>
          <p:cNvCxnSpPr>
            <a:cxnSpLocks/>
          </p:cNvCxnSpPr>
          <p:nvPr/>
        </p:nvCxnSpPr>
        <p:spPr>
          <a:xfrm>
            <a:off x="6512732" y="4051336"/>
            <a:ext cx="24478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21A6A3EB-8D21-D174-12B2-B2DAE7F914E2}"/>
              </a:ext>
            </a:extLst>
          </p:cNvPr>
          <p:cNvCxnSpPr>
            <a:cxnSpLocks/>
          </p:cNvCxnSpPr>
          <p:nvPr/>
        </p:nvCxnSpPr>
        <p:spPr>
          <a:xfrm>
            <a:off x="6516474" y="4056055"/>
            <a:ext cx="0" cy="15073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1DCBBD1D-870B-D796-C542-28903848A284}"/>
              </a:ext>
            </a:extLst>
          </p:cNvPr>
          <p:cNvSpPr/>
          <p:nvPr/>
        </p:nvSpPr>
        <p:spPr>
          <a:xfrm>
            <a:off x="8934883" y="5289464"/>
            <a:ext cx="617674" cy="291753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대구캠퍼스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1C018BFE-8578-5900-4484-19E76DAA661C}"/>
              </a:ext>
            </a:extLst>
          </p:cNvPr>
          <p:cNvSpPr/>
          <p:nvPr/>
        </p:nvSpPr>
        <p:spPr>
          <a:xfrm>
            <a:off x="9664902" y="4949801"/>
            <a:ext cx="617674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기업교육</a:t>
            </a: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D1FB3E9A-E7AD-1CDA-FCAC-91E1392FD68A}"/>
              </a:ext>
            </a:extLst>
          </p:cNvPr>
          <p:cNvSpPr/>
          <p:nvPr/>
        </p:nvSpPr>
        <p:spPr>
          <a:xfrm>
            <a:off x="9664902" y="5276184"/>
            <a:ext cx="617674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에듀케어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ExtraBold" panose="00000900000000000000" pitchFamily="2" charset="-127"/>
              <a:ea typeface="나눔스퀘어 네오 ExtraBold" panose="00000900000000000000" pitchFamily="2" charset="-127"/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625367E6-5863-F951-A87A-26F8A4A27DAF}"/>
              </a:ext>
            </a:extLst>
          </p:cNvPr>
          <p:cNvSpPr/>
          <p:nvPr/>
        </p:nvSpPr>
        <p:spPr>
          <a:xfrm>
            <a:off x="9664902" y="5594961"/>
            <a:ext cx="617674" cy="291753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학교컨설팅</a:t>
            </a: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65AED25F-2EA4-CD1F-1482-FA0E59E650B3}"/>
              </a:ext>
            </a:extLst>
          </p:cNvPr>
          <p:cNvSpPr/>
          <p:nvPr/>
        </p:nvSpPr>
        <p:spPr>
          <a:xfrm>
            <a:off x="8595645" y="3534179"/>
            <a:ext cx="732058" cy="34037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사업총괄</a:t>
            </a: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752315B5-E4EA-1C1E-1002-2A7BCFF7E94A}"/>
              </a:ext>
            </a:extLst>
          </p:cNvPr>
          <p:cNvCxnSpPr>
            <a:cxnSpLocks/>
          </p:cNvCxnSpPr>
          <p:nvPr/>
        </p:nvCxnSpPr>
        <p:spPr>
          <a:xfrm>
            <a:off x="7181144" y="5012155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3719CF52-8983-AB9C-33C1-6A152E3998BE}"/>
              </a:ext>
            </a:extLst>
          </p:cNvPr>
          <p:cNvCxnSpPr>
            <a:cxnSpLocks/>
            <a:stCxn id="137" idx="2"/>
          </p:cNvCxnSpPr>
          <p:nvPr/>
        </p:nvCxnSpPr>
        <p:spPr>
          <a:xfrm>
            <a:off x="7843905" y="4911116"/>
            <a:ext cx="0" cy="53866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E7D67A52-2C6D-CAFA-3B76-C9E34CE71B1F}"/>
              </a:ext>
            </a:extLst>
          </p:cNvPr>
          <p:cNvCxnSpPr>
            <a:cxnSpLocks/>
          </p:cNvCxnSpPr>
          <p:nvPr/>
        </p:nvCxnSpPr>
        <p:spPr>
          <a:xfrm>
            <a:off x="8498378" y="5012155"/>
            <a:ext cx="0" cy="437628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0B24ECFB-D4A9-2C7E-A1E1-174BAED1750C}"/>
              </a:ext>
            </a:extLst>
          </p:cNvPr>
          <p:cNvCxnSpPr>
            <a:cxnSpLocks/>
          </p:cNvCxnSpPr>
          <p:nvPr/>
        </p:nvCxnSpPr>
        <p:spPr>
          <a:xfrm>
            <a:off x="7179471" y="5012155"/>
            <a:ext cx="1318906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BB02418-D9FB-F8DF-773B-1FDE26D86969}"/>
              </a:ext>
            </a:extLst>
          </p:cNvPr>
          <p:cNvSpPr/>
          <p:nvPr/>
        </p:nvSpPr>
        <p:spPr>
          <a:xfrm>
            <a:off x="6166235" y="5464820"/>
            <a:ext cx="644953" cy="290998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전략영업팀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A70DD79-39D2-E78F-4847-44DA368044FE}"/>
              </a:ext>
            </a:extLst>
          </p:cNvPr>
          <p:cNvGrpSpPr/>
          <p:nvPr/>
        </p:nvGrpSpPr>
        <p:grpSpPr>
          <a:xfrm>
            <a:off x="10511418" y="2041151"/>
            <a:ext cx="1381645" cy="230832"/>
            <a:chOff x="9756846" y="2060201"/>
            <a:chExt cx="1381645" cy="230832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725D2E02-3510-5E6C-24C5-4A7D7D04899F}"/>
                </a:ext>
              </a:extLst>
            </p:cNvPr>
            <p:cNvSpPr/>
            <p:nvPr/>
          </p:nvSpPr>
          <p:spPr>
            <a:xfrm>
              <a:off x="9756846" y="2121617"/>
              <a:ext cx="272375" cy="108000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800" spc="-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8A7DEFD-DDAC-1FE0-1ED1-3D4FCDC9848A}"/>
                </a:ext>
              </a:extLst>
            </p:cNvPr>
            <p:cNvSpPr txBox="1"/>
            <p:nvPr/>
          </p:nvSpPr>
          <p:spPr>
            <a:xfrm>
              <a:off x="10000038" y="2060201"/>
              <a:ext cx="1138453" cy="230832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r>
                <a:rPr lang="ko-KR" altLang="en-US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금번</a:t>
              </a:r>
              <a:r>
                <a:rPr lang="en-US" altLang="ko-KR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제안</a:t>
              </a:r>
              <a:r>
                <a:rPr lang="en-US" altLang="ko-KR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 </a:t>
              </a:r>
              <a:r>
                <a:rPr lang="ko-KR" altLang="en-US" sz="900" dirty="0">
                  <a:solidFill>
                    <a:prstClr val="black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참여 부서</a:t>
              </a:r>
              <a:endParaRPr lang="ko-KR" altLang="en-US" dirty="0"/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9AEBE070-A158-1A36-0399-63CD2B836B33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5P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8473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FBD2-6CFF-6102-0C6B-FEBAFCF05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EFB6308-F52C-D2E3-6218-A437E72A1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336800" algn="l"/>
              </a:tabLst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3. DX</a:t>
            </a: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·AI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변화관리 파트너</a:t>
            </a: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,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알파코 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+mj-cs"/>
            </a:endParaRPr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2624252C-444A-5BAB-D4FA-8ED63254CD1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알파코는 국내 디지털전환 시점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(2010~)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부터 장기적 관점에서 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DX·AI 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변화 로드맵을 수립하고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, 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조직 차원의 마인드셋부터 개인별 역량 개발까지 체계적으로 지원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E250634B-CAE6-8335-4CA0-27A3B48550FE}"/>
              </a:ext>
            </a:extLst>
          </p:cNvPr>
          <p:cNvSpPr txBox="1"/>
          <p:nvPr/>
        </p:nvSpPr>
        <p:spPr>
          <a:xfrm>
            <a:off x="529227" y="6352502"/>
            <a:ext cx="1880002" cy="231538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800" i="0" u="none" strike="noStrike" kern="0" cap="none" spc="-80" normalizeH="0" baseline="0" dirty="0">
                <a:ln>
                  <a:noFill/>
                </a:ln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 panose="020B0604020202020204" pitchFamily="34" charset="0"/>
              </a:rPr>
              <a:t>* </a:t>
            </a:r>
            <a:r>
              <a:rPr lang="en-US" altLang="ko-KR" sz="800" spc="-8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 panose="020B0604020202020204" pitchFamily="34" charset="0"/>
              </a:rPr>
              <a:t>3</a:t>
            </a:r>
            <a:r>
              <a:rPr lang="ko-KR" altLang="en-US" sz="800" spc="-8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 panose="020B0604020202020204" pitchFamily="34" charset="0"/>
              </a:rPr>
              <a:t>단계 전파의 경우</a:t>
            </a:r>
            <a:r>
              <a:rPr lang="en-US" altLang="ko-KR" sz="800" spc="-8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 panose="020B0604020202020204" pitchFamily="34" charset="0"/>
              </a:rPr>
              <a:t>, </a:t>
            </a:r>
            <a:r>
              <a:rPr lang="ko-KR" altLang="en-US" sz="800" spc="-8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Arial" panose="020B0604020202020204" pitchFamily="34" charset="0"/>
              </a:rPr>
              <a:t>선진기업 벤치마킹 수준</a:t>
            </a:r>
            <a:endParaRPr kumimoji="0" lang="en-US" altLang="ko-KR" sz="800" i="0" u="none" strike="noStrike" kern="0" cap="none" spc="-80" normalizeH="0" baseline="0" dirty="0">
              <a:ln>
                <a:noFill/>
              </a:ln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F4D42DC-AB56-E073-FBD6-0FC51FB1552B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6P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E31EB8-27F8-BE11-2C8D-45E20B39252C}"/>
              </a:ext>
            </a:extLst>
          </p:cNvPr>
          <p:cNvGrpSpPr/>
          <p:nvPr/>
        </p:nvGrpSpPr>
        <p:grpSpPr>
          <a:xfrm>
            <a:off x="5920749" y="1942587"/>
            <a:ext cx="4072773" cy="4393273"/>
            <a:chOff x="8525711" y="3713630"/>
            <a:chExt cx="5864982" cy="5410302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9B98FE7-8403-94A1-EA06-7A794AC1112F}"/>
                </a:ext>
              </a:extLst>
            </p:cNvPr>
            <p:cNvCxnSpPr>
              <a:cxnSpLocks/>
            </p:cNvCxnSpPr>
            <p:nvPr/>
          </p:nvCxnSpPr>
          <p:spPr>
            <a:xfrm>
              <a:off x="8525711" y="3713630"/>
              <a:ext cx="0" cy="541030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B9F85DDE-84E6-D2DF-094E-A8BAECF8234C}"/>
                </a:ext>
              </a:extLst>
            </p:cNvPr>
            <p:cNvCxnSpPr>
              <a:cxnSpLocks/>
            </p:cNvCxnSpPr>
            <p:nvPr/>
          </p:nvCxnSpPr>
          <p:spPr>
            <a:xfrm>
              <a:off x="14390693" y="3713630"/>
              <a:ext cx="0" cy="5410302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0F82E76-6553-1B79-6FC7-A62551B23C39}"/>
              </a:ext>
            </a:extLst>
          </p:cNvPr>
          <p:cNvSpPr/>
          <p:nvPr/>
        </p:nvSpPr>
        <p:spPr>
          <a:xfrm>
            <a:off x="639590" y="2433359"/>
            <a:ext cx="11119770" cy="530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896CD7-CA30-02DC-6504-2FFF58DE434A}"/>
              </a:ext>
            </a:extLst>
          </p:cNvPr>
          <p:cNvSpPr/>
          <p:nvPr/>
        </p:nvSpPr>
        <p:spPr>
          <a:xfrm>
            <a:off x="639589" y="6286500"/>
            <a:ext cx="11119841" cy="4571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EF6367C-FFEF-5C7C-B098-242D57A2099C}"/>
              </a:ext>
            </a:extLst>
          </p:cNvPr>
          <p:cNvGrpSpPr/>
          <p:nvPr/>
        </p:nvGrpSpPr>
        <p:grpSpPr>
          <a:xfrm>
            <a:off x="2535989" y="1610515"/>
            <a:ext cx="9212815" cy="332073"/>
            <a:chOff x="2535810" y="1682767"/>
            <a:chExt cx="9213278" cy="332089"/>
          </a:xfrm>
        </p:grpSpPr>
        <p:sp>
          <p:nvSpPr>
            <p:cNvPr id="12" name="한쪽 모서리가 잘린 사각형 10">
              <a:extLst>
                <a:ext uri="{FF2B5EF4-FFF2-40B4-BE49-F238E27FC236}">
                  <a16:creationId xmlns:a16="http://schemas.microsoft.com/office/drawing/2014/main" id="{55B9475A-38DE-E647-C4B1-0D518372FA88}"/>
                </a:ext>
              </a:extLst>
            </p:cNvPr>
            <p:cNvSpPr/>
            <p:nvPr/>
          </p:nvSpPr>
          <p:spPr>
            <a:xfrm>
              <a:off x="8221088" y="1682767"/>
              <a:ext cx="3528000" cy="332089"/>
            </a:xfrm>
            <a:prstGeom prst="snip1Rect">
              <a:avLst>
                <a:gd name="adj" fmla="val 50000"/>
              </a:avLst>
            </a:prstGeom>
            <a:solidFill>
              <a:srgbClr val="1E2A5A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 anchorCtr="0"/>
            <a:lstStyle/>
            <a:p>
              <a:pPr algn="r"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[3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단계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] 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전파</a:t>
              </a:r>
            </a:p>
          </p:txBody>
        </p:sp>
        <p:sp>
          <p:nvSpPr>
            <p:cNvPr id="13" name="한쪽 모서리가 잘린 사각형 10">
              <a:extLst>
                <a:ext uri="{FF2B5EF4-FFF2-40B4-BE49-F238E27FC236}">
                  <a16:creationId xmlns:a16="http://schemas.microsoft.com/office/drawing/2014/main" id="{ED109F77-2F1C-0EA9-CA83-4A2CB2B7B30C}"/>
                </a:ext>
              </a:extLst>
            </p:cNvPr>
            <p:cNvSpPr/>
            <p:nvPr/>
          </p:nvSpPr>
          <p:spPr>
            <a:xfrm>
              <a:off x="5654040" y="1682767"/>
              <a:ext cx="4339678" cy="332089"/>
            </a:xfrm>
            <a:prstGeom prst="snip1Rect">
              <a:avLst>
                <a:gd name="adj" fmla="val 50000"/>
              </a:avLst>
            </a:prstGeom>
            <a:solidFill>
              <a:srgbClr val="7689F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 anchorCtr="0"/>
            <a:lstStyle/>
            <a:p>
              <a:pPr algn="r"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[2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단계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] 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적용</a:t>
              </a:r>
            </a:p>
          </p:txBody>
        </p:sp>
        <p:sp>
          <p:nvSpPr>
            <p:cNvPr id="14" name="한쪽 모서리가 잘린 사각형 1">
              <a:extLst>
                <a:ext uri="{FF2B5EF4-FFF2-40B4-BE49-F238E27FC236}">
                  <a16:creationId xmlns:a16="http://schemas.microsoft.com/office/drawing/2014/main" id="{6F79940D-1F6B-E51A-F9B1-E9C60E03F50B}"/>
                </a:ext>
              </a:extLst>
            </p:cNvPr>
            <p:cNvSpPr/>
            <p:nvPr/>
          </p:nvSpPr>
          <p:spPr>
            <a:xfrm>
              <a:off x="2535810" y="1682767"/>
              <a:ext cx="3384930" cy="332089"/>
            </a:xfrm>
            <a:prstGeom prst="snip1Rect">
              <a:avLst>
                <a:gd name="adj" fmla="val 50000"/>
              </a:avLst>
            </a:prstGeom>
            <a:solidFill>
              <a:srgbClr val="51518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 anchorCtr="0"/>
            <a:lstStyle/>
            <a:p>
              <a:pPr algn="r">
                <a:defRPr/>
              </a:pPr>
              <a:r>
                <a:rPr lang="en-US" altLang="ko-KR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[1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단계</a:t>
              </a:r>
              <a:r>
                <a:rPr lang="en-US" altLang="ko-KR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] </a:t>
              </a:r>
              <a:r>
                <a:rPr lang="ko-KR" altLang="en-US" sz="1400" b="1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이해</a:t>
              </a:r>
            </a:p>
          </p:txBody>
        </p:sp>
      </p:grp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285B482-04A9-6758-ED3F-20DA7806967E}"/>
              </a:ext>
            </a:extLst>
          </p:cNvPr>
          <p:cNvCxnSpPr>
            <a:cxnSpLocks/>
          </p:cNvCxnSpPr>
          <p:nvPr/>
        </p:nvCxnSpPr>
        <p:spPr>
          <a:xfrm>
            <a:off x="639589" y="3456631"/>
            <a:ext cx="111198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FF519D5-71DC-1B7A-F81F-94399081354D}"/>
              </a:ext>
            </a:extLst>
          </p:cNvPr>
          <p:cNvCxnSpPr>
            <a:cxnSpLocks/>
          </p:cNvCxnSpPr>
          <p:nvPr/>
        </p:nvCxnSpPr>
        <p:spPr>
          <a:xfrm>
            <a:off x="639589" y="4411623"/>
            <a:ext cx="111198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E846545-6217-9C38-374F-E8FBDF202DC3}"/>
              </a:ext>
            </a:extLst>
          </p:cNvPr>
          <p:cNvCxnSpPr>
            <a:cxnSpLocks/>
          </p:cNvCxnSpPr>
          <p:nvPr/>
        </p:nvCxnSpPr>
        <p:spPr>
          <a:xfrm>
            <a:off x="639589" y="5366615"/>
            <a:ext cx="11119841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5EAA1E-7C10-0814-73F4-C762E76FF897}"/>
              </a:ext>
            </a:extLst>
          </p:cNvPr>
          <p:cNvSpPr/>
          <p:nvPr/>
        </p:nvSpPr>
        <p:spPr>
          <a:xfrm>
            <a:off x="1606290" y="5491899"/>
            <a:ext cx="888708" cy="704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~ 2022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B7ED279-B17A-8D66-6BB2-8F636632DF8E}"/>
              </a:ext>
            </a:extLst>
          </p:cNvPr>
          <p:cNvSpPr/>
          <p:nvPr/>
        </p:nvSpPr>
        <p:spPr>
          <a:xfrm>
            <a:off x="1606290" y="4536908"/>
            <a:ext cx="888708" cy="704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2023</a:t>
            </a:r>
            <a:endParaRPr lang="ko-KR" altLang="en-US" sz="14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0CBCE0D-4A68-E360-EEBB-9F22C946FDFC}"/>
              </a:ext>
            </a:extLst>
          </p:cNvPr>
          <p:cNvSpPr/>
          <p:nvPr/>
        </p:nvSpPr>
        <p:spPr>
          <a:xfrm>
            <a:off x="1606290" y="3581916"/>
            <a:ext cx="888708" cy="704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2024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19D0B1-4C93-18B9-CDAB-7A519D3AC125}"/>
              </a:ext>
            </a:extLst>
          </p:cNvPr>
          <p:cNvSpPr/>
          <p:nvPr/>
        </p:nvSpPr>
        <p:spPr>
          <a:xfrm>
            <a:off x="1606290" y="2626924"/>
            <a:ext cx="888708" cy="704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2025</a:t>
            </a:r>
            <a:endParaRPr lang="ko-KR" altLang="en-US" sz="1400" dirty="0"/>
          </a:p>
        </p:txBody>
      </p:sp>
      <p:sp>
        <p:nvSpPr>
          <p:cNvPr id="22" name="화살표: 위쪽 21">
            <a:extLst>
              <a:ext uri="{FF2B5EF4-FFF2-40B4-BE49-F238E27FC236}">
                <a16:creationId xmlns:a16="http://schemas.microsoft.com/office/drawing/2014/main" id="{681690A5-70D0-1271-0F4C-9C70471F0526}"/>
              </a:ext>
            </a:extLst>
          </p:cNvPr>
          <p:cNvSpPr/>
          <p:nvPr/>
        </p:nvSpPr>
        <p:spPr>
          <a:xfrm>
            <a:off x="642836" y="2626862"/>
            <a:ext cx="837046" cy="3660898"/>
          </a:xfrm>
          <a:prstGeom prst="upArrow">
            <a:avLst>
              <a:gd name="adj1" fmla="val 68206"/>
              <a:gd name="adj2" fmla="val 25222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2000">
                <a:schemeClr val="accent1">
                  <a:lumMod val="45000"/>
                  <a:lumOff val="55000"/>
                </a:schemeClr>
              </a:gs>
              <a:gs pos="81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전환</a:t>
            </a:r>
            <a:endParaRPr lang="en-US" altLang="ko-KR" sz="1200" b="1" dirty="0">
              <a:solidFill>
                <a:prstClr val="black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endParaRPr lang="en-US" altLang="ko-KR" sz="1200" b="1" dirty="0">
              <a:solidFill>
                <a:prstClr val="black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▲</a:t>
            </a:r>
            <a:endParaRPr lang="en-US" altLang="ko-KR" sz="1200" b="1" dirty="0">
              <a:solidFill>
                <a:prstClr val="black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endParaRPr lang="en-US" altLang="ko-KR" sz="1200" b="1" dirty="0">
              <a:solidFill>
                <a:prstClr val="black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en-US" altLang="ko-KR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DX</a:t>
            </a:r>
          </a:p>
          <a:p>
            <a:pPr algn="ctr"/>
            <a:r>
              <a:rPr lang="ko-KR" altLang="en-US" sz="1200" b="1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1B6F5B-016C-733E-0CEB-B55A77D52D71}"/>
              </a:ext>
            </a:extLst>
          </p:cNvPr>
          <p:cNvSpPr txBox="1"/>
          <p:nvPr/>
        </p:nvSpPr>
        <p:spPr>
          <a:xfrm>
            <a:off x="627122" y="2144584"/>
            <a:ext cx="1192955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r>
              <a:rPr lang="en-US" altLang="ko-KR" sz="12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DAX </a:t>
            </a:r>
            <a:r>
              <a:rPr lang="ko-KR" altLang="en-US" sz="12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진화 단계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D93F34C-E318-6D67-12F0-B3B2FEB27436}"/>
              </a:ext>
            </a:extLst>
          </p:cNvPr>
          <p:cNvGrpSpPr/>
          <p:nvPr/>
        </p:nvGrpSpPr>
        <p:grpSpPr>
          <a:xfrm>
            <a:off x="5374757" y="3528538"/>
            <a:ext cx="5828573" cy="878961"/>
            <a:chOff x="5374720" y="3377713"/>
            <a:chExt cx="5828866" cy="879005"/>
          </a:xfrm>
        </p:grpSpPr>
        <p:pic>
          <p:nvPicPr>
            <p:cNvPr id="25" name="그림 24" descr="텍스트, 폰트, 스크린샷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BF74F25-A9BE-BAAA-1343-47BED17D1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6" t="25299" r="21281" b="60752"/>
            <a:stretch>
              <a:fillRect/>
            </a:stretch>
          </p:blipFill>
          <p:spPr>
            <a:xfrm>
              <a:off x="7608292" y="3429612"/>
              <a:ext cx="791749" cy="132221"/>
            </a:xfrm>
            <a:prstGeom prst="rect">
              <a:avLst/>
            </a:prstGeom>
          </p:spPr>
        </p:pic>
        <p:pic>
          <p:nvPicPr>
            <p:cNvPr id="26" name="그림 25" descr="텍스트, 폰트, 그래픽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A68D1BA-715B-5C89-2B59-AFC578CD6C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9" t="12929" r="22929" b="64536"/>
            <a:stretch>
              <a:fillRect/>
            </a:stretch>
          </p:blipFill>
          <p:spPr>
            <a:xfrm>
              <a:off x="8766705" y="4033836"/>
              <a:ext cx="719101" cy="220696"/>
            </a:xfrm>
            <a:prstGeom prst="rect">
              <a:avLst/>
            </a:prstGeom>
          </p:spPr>
        </p:pic>
        <p:pic>
          <p:nvPicPr>
            <p:cNvPr id="27" name="그림 26" descr="폰트, 그래픽, 로고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B6231A7-4377-0B8F-462B-7674589EB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7380" y="3758495"/>
              <a:ext cx="774598" cy="201927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D6D73A49-167F-F874-996C-BEB931921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48753" y="3659928"/>
              <a:ext cx="648242" cy="258264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0887452A-EA51-4132-187F-1979A479E0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348282" y="3431054"/>
              <a:ext cx="751374" cy="252865"/>
            </a:xfrm>
            <a:prstGeom prst="rect">
              <a:avLst/>
            </a:prstGeom>
          </p:spPr>
        </p:pic>
        <p:pic>
          <p:nvPicPr>
            <p:cNvPr id="30" name="그림 29" descr="폰트, 그래픽, 로고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054DD3F-3577-E11E-40FD-05E36B8F31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0741" y="3730853"/>
              <a:ext cx="870111" cy="226308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69DA71C5-FBB2-CF2F-8407-A857F7FDF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75453" y="3445409"/>
              <a:ext cx="957123" cy="95211"/>
            </a:xfrm>
            <a:prstGeom prst="rect">
              <a:avLst/>
            </a:prstGeom>
          </p:spPr>
        </p:pic>
        <p:pic>
          <p:nvPicPr>
            <p:cNvPr id="32" name="Picture 8">
              <a:extLst>
                <a:ext uri="{FF2B5EF4-FFF2-40B4-BE49-F238E27FC236}">
                  <a16:creationId xmlns:a16="http://schemas.microsoft.com/office/drawing/2014/main" id="{A2AD6A5E-502E-18F5-59F6-0FF7F2AA89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9213" y="4057005"/>
              <a:ext cx="583347" cy="156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>
              <a:extLst>
                <a:ext uri="{FF2B5EF4-FFF2-40B4-BE49-F238E27FC236}">
                  <a16:creationId xmlns:a16="http://schemas.microsoft.com/office/drawing/2014/main" id="{67CBFD6B-E756-CF16-0476-366DDAD8926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7215" r="10619" b="40035"/>
            <a:stretch>
              <a:fillRect/>
            </a:stretch>
          </p:blipFill>
          <p:spPr bwMode="auto">
            <a:xfrm>
              <a:off x="7414203" y="4017234"/>
              <a:ext cx="802478" cy="2394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그림 34" descr="텍스트, 폰트, 로고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63CAD9B-7B08-1291-E2E5-100A652D4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4720" y="3377713"/>
              <a:ext cx="870111" cy="236018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7EFD8E6D-85C4-F89F-5DE0-0C36D6726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719901" y="3711452"/>
              <a:ext cx="483685" cy="259167"/>
            </a:xfrm>
            <a:prstGeom prst="rect">
              <a:avLst/>
            </a:prstGeom>
          </p:spPr>
        </p:pic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95DD998-0F7E-0A58-2E08-93562D00E638}"/>
              </a:ext>
            </a:extLst>
          </p:cNvPr>
          <p:cNvGrpSpPr/>
          <p:nvPr/>
        </p:nvGrpSpPr>
        <p:grpSpPr>
          <a:xfrm>
            <a:off x="5199775" y="4476859"/>
            <a:ext cx="6112495" cy="935432"/>
            <a:chOff x="5199730" y="4392068"/>
            <a:chExt cx="6112802" cy="935479"/>
          </a:xfrm>
        </p:grpSpPr>
        <p:pic>
          <p:nvPicPr>
            <p:cNvPr id="38" name="그림 37" descr="텍스트, 폰트, 스크린샷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CAE0455-8801-4748-EABF-2022AB9F6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96" t="25299" r="21281" b="60752"/>
            <a:stretch>
              <a:fillRect/>
            </a:stretch>
          </p:blipFill>
          <p:spPr>
            <a:xfrm>
              <a:off x="5694647" y="4671926"/>
              <a:ext cx="791749" cy="132221"/>
            </a:xfrm>
            <a:prstGeom prst="rect">
              <a:avLst/>
            </a:prstGeom>
          </p:spPr>
        </p:pic>
        <p:pic>
          <p:nvPicPr>
            <p:cNvPr id="39" name="그림 38" descr="텍스트, 폰트, 그래픽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7934171-3CB5-CA8F-AD86-4FF835676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9" t="12929" r="22929" b="64536"/>
            <a:stretch>
              <a:fillRect/>
            </a:stretch>
          </p:blipFill>
          <p:spPr>
            <a:xfrm>
              <a:off x="8800988" y="4516857"/>
              <a:ext cx="719101" cy="220696"/>
            </a:xfrm>
            <a:prstGeom prst="rect">
              <a:avLst/>
            </a:prstGeom>
          </p:spPr>
        </p:pic>
        <p:pic>
          <p:nvPicPr>
            <p:cNvPr id="40" name="Picture 6" descr="대선조선(주)">
              <a:extLst>
                <a:ext uri="{FF2B5EF4-FFF2-40B4-BE49-F238E27FC236}">
                  <a16:creationId xmlns:a16="http://schemas.microsoft.com/office/drawing/2014/main" id="{8E50EEF7-3528-12DD-2CD4-64C674889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4803" y="4878456"/>
              <a:ext cx="1090674" cy="383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113699EC-025F-788D-ED3B-DE71818BA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01776" y="4448862"/>
              <a:ext cx="751374" cy="252865"/>
            </a:xfrm>
            <a:prstGeom prst="rect">
              <a:avLst/>
            </a:prstGeom>
          </p:spPr>
        </p:pic>
        <p:pic>
          <p:nvPicPr>
            <p:cNvPr id="42" name="그림 41" descr="폰트, 그래픽, 로고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E106CB1-0F21-8648-02A5-A63223616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68461" y="4881175"/>
              <a:ext cx="870111" cy="226308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C4724F49-205C-4D68-1CDC-675E61CCD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1078" y="4668501"/>
              <a:ext cx="957123" cy="95211"/>
            </a:xfrm>
            <a:prstGeom prst="rect">
              <a:avLst/>
            </a:prstGeom>
          </p:spPr>
        </p:pic>
        <p:pic>
          <p:nvPicPr>
            <p:cNvPr id="44" name="Picture 2" descr="앰코코리아 채용">
              <a:extLst>
                <a:ext uri="{FF2B5EF4-FFF2-40B4-BE49-F238E27FC236}">
                  <a16:creationId xmlns:a16="http://schemas.microsoft.com/office/drawing/2014/main" id="{53F10C8F-4D49-87ED-EA4B-372F0E564B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2986" y="5130165"/>
              <a:ext cx="535070" cy="197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8">
              <a:extLst>
                <a:ext uri="{FF2B5EF4-FFF2-40B4-BE49-F238E27FC236}">
                  <a16:creationId xmlns:a16="http://schemas.microsoft.com/office/drawing/2014/main" id="{12325FCB-B901-2BB6-D2B1-E1553D06A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2482" y="4928826"/>
              <a:ext cx="583347" cy="156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2">
              <a:extLst>
                <a:ext uri="{FF2B5EF4-FFF2-40B4-BE49-F238E27FC236}">
                  <a16:creationId xmlns:a16="http://schemas.microsoft.com/office/drawing/2014/main" id="{DFFD6C27-87D6-F80D-CEA7-2CD99A7C34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27215" r="10619" b="40035"/>
            <a:stretch>
              <a:fillRect/>
            </a:stretch>
          </p:blipFill>
          <p:spPr bwMode="auto">
            <a:xfrm>
              <a:off x="7680283" y="4996684"/>
              <a:ext cx="802478" cy="2394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그림 46" descr="텍스트, 폰트, 로고, 그래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D24C51E-85CC-8998-E3E4-822ED519B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730" y="4392068"/>
              <a:ext cx="870111" cy="236018"/>
            </a:xfrm>
            <a:prstGeom prst="rect">
              <a:avLst/>
            </a:prstGeom>
          </p:spPr>
        </p:pic>
        <p:pic>
          <p:nvPicPr>
            <p:cNvPr id="48" name="그림 47" descr="폰트, 그래픽, 로고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B8E0E93-E731-2AC5-0B07-5E0BB573D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10955" y="4808563"/>
              <a:ext cx="701577" cy="186357"/>
            </a:xfrm>
            <a:prstGeom prst="rect">
              <a:avLst/>
            </a:prstGeom>
          </p:spPr>
        </p:pic>
      </p:grpSp>
      <p:pic>
        <p:nvPicPr>
          <p:cNvPr id="49" name="그림 48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3EC4F5-F0ED-E202-7AB3-3BE44C071E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6" t="25299" r="21281" b="60752"/>
          <a:stretch>
            <a:fillRect/>
          </a:stretch>
        </p:blipFill>
        <p:spPr>
          <a:xfrm>
            <a:off x="8073265" y="2911860"/>
            <a:ext cx="791709" cy="132214"/>
          </a:xfrm>
          <a:prstGeom prst="rect">
            <a:avLst/>
          </a:prstGeom>
        </p:spPr>
      </p:pic>
      <p:pic>
        <p:nvPicPr>
          <p:cNvPr id="50" name="그림 49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28BA4D-7229-1B4F-B90D-68F4DB1FB3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49" t="12929" r="22929" b="64536"/>
          <a:stretch>
            <a:fillRect/>
          </a:stretch>
        </p:blipFill>
        <p:spPr>
          <a:xfrm>
            <a:off x="9042081" y="3144954"/>
            <a:ext cx="719065" cy="220685"/>
          </a:xfrm>
          <a:prstGeom prst="rect">
            <a:avLst/>
          </a:prstGeom>
        </p:spPr>
      </p:pic>
      <p:pic>
        <p:nvPicPr>
          <p:cNvPr id="51" name="그림 50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F60EAD-1C9D-FB0A-B6B9-79F0C8BF44E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67" y="2926884"/>
            <a:ext cx="870067" cy="236006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2F2A09A0-832C-51BD-D260-50292288207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51569" y="2598174"/>
            <a:ext cx="714659" cy="16555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80D7E44-BC11-EFF6-468A-66318656A3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4494" y="3137434"/>
            <a:ext cx="751336" cy="252852"/>
          </a:xfrm>
          <a:prstGeom prst="rect">
            <a:avLst/>
          </a:prstGeom>
        </p:spPr>
      </p:pic>
      <p:pic>
        <p:nvPicPr>
          <p:cNvPr id="54" name="Picture 10">
            <a:extLst>
              <a:ext uri="{FF2B5EF4-FFF2-40B4-BE49-F238E27FC236}">
                <a16:creationId xmlns:a16="http://schemas.microsoft.com/office/drawing/2014/main" id="{F7C83C6F-3E25-4CAA-700C-910A86A55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77612" y="2539117"/>
            <a:ext cx="768538" cy="15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8">
            <a:extLst>
              <a:ext uri="{FF2B5EF4-FFF2-40B4-BE49-F238E27FC236}">
                <a16:creationId xmlns:a16="http://schemas.microsoft.com/office/drawing/2014/main" id="{445423FD-E215-C7D8-A02E-37A8D0C63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855" y="3212871"/>
            <a:ext cx="583318" cy="12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6E1DE508-3A53-18A8-D5E8-BF93AC16F8E3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9670" y="2845369"/>
            <a:ext cx="465002" cy="222234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1FCF4F30-7845-C951-4180-111E43E5939F}"/>
              </a:ext>
            </a:extLst>
          </p:cNvPr>
          <p:cNvGrpSpPr/>
          <p:nvPr/>
        </p:nvGrpSpPr>
        <p:grpSpPr>
          <a:xfrm>
            <a:off x="2934698" y="5596921"/>
            <a:ext cx="8780808" cy="700012"/>
            <a:chOff x="2934539" y="5540467"/>
            <a:chExt cx="8781249" cy="700047"/>
          </a:xfrm>
        </p:grpSpPr>
        <p:pic>
          <p:nvPicPr>
            <p:cNvPr id="58" name="그림 57" descr="텍스트, 폰트, 그래픽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11D76A6-A941-853C-09EF-A880D74FD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9" t="12929" r="22929" b="64536"/>
            <a:stretch>
              <a:fillRect/>
            </a:stretch>
          </p:blipFill>
          <p:spPr>
            <a:xfrm>
              <a:off x="5450225" y="5606598"/>
              <a:ext cx="719101" cy="220696"/>
            </a:xfrm>
            <a:prstGeom prst="rect">
              <a:avLst/>
            </a:prstGeom>
          </p:spPr>
        </p:pic>
        <p:pic>
          <p:nvPicPr>
            <p:cNvPr id="59" name="그림 58" descr="폰트, 그래픽, 로고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D436AF1-4B47-938C-D8DB-BDAB21F0F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51724" y="5600660"/>
              <a:ext cx="774598" cy="201927"/>
            </a:xfrm>
            <a:prstGeom prst="rect">
              <a:avLst/>
            </a:prstGeom>
          </p:spPr>
        </p:pic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C3B0B691-13DF-A742-A693-EBFA4696F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60131" y="5553923"/>
              <a:ext cx="648242" cy="258264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2A23CC07-AC23-7C2E-E6F0-744B195F1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334610" y="5915260"/>
              <a:ext cx="786165" cy="182123"/>
            </a:xfrm>
            <a:prstGeom prst="rect">
              <a:avLst/>
            </a:prstGeom>
          </p:spPr>
        </p:pic>
        <p:pic>
          <p:nvPicPr>
            <p:cNvPr id="62" name="Picture 6" descr="대선조선(주)">
              <a:extLst>
                <a:ext uri="{FF2B5EF4-FFF2-40B4-BE49-F238E27FC236}">
                  <a16:creationId xmlns:a16="http://schemas.microsoft.com/office/drawing/2014/main" id="{CFC7BEBC-FE7C-EB76-28AC-45D61AA82E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6891" y="5856759"/>
              <a:ext cx="1090674" cy="3837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8248C043-AC8E-5CAF-3BE4-0E36CE3D8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34539" y="5948720"/>
              <a:ext cx="751374" cy="252865"/>
            </a:xfrm>
            <a:prstGeom prst="rect">
              <a:avLst/>
            </a:prstGeom>
          </p:spPr>
        </p:pic>
        <p:pic>
          <p:nvPicPr>
            <p:cNvPr id="256" name="Picture 2" descr="앰코코리아 채용">
              <a:extLst>
                <a:ext uri="{FF2B5EF4-FFF2-40B4-BE49-F238E27FC236}">
                  <a16:creationId xmlns:a16="http://schemas.microsoft.com/office/drawing/2014/main" id="{D2C946FE-041D-846A-9DC9-61A39288AD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5339" y="5976313"/>
              <a:ext cx="535070" cy="197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7" name="Picture 8">
              <a:extLst>
                <a:ext uri="{FF2B5EF4-FFF2-40B4-BE49-F238E27FC236}">
                  <a16:creationId xmlns:a16="http://schemas.microsoft.com/office/drawing/2014/main" id="{B89B7140-EE24-FADD-2B55-15EC8A67B2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21211" y="5994038"/>
              <a:ext cx="583347" cy="156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8" name="Picture 10">
              <a:extLst>
                <a:ext uri="{FF2B5EF4-FFF2-40B4-BE49-F238E27FC236}">
                  <a16:creationId xmlns:a16="http://schemas.microsoft.com/office/drawing/2014/main" id="{F61C1FDC-62FA-3927-D641-786F3EA412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998128" y="5540467"/>
              <a:ext cx="768577" cy="153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8" name="Picture 4" descr="Microsoft Logo Png Image - Microsoft Logo Vector Clipart (#1121307) - PikPng">
              <a:extLst>
                <a:ext uri="{FF2B5EF4-FFF2-40B4-BE49-F238E27FC236}">
                  <a16:creationId xmlns:a16="http://schemas.microsoft.com/office/drawing/2014/main" id="{9D844F6A-39BF-EF53-5079-804352837C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clrChange>
                <a:clrFrom>
                  <a:srgbClr val="EDEDED"/>
                </a:clrFrom>
                <a:clrTo>
                  <a:srgbClr val="EDEDED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77328" y="5966305"/>
              <a:ext cx="738460" cy="1925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0" name="Picture 6">
              <a:extLst>
                <a:ext uri="{FF2B5EF4-FFF2-40B4-BE49-F238E27FC236}">
                  <a16:creationId xmlns:a16="http://schemas.microsoft.com/office/drawing/2014/main" id="{FE6DF624-C919-594E-D5C4-3606E0B1D4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3330" y="5974548"/>
              <a:ext cx="520403" cy="176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1" name="그림 330" descr="그래픽, 그래픽 디자인, 폰트, 로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1F1BF2E-E279-4FA1-0323-586DC7E21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777" b="37183"/>
            <a:stretch>
              <a:fillRect/>
            </a:stretch>
          </p:blipFill>
          <p:spPr>
            <a:xfrm>
              <a:off x="10616270" y="5575774"/>
              <a:ext cx="696262" cy="250929"/>
            </a:xfrm>
            <a:prstGeom prst="rect">
              <a:avLst/>
            </a:prstGeom>
          </p:spPr>
        </p:pic>
      </p:grpSp>
      <p:sp>
        <p:nvSpPr>
          <p:cNvPr id="332" name="TextBox 331">
            <a:extLst>
              <a:ext uri="{FF2B5EF4-FFF2-40B4-BE49-F238E27FC236}">
                <a16:creationId xmlns:a16="http://schemas.microsoft.com/office/drawing/2014/main" id="{62A108D7-8917-6073-0E62-89A30E58C312}"/>
              </a:ext>
            </a:extLst>
          </p:cNvPr>
          <p:cNvSpPr txBox="1"/>
          <p:nvPr/>
        </p:nvSpPr>
        <p:spPr>
          <a:xfrm>
            <a:off x="2951800" y="2001302"/>
            <a:ext cx="2515432" cy="368562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algn="ctr" latinLnBrk="0">
              <a:lnSpc>
                <a:spcPct val="110000"/>
              </a:lnSpc>
              <a:defRPr/>
            </a:pPr>
            <a: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DX·AI</a:t>
            </a: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 대한 개념</a:t>
            </a:r>
            <a: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필요성</a:t>
            </a:r>
            <a: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b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주요 기술 등을 인지하고 학습하는 단계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2B4C1D71-18CE-9E21-F76B-D9CE1F0704BB}"/>
              </a:ext>
            </a:extLst>
          </p:cNvPr>
          <p:cNvSpPr txBox="1"/>
          <p:nvPr/>
        </p:nvSpPr>
        <p:spPr>
          <a:xfrm>
            <a:off x="7011380" y="2001302"/>
            <a:ext cx="2076209" cy="368562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pPr algn="ctr" latinLnBrk="0">
              <a:lnSpc>
                <a:spcPct val="110000"/>
              </a:lnSpc>
              <a:defRPr/>
            </a:pPr>
            <a: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DX·AI </a:t>
            </a: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업무적용 방식의</a:t>
            </a:r>
            <a:b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구축 및 효과성을 확인하는 단계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F02B5C56-676C-FFE4-FDFF-BD23EEF4EF94}"/>
              </a:ext>
            </a:extLst>
          </p:cNvPr>
          <p:cNvSpPr txBox="1"/>
          <p:nvPr/>
        </p:nvSpPr>
        <p:spPr>
          <a:xfrm>
            <a:off x="10064868" y="2001302"/>
            <a:ext cx="1728038" cy="3685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latinLnBrk="0">
              <a:lnSpc>
                <a:spcPct val="110000"/>
              </a:lnSpc>
              <a:defRPr/>
            </a:pPr>
            <a: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BP </a:t>
            </a: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기반 </a:t>
            </a:r>
            <a:r>
              <a:rPr lang="en-US" altLang="ko-KR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DX·AI </a:t>
            </a: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업무 방식의 </a:t>
            </a:r>
            <a:b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11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조직 전반 확산 및 정착 단계</a:t>
            </a:r>
          </a:p>
        </p:txBody>
      </p:sp>
      <p:pic>
        <p:nvPicPr>
          <p:cNvPr id="335" name="그림 334">
            <a:extLst>
              <a:ext uri="{FF2B5EF4-FFF2-40B4-BE49-F238E27FC236}">
                <a16:creationId xmlns:a16="http://schemas.microsoft.com/office/drawing/2014/main" id="{DD5F93ED-CA82-ABE0-6834-043D93550AD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666099" y="2962521"/>
            <a:ext cx="651885" cy="227480"/>
          </a:xfrm>
          <a:prstGeom prst="rect">
            <a:avLst/>
          </a:prstGeom>
        </p:spPr>
      </p:pic>
      <p:pic>
        <p:nvPicPr>
          <p:cNvPr id="336" name="그림 335">
            <a:extLst>
              <a:ext uri="{FF2B5EF4-FFF2-40B4-BE49-F238E27FC236}">
                <a16:creationId xmlns:a16="http://schemas.microsoft.com/office/drawing/2014/main" id="{C48D2BC5-16DD-DA87-BFE7-65A0378CEA9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66079" y="3150450"/>
            <a:ext cx="800684" cy="239836"/>
          </a:xfrm>
          <a:prstGeom prst="rect">
            <a:avLst/>
          </a:prstGeom>
        </p:spPr>
      </p:pic>
      <p:sp>
        <p:nvSpPr>
          <p:cNvPr id="337" name="TextBox 336">
            <a:extLst>
              <a:ext uri="{FF2B5EF4-FFF2-40B4-BE49-F238E27FC236}">
                <a16:creationId xmlns:a16="http://schemas.microsoft.com/office/drawing/2014/main" id="{F76C0CE8-5CB8-170D-F0E6-2A9599C72503}"/>
              </a:ext>
            </a:extLst>
          </p:cNvPr>
          <p:cNvSpPr txBox="1"/>
          <p:nvPr/>
        </p:nvSpPr>
        <p:spPr>
          <a:xfrm>
            <a:off x="1228818" y="1638052"/>
            <a:ext cx="1338828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r"/>
            <a:r>
              <a:rPr lang="en-US" altLang="ko-KR" sz="12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DAX </a:t>
            </a:r>
            <a:r>
              <a:rPr lang="ko-KR" altLang="en-US" sz="12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내재화 단계</a:t>
            </a:r>
          </a:p>
        </p:txBody>
      </p:sp>
      <p:pic>
        <p:nvPicPr>
          <p:cNvPr id="338" name="Picture 4">
            <a:extLst>
              <a:ext uri="{FF2B5EF4-FFF2-40B4-BE49-F238E27FC236}">
                <a16:creationId xmlns:a16="http://schemas.microsoft.com/office/drawing/2014/main" id="{FDA983B8-877F-D9F5-9B00-C488436F4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049" y="2776609"/>
            <a:ext cx="1099895" cy="15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" name="Picture 2">
            <a:extLst>
              <a:ext uri="{FF2B5EF4-FFF2-40B4-BE49-F238E27FC236}">
                <a16:creationId xmlns:a16="http://schemas.microsoft.com/office/drawing/2014/main" id="{D6A7390B-16DE-85F1-4088-66D6CBB968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4" t="29070" r="15198" b="26099"/>
          <a:stretch>
            <a:fillRect/>
          </a:stretch>
        </p:blipFill>
        <p:spPr bwMode="auto">
          <a:xfrm>
            <a:off x="7001506" y="2572777"/>
            <a:ext cx="904324" cy="34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9234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256BA-EFBA-1FB8-5034-ECF0B782C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CE31CD5-3893-5F08-70AE-4ADC7CBA2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3. DX·AI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변화관리 파트너</a:t>
            </a: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,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알파코 </a:t>
            </a:r>
            <a:endParaRPr lang="ko-KR" altLang="en-US" sz="140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A10816-02A2-64FC-01E0-E351CEDF922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다양한 고객사의 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DX·AI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변화를 성공적으로 정착할 수 있도록 지원하며 검증된 성과를 축적해옴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554AEA-F18F-A7C9-22FE-786FA62C8DBD}"/>
              </a:ext>
            </a:extLst>
          </p:cNvPr>
          <p:cNvSpPr/>
          <p:nvPr/>
        </p:nvSpPr>
        <p:spPr>
          <a:xfrm>
            <a:off x="0" y="891945"/>
            <a:ext cx="12192000" cy="2929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marL="173038" latinLnBrk="0">
              <a:defRPr/>
            </a:pPr>
            <a:r>
              <a:rPr lang="en-US" altLang="ko-KR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3-1. DX·AI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레퍼런스 전체 리스트</a:t>
            </a:r>
            <a:r>
              <a:rPr lang="en-US" altLang="ko-KR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(2022 ~ 2025)</a:t>
            </a:r>
            <a:endParaRPr lang="ko-KR" altLang="en-US" sz="1200" spc="-100" dirty="0">
              <a:solidFill>
                <a:srgbClr val="FFFFFF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4979A99-BBC1-0087-3313-687572441F08}"/>
              </a:ext>
            </a:extLst>
          </p:cNvPr>
          <p:cNvGrpSpPr/>
          <p:nvPr/>
        </p:nvGrpSpPr>
        <p:grpSpPr>
          <a:xfrm>
            <a:off x="533400" y="1752600"/>
            <a:ext cx="6019800" cy="4688725"/>
            <a:chOff x="533400" y="1752600"/>
            <a:chExt cx="6019800" cy="468872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B87645D-A1F1-6CB3-5F22-654EAEBB5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752600"/>
              <a:ext cx="4331197" cy="2945648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163BBBFC-E7B2-C05A-8236-65DA9F1F3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1121" y="2101215"/>
              <a:ext cx="4331197" cy="2945648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F218393-0253-B2D5-8E73-D95E90ABC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8842" y="2449830"/>
              <a:ext cx="4331197" cy="2945648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65C6742-6EFE-46DD-6DBB-FE39C150E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46563" y="2798445"/>
              <a:ext cx="4331197" cy="2945648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56161B4-023F-12AF-130E-0EF10DC75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84284" y="3147060"/>
              <a:ext cx="4331197" cy="2945648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B4ACB6-8E77-84AB-6E79-FD753E785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2003" y="3495677"/>
              <a:ext cx="4331197" cy="2945648"/>
            </a:xfrm>
            <a:prstGeom prst="rec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C8043C5-3DDD-81BD-3C1C-593814FDE620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7P ~ 12P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19FB72-0E1C-E7C9-7A2C-991C986265A4}"/>
              </a:ext>
            </a:extLst>
          </p:cNvPr>
          <p:cNvSpPr/>
          <p:nvPr/>
        </p:nvSpPr>
        <p:spPr>
          <a:xfrm>
            <a:off x="6705600" y="1752600"/>
            <a:ext cx="4946270" cy="46887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8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C513FDE-D44D-296D-2F09-C25506CF6662}"/>
              </a:ext>
            </a:extLst>
          </p:cNvPr>
          <p:cNvGrpSpPr/>
          <p:nvPr/>
        </p:nvGrpSpPr>
        <p:grpSpPr>
          <a:xfrm>
            <a:off x="6851619" y="1981200"/>
            <a:ext cx="4716484" cy="4033614"/>
            <a:chOff x="6851619" y="1981200"/>
            <a:chExt cx="4716484" cy="403361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9D97D0-A764-1794-D0B7-3F32C786B462}"/>
                </a:ext>
              </a:extLst>
            </p:cNvPr>
            <p:cNvSpPr txBox="1"/>
            <p:nvPr/>
          </p:nvSpPr>
          <p:spPr>
            <a:xfrm>
              <a:off x="6851619" y="1994099"/>
              <a:ext cx="4237057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○ </a:t>
              </a:r>
              <a:r>
                <a:rPr lang="en-US" altLang="ko-KR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DX·AX </a:t>
              </a:r>
              <a:r>
                <a:rPr lang="ko-KR" altLang="en-US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내재화</a:t>
              </a:r>
              <a:r>
                <a:rPr lang="en-US" altLang="ko-KR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: </a:t>
              </a:r>
              <a:r>
                <a:rPr lang="ko-KR" altLang="en-US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이해 및 적용 단계 수행 경험</a:t>
              </a:r>
              <a:endParaRPr lang="ko-KR" altLang="en-US" sz="1100" dirty="0">
                <a:solidFill>
                  <a:srgbClr val="00206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C5CF04-C534-0DD9-0A2A-A4AB1C07693E}"/>
                </a:ext>
              </a:extLst>
            </p:cNvPr>
            <p:cNvSpPr txBox="1"/>
            <p:nvPr/>
          </p:nvSpPr>
          <p:spPr>
            <a:xfrm>
              <a:off x="6897339" y="1981200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lang="en-US" altLang="ko-KR" sz="1800" dirty="0"/>
                <a:t> </a:t>
              </a:r>
              <a:endParaRPr lang="ko-KR" altLang="en-US" sz="1800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988957E-BF80-60BE-DCE7-A220B132D94D}"/>
                </a:ext>
              </a:extLst>
            </p:cNvPr>
            <p:cNvSpPr/>
            <p:nvPr/>
          </p:nvSpPr>
          <p:spPr>
            <a:xfrm>
              <a:off x="7208520" y="2475230"/>
              <a:ext cx="1946947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대기업 그룹사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6CBE754-6EE2-A5EE-4888-8308C32DDE62}"/>
                </a:ext>
              </a:extLst>
            </p:cNvPr>
            <p:cNvSpPr/>
            <p:nvPr/>
          </p:nvSpPr>
          <p:spPr>
            <a:xfrm>
              <a:off x="9261122" y="2475230"/>
              <a:ext cx="1946947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제조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·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산업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·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기술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B9F5EDD-0CC6-EA68-A098-841E973062CE}"/>
                </a:ext>
              </a:extLst>
            </p:cNvPr>
            <p:cNvSpPr/>
            <p:nvPr/>
          </p:nvSpPr>
          <p:spPr>
            <a:xfrm>
              <a:off x="7208520" y="2899572"/>
              <a:ext cx="1946947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금융권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은행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증권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/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보험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)</a:t>
              </a:r>
              <a:endPara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0F28C44-8E2C-49A2-7B02-628321B1DAA8}"/>
                </a:ext>
              </a:extLst>
            </p:cNvPr>
            <p:cNvSpPr/>
            <p:nvPr/>
          </p:nvSpPr>
          <p:spPr>
            <a:xfrm>
              <a:off x="9261122" y="2899572"/>
              <a:ext cx="1946947" cy="3693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공공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·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조합</a:t>
              </a:r>
              <a:r>
                <a:rPr lang="en-US" altLang="ko-KR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·</a:t>
              </a:r>
              <a:r>
                <a:rPr lang="ko-KR" altLang="en-US" sz="1200" dirty="0">
                  <a:solidFill>
                    <a:schemeClr val="tx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협회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086FE4-DD28-D444-E6E4-6B48E9A42090}"/>
                </a:ext>
              </a:extLst>
            </p:cNvPr>
            <p:cNvSpPr txBox="1"/>
            <p:nvPr/>
          </p:nvSpPr>
          <p:spPr>
            <a:xfrm>
              <a:off x="6851619" y="3492018"/>
              <a:ext cx="1702710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○ 과정 실시 유형</a:t>
              </a:r>
              <a:endParaRPr lang="ko-KR" altLang="en-US" sz="1100" dirty="0">
                <a:solidFill>
                  <a:srgbClr val="00206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81A72F-1061-68ED-1649-5C356A69AD44}"/>
                </a:ext>
              </a:extLst>
            </p:cNvPr>
            <p:cNvSpPr txBox="1"/>
            <p:nvPr/>
          </p:nvSpPr>
          <p:spPr>
            <a:xfrm>
              <a:off x="6897339" y="3471499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lang="en-US" altLang="ko-KR" sz="1800" dirty="0"/>
                <a:t> </a:t>
              </a:r>
              <a:endParaRPr lang="ko-KR" altLang="en-US" sz="18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22ADEAC-5BA6-001D-01DE-890A5FD116D9}"/>
                </a:ext>
              </a:extLst>
            </p:cNvPr>
            <p:cNvSpPr txBox="1"/>
            <p:nvPr/>
          </p:nvSpPr>
          <p:spPr>
            <a:xfrm>
              <a:off x="7122655" y="3834225"/>
              <a:ext cx="4445448" cy="861520"/>
            </a:xfrm>
            <a:prstGeom prst="rect">
              <a:avLst/>
            </a:prstGeom>
            <a:noFill/>
          </p:spPr>
          <p:txBody>
            <a:bodyPr wrap="none" anchor="t" anchorCtr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-"/>
                <a:tabLst/>
                <a:defRPr/>
              </a:pP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Arial"/>
                </a:rPr>
                <a:t>AI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Arial"/>
                </a:rPr>
                <a:t>리터러시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생성형 </a:t>
              </a:r>
              <a:r>
                <a:rPr kumimoji="0" lang="en-US" altLang="ko-KR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AI </a:t>
              </a: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내재화 단계로 확산</a:t>
              </a:r>
              <a:endPara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285750" marR="0" lvl="0" indent="-28575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-"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Arial"/>
                </a:rPr>
                <a:t>데이터 기반 업무 혁신 및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생성형 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AI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업무 자동화 초점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  <a:sym typeface="Arial"/>
              </a:endParaRPr>
            </a:p>
            <a:p>
              <a:pPr marL="285750" marR="0" lvl="0" indent="-28575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-"/>
                <a:tabLst/>
                <a:defRPr/>
              </a:pP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생성형 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AI/ChatGPT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실습형 증가 추세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537754D-1DA1-1D99-D339-E1F4AB257620}"/>
                </a:ext>
              </a:extLst>
            </p:cNvPr>
            <p:cNvSpPr txBox="1"/>
            <p:nvPr/>
          </p:nvSpPr>
          <p:spPr>
            <a:xfrm>
              <a:off x="6851619" y="4817275"/>
              <a:ext cx="1314784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ko-KR" altLang="en-US" sz="1600" dirty="0">
                  <a:solidFill>
                    <a:srgbClr val="00206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○ 운영 형태 </a:t>
              </a:r>
              <a:endParaRPr lang="ko-KR" altLang="en-US" sz="1100" dirty="0">
                <a:solidFill>
                  <a:srgbClr val="00206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C76AD9-E9C5-481A-8E95-B85E5578ECD3}"/>
                </a:ext>
              </a:extLst>
            </p:cNvPr>
            <p:cNvSpPr txBox="1"/>
            <p:nvPr/>
          </p:nvSpPr>
          <p:spPr>
            <a:xfrm>
              <a:off x="7122655" y="5163747"/>
              <a:ext cx="4068743" cy="851067"/>
            </a:xfrm>
            <a:prstGeom prst="rect">
              <a:avLst/>
            </a:prstGeom>
            <a:noFill/>
          </p:spPr>
          <p:txBody>
            <a:bodyPr wrap="none" anchor="t" anchorCtr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-"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Arial"/>
                </a:rPr>
                <a:t>기초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리터러시 온라인 학습</a:t>
              </a:r>
              <a:endPara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285750" marR="0" lvl="0" indent="-28575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-"/>
                <a:tabLst/>
                <a:defRPr/>
              </a:pPr>
              <a:r>
                <a:rPr kumimoji="0" lang="ko-KR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Arial"/>
                </a:rPr>
                <a:t>하이브리드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(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이러닝 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+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실습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)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형 선택 증가</a:t>
              </a:r>
              <a:endPara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  <a:p>
              <a:pPr marL="285750" marR="0" lvl="0" indent="-285750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Char char="-"/>
                <a:tabLst/>
                <a:defRPr/>
              </a:pP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생성형 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AI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실무화 중심 과정 </a:t>
              </a:r>
              <a:r>
                <a:rPr lang="en-US" altLang="ko-KR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 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현장 </a:t>
              </a:r>
              <a:r>
                <a:rPr lang="ko-KR" altLang="en-US" sz="1400" dirty="0" err="1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적용력</a:t>
              </a:r>
              <a:r>
                <a:rPr lang="ko-KR" altLang="en-US" sz="1400" dirty="0"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  <a:sym typeface="Wingdings" panose="05000000000000000000" pitchFamily="2" charset="2"/>
                </a:rPr>
                <a:t> 강화</a:t>
              </a: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  <a:sym typeface="Arial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61786A3-B4AB-A631-5AD8-DC2EAF20192C}"/>
                </a:ext>
              </a:extLst>
            </p:cNvPr>
            <p:cNvSpPr txBox="1"/>
            <p:nvPr/>
          </p:nvSpPr>
          <p:spPr>
            <a:xfrm>
              <a:off x="6897339" y="4796071"/>
              <a:ext cx="5373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Clr>
                  <a:srgbClr val="FF0000"/>
                </a:buClr>
                <a:buFont typeface="Wingdings" panose="05000000000000000000" pitchFamily="2" charset="2"/>
                <a:buChar char="ü"/>
              </a:pPr>
              <a:r>
                <a:rPr lang="en-US" altLang="ko-KR" sz="1800" dirty="0"/>
                <a:t> </a:t>
              </a:r>
              <a:endParaRPr lang="ko-KR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0652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56736-2FAD-D0C3-149F-28EFCCBA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3. DX·AI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변화관리 파트너</a:t>
            </a: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,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알파코 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0FBA8A-448E-39AF-CCA4-EE89B13A00A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전 사원 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DX·AI 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기본 역량 인식 개선을 목적으로 니즈 조사 기반 과정 설계 및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 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학습에 능동적 참여와 학습 동기 유발을 위해 실무에 적용 가능한 사례 중심의 목차 구성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 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5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분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~10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분 분량의 </a:t>
            </a:r>
            <a:r>
              <a:rPr lang="ko-KR" altLang="en-US" dirty="0" err="1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마이크로형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 영상 시청과 동시에 실습을 직접 실행해 볼 수 있는 코딩 실습형 학습 인터페이스를 지원</a:t>
            </a:r>
          </a:p>
          <a:p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E9C92E-327E-2BA9-3AF4-BFC84EB2EDC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14162" y="2390501"/>
            <a:ext cx="3168001" cy="1423013"/>
          </a:xfrm>
          <a:prstGeom prst="rect">
            <a:avLst/>
          </a:prstGeom>
        </p:spPr>
      </p:pic>
      <p:pic>
        <p:nvPicPr>
          <p:cNvPr id="9" name="그림 8" descr="창의성, 실루엣, 흑백, 예술이(가) 표시된 사진&#10;&#10;자동 생성된 설명">
            <a:extLst>
              <a:ext uri="{FF2B5EF4-FFF2-40B4-BE49-F238E27FC236}">
                <a16:creationId xmlns:a16="http://schemas.microsoft.com/office/drawing/2014/main" id="{732BEED5-228A-2A8C-8EC5-B7776AFA95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317863" y="3107920"/>
            <a:ext cx="1972283" cy="55487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CC8D2E-BA01-8014-DC77-04DC99B7E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9084" y="2137630"/>
            <a:ext cx="973833" cy="387950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843D173-11CE-4BC0-9B1C-87DFE3B6DDE3}"/>
              </a:ext>
            </a:extLst>
          </p:cNvPr>
          <p:cNvSpPr/>
          <p:nvPr/>
        </p:nvSpPr>
        <p:spPr>
          <a:xfrm>
            <a:off x="1776522" y="3749040"/>
            <a:ext cx="1054964" cy="2784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니즈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B3D5D-29BC-4412-D5F4-74FA9D536F05}"/>
              </a:ext>
            </a:extLst>
          </p:cNvPr>
          <p:cNvSpPr txBox="1"/>
          <p:nvPr/>
        </p:nvSpPr>
        <p:spPr>
          <a:xfrm>
            <a:off x="738004" y="2489140"/>
            <a:ext cx="3132000" cy="535459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조선해양산업의 디지털 전환 추진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(HR) </a:t>
            </a:r>
            <a:r>
              <a:rPr lang="ko-KR" altLang="en-US" sz="120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전사원의 </a:t>
            </a:r>
            <a:r>
              <a:rPr lang="en-US" altLang="ko-KR" sz="120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DX·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기본 역량 필요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3" name="Picture 2" descr="HD현대중공업 - 나무위키">
            <a:extLst>
              <a:ext uri="{FF2B5EF4-FFF2-40B4-BE49-F238E27FC236}">
                <a16:creationId xmlns:a16="http://schemas.microsoft.com/office/drawing/2014/main" id="{9A80424C-9CCD-7B30-D7CA-E2F327A9C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06" y="2137630"/>
            <a:ext cx="2039397" cy="33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0BFA89-C32F-B89D-0DB8-9CCC201739E0}"/>
              </a:ext>
            </a:extLst>
          </p:cNvPr>
          <p:cNvSpPr txBox="1"/>
          <p:nvPr/>
        </p:nvSpPr>
        <p:spPr>
          <a:xfrm>
            <a:off x="738004" y="4028828"/>
            <a:ext cx="3132000" cy="7755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파이썬을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통해 프로그래밍 언어 이해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수동형 강의가 아닌 능동형 실습 강의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5~10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 이내의 </a:t>
            </a:r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마이크로러닝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학습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73C0EAE-53D7-D6E7-E806-61AD25621BD5}"/>
              </a:ext>
            </a:extLst>
          </p:cNvPr>
          <p:cNvSpPr/>
          <p:nvPr/>
        </p:nvSpPr>
        <p:spPr>
          <a:xfrm>
            <a:off x="1636207" y="5020340"/>
            <a:ext cx="1335594" cy="278478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맞춤 과정 개발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D5D61-79DA-44CB-5DDC-1CF855E71432}"/>
              </a:ext>
            </a:extLst>
          </p:cNvPr>
          <p:cNvSpPr txBox="1"/>
          <p:nvPr/>
        </p:nvSpPr>
        <p:spPr>
          <a:xfrm>
            <a:off x="738003" y="5274340"/>
            <a:ext cx="3262425" cy="10155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1. </a:t>
            </a:r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비기너를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위한 학습 순서 구성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이해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기초문법 이해 ▷ 응용 예제 이해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2.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학습 난이도를 고려한 학습 분량 설정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3.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코딩 실습 영상과 동시 실습 가능 구현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5C777C7-854A-9E5B-96A5-187C2E42CB8E}"/>
              </a:ext>
            </a:extLst>
          </p:cNvPr>
          <p:cNvSpPr/>
          <p:nvPr/>
        </p:nvSpPr>
        <p:spPr>
          <a:xfrm>
            <a:off x="4318912" y="1844767"/>
            <a:ext cx="987178" cy="30407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영상</a:t>
            </a:r>
            <a:r>
              <a:rPr lang="en-US" altLang="ko-KR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+</a:t>
            </a:r>
            <a:r>
              <a:rPr lang="ko-KR" altLang="en-US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실습형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D27712-98C2-5681-E7DF-91F9EFDC3A88}"/>
              </a:ext>
            </a:extLst>
          </p:cNvPr>
          <p:cNvSpPr txBox="1"/>
          <p:nvPr/>
        </p:nvSpPr>
        <p:spPr>
          <a:xfrm>
            <a:off x="8153400" y="3117968"/>
            <a:ext cx="3392849" cy="795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Type2: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영상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운영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현대중공업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Hi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클래스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제공 과정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(13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329B58-C8EB-F0F9-A36F-1548687A0095}"/>
              </a:ext>
            </a:extLst>
          </p:cNvPr>
          <p:cNvSpPr txBox="1"/>
          <p:nvPr/>
        </p:nvSpPr>
        <p:spPr>
          <a:xfrm>
            <a:off x="4512000" y="3886875"/>
            <a:ext cx="3168000" cy="151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Type 1: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영상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+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코딩 실습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운영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현대중공업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Hi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클래스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          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↔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LMS(DT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시스템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연동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제공 과정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endParaRPr lang="en-US" altLang="ko-KR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[AI </a:t>
            </a:r>
            <a:r>
              <a: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스타트</a:t>
            </a:r>
            <a:r>
              <a:rPr lang="en-US" altLang="ko-KR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!] </a:t>
            </a:r>
            <a:r>
              <a: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파이썬 초급 </a:t>
            </a:r>
            <a:r>
              <a:rPr lang="en-US" altLang="ko-KR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Part1</a:t>
            </a:r>
          </a:p>
          <a:p>
            <a:pPr marL="228600" indent="-228600">
              <a:buAutoNum type="arabicPeriod"/>
            </a:pPr>
            <a:r>
              <a:rPr lang="en-US" altLang="ko-KR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[AI </a:t>
            </a:r>
            <a:r>
              <a: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스타트</a:t>
            </a:r>
            <a:r>
              <a:rPr lang="en-US" altLang="ko-KR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!] </a:t>
            </a:r>
            <a:r>
              <a:rPr lang="ko-KR" altLang="en-US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파이썬 초급 </a:t>
            </a:r>
            <a:r>
              <a:rPr lang="en-US" altLang="ko-KR" sz="1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Part2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97F36AF-2B35-54C1-2A39-A51651725F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080" y="2137630"/>
            <a:ext cx="973833" cy="38795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55CDCB-5A06-BC75-A0FF-738E1E091CC5}"/>
              </a:ext>
            </a:extLst>
          </p:cNvPr>
          <p:cNvSpPr/>
          <p:nvPr/>
        </p:nvSpPr>
        <p:spPr>
          <a:xfrm>
            <a:off x="526916" y="1844767"/>
            <a:ext cx="3554177" cy="46474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D0778B1-46FA-DD58-FE15-60701A12099B}"/>
              </a:ext>
            </a:extLst>
          </p:cNvPr>
          <p:cNvSpPr/>
          <p:nvPr/>
        </p:nvSpPr>
        <p:spPr>
          <a:xfrm>
            <a:off x="4318912" y="1844767"/>
            <a:ext cx="3554177" cy="46474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450CA-902D-7304-1BF0-A55990F48121}"/>
              </a:ext>
            </a:extLst>
          </p:cNvPr>
          <p:cNvSpPr/>
          <p:nvPr/>
        </p:nvSpPr>
        <p:spPr>
          <a:xfrm>
            <a:off x="8110908" y="1844767"/>
            <a:ext cx="3554177" cy="46474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600" dirty="0">
              <a:solidFill>
                <a:schemeClr val="bg1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477257A-DF97-1697-5A27-E318518C73AB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5816652" y="2801702"/>
            <a:ext cx="558696" cy="55869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B81074F-3732-F98F-8DB6-076E8068A5A9}"/>
              </a:ext>
            </a:extLst>
          </p:cNvPr>
          <p:cNvSpPr/>
          <p:nvPr/>
        </p:nvSpPr>
        <p:spPr>
          <a:xfrm>
            <a:off x="8110908" y="1844767"/>
            <a:ext cx="987178" cy="30407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영상학습형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276E2-8CE2-C17B-D38F-7B0D182A2091}"/>
              </a:ext>
            </a:extLst>
          </p:cNvPr>
          <p:cNvSpPr txBox="1"/>
          <p:nvPr/>
        </p:nvSpPr>
        <p:spPr>
          <a:xfrm>
            <a:off x="4548000" y="5558926"/>
            <a:ext cx="3132000" cy="7755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환급 승인 지원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코딩 관련 학습자 문의 지원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현대중공업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LMS-</a:t>
            </a:r>
            <a:r>
              <a:rPr lang="ko-KR" altLang="en-US" sz="12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LMS 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시스템 연동</a:t>
            </a:r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80C2F80-750D-F753-5688-F948CF79D55F}"/>
              </a:ext>
            </a:extLst>
          </p:cNvPr>
          <p:cNvSpPr/>
          <p:nvPr/>
        </p:nvSpPr>
        <p:spPr>
          <a:xfrm>
            <a:off x="5586518" y="3519503"/>
            <a:ext cx="1054964" cy="278478"/>
          </a:xfrm>
          <a:prstGeom prst="roundRect">
            <a:avLst>
              <a:gd name="adj" fmla="val 50000"/>
            </a:avLst>
          </a:prstGeom>
          <a:solidFill>
            <a:srgbClr val="03428F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알파코</a:t>
            </a:r>
            <a:r>
              <a:rPr lang="ko-KR" altLang="en-US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LMS</a:t>
            </a:r>
            <a:endParaRPr lang="ko-KR" altLang="en-US" sz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AB65DE-056E-22F3-BEE8-129B621146DD}"/>
              </a:ext>
            </a:extLst>
          </p:cNvPr>
          <p:cNvSpPr txBox="1"/>
          <p:nvPr/>
        </p:nvSpPr>
        <p:spPr>
          <a:xfrm>
            <a:off x="8158352" y="3871726"/>
            <a:ext cx="3554178" cy="24823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비전공자를 위한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IT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지식 채널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: DT TV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 분석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엑셀이면 충분하다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실무자는 이렇게 씁니다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! ChatGPT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업무 활용법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칼퇴하는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일잘러의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비밀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, ChatGPT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업무자동화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데이터에 엔진을 달다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!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엑셀 데이터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입문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데이터에 엔진을 달다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!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엑셀 데이터 분석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[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심화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비기너를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위한 하루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SQL [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기초편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비기너를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위한 하루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분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SQL [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실전편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]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오늘 배워서 내일 실무에 적용하는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Tableau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 시각화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직장인을 위한 데이터 운동장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데이터 기초 체력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UP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하기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!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[HOW TO DATA]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직장인을 위한 데이터 분석 기초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[HOW TO DATA]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직장인을 위한 데이터 분석 실무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1E1E1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일잘러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E1E1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기획자에게 배우는 서비스 기획 입문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6CCFE8-AA73-906C-D683-83D5AEED253A}"/>
              </a:ext>
            </a:extLst>
          </p:cNvPr>
          <p:cNvSpPr/>
          <p:nvPr/>
        </p:nvSpPr>
        <p:spPr>
          <a:xfrm>
            <a:off x="0" y="891945"/>
            <a:ext cx="12192000" cy="2929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marL="173038" latinLnBrk="0">
              <a:defRPr/>
            </a:pPr>
            <a:r>
              <a:rPr lang="en-US" altLang="ko-KR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3-2. AI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내재화 온라인 프로그램 개발</a:t>
            </a:r>
            <a:r>
              <a:rPr lang="en-US" altLang="ko-KR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(1/2)</a:t>
            </a:r>
            <a:endParaRPr lang="ko-KR" altLang="en-US" sz="1200" spc="-100" dirty="0">
              <a:solidFill>
                <a:srgbClr val="FFFFFF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FF0236-2D53-6EED-CD7A-E681EE70333A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13P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1560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E600-775A-CE68-2EEB-7DCF5806D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407B59C9-5BF2-82CD-84E4-BDD25C02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336800" algn="l"/>
              </a:tabLst>
            </a:pP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3. DX·AI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변화관리 파트너</a:t>
            </a:r>
            <a:r>
              <a:rPr lang="en-US" altLang="ko-KR" dirty="0">
                <a:solidFill>
                  <a:prstClr val="black">
                    <a:lumMod val="95000"/>
                    <a:lumOff val="5000"/>
                  </a:prstClr>
                </a:solidFill>
              </a:rPr>
              <a:t>, 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알파코 </a:t>
            </a:r>
            <a:endParaRPr lang="ko-KR" altLang="en-US" sz="1200" dirty="0"/>
          </a:p>
        </p:txBody>
      </p:sp>
      <p:sp>
        <p:nvSpPr>
          <p:cNvPr id="34" name="텍스트 개체 틀 33">
            <a:extLst>
              <a:ext uri="{FF2B5EF4-FFF2-40B4-BE49-F238E27FC236}">
                <a16:creationId xmlns:a16="http://schemas.microsoft.com/office/drawing/2014/main" id="{EDF71A5C-BDD1-FAE3-F876-B0C238AE7B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국내 금융권의 리딩 금융권 대상 </a:t>
            </a:r>
            <a:r>
              <a:rPr lang="en-US" altLang="ko-KR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DX</a:t>
            </a:r>
            <a:r>
              <a:rPr lang="ko-KR" altLang="en-US" dirty="0">
                <a:solidFill>
                  <a:srgbClr val="26262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Arial"/>
              </a:rPr>
              <a:t>전환 교육 프로그램 수행경험 보유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847EF6-07AD-948A-5B7E-A39415D888CD}"/>
              </a:ext>
            </a:extLst>
          </p:cNvPr>
          <p:cNvSpPr txBox="1"/>
          <p:nvPr/>
        </p:nvSpPr>
        <p:spPr>
          <a:xfrm>
            <a:off x="882026" y="3489223"/>
            <a:ext cx="3064585" cy="90116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리터러시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전반 학습</a:t>
            </a: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ChatGPT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프롬프트 작성법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+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사례</a:t>
            </a:r>
            <a:b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실무 적용 중심 교육 진행</a:t>
            </a: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전사 대상 총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 영상 학습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41" name="그림 40" descr="창의성, 실루엣, 흑백, 예술이(가) 표시된 사진&#10;&#10;자동 생성된 설명">
            <a:extLst>
              <a:ext uri="{FF2B5EF4-FFF2-40B4-BE49-F238E27FC236}">
                <a16:creationId xmlns:a16="http://schemas.microsoft.com/office/drawing/2014/main" id="{43F8E0FF-5D6D-96C0-3C65-3ECA311A0C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87380" y="4409188"/>
            <a:ext cx="1929831" cy="336834"/>
          </a:xfrm>
          <a:prstGeom prst="rect">
            <a:avLst/>
          </a:prstGeom>
        </p:spPr>
      </p:pic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3381D6B-1AC9-C58A-691D-71FAF0D46C55}"/>
              </a:ext>
            </a:extLst>
          </p:cNvPr>
          <p:cNvSpPr/>
          <p:nvPr/>
        </p:nvSpPr>
        <p:spPr>
          <a:xfrm>
            <a:off x="1794098" y="3508025"/>
            <a:ext cx="1032256" cy="22729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니즈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BC825F9-7D7A-11AF-C777-2C9CB2B983AF}"/>
              </a:ext>
            </a:extLst>
          </p:cNvPr>
          <p:cNvSpPr/>
          <p:nvPr/>
        </p:nvSpPr>
        <p:spPr>
          <a:xfrm>
            <a:off x="1612330" y="4764803"/>
            <a:ext cx="1306846" cy="22729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맞춤 과정 개발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9DE124-398E-FF3B-640C-02C32B252C48}"/>
              </a:ext>
            </a:extLst>
          </p:cNvPr>
          <p:cNvSpPr txBox="1"/>
          <p:nvPr/>
        </p:nvSpPr>
        <p:spPr>
          <a:xfrm>
            <a:off x="733459" y="4972114"/>
            <a:ext cx="3192203" cy="82891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전문강사 섭외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 업무에서 활용할 수 있는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Chat GPT </a:t>
            </a:r>
            <a:b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활용 실습 및 사례 개발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캠타시아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촬영으로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Chat GPT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실습 화면 구현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55F6383-D467-D6BC-CA40-C8EA0DE47B38}"/>
              </a:ext>
            </a:extLst>
          </p:cNvPr>
          <p:cNvSpPr/>
          <p:nvPr/>
        </p:nvSpPr>
        <p:spPr>
          <a:xfrm>
            <a:off x="4164456" y="1828800"/>
            <a:ext cx="965929" cy="24818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생성형 </a:t>
            </a:r>
            <a:r>
              <a: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endParaRPr lang="ko-KR" altLang="en-US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F311D3E-B346-DCC3-AFEF-F1F5457FCD41}"/>
              </a:ext>
            </a:extLst>
          </p:cNvPr>
          <p:cNvSpPr/>
          <p:nvPr/>
        </p:nvSpPr>
        <p:spPr>
          <a:xfrm>
            <a:off x="526916" y="1828800"/>
            <a:ext cx="3477675" cy="46482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FA6ECBA-45CE-6BF3-D388-C14B38701A93}"/>
              </a:ext>
            </a:extLst>
          </p:cNvPr>
          <p:cNvSpPr/>
          <p:nvPr/>
        </p:nvSpPr>
        <p:spPr>
          <a:xfrm>
            <a:off x="4164456" y="1828800"/>
            <a:ext cx="3477675" cy="46482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49" name="그림 48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8E5DDD80-3A2A-5703-97E1-7D0D68F0D3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925" y="1942529"/>
            <a:ext cx="1177657" cy="351573"/>
          </a:xfrm>
          <a:prstGeom prst="rect">
            <a:avLst/>
          </a:prstGeom>
        </p:spPr>
      </p:pic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3E24312-164B-D8B4-6C3D-53E2A40BBB41}"/>
              </a:ext>
            </a:extLst>
          </p:cNvPr>
          <p:cNvSpPr/>
          <p:nvPr/>
        </p:nvSpPr>
        <p:spPr>
          <a:xfrm>
            <a:off x="526915" y="1835821"/>
            <a:ext cx="965929" cy="24818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생성형 </a:t>
            </a:r>
            <a:r>
              <a: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endParaRPr lang="ko-KR" altLang="en-US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0EBCC2-A104-D30C-CE7E-8965FCFF6A06}"/>
              </a:ext>
            </a:extLst>
          </p:cNvPr>
          <p:cNvSpPr txBox="1"/>
          <p:nvPr/>
        </p:nvSpPr>
        <p:spPr>
          <a:xfrm>
            <a:off x="674748" y="5923734"/>
            <a:ext cx="3064585" cy="437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2024.05.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KB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국민은행 전사 대상 자율 교육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KB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국민은행 시스템 탑재 및 교육 운영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3" name="그림 52" descr="창의성, 실루엣, 흑백, 예술이(가) 표시된 사진&#10;&#10;자동 생성된 설명">
            <a:extLst>
              <a:ext uri="{FF2B5EF4-FFF2-40B4-BE49-F238E27FC236}">
                <a16:creationId xmlns:a16="http://schemas.microsoft.com/office/drawing/2014/main" id="{B8985504-9F19-92D3-17DA-F2519125B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982900" y="4409188"/>
            <a:ext cx="1929831" cy="336834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0ED8C11-9E6D-A844-4948-03D0C6D0AB55}"/>
              </a:ext>
            </a:extLst>
          </p:cNvPr>
          <p:cNvSpPr/>
          <p:nvPr/>
        </p:nvSpPr>
        <p:spPr>
          <a:xfrm>
            <a:off x="5408906" y="3561832"/>
            <a:ext cx="1032256" cy="22729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니즈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54CEA2-A114-F73A-F15B-4ABE2FB8E9A5}"/>
              </a:ext>
            </a:extLst>
          </p:cNvPr>
          <p:cNvSpPr txBox="1"/>
          <p:nvPr/>
        </p:nvSpPr>
        <p:spPr>
          <a:xfrm>
            <a:off x="4577546" y="3768133"/>
            <a:ext cx="3064585" cy="63297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Chat GPT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프롬프트 활용 중심 학습</a:t>
            </a:r>
          </a:p>
          <a:p>
            <a:pPr>
              <a:lnSpc>
                <a:spcPct val="130000"/>
              </a:lnSpc>
            </a:pP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기업금융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자산관리 분야</a:t>
            </a: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영업점 직원 대상 총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시간 영상 학습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8BD6639-22D2-449A-98B0-6B577508DBFB}"/>
              </a:ext>
            </a:extLst>
          </p:cNvPr>
          <p:cNvSpPr/>
          <p:nvPr/>
        </p:nvSpPr>
        <p:spPr>
          <a:xfrm>
            <a:off x="5307850" y="4757188"/>
            <a:ext cx="1306846" cy="22729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맞춤 과정 개발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F3ED89D-02FB-C19A-B21B-0AC4B39851C7}"/>
              </a:ext>
            </a:extLst>
          </p:cNvPr>
          <p:cNvSpPr txBox="1"/>
          <p:nvPr/>
        </p:nvSpPr>
        <p:spPr>
          <a:xfrm>
            <a:off x="4428979" y="4964499"/>
            <a:ext cx="3192203" cy="82891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기업금융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자산관리 분야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ChatGPT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활용</a:t>
            </a:r>
            <a:b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시나리오 개발 및 영상 촬영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28600" indent="-228600">
              <a:lnSpc>
                <a:spcPct val="130000"/>
              </a:lnSpc>
              <a:buAutoNum type="arabicPeriod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ChatGPT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가입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입력 등 기본적인 사용법</a:t>
            </a:r>
            <a:b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부터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프롬프트 활용법까지 단계적 교육 진행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8" name="그림 57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AE407898-180A-1554-20CC-E634DDF268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465" y="1942529"/>
            <a:ext cx="1177657" cy="351573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417841B-0BCA-47AF-D994-E6BEE724797E}"/>
              </a:ext>
            </a:extLst>
          </p:cNvPr>
          <p:cNvSpPr txBox="1"/>
          <p:nvPr/>
        </p:nvSpPr>
        <p:spPr>
          <a:xfrm>
            <a:off x="4365068" y="5916119"/>
            <a:ext cx="3189672" cy="437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2024.04.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KB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국민은행 영업점 대상 자율 교육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KB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국민은행 시스템 탑재 및 교육 운영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D54653-7860-7BC1-FE2B-998AF5C84A36}"/>
              </a:ext>
            </a:extLst>
          </p:cNvPr>
          <p:cNvGrpSpPr/>
          <p:nvPr/>
        </p:nvGrpSpPr>
        <p:grpSpPr>
          <a:xfrm>
            <a:off x="4722407" y="2352272"/>
            <a:ext cx="2361772" cy="816954"/>
            <a:chOff x="4611208" y="2142882"/>
            <a:chExt cx="3042496" cy="825881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AB4014D5-F98E-D538-9868-8FE4E17CF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11208" y="2142882"/>
              <a:ext cx="1676485" cy="737288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0B810938-0BFA-BF81-5EC6-5EA1ABA9F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71270" y="2272402"/>
              <a:ext cx="1582434" cy="696361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D7BFE4B-15DD-21A3-273A-C6FB0544B091}"/>
              </a:ext>
            </a:extLst>
          </p:cNvPr>
          <p:cNvSpPr txBox="1"/>
          <p:nvPr/>
        </p:nvSpPr>
        <p:spPr>
          <a:xfrm>
            <a:off x="1129739" y="3129674"/>
            <a:ext cx="2311355" cy="2418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10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10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  <a:r>
              <a:rPr lang="en-US" altLang="ko-KR" sz="110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100" b="1" dirty="0" err="1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과정명</a:t>
            </a:r>
            <a:r>
              <a:rPr lang="en-US" altLang="ko-KR" sz="110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AI </a:t>
            </a:r>
            <a:r>
              <a:rPr lang="ko-KR" altLang="en-US" sz="1100" b="1" dirty="0" err="1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리터러시</a:t>
            </a:r>
            <a:r>
              <a:rPr lang="en-US" altLang="ko-KR" sz="110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(2024)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8770E89-9827-A327-6AD7-7A1E4AD5A3C6}"/>
              </a:ext>
            </a:extLst>
          </p:cNvPr>
          <p:cNvGrpSpPr/>
          <p:nvPr/>
        </p:nvGrpSpPr>
        <p:grpSpPr>
          <a:xfrm>
            <a:off x="1110076" y="2342791"/>
            <a:ext cx="2311355" cy="858125"/>
            <a:chOff x="707395" y="2133297"/>
            <a:chExt cx="2977548" cy="867501"/>
          </a:xfrm>
        </p:grpSpPr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FA8EDD54-687B-FD2F-93A9-E3CF13DF00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7395" y="2133297"/>
              <a:ext cx="1810746" cy="775191"/>
            </a:xfrm>
            <a:prstGeom prst="rect">
              <a:avLst/>
            </a:prstGeom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EEEBF689-7CB3-DB73-BF99-2C64AEA85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167855" y="2308242"/>
              <a:ext cx="1517088" cy="692556"/>
            </a:xfrm>
            <a:prstGeom prst="rect">
              <a:avLst/>
            </a:prstGeom>
          </p:spPr>
        </p:pic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21617706-C8F1-DAA2-4110-DAA39CCA75C0}"/>
              </a:ext>
            </a:extLst>
          </p:cNvPr>
          <p:cNvSpPr txBox="1"/>
          <p:nvPr/>
        </p:nvSpPr>
        <p:spPr>
          <a:xfrm>
            <a:off x="4215949" y="3157073"/>
            <a:ext cx="3477675" cy="420016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05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050" b="1" dirty="0" err="1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과정명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ChatGPT</a:t>
            </a:r>
            <a:r>
              <a:rPr lang="ko-KR" altLang="en-US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프롬프트 활용법 기업금융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자산관리</a:t>
            </a:r>
            <a:b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               (2024) 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9A63707-D622-D6C7-49CB-F7EAF565BAED}"/>
              </a:ext>
            </a:extLst>
          </p:cNvPr>
          <p:cNvSpPr/>
          <p:nvPr/>
        </p:nvSpPr>
        <p:spPr>
          <a:xfrm>
            <a:off x="7854309" y="1828800"/>
            <a:ext cx="3802780" cy="464820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7766BC-3176-A3BC-4245-FB1BF3CC3B43}"/>
              </a:ext>
            </a:extLst>
          </p:cNvPr>
          <p:cNvSpPr txBox="1"/>
          <p:nvPr/>
        </p:nvSpPr>
        <p:spPr>
          <a:xfrm>
            <a:off x="7922579" y="5597036"/>
            <a:ext cx="3736021" cy="79927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05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050" b="1" dirty="0" err="1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과정명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b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하나금융그룹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마이데이터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(2022)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b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-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하나금융그룹 디지털 전환 사례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(2021)</a:t>
            </a:r>
            <a:b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-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하나금융그룹 알아두면 쓸모 있는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IT/DT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기초용어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(2021)</a:t>
            </a: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107888A2-85E5-1FA6-9DB4-1CAF0D300D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8501" y="4529236"/>
            <a:ext cx="1154396" cy="273802"/>
          </a:xfrm>
          <a:prstGeom prst="rect">
            <a:avLst/>
          </a:prstGeom>
        </p:spPr>
      </p:pic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3D00DB4A-4749-D58A-3192-73AACAB35CB4}"/>
              </a:ext>
            </a:extLst>
          </p:cNvPr>
          <p:cNvSpPr/>
          <p:nvPr/>
        </p:nvSpPr>
        <p:spPr>
          <a:xfrm>
            <a:off x="7854309" y="1828800"/>
            <a:ext cx="965929" cy="24818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디지털</a:t>
            </a:r>
            <a:r>
              <a:rPr lang="en-US" altLang="ko-KR" sz="11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/AI</a:t>
            </a:r>
            <a:endParaRPr lang="ko-KR" altLang="en-US" sz="11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4D2B93D6-9D21-9540-F3D6-66DAEDD5F1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6034" y="4807733"/>
            <a:ext cx="1528430" cy="768048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5623D155-5186-5D14-B17E-C4ED59579D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705" y="4980465"/>
            <a:ext cx="1503660" cy="768048"/>
          </a:xfrm>
          <a:prstGeom prst="rect">
            <a:avLst/>
          </a:prstGeom>
        </p:spPr>
      </p:pic>
      <p:pic>
        <p:nvPicPr>
          <p:cNvPr id="71" name="그림 70" descr="폰트, 그래픽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107C904F-8133-5E04-7CCF-42C11E430C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34" y="1988256"/>
            <a:ext cx="965929" cy="33372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341F11DB-46EF-4D0A-0B0F-1E05840ADD62}"/>
              </a:ext>
            </a:extLst>
          </p:cNvPr>
          <p:cNvGrpSpPr/>
          <p:nvPr/>
        </p:nvGrpSpPr>
        <p:grpSpPr>
          <a:xfrm>
            <a:off x="8404881" y="2385660"/>
            <a:ext cx="2701635" cy="984559"/>
            <a:chOff x="8186370" y="2238261"/>
            <a:chExt cx="3480318" cy="995317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8EA032F1-6133-0CC4-6EB2-5DEBCCB2A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86370" y="2238261"/>
              <a:ext cx="1819089" cy="853892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DEBF9970-82C8-DA16-9010-A7A903494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835957" y="2379686"/>
              <a:ext cx="1830731" cy="853892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8403A832-781E-D236-F565-96BEE57F1674}"/>
              </a:ext>
            </a:extLst>
          </p:cNvPr>
          <p:cNvSpPr txBox="1"/>
          <p:nvPr/>
        </p:nvSpPr>
        <p:spPr>
          <a:xfrm>
            <a:off x="7929464" y="3343068"/>
            <a:ext cx="3616428" cy="116332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050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★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050" b="1" dirty="0" err="1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과정명</a:t>
            </a: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b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50" b="1" dirty="0">
                <a:solidFill>
                  <a:schemeClr val="accent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일잘러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기획자에게 배우는 서비스기획 입문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(2024)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-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비전공자를 위한 </a:t>
            </a:r>
            <a:r>
              <a:rPr lang="en-US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NoCode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AI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실무 활용법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(2024)</a:t>
            </a:r>
            <a:b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 - </a:t>
            </a:r>
            <a:r>
              <a:rPr lang="ko-KR" altLang="en-US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노코드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AI_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심화 과정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제조</a:t>
            </a:r>
            <a:r>
              <a:rPr lang="en-US" altLang="ko-KR" sz="10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RnD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)(2024)</a:t>
            </a:r>
            <a:b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-  [HOW TO DATA]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직장인을 위한 데이터 분석 기초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(2024)</a:t>
            </a:r>
            <a:b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  -  [HOW TO DATA] </a:t>
            </a:r>
            <a:r>
              <a:rPr lang="ko-KR" altLang="en-US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직장인을 위한 데이터 분석 실무</a:t>
            </a:r>
            <a:r>
              <a:rPr lang="en-US" altLang="ko-KR" sz="10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(2024)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A2BDE0-97E5-2561-AE0A-545107876204}"/>
              </a:ext>
            </a:extLst>
          </p:cNvPr>
          <p:cNvSpPr/>
          <p:nvPr/>
        </p:nvSpPr>
        <p:spPr>
          <a:xfrm>
            <a:off x="0" y="891945"/>
            <a:ext cx="12192000" cy="2929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rtlCol="0" anchor="ctr"/>
          <a:lstStyle/>
          <a:p>
            <a:pPr marL="173038" latinLnBrk="0">
              <a:defRPr/>
            </a:pPr>
            <a:r>
              <a:rPr lang="en-US" altLang="ko-KR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3-2. AI </a:t>
            </a:r>
            <a:r>
              <a:rPr lang="ko-KR" altLang="en-US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내재화 온라인 프로그램 개발</a:t>
            </a:r>
            <a:r>
              <a:rPr lang="en-US" altLang="ko-KR" sz="1200" spc="-1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(2/2)</a:t>
            </a:r>
            <a:endParaRPr lang="ko-KR" altLang="en-US" sz="1200" spc="-100" dirty="0">
              <a:solidFill>
                <a:srgbClr val="FFFFFF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316BC3-BA6A-FEA4-98FA-754E7F59BED2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14P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472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3357-22EB-4564-5670-EE2AB9A7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6FB2E9F4-3DA6-1079-1BE5-DA0B7E470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844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8153EAD-0B6D-81CC-C900-1347558AE097}"/>
              </a:ext>
            </a:extLst>
          </p:cNvPr>
          <p:cNvSpPr/>
          <p:nvPr/>
        </p:nvSpPr>
        <p:spPr>
          <a:xfrm>
            <a:off x="0" y="0"/>
            <a:ext cx="5029200" cy="6884416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9D1A42-333C-4EC4-29FC-7D1B3A2FD9AE}"/>
              </a:ext>
            </a:extLst>
          </p:cNvPr>
          <p:cNvSpPr txBox="1"/>
          <p:nvPr/>
        </p:nvSpPr>
        <p:spPr>
          <a:xfrm>
            <a:off x="6078040" y="3920308"/>
            <a:ext cx="1920842" cy="1089978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프로그램 개발 개요</a:t>
            </a:r>
            <a:endParaRPr lang="en-US" altLang="ko-KR" sz="14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프로그램 추진 방향</a:t>
            </a:r>
            <a:endParaRPr lang="en-US" altLang="ko-KR" sz="1400" kern="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4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프로그램 개발 단계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E78346-6D73-A443-5CE2-D32DC41CD7EF}"/>
              </a:ext>
            </a:extLst>
          </p:cNvPr>
          <p:cNvSpPr txBox="1"/>
          <p:nvPr/>
        </p:nvSpPr>
        <p:spPr>
          <a:xfrm>
            <a:off x="5568159" y="3292003"/>
            <a:ext cx="2643672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Ⅱ. </a:t>
            </a:r>
            <a:r>
              <a:rPr lang="ko-KR" altLang="en-US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프로그램 개발 계획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543B95D-7DB5-9DB6-B44D-E175513F6FFD}"/>
              </a:ext>
            </a:extLst>
          </p:cNvPr>
          <p:cNvCxnSpPr>
            <a:cxnSpLocks/>
          </p:cNvCxnSpPr>
          <p:nvPr/>
        </p:nvCxnSpPr>
        <p:spPr>
          <a:xfrm>
            <a:off x="430679" y="1466065"/>
            <a:ext cx="215059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C020A15-6579-CC5F-18CC-E3FF2305E98D}"/>
              </a:ext>
            </a:extLst>
          </p:cNvPr>
          <p:cNvSpPr txBox="1"/>
          <p:nvPr/>
        </p:nvSpPr>
        <p:spPr>
          <a:xfrm>
            <a:off x="305094" y="928295"/>
            <a:ext cx="2954779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「디지털 전환에 따른 일하는 방식의 변화」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BBC063-0A8F-32B2-42F0-3AA1C0DD1EB3}"/>
              </a:ext>
            </a:extLst>
          </p:cNvPr>
          <p:cNvSpPr txBox="1"/>
          <p:nvPr/>
        </p:nvSpPr>
        <p:spPr>
          <a:xfrm>
            <a:off x="400344" y="1163533"/>
            <a:ext cx="2057098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8C53B-745C-E378-6614-568C7D42BE3F}"/>
              </a:ext>
            </a:extLst>
          </p:cNvPr>
          <p:cNvSpPr txBox="1"/>
          <p:nvPr/>
        </p:nvSpPr>
        <p:spPr>
          <a:xfrm>
            <a:off x="5989631" y="5789401"/>
            <a:ext cx="1737976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r>
              <a:rPr lang="en-US" altLang="ko-KR" sz="12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</a:rPr>
              <a:t>[</a:t>
            </a:r>
            <a:r>
              <a: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</a:rPr>
              <a:t>참고</a:t>
            </a:r>
            <a:r>
              <a:rPr lang="en-US" altLang="ko-KR" sz="12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</a:rPr>
              <a:t>] AI </a:t>
            </a:r>
            <a:r>
              <a:rPr lang="ko-KR" altLang="en-US" sz="12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</a:rPr>
              <a:t>내재화 로드맵</a:t>
            </a:r>
          </a:p>
        </p:txBody>
      </p:sp>
    </p:spTree>
    <p:extLst>
      <p:ext uri="{BB962C8B-B14F-4D97-AF65-F5344CB8AC3E}">
        <p14:creationId xmlns:p14="http://schemas.microsoft.com/office/powerpoint/2010/main" val="2957959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73AB1-1AE9-A35D-1E64-E3EAAE47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A2DB7-6A18-CCB9-AD7E-1E739BA3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알파코</a:t>
            </a:r>
            <a:r>
              <a:rPr lang="en-US" altLang="ko-KR" dirty="0"/>
              <a:t> AX </a:t>
            </a:r>
            <a:r>
              <a:rPr lang="ko-KR" altLang="en-US" dirty="0"/>
              <a:t>교육체계</a:t>
            </a:r>
          </a:p>
        </p:txBody>
      </p:sp>
      <p:sp>
        <p:nvSpPr>
          <p:cNvPr id="62" name="텍스트 개체 틀 61">
            <a:extLst>
              <a:ext uri="{FF2B5EF4-FFF2-40B4-BE49-F238E27FC236}">
                <a16:creationId xmlns:a16="http://schemas.microsoft.com/office/drawing/2014/main" id="{CDBCBE3F-8485-CD43-622D-F17BADFD79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0" y="926896"/>
            <a:ext cx="11018041" cy="734471"/>
          </a:xfrm>
        </p:spPr>
        <p:txBody>
          <a:bodyPr/>
          <a:lstStyle/>
          <a:p>
            <a:r>
              <a:rPr lang="ko-KR" altLang="en-US" b="1" dirty="0"/>
              <a:t>알파코는 </a:t>
            </a:r>
            <a:r>
              <a:rPr lang="en-US" altLang="ko-KR" b="1" dirty="0"/>
              <a:t>AX</a:t>
            </a:r>
            <a:r>
              <a:rPr lang="ko-KR" altLang="en-US" b="1" dirty="0"/>
              <a:t>를 ‘</a:t>
            </a:r>
            <a:r>
              <a:rPr lang="ko-KR" altLang="en-US" b="1" dirty="0" err="1"/>
              <a:t>도구’의</a:t>
            </a:r>
            <a:r>
              <a:rPr lang="ko-KR" altLang="en-US" b="1" dirty="0"/>
              <a:t> 개념을 넘어 조직의 판단</a:t>
            </a:r>
            <a:r>
              <a:rPr lang="en-US" altLang="ko-KR" b="1" dirty="0"/>
              <a:t>·</a:t>
            </a:r>
            <a:r>
              <a:rPr lang="ko-KR" altLang="en-US" b="1" dirty="0"/>
              <a:t>업무</a:t>
            </a:r>
            <a:r>
              <a:rPr lang="en-US" altLang="ko-KR" b="1" dirty="0"/>
              <a:t>·</a:t>
            </a:r>
            <a:r>
              <a:rPr lang="ko-KR" altLang="en-US" b="1" dirty="0"/>
              <a:t>역할 구조에 내재화 및 변화를 일으키기 위한 </a:t>
            </a:r>
            <a:r>
              <a:rPr lang="ko-KR" altLang="en-US" b="1" dirty="0" err="1"/>
              <a:t>마일스톤으로서의</a:t>
            </a:r>
            <a:r>
              <a:rPr lang="ko-KR" altLang="en-US" b="1" dirty="0"/>
              <a:t> 역할로 판단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AX Execution(</a:t>
            </a:r>
            <a:r>
              <a:rPr lang="ko-KR" altLang="en-US" dirty="0">
                <a:sym typeface="Wingdings" panose="05000000000000000000" pitchFamily="2" charset="2"/>
              </a:rPr>
              <a:t>업무 적용</a:t>
            </a:r>
            <a:r>
              <a:rPr lang="en-US" altLang="ko-KR" dirty="0">
                <a:sym typeface="Wingdings" panose="05000000000000000000" pitchFamily="2" charset="2"/>
              </a:rPr>
              <a:t>) Track</a:t>
            </a:r>
            <a:r>
              <a:rPr lang="ko-KR" altLang="en-US" dirty="0">
                <a:sym typeface="Wingdings" panose="05000000000000000000" pitchFamily="2" charset="2"/>
              </a:rPr>
              <a:t>을 중심으로 한 역량 내재화를 최우선으로 실행하는 교육경로를 </a:t>
            </a:r>
            <a:r>
              <a:rPr lang="ko-KR" altLang="en-US" b="1" dirty="0">
                <a:sym typeface="Wingdings" panose="05000000000000000000" pitchFamily="2" charset="2"/>
              </a:rPr>
              <a:t>설계 </a:t>
            </a:r>
            <a:r>
              <a:rPr lang="en-US" altLang="ko-KR" b="1" dirty="0">
                <a:sym typeface="Wingdings" panose="05000000000000000000" pitchFamily="2" charset="2"/>
              </a:rPr>
              <a:t>– </a:t>
            </a:r>
            <a:r>
              <a:rPr lang="ko-KR" altLang="en-US" b="1" dirty="0">
                <a:sym typeface="Wingdings" panose="05000000000000000000" pitchFamily="2" charset="2"/>
              </a:rPr>
              <a:t>학습 중 경험 </a:t>
            </a:r>
            <a:r>
              <a:rPr lang="en-US" altLang="ko-KR" b="1" dirty="0">
                <a:sym typeface="Wingdings" panose="05000000000000000000" pitchFamily="2" charset="2"/>
              </a:rPr>
              <a:t>– </a:t>
            </a:r>
            <a:r>
              <a:rPr lang="ko-KR" altLang="en-US" b="1" dirty="0">
                <a:sym typeface="Wingdings" panose="05000000000000000000" pitchFamily="2" charset="2"/>
              </a:rPr>
              <a:t>현업 내재화의 단계로 접근</a:t>
            </a:r>
            <a:r>
              <a:rPr lang="ko-KR" altLang="en-US" dirty="0">
                <a:sym typeface="Wingdings" panose="05000000000000000000" pitchFamily="2" charset="2"/>
              </a:rPr>
              <a:t>함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7DBA6B3-EFCC-AE30-7346-04BCC7B93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192188"/>
              </p:ext>
            </p:extLst>
          </p:nvPr>
        </p:nvGraphicFramePr>
        <p:xfrm>
          <a:off x="561814" y="1989137"/>
          <a:ext cx="11068374" cy="44878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3626">
                  <a:extLst>
                    <a:ext uri="{9D8B030D-6E8A-4147-A177-3AD203B41FA5}">
                      <a16:colId xmlns:a16="http://schemas.microsoft.com/office/drawing/2014/main" val="1561150094"/>
                    </a:ext>
                  </a:extLst>
                </a:gridCol>
                <a:gridCol w="2186187">
                  <a:extLst>
                    <a:ext uri="{9D8B030D-6E8A-4147-A177-3AD203B41FA5}">
                      <a16:colId xmlns:a16="http://schemas.microsoft.com/office/drawing/2014/main" val="2542086134"/>
                    </a:ext>
                  </a:extLst>
                </a:gridCol>
                <a:gridCol w="2186187">
                  <a:extLst>
                    <a:ext uri="{9D8B030D-6E8A-4147-A177-3AD203B41FA5}">
                      <a16:colId xmlns:a16="http://schemas.microsoft.com/office/drawing/2014/main" val="4253156653"/>
                    </a:ext>
                  </a:extLst>
                </a:gridCol>
                <a:gridCol w="2186187">
                  <a:extLst>
                    <a:ext uri="{9D8B030D-6E8A-4147-A177-3AD203B41FA5}">
                      <a16:colId xmlns:a16="http://schemas.microsoft.com/office/drawing/2014/main" val="1805711844"/>
                    </a:ext>
                  </a:extLst>
                </a:gridCol>
                <a:gridCol w="2186187">
                  <a:extLst>
                    <a:ext uri="{9D8B030D-6E8A-4147-A177-3AD203B41FA5}">
                      <a16:colId xmlns:a16="http://schemas.microsoft.com/office/drawing/2014/main" val="1527487474"/>
                    </a:ext>
                  </a:extLst>
                </a:gridCol>
              </a:tblGrid>
              <a:tr h="69180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en-US" altLang="ko-KR" sz="12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AX Strategy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방향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판단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AX Execution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업무 적용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AX Enablement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기반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운영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AX Governance</a:t>
                      </a: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통제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확산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530997"/>
                  </a:ext>
                </a:extLst>
              </a:tr>
              <a:tr h="4412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대상</a:t>
                      </a:r>
                      <a:endParaRPr lang="en-US" altLang="ko-KR" sz="10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임원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리더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기획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전략 조직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직무별 실무자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 단위 조직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IT,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AX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전담조직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임원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리더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AX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책임조직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리스크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준법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보안 조직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012121"/>
                  </a:ext>
                </a:extLst>
              </a:tr>
              <a:tr h="44126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지향점</a:t>
                      </a:r>
                      <a:endParaRPr lang="en-US" altLang="ko-KR" sz="10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‘도입 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대상’이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아니라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‘판단 </a:t>
                      </a:r>
                      <a:r>
                        <a:rPr lang="ko-KR" altLang="en-US" sz="10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체계’로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이해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실제 ‘업무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흐름’에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적용하여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성과를 만드는 것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 현장에서 ‘안정적으로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일관되게’ 쓰일 수 있는 기반 구축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판단을 통제하고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책임질 수 있는 조직 구조 설계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146622"/>
                  </a:ext>
                </a:extLst>
              </a:tr>
              <a:tr h="9711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Lv. 1</a:t>
                      </a:r>
                      <a:r>
                        <a:rPr lang="ko-KR" altLang="en-US" sz="11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ㅣ이해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 쓸 수 있는 영역과</a:t>
                      </a:r>
                      <a:b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쓰면 안되는 영역을 구분한다</a:t>
                      </a:r>
                      <a:endParaRPr kumimoji="0" lang="en-US" altLang="ko-KR" sz="1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전사 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AX 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전략</a:t>
                      </a:r>
                      <a:b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투자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조직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성과 연계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Tool 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 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&amp; 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 보조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생성형 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기본 사용법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환경 이해</a:t>
                      </a:r>
                      <a:b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생성형 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작동 구조 개요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리스크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 인식</a:t>
                      </a:r>
                      <a:endParaRPr lang="en-US" altLang="ko-KR" sz="11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시 책임 주체 개념 정립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769561"/>
                  </a:ext>
                </a:extLst>
              </a:tr>
              <a:tr h="971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Lv. 2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ㅣ적용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업무에 적용하되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사람의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판단이 개입되는 구조로 설계한다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AX 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전략 설계</a:t>
                      </a:r>
                      <a:b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전략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성과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/KPI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등 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적용 판단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직무 적용 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&amp; 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</a:t>
                      </a:r>
                      <a:b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실제 업무 데이터 실습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AX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 표준 수립</a:t>
                      </a:r>
                      <a:b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유형별 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기준 정립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AX Governance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기준 수립</a:t>
                      </a:r>
                      <a:b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허용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제한 기준 정의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378663"/>
                  </a:ext>
                </a:extLst>
              </a:tr>
              <a:tr h="971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Lv. 3</a:t>
                      </a:r>
                      <a:r>
                        <a:rPr kumimoji="0" lang="ko-KR" altLang="en-US" sz="11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ㅣ확산</a:t>
                      </a:r>
                      <a:endParaRPr kumimoji="0" lang="en-US" altLang="ko-K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활용을 개인 역량이 아니라</a:t>
                      </a:r>
                      <a:b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조직의 방식으로 고정시킨다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AX 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인식전환</a:t>
                      </a:r>
                      <a:b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생성형 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 가능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한계 확인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조직 단위 자동화</a:t>
                      </a:r>
                      <a:b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 공통 업무 자동화</a:t>
                      </a:r>
                      <a:endParaRPr lang="en-US" altLang="ko-KR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 latinLnBrk="1">
                        <a:lnSpc>
                          <a:spcPct val="110000"/>
                        </a:lnSpc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협업 프로세스에 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내재화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AX </a:t>
                      </a: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운영 체계 고도화</a:t>
                      </a:r>
                      <a:b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조직 단위 운영 체계 설계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2F7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AX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성과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 운영</a:t>
                      </a:r>
                      <a:b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성과 측정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985904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EAD54B62-CF4D-84FA-3EB0-A74AB2333105}"/>
              </a:ext>
            </a:extLst>
          </p:cNvPr>
          <p:cNvGrpSpPr/>
          <p:nvPr/>
        </p:nvGrpSpPr>
        <p:grpSpPr>
          <a:xfrm>
            <a:off x="10180320" y="1658613"/>
            <a:ext cx="1537257" cy="246221"/>
            <a:chOff x="9906000" y="1658613"/>
            <a:chExt cx="1537257" cy="246221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A1633B5-C30A-6979-CEAF-4815F9DB5296}"/>
                </a:ext>
              </a:extLst>
            </p:cNvPr>
            <p:cNvSpPr/>
            <p:nvPr/>
          </p:nvSpPr>
          <p:spPr>
            <a:xfrm>
              <a:off x="9906000" y="1712338"/>
              <a:ext cx="359954" cy="13877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bIns="0" rtlCol="0" anchor="ctr" anchorCtr="0"/>
            <a:lstStyle/>
            <a:p>
              <a:pPr marR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tabLst/>
              </a:pPr>
              <a:endParaRPr lang="ko-KR" altLang="en-US" kern="120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6DBF69-B950-DD9D-54E5-B140A04AD5DA}"/>
                </a:ext>
              </a:extLst>
            </p:cNvPr>
            <p:cNvSpPr txBox="1"/>
            <p:nvPr/>
          </p:nvSpPr>
          <p:spPr>
            <a:xfrm>
              <a:off x="10219845" y="1658613"/>
              <a:ext cx="1223412" cy="246221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262626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Arial"/>
                  <a:sym typeface="Wingdings" panose="05000000000000000000" pitchFamily="2" charset="2"/>
                </a:rPr>
                <a:t>금번과정 개발 범위</a:t>
              </a:r>
              <a:endParaRPr lang="ko-KR" altLang="en-US" sz="12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17B4C1-91BF-FE4F-13BA-F86357AA7790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21P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4866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34945-168A-9A4F-5C93-25D0D5C70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77F997-C778-86BB-9D09-2CADE354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프로그램 개발 개요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51CA82-509A-6F00-8310-814AF474F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36707"/>
              </p:ext>
            </p:extLst>
          </p:nvPr>
        </p:nvGraphicFramePr>
        <p:xfrm>
          <a:off x="533401" y="2209800"/>
          <a:ext cx="11125200" cy="4092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607">
                  <a:extLst>
                    <a:ext uri="{9D8B030D-6E8A-4147-A177-3AD203B41FA5}">
                      <a16:colId xmlns:a16="http://schemas.microsoft.com/office/drawing/2014/main" val="3806160415"/>
                    </a:ext>
                  </a:extLst>
                </a:gridCol>
                <a:gridCol w="85760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373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프로젝트명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HD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현대 그룹 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 Level-up</a:t>
                      </a:r>
                      <a:r>
                        <a:rPr lang="ko-KR" altLang="en-US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과정</a:t>
                      </a:r>
                      <a:r>
                        <a:rPr lang="en-US" altLang="ko-KR" sz="1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(Online ver.)</a:t>
                      </a:r>
                      <a:endParaRPr lang="ko-KR" altLang="en-US" sz="1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3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학습참여자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사무직 전 임직원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301373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차시구성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최대 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180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中 일부 차시 직책과장 과정으로 분류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96741"/>
                  </a:ext>
                </a:extLst>
              </a:tr>
              <a:tr h="1249269">
                <a:tc rowSpan="4">
                  <a:txBody>
                    <a:bodyPr/>
                    <a:lstStyle/>
                    <a:p>
                      <a:pPr algn="r" latinLnBrk="1"/>
                      <a:r>
                        <a:rPr lang="en-US" altLang="ko-KR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Project </a:t>
                      </a:r>
                    </a:p>
                    <a:p>
                      <a:pPr algn="r" latinLnBrk="1"/>
                      <a:r>
                        <a:rPr lang="en-US" altLang="ko-KR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Approach</a:t>
                      </a:r>
                      <a:endParaRPr lang="ko-KR" altLang="en-US" sz="1100" b="1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>
                          <a:glow rad="88900">
                            <a:schemeClr val="bg1"/>
                          </a:glow>
                        </a:effectLst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(Online) AI  Level - up</a:t>
                      </a: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단계별 지향점 설정</a:t>
                      </a:r>
                      <a:endParaRPr lang="ko-KR" altLang="en-US" sz="1100" b="0" spc="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>
                          <a:glow rad="88900">
                            <a:schemeClr val="bg1"/>
                          </a:glow>
                        </a:effectLst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36000"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Offline AI 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내재화 과정의 압축 단계를 통해 </a:t>
                      </a:r>
                      <a:r>
                        <a:rPr lang="en-US" altLang="ko-KR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Online</a:t>
                      </a:r>
                      <a:r>
                        <a:rPr lang="ko-KR" altLang="en-US" sz="1100" b="0" kern="1200" spc="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에서도 동일한 경험을 제공</a:t>
                      </a:r>
                    </a:p>
                  </a:txBody>
                  <a:tcPr marL="180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056000"/>
                  </a:ext>
                </a:extLst>
              </a:tr>
              <a:tr h="480097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100" b="1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>
                          <a:glow rad="88900">
                            <a:schemeClr val="bg1"/>
                          </a:glow>
                        </a:effectLst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프로젝트 접근 유연성</a:t>
                      </a:r>
                      <a:endParaRPr kumimoji="0" lang="en-US" altLang="ko-KR" sz="1100" b="1" i="0" u="none" strike="noStrike" kern="1200" cap="none" spc="-150" normalizeH="0" baseline="0" noProof="0" dirty="0">
                        <a:ln w="3175">
                          <a:noFill/>
                        </a:ln>
                        <a:solidFill>
                          <a:prstClr val="black"/>
                        </a:solidFill>
                        <a:effectLst>
                          <a:glow rad="88900">
                            <a:prstClr val="white"/>
                          </a:glow>
                        </a:effectLst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현장반응형</a:t>
                      </a:r>
                      <a:r>
                        <a:rPr kumimoji="0" lang="en-US" altLang="ko-KR" sz="110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6000"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「현장 반응형」 교수방법 적용</a:t>
                      </a:r>
                      <a:b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   -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산업환경 변화</a:t>
                      </a: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현업전이 및 산출물 활용 등 </a:t>
                      </a:r>
                      <a:r>
                        <a:rPr kumimoji="0" lang="ko-KR" altLang="en-US" sz="11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현장반응 분석 실시 및 과정별 접근방안 최적화 적용</a:t>
                      </a:r>
                      <a:endParaRPr lang="ko-KR" altLang="en-US" sz="1100" b="0" kern="1200" spc="0" baseline="0" dirty="0">
                        <a:solidFill>
                          <a:srgbClr val="FF0000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08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590317"/>
                  </a:ext>
                </a:extLst>
              </a:tr>
              <a:tr h="730767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100" b="1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>
                          <a:glow rad="88900">
                            <a:schemeClr val="bg1"/>
                          </a:glow>
                        </a:effectLst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프로젝트 </a:t>
                      </a:r>
                      <a:endParaRPr kumimoji="0" lang="en-US" altLang="ko-KR" sz="1100" b="1" i="0" u="none" strike="noStrike" kern="1200" cap="none" spc="-150" normalizeH="0" baseline="0" noProof="0" dirty="0">
                        <a:ln w="3175">
                          <a:noFill/>
                        </a:ln>
                        <a:solidFill>
                          <a:prstClr val="black"/>
                        </a:solidFill>
                        <a:effectLst>
                          <a:glow rad="88900">
                            <a:prstClr val="white"/>
                          </a:glow>
                        </a:effectLst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수행 프로세스</a:t>
                      </a:r>
                      <a:endParaRPr kumimoji="0" lang="ko-KR" altLang="en-US" sz="1050" b="1" i="0" u="none" strike="noStrike" kern="1200" cap="none" spc="-150" normalizeH="0" baseline="0" noProof="0" dirty="0">
                        <a:ln w="3175">
                          <a:noFill/>
                        </a:ln>
                        <a:solidFill>
                          <a:prstClr val="black"/>
                        </a:solidFill>
                        <a:effectLst>
                          <a:glow rad="88900">
                            <a:prstClr val="white"/>
                          </a:glow>
                        </a:effectLst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수행 프로세스 중 일부는 전체 프로젝트 공통으로 일부는 차별적으로 운영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구체적 사항은 협의에 따라 조정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변경 가능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1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marT="720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294308"/>
                  </a:ext>
                </a:extLst>
              </a:tr>
              <a:tr h="384637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100" b="1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>
                          <a:glow rad="88900">
                            <a:schemeClr val="bg1"/>
                          </a:glow>
                        </a:effectLst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1" i="0" u="none" strike="noStrike" kern="1200" cap="none" spc="-150" normalizeH="0" baseline="0" noProof="0" dirty="0">
                          <a:ln w="3175">
                            <a:noFill/>
                          </a:ln>
                          <a:solidFill>
                            <a:prstClr val="black"/>
                          </a:solidFill>
                          <a:effectLst>
                            <a:glow rad="88900">
                              <a:prstClr val="white"/>
                            </a:glow>
                          </a:effectLst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프로젝트산출물</a:t>
                      </a:r>
                      <a:endParaRPr kumimoji="0" lang="en-US" altLang="ko-KR" sz="1050" b="1" i="0" u="none" strike="noStrike" kern="1200" cap="none" spc="-150" normalizeH="0" baseline="0" noProof="0" dirty="0">
                        <a:ln w="3175">
                          <a:noFill/>
                        </a:ln>
                        <a:solidFill>
                          <a:prstClr val="black"/>
                        </a:solidFill>
                        <a:effectLst>
                          <a:glow rad="88900">
                            <a:prstClr val="white"/>
                          </a:glow>
                        </a:effectLst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36000"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200"/>
                        </a:spcAft>
                        <a:buFontTx/>
                        <a:buNone/>
                      </a:pP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영상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개발물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AI </a:t>
                      </a:r>
                      <a:r>
                        <a:rPr kumimoji="0" lang="ko-KR" altLang="en-US" sz="11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리터러시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이해도 및 활용도 진단 도구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최종 결과 보고서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(AI </a:t>
                      </a:r>
                      <a:r>
                        <a:rPr kumimoji="0" lang="ko-KR" altLang="en-US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이해도 향상 및 이후 내재화 방안 제언포함</a:t>
                      </a:r>
                      <a:r>
                        <a:rPr kumimoji="0" lang="en-US" altLang="ko-K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</a:p>
                  </a:txBody>
                  <a:tcPr marL="180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991863"/>
                  </a:ext>
                </a:extLst>
              </a:tr>
              <a:tr h="341344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100" b="1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glow rad="88900">
                              <a:schemeClr val="bg1"/>
                            </a:glow>
                          </a:effectLst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진행범위 및 일정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교육을 포함한 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전체 프로젝트는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2026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12</a:t>
                      </a:r>
                      <a:r>
                        <a:rPr lang="ko-KR" altLang="en-US" sz="11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월까지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운영 예정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구체적 사항은 협의에 따라 조정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변경 가능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180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9D0701-A77F-059B-A942-4E80F8B8CD24}"/>
              </a:ext>
            </a:extLst>
          </p:cNvPr>
          <p:cNvSpPr/>
          <p:nvPr/>
        </p:nvSpPr>
        <p:spPr>
          <a:xfrm>
            <a:off x="3330026" y="5203076"/>
            <a:ext cx="1143903" cy="271036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사전 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54A92B4-B188-549E-DC32-BA79111C4972}"/>
              </a:ext>
            </a:extLst>
          </p:cNvPr>
          <p:cNvSpPr/>
          <p:nvPr/>
        </p:nvSpPr>
        <p:spPr>
          <a:xfrm>
            <a:off x="4737710" y="5203076"/>
            <a:ext cx="1143903" cy="271036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설계</a:t>
            </a:r>
            <a:endParaRPr lang="en-US" altLang="ko-KR" sz="10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0C5D14-0A41-7989-8D9F-A270D3F29D7A}"/>
              </a:ext>
            </a:extLst>
          </p:cNvPr>
          <p:cNvSpPr/>
          <p:nvPr/>
        </p:nvSpPr>
        <p:spPr>
          <a:xfrm>
            <a:off x="6145394" y="5203076"/>
            <a:ext cx="1143903" cy="271036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개발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EAF2B6-7ABD-0B66-7B38-C5A19ADBB95A}"/>
              </a:ext>
            </a:extLst>
          </p:cNvPr>
          <p:cNvSpPr/>
          <p:nvPr/>
        </p:nvSpPr>
        <p:spPr>
          <a:xfrm>
            <a:off x="7553078" y="5203076"/>
            <a:ext cx="1143903" cy="271036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/>
            <a:r>
              <a:rPr lang="ko-KR" altLang="en-US" sz="1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프로그램 운영</a:t>
            </a:r>
            <a:r>
              <a:rPr lang="en-US" altLang="ko-KR" sz="8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8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지원</a:t>
            </a:r>
            <a:r>
              <a:rPr lang="en-US" altLang="ko-KR" sz="8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31C849-E45C-CD1E-D9CF-C392F156D6C1}"/>
              </a:ext>
            </a:extLst>
          </p:cNvPr>
          <p:cNvSpPr/>
          <p:nvPr/>
        </p:nvSpPr>
        <p:spPr>
          <a:xfrm>
            <a:off x="8960761" y="5203076"/>
            <a:ext cx="1143903" cy="271036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ko-KR" altLang="en-US" sz="10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사후관리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531269B-3B6E-81CE-319E-CA57F0BE4AFF}"/>
              </a:ext>
            </a:extLst>
          </p:cNvPr>
          <p:cNvCxnSpPr>
            <a:cxnSpLocks/>
          </p:cNvCxnSpPr>
          <p:nvPr/>
        </p:nvCxnSpPr>
        <p:spPr>
          <a:xfrm>
            <a:off x="4506655" y="5338594"/>
            <a:ext cx="19832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F8D9BC4-4767-F3B2-DC52-6C4E0AE8CC56}"/>
              </a:ext>
            </a:extLst>
          </p:cNvPr>
          <p:cNvCxnSpPr>
            <a:cxnSpLocks/>
          </p:cNvCxnSpPr>
          <p:nvPr/>
        </p:nvCxnSpPr>
        <p:spPr>
          <a:xfrm>
            <a:off x="5914339" y="5338594"/>
            <a:ext cx="19832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461070B-61CF-7DB1-8235-7816BF08CAF7}"/>
              </a:ext>
            </a:extLst>
          </p:cNvPr>
          <p:cNvCxnSpPr>
            <a:cxnSpLocks/>
          </p:cNvCxnSpPr>
          <p:nvPr/>
        </p:nvCxnSpPr>
        <p:spPr>
          <a:xfrm>
            <a:off x="7322023" y="5338594"/>
            <a:ext cx="19832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F808A43-EBCA-8FE6-C1A7-35AE28EAC9BA}"/>
              </a:ext>
            </a:extLst>
          </p:cNvPr>
          <p:cNvCxnSpPr>
            <a:cxnSpLocks/>
          </p:cNvCxnSpPr>
          <p:nvPr/>
        </p:nvCxnSpPr>
        <p:spPr>
          <a:xfrm>
            <a:off x="8729707" y="5338594"/>
            <a:ext cx="19832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5B51807-904A-144F-8D7F-131F5DC05D95}"/>
              </a:ext>
            </a:extLst>
          </p:cNvPr>
          <p:cNvSpPr txBox="1"/>
          <p:nvPr/>
        </p:nvSpPr>
        <p:spPr>
          <a:xfrm>
            <a:off x="460955" y="1351891"/>
            <a:ext cx="5336717" cy="384785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중장기 관점의</a:t>
            </a:r>
            <a:r>
              <a:rPr lang="ko-KR" altLang="en-US" sz="1800" b="1" kern="12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「</a:t>
            </a:r>
            <a:r>
              <a:rPr lang="en-US" altLang="ko-KR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내재화 단계의 압축 버전</a:t>
            </a:r>
            <a:r>
              <a:rPr lang="ko-KR" altLang="en-US" sz="1800" b="1" kern="120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」</a:t>
            </a: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설계로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6C037-9CE1-F8E7-B7A8-22B2EA7DEF0D}"/>
              </a:ext>
            </a:extLst>
          </p:cNvPr>
          <p:cNvSpPr txBox="1"/>
          <p:nvPr/>
        </p:nvSpPr>
        <p:spPr>
          <a:xfrm>
            <a:off x="460955" y="1672615"/>
            <a:ext cx="4862228" cy="384785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단기간 내 핵심 개념 및 활용 감각 체득 효과 확보</a:t>
            </a:r>
            <a:endParaRPr lang="en-US" altLang="ko-KR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F1426D3-802F-BE8E-7CB1-A687035BBA91}"/>
              </a:ext>
            </a:extLst>
          </p:cNvPr>
          <p:cNvGrpSpPr/>
          <p:nvPr/>
        </p:nvGrpSpPr>
        <p:grpSpPr>
          <a:xfrm>
            <a:off x="5544790" y="3441238"/>
            <a:ext cx="840527" cy="826946"/>
            <a:chOff x="5776196" y="3470734"/>
            <a:chExt cx="840527" cy="826946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53E555F0-71B7-88D4-0EC6-0D046CA076B1}"/>
                </a:ext>
              </a:extLst>
            </p:cNvPr>
            <p:cNvSpPr/>
            <p:nvPr/>
          </p:nvSpPr>
          <p:spPr>
            <a:xfrm>
              <a:off x="5776196" y="3470734"/>
              <a:ext cx="840527" cy="826946"/>
            </a:xfrm>
            <a:prstGeom prst="ellipse">
              <a:avLst/>
            </a:prstGeom>
            <a:solidFill>
              <a:srgbClr val="142B4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2CACA04-F6E0-666A-9CAA-4E6D5FDC0627}"/>
                </a:ext>
              </a:extLst>
            </p:cNvPr>
            <p:cNvSpPr txBox="1"/>
            <p:nvPr/>
          </p:nvSpPr>
          <p:spPr>
            <a:xfrm>
              <a:off x="5982302" y="3893297"/>
              <a:ext cx="428323" cy="2663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kern="120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확산</a:t>
              </a:r>
              <a:endParaRPr lang="en-US" altLang="ko-KR" sz="1000" dirty="0"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B6A245-96E4-AF17-5B38-0BFE245666AC}"/>
                </a:ext>
              </a:extLst>
            </p:cNvPr>
            <p:cNvSpPr txBox="1"/>
            <p:nvPr/>
          </p:nvSpPr>
          <p:spPr>
            <a:xfrm>
              <a:off x="5867673" y="3683572"/>
              <a:ext cx="657574" cy="249710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Level 3</a:t>
              </a: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F5CB6F54-7555-9A38-86A7-A793EA8DFF3D}"/>
                </a:ext>
              </a:extLst>
            </p:cNvPr>
            <p:cNvCxnSpPr>
              <a:cxnSpLocks/>
            </p:cNvCxnSpPr>
            <p:nvPr/>
          </p:nvCxnSpPr>
          <p:spPr>
            <a:xfrm>
              <a:off x="5939190" y="3907023"/>
              <a:ext cx="514539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CABD0EAA-6AE0-4198-F8B9-A1E045862922}"/>
              </a:ext>
            </a:extLst>
          </p:cNvPr>
          <p:cNvGrpSpPr/>
          <p:nvPr/>
        </p:nvGrpSpPr>
        <p:grpSpPr>
          <a:xfrm>
            <a:off x="3692281" y="3441238"/>
            <a:ext cx="840527" cy="826946"/>
            <a:chOff x="3692281" y="3470734"/>
            <a:chExt cx="840527" cy="826946"/>
          </a:xfrm>
        </p:grpSpPr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862C2313-66E4-2321-7AF1-3E09DD4286F0}"/>
                </a:ext>
              </a:extLst>
            </p:cNvPr>
            <p:cNvSpPr/>
            <p:nvPr/>
          </p:nvSpPr>
          <p:spPr>
            <a:xfrm>
              <a:off x="3692281" y="3470734"/>
              <a:ext cx="840527" cy="826946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54AA68B-7E62-7CFF-6B4E-983E5CEEEF57}"/>
                </a:ext>
              </a:extLst>
            </p:cNvPr>
            <p:cNvSpPr txBox="1"/>
            <p:nvPr/>
          </p:nvSpPr>
          <p:spPr>
            <a:xfrm>
              <a:off x="3898383" y="3894964"/>
              <a:ext cx="428323" cy="264688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이해</a:t>
              </a:r>
              <a:endParaRPr kumimoji="0" lang="ko-KR" altLang="en-US" sz="105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49E9A3-EE3B-9F09-D1E3-2BC9EFC31E95}"/>
                </a:ext>
              </a:extLst>
            </p:cNvPr>
            <p:cNvSpPr txBox="1"/>
            <p:nvPr/>
          </p:nvSpPr>
          <p:spPr>
            <a:xfrm>
              <a:off x="3797631" y="3681754"/>
              <a:ext cx="629827" cy="249710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Level 1</a:t>
              </a:r>
              <a:endParaRPr kumimoji="0" lang="en-US" altLang="ko-KR" sz="900" b="0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0796CD06-AA2E-FAC2-1702-0425153EE7E7}"/>
                </a:ext>
              </a:extLst>
            </p:cNvPr>
            <p:cNvCxnSpPr>
              <a:cxnSpLocks/>
            </p:cNvCxnSpPr>
            <p:nvPr/>
          </p:nvCxnSpPr>
          <p:spPr>
            <a:xfrm>
              <a:off x="3855274" y="3908987"/>
              <a:ext cx="514539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628B10E-1FED-6704-3285-160157A97EC0}"/>
              </a:ext>
            </a:extLst>
          </p:cNvPr>
          <p:cNvGrpSpPr/>
          <p:nvPr/>
        </p:nvGrpSpPr>
        <p:grpSpPr>
          <a:xfrm>
            <a:off x="4629982" y="3441238"/>
            <a:ext cx="840526" cy="826946"/>
            <a:chOff x="4726443" y="3470734"/>
            <a:chExt cx="840526" cy="826946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068EC48-047E-CB2F-FD13-84B3F72F816C}"/>
                </a:ext>
              </a:extLst>
            </p:cNvPr>
            <p:cNvSpPr/>
            <p:nvPr/>
          </p:nvSpPr>
          <p:spPr>
            <a:xfrm>
              <a:off x="4726443" y="3470734"/>
              <a:ext cx="840526" cy="826946"/>
            </a:xfrm>
            <a:prstGeom prst="ellipse">
              <a:avLst/>
            </a:prstGeom>
            <a:solidFill>
              <a:srgbClr val="1F407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A1181CF-C6F4-C584-F0AC-E7E76AC9E2B0}"/>
                </a:ext>
              </a:extLst>
            </p:cNvPr>
            <p:cNvSpPr txBox="1"/>
            <p:nvPr/>
          </p:nvSpPr>
          <p:spPr>
            <a:xfrm>
              <a:off x="4932544" y="3893296"/>
              <a:ext cx="428323" cy="2663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00" kern="1200" dirty="0">
                  <a:solidFill>
                    <a:prstClr val="white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rPr>
                <a:t>적용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4EF5D56-A80C-9447-6B94-E92949A2CE62}"/>
                </a:ext>
              </a:extLst>
            </p:cNvPr>
            <p:cNvSpPr txBox="1"/>
            <p:nvPr/>
          </p:nvSpPr>
          <p:spPr>
            <a:xfrm>
              <a:off x="4818786" y="3683572"/>
              <a:ext cx="655838" cy="249710"/>
            </a:xfrm>
            <a:prstGeom prst="rect">
              <a:avLst/>
            </a:prstGeom>
            <a:noFill/>
          </p:spPr>
          <p:txBody>
            <a:bodyPr wrap="none" anchor="ctr" anchorCtr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Level 2</a:t>
              </a: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B0EA2145-7B57-BECD-177C-05F4985B77F1}"/>
                </a:ext>
              </a:extLst>
            </p:cNvPr>
            <p:cNvCxnSpPr>
              <a:cxnSpLocks/>
            </p:cNvCxnSpPr>
            <p:nvPr/>
          </p:nvCxnSpPr>
          <p:spPr>
            <a:xfrm>
              <a:off x="4889436" y="3913560"/>
              <a:ext cx="514539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F4ACBC05-4A6B-705E-3FE4-BD439EAE1FD8}"/>
              </a:ext>
            </a:extLst>
          </p:cNvPr>
          <p:cNvSpPr/>
          <p:nvPr/>
        </p:nvSpPr>
        <p:spPr>
          <a:xfrm>
            <a:off x="6553200" y="3618719"/>
            <a:ext cx="1052727" cy="471984"/>
          </a:xfrm>
          <a:prstGeom prst="rightArrow">
            <a:avLst>
              <a:gd name="adj1" fmla="val 58610"/>
              <a:gd name="adj2" fmla="val 39237"/>
            </a:avLst>
          </a:prstGeom>
          <a:solidFill>
            <a:srgbClr val="456DE8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1200" i="1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압축 전환</a:t>
            </a:r>
            <a:endParaRPr lang="en-US" altLang="ko-KR" sz="1200" i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EA0EC8-A3FB-35F0-4E28-8DC3E26D86EA}"/>
              </a:ext>
            </a:extLst>
          </p:cNvPr>
          <p:cNvSpPr/>
          <p:nvPr/>
        </p:nvSpPr>
        <p:spPr>
          <a:xfrm>
            <a:off x="8143274" y="3515360"/>
            <a:ext cx="2950243" cy="2209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이해</a:t>
            </a:r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핵심이해</a:t>
            </a:r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Core AI Literacy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41E690B-C199-7F72-4E98-7F55B2D5B362}"/>
              </a:ext>
            </a:extLst>
          </p:cNvPr>
          <p:cNvSpPr/>
          <p:nvPr/>
        </p:nvSpPr>
        <p:spPr>
          <a:xfrm>
            <a:off x="8143274" y="3779628"/>
            <a:ext cx="2950243" cy="2209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적용</a:t>
            </a:r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응용 사례 인식 </a:t>
            </a:r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Use – case Awareness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967895-11E4-BF72-3D8E-A9A3E84379F0}"/>
              </a:ext>
            </a:extLst>
          </p:cNvPr>
          <p:cNvSpPr/>
          <p:nvPr/>
        </p:nvSpPr>
        <p:spPr>
          <a:xfrm>
            <a:off x="8143274" y="4043897"/>
            <a:ext cx="2950243" cy="2209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확산</a:t>
            </a:r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 </a:t>
            </a:r>
            <a:r>
              <a:rPr lang="ko-KR" altLang="en-US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조직 확산</a:t>
            </a:r>
            <a:r>
              <a:rPr lang="en-US" altLang="ko-KR" sz="1050" dirty="0"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Organizational Outlook</a:t>
            </a:r>
            <a:endParaRPr lang="ko-KR" altLang="en-US" sz="1050" dirty="0">
              <a:solidFill>
                <a:prstClr val="black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6F6F4E-50BA-3A24-86D9-89B923C770A8}"/>
              </a:ext>
            </a:extLst>
          </p:cNvPr>
          <p:cNvSpPr txBox="1"/>
          <p:nvPr/>
        </p:nvSpPr>
        <p:spPr>
          <a:xfrm rot="16200000">
            <a:off x="3103304" y="3693128"/>
            <a:ext cx="740907" cy="323165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ko-KR" sz="15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Offline</a:t>
            </a:r>
            <a:endParaRPr lang="ko-KR" altLang="en-US" sz="15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4A2441-7DE0-E68F-142C-82FC415FD94A}"/>
              </a:ext>
            </a:extLst>
          </p:cNvPr>
          <p:cNvSpPr txBox="1"/>
          <p:nvPr/>
        </p:nvSpPr>
        <p:spPr>
          <a:xfrm rot="16200000">
            <a:off x="7539942" y="3693128"/>
            <a:ext cx="742511" cy="323165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en-US" altLang="ko-KR" sz="15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Online</a:t>
            </a:r>
            <a:endParaRPr lang="ko-KR" altLang="en-US" sz="1500" u="sng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A82EE8-1E5D-5BC9-3488-7E5581FD14CC}"/>
              </a:ext>
            </a:extLst>
          </p:cNvPr>
          <p:cNvSpPr txBox="1"/>
          <p:nvPr/>
        </p:nvSpPr>
        <p:spPr>
          <a:xfrm>
            <a:off x="460955" y="1087394"/>
            <a:ext cx="52533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 latinLnBrk="1">
              <a:lnSpc>
                <a:spcPct val="100000"/>
              </a:lnSpc>
              <a:spcAft>
                <a:spcPts val="600"/>
              </a:spcAft>
              <a:buFontTx/>
              <a:buNone/>
            </a:pPr>
            <a:r>
              <a:rPr lang="ko-KR" altLang="en-US" sz="14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알파코의 단계별 </a:t>
            </a:r>
            <a:r>
              <a:rPr lang="en-US" altLang="ko-KR" sz="14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 </a:t>
            </a:r>
            <a:r>
              <a:rPr lang="ko-KR" altLang="en-US" sz="14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내재화 로드맵 및 집체교육 수행경험을 기반으로</a:t>
            </a:r>
            <a:endParaRPr lang="ko-KR" altLang="en-US" sz="1400" b="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33C622A-F43C-7D7D-ADCA-714B0EE797DC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</a:t>
            </a: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18P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525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2BC6-8056-40AA-8727-D153953C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그룹 43">
            <a:extLst>
              <a:ext uri="{FF2B5EF4-FFF2-40B4-BE49-F238E27FC236}">
                <a16:creationId xmlns:a16="http://schemas.microsoft.com/office/drawing/2014/main" id="{BDCC60BA-C27F-EB88-6F7D-D501E472B021}"/>
              </a:ext>
            </a:extLst>
          </p:cNvPr>
          <p:cNvGrpSpPr/>
          <p:nvPr/>
        </p:nvGrpSpPr>
        <p:grpSpPr>
          <a:xfrm>
            <a:off x="9290702" y="2259493"/>
            <a:ext cx="2548565" cy="1575551"/>
            <a:chOff x="9168782" y="2804160"/>
            <a:chExt cx="2548565" cy="1575551"/>
          </a:xfrm>
        </p:grpSpPr>
        <p:pic>
          <p:nvPicPr>
            <p:cNvPr id="45" name="그림 44" descr="플레이세트, 장난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5914F2-F1EE-A399-A271-16F322724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6114"/>
            <a:stretch>
              <a:fillRect/>
            </a:stretch>
          </p:blipFill>
          <p:spPr>
            <a:xfrm>
              <a:off x="9426060" y="2885396"/>
              <a:ext cx="2003601" cy="1288277"/>
            </a:xfrm>
            <a:prstGeom prst="rect">
              <a:avLst/>
            </a:prstGeom>
          </p:spPr>
        </p:pic>
        <p:pic>
          <p:nvPicPr>
            <p:cNvPr id="46" name="Picture 2" descr="Laptop vector">
              <a:extLst>
                <a:ext uri="{FF2B5EF4-FFF2-40B4-BE49-F238E27FC236}">
                  <a16:creationId xmlns:a16="http://schemas.microsoft.com/office/drawing/2014/main" id="{6FD8362F-90C2-0D4E-1167-9CAEB959B7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8782" y="2804160"/>
              <a:ext cx="2548565" cy="1575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D18EDDC-8E59-4FE3-FF41-C30FFD468BB1}"/>
              </a:ext>
            </a:extLst>
          </p:cNvPr>
          <p:cNvGraphicFramePr>
            <a:graphicFrameLocks noGrp="1"/>
          </p:cNvGraphicFramePr>
          <p:nvPr/>
        </p:nvGraphicFramePr>
        <p:xfrm>
          <a:off x="538480" y="1745249"/>
          <a:ext cx="8224520" cy="4731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067">
                  <a:extLst>
                    <a:ext uri="{9D8B030D-6E8A-4147-A177-3AD203B41FA5}">
                      <a16:colId xmlns:a16="http://schemas.microsoft.com/office/drawing/2014/main" val="3397004055"/>
                    </a:ext>
                  </a:extLst>
                </a:gridCol>
                <a:gridCol w="634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3712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0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진단  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이해도 및 활용도 진단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사전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–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사후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328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0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실시목적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FontTx/>
                        <a:buNone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목적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1.  AI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역할 인식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목적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2.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업무 적용 자신감</a:t>
                      </a:r>
                      <a:br>
                        <a:rPr lang="en-US" altLang="ko-KR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</a:b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목적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3.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리더의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역할 인식 전환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081386"/>
                  </a:ext>
                </a:extLst>
              </a:tr>
              <a:tr h="273712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0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실시방법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무기명 모바일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(Google Forms)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971984"/>
                  </a:ext>
                </a:extLst>
              </a:tr>
              <a:tr h="273712">
                <a:tc gridSpan="2">
                  <a:txBody>
                    <a:bodyPr/>
                    <a:lstStyle/>
                    <a:p>
                      <a:pPr algn="r" latinLnBrk="1"/>
                      <a:r>
                        <a:rPr lang="ko-KR" altLang="en-US" sz="10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진단 문항 수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15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문항 미만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607114"/>
                  </a:ext>
                </a:extLst>
              </a:tr>
              <a:tr h="671226">
                <a:tc rowSpan="3">
                  <a:txBody>
                    <a:bodyPr/>
                    <a:lstStyle/>
                    <a:p>
                      <a:pPr algn="r" latinLnBrk="1"/>
                      <a:r>
                        <a:rPr lang="ko-KR" altLang="en-US" sz="10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진단 영역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진단 프로세스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856812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5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  <a:alpha val="7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진단 문항 구성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lnSpc>
                          <a:spcPct val="13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Part 1   l 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인구통계학적 정보</a:t>
                      </a: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Part 2  l  AI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 인식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 정의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인식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 분담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가치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미 활용 리스크 인식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결과 책임 인식</a:t>
                      </a: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Part 3  l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업무 적용 자신감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 활용 정의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도구 선택 판단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 지시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 흐름 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Part 4  l 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리더의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 인식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의사결정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문화 조성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오남용 통제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80000" marR="36000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888312"/>
                  </a:ext>
                </a:extLst>
              </a:tr>
              <a:tr h="1737360">
                <a:tc vMerge="1">
                  <a:txBody>
                    <a:bodyPr/>
                    <a:lstStyle/>
                    <a:p>
                      <a:pPr algn="r" latinLnBrk="1"/>
                      <a:endParaRPr lang="ko-KR" altLang="en-US" sz="10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0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분석포인트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1" hangingPunct="1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endParaRPr lang="en-US" altLang="ko-KR" sz="10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180000" marR="36000" marT="72000" marB="72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405930"/>
                  </a:ext>
                </a:extLst>
              </a:tr>
            </a:tbl>
          </a:graphicData>
        </a:graphic>
      </p:graphicFrame>
      <p:sp>
        <p:nvSpPr>
          <p:cNvPr id="5" name="제목 4">
            <a:extLst>
              <a:ext uri="{FF2B5EF4-FFF2-40B4-BE49-F238E27FC236}">
                <a16:creationId xmlns:a16="http://schemas.microsoft.com/office/drawing/2014/main" id="{DDA47486-D29C-C4ED-BA52-E5EC96A7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참고</a:t>
            </a:r>
            <a:r>
              <a:rPr lang="en-US" altLang="ko-KR" dirty="0">
                <a:solidFill>
                  <a:schemeClr val="tx1"/>
                </a:solidFill>
              </a:rPr>
              <a:t>] AI </a:t>
            </a:r>
            <a:r>
              <a:rPr lang="ko-KR" altLang="en-US" dirty="0">
                <a:solidFill>
                  <a:schemeClr val="tx1"/>
                </a:solidFill>
              </a:rPr>
              <a:t>이해도 및 활용도 진단 실시 개요</a:t>
            </a:r>
            <a:endParaRPr lang="ko-KR" altLang="en-US" sz="140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4F14F-A523-4021-2107-912B40BAB3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과정개발 분석 단계에서 학습대상자 대상 </a:t>
            </a:r>
            <a:r>
              <a:rPr lang="en-US" altLang="ko-KR" dirty="0"/>
              <a:t>AI </a:t>
            </a:r>
            <a:r>
              <a:rPr lang="ko-KR" altLang="en-US" dirty="0"/>
              <a:t>이해도 및 활용도 사전 </a:t>
            </a:r>
            <a:r>
              <a:rPr lang="en-US" altLang="ko-KR" dirty="0"/>
              <a:t>– </a:t>
            </a:r>
            <a:r>
              <a:rPr lang="ko-KR" altLang="en-US" dirty="0"/>
              <a:t>후 진단을 실시</a:t>
            </a:r>
            <a:br>
              <a:rPr lang="en-US" altLang="ko-KR" dirty="0"/>
            </a:br>
            <a:r>
              <a:rPr lang="en-US" altLang="ko-KR" b="1" dirty="0">
                <a:sym typeface="Wingdings" panose="05000000000000000000" pitchFamily="2" charset="2"/>
              </a:rPr>
              <a:t> AI </a:t>
            </a:r>
            <a:r>
              <a:rPr lang="ko-KR" altLang="en-US" b="1" dirty="0">
                <a:sym typeface="Wingdings" panose="05000000000000000000" pitchFamily="2" charset="2"/>
              </a:rPr>
              <a:t>교육의 효과를 ‘</a:t>
            </a:r>
            <a:r>
              <a:rPr lang="ko-KR" altLang="en-US" b="1" dirty="0" err="1">
                <a:sym typeface="Wingdings" panose="05000000000000000000" pitchFamily="2" charset="2"/>
              </a:rPr>
              <a:t>느낌’이</a:t>
            </a:r>
            <a:r>
              <a:rPr lang="ko-KR" altLang="en-US" b="1" dirty="0">
                <a:sym typeface="Wingdings" panose="05000000000000000000" pitchFamily="2" charset="2"/>
              </a:rPr>
              <a:t> 아니라 ‘</a:t>
            </a:r>
            <a:r>
              <a:rPr lang="ko-KR" altLang="en-US" b="1" dirty="0" err="1">
                <a:sym typeface="Wingdings" panose="05000000000000000000" pitchFamily="2" charset="2"/>
              </a:rPr>
              <a:t>수치’로</a:t>
            </a:r>
            <a:r>
              <a:rPr lang="ko-KR" altLang="en-US" b="1" dirty="0">
                <a:sym typeface="Wingdings" panose="05000000000000000000" pitchFamily="2" charset="2"/>
              </a:rPr>
              <a:t> 증명</a:t>
            </a:r>
            <a:endParaRPr lang="ko-KR" altLang="en-US" b="1" dirty="0"/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C91323CA-025E-453D-0D9C-F45D546671A1}"/>
              </a:ext>
            </a:extLst>
          </p:cNvPr>
          <p:cNvGraphicFramePr>
            <a:graphicFrameLocks noGrp="1"/>
          </p:cNvGraphicFramePr>
          <p:nvPr/>
        </p:nvGraphicFramePr>
        <p:xfrm>
          <a:off x="8905846" y="1745249"/>
          <a:ext cx="2819400" cy="4731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1838949296"/>
                    </a:ext>
                  </a:extLst>
                </a:gridCol>
              </a:tblGrid>
              <a:tr h="27371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PC/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모바일 진단환경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예시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858940"/>
                  </a:ext>
                </a:extLst>
              </a:tr>
              <a:tr h="4458039">
                <a:tc>
                  <a:txBody>
                    <a:bodyPr/>
                    <a:lstStyle/>
                    <a:p>
                      <a:pPr marL="0" indent="0">
                        <a:lnSpc>
                          <a:spcPct val="110000"/>
                        </a:lnSpc>
                        <a:buFontTx/>
                        <a:buNone/>
                      </a:pPr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237546"/>
                  </a:ext>
                </a:extLst>
              </a:tr>
            </a:tbl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C1A42AFC-0C0B-6417-F92D-D2166B14824E}"/>
              </a:ext>
            </a:extLst>
          </p:cNvPr>
          <p:cNvGrpSpPr/>
          <p:nvPr/>
        </p:nvGrpSpPr>
        <p:grpSpPr>
          <a:xfrm>
            <a:off x="8839806" y="3147060"/>
            <a:ext cx="2430932" cy="3208082"/>
            <a:chOff x="8839806" y="3147060"/>
            <a:chExt cx="2430932" cy="3208082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D8C9DB3-09F5-48C4-C585-C6885D257DD8}"/>
                </a:ext>
              </a:extLst>
            </p:cNvPr>
            <p:cNvSpPr/>
            <p:nvPr/>
          </p:nvSpPr>
          <p:spPr>
            <a:xfrm>
              <a:off x="9050997" y="3363957"/>
              <a:ext cx="1296567" cy="2607051"/>
            </a:xfrm>
            <a:prstGeom prst="roundRect">
              <a:avLst>
                <a:gd name="adj" fmla="val 15815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44000" rtlCol="0" anchor="t" anchorCtr="0"/>
            <a:lstStyle/>
            <a:p>
              <a:pPr marR="0" algn="l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tabLst/>
              </a:pPr>
              <a:endParaRPr lang="ko-KR" altLang="en-US" sz="1600" kern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73E4DCF7-B36F-E17C-8687-F91D5E2FEE7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839806" y="3147060"/>
              <a:ext cx="1850586" cy="3208082"/>
              <a:chOff x="8551508" y="1630679"/>
              <a:chExt cx="3098320" cy="5227321"/>
            </a:xfrm>
          </p:grpSpPr>
          <p:pic>
            <p:nvPicPr>
              <p:cNvPr id="48" name="그림 47">
                <a:extLst>
                  <a:ext uri="{FF2B5EF4-FFF2-40B4-BE49-F238E27FC236}">
                    <a16:creationId xmlns:a16="http://schemas.microsoft.com/office/drawing/2014/main" id="{C82157D4-6027-99B9-9E15-A3353C893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61343" y="2303659"/>
                <a:ext cx="2268820" cy="3928426"/>
              </a:xfrm>
              <a:prstGeom prst="rect">
                <a:avLst/>
              </a:prstGeom>
            </p:spPr>
          </p:pic>
          <p:pic>
            <p:nvPicPr>
              <p:cNvPr id="49" name="Picture 2">
                <a:extLst>
                  <a:ext uri="{FF2B5EF4-FFF2-40B4-BE49-F238E27FC236}">
                    <a16:creationId xmlns:a16="http://schemas.microsoft.com/office/drawing/2014/main" id="{0338FF11-6DD5-8B27-9673-F860FE6B0D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86" t="4290" r="49709" b="3579"/>
              <a:stretch>
                <a:fillRect/>
              </a:stretch>
            </p:blipFill>
            <p:spPr bwMode="auto">
              <a:xfrm>
                <a:off x="8551508" y="1630679"/>
                <a:ext cx="3098320" cy="52273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C0B93D39-1870-5BCA-A53C-7370EA55FD08}"/>
                </a:ext>
              </a:extLst>
            </p:cNvPr>
            <p:cNvSpPr/>
            <p:nvPr/>
          </p:nvSpPr>
          <p:spPr>
            <a:xfrm rot="19839380">
              <a:off x="9988663" y="4283511"/>
              <a:ext cx="1282075" cy="2476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50" dirty="0">
                  <a:solidFill>
                    <a:srgbClr val="C00000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Sample</a:t>
              </a:r>
              <a:endParaRPr lang="ko-KR" altLang="en-US" sz="1050" dirty="0">
                <a:solidFill>
                  <a:srgbClr val="C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C2D0E42-28F0-12DE-CA17-C9DF0E9A85A4}"/>
              </a:ext>
            </a:extLst>
          </p:cNvPr>
          <p:cNvGrpSpPr/>
          <p:nvPr/>
        </p:nvGrpSpPr>
        <p:grpSpPr>
          <a:xfrm>
            <a:off x="2587739" y="3290776"/>
            <a:ext cx="6078402" cy="381000"/>
            <a:chOff x="2587739" y="3290776"/>
            <a:chExt cx="6078402" cy="381000"/>
          </a:xfrm>
        </p:grpSpPr>
        <p:sp>
          <p:nvSpPr>
            <p:cNvPr id="15" name="화살표: 오각형 14">
              <a:extLst>
                <a:ext uri="{FF2B5EF4-FFF2-40B4-BE49-F238E27FC236}">
                  <a16:creationId xmlns:a16="http://schemas.microsoft.com/office/drawing/2014/main" id="{E286E6B8-160D-4B5E-2C82-4E3BF99675BE}"/>
                </a:ext>
              </a:extLst>
            </p:cNvPr>
            <p:cNvSpPr/>
            <p:nvPr/>
          </p:nvSpPr>
          <p:spPr>
            <a:xfrm>
              <a:off x="2665512" y="3290776"/>
              <a:ext cx="1236641" cy="381000"/>
            </a:xfrm>
            <a:prstGeom prst="homePlate">
              <a:avLst/>
            </a:prstGeom>
            <a:solidFill>
              <a:schemeClr val="bg2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bIns="36000" rtlCol="0" anchor="ctr" anchorCtr="0"/>
            <a:lstStyle/>
            <a:p>
              <a:pPr marR="0" algn="ctr" defTabSz="914400" rtl="0" eaLnBrk="1" fontAlgn="auto" latinLnBrk="0" hangingPunct="1">
                <a:spcBef>
                  <a:spcPts val="200"/>
                </a:spcBef>
                <a:spcAft>
                  <a:spcPts val="0"/>
                </a:spcAft>
                <a:buClrTx/>
                <a:buSzTx/>
                <a:tabLst/>
              </a:pPr>
              <a:r>
                <a:rPr lang="ko-KR" altLang="en-US" sz="110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진단준비</a:t>
              </a:r>
            </a:p>
          </p:txBody>
        </p:sp>
        <p:sp>
          <p:nvSpPr>
            <p:cNvPr id="16" name="화살표: 오각형 15">
              <a:extLst>
                <a:ext uri="{FF2B5EF4-FFF2-40B4-BE49-F238E27FC236}">
                  <a16:creationId xmlns:a16="http://schemas.microsoft.com/office/drawing/2014/main" id="{222D182D-DDE8-E7F2-F703-5EBCF9C473F4}"/>
                </a:ext>
              </a:extLst>
            </p:cNvPr>
            <p:cNvSpPr/>
            <p:nvPr/>
          </p:nvSpPr>
          <p:spPr>
            <a:xfrm>
              <a:off x="4259487" y="3290776"/>
              <a:ext cx="1236641" cy="381000"/>
            </a:xfrm>
            <a:prstGeom prst="homePlate">
              <a:avLst/>
            </a:prstGeom>
            <a:solidFill>
              <a:schemeClr val="bg2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bIns="36000" rtlCol="0" anchor="ctr" anchorCtr="0"/>
            <a:lstStyle/>
            <a:p>
              <a:pPr marL="0" indent="0" algn="ctr" defTabSz="914400" rtl="0" eaLnBrk="1" latinLnBrk="1" hangingPunct="1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None/>
              </a:pPr>
              <a:r>
                <a:rPr lang="ko-KR" altLang="en-US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진단실시 및</a:t>
              </a:r>
              <a:br>
                <a:rPr lang="en-US" altLang="ko-KR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</a:br>
              <a:r>
                <a:rPr lang="ko-KR" altLang="en-US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데이터 수집</a:t>
              </a:r>
              <a:endParaRPr lang="en-US" altLang="ko-KR" sz="1100" b="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18" name="화살표: 오각형 17">
              <a:extLst>
                <a:ext uri="{FF2B5EF4-FFF2-40B4-BE49-F238E27FC236}">
                  <a16:creationId xmlns:a16="http://schemas.microsoft.com/office/drawing/2014/main" id="{A4B85C5E-E529-A389-C4FC-5C7660B77E5B}"/>
                </a:ext>
              </a:extLst>
            </p:cNvPr>
            <p:cNvSpPr/>
            <p:nvPr/>
          </p:nvSpPr>
          <p:spPr>
            <a:xfrm>
              <a:off x="5843224" y="3290776"/>
              <a:ext cx="1236641" cy="381000"/>
            </a:xfrm>
            <a:prstGeom prst="homePlate">
              <a:avLst/>
            </a:prstGeom>
            <a:solidFill>
              <a:schemeClr val="bg2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bIns="36000" rtlCol="0" anchor="ctr" anchorCtr="0"/>
            <a:lstStyle/>
            <a:p>
              <a:pPr marL="0" indent="0" algn="ctr" defTabSz="914400" rtl="0" eaLnBrk="1" latinLnBrk="1" hangingPunct="1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None/>
              </a:pPr>
              <a:r>
                <a:rPr lang="ko-KR" altLang="en-US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데이터 클리닝</a:t>
              </a:r>
              <a:endParaRPr lang="en-US" altLang="ko-KR" sz="1100" b="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19" name="화살표: 오각형 18">
              <a:extLst>
                <a:ext uri="{FF2B5EF4-FFF2-40B4-BE49-F238E27FC236}">
                  <a16:creationId xmlns:a16="http://schemas.microsoft.com/office/drawing/2014/main" id="{E5E80E40-2490-EF2A-CF66-3E4262B62B15}"/>
                </a:ext>
              </a:extLst>
            </p:cNvPr>
            <p:cNvSpPr/>
            <p:nvPr/>
          </p:nvSpPr>
          <p:spPr>
            <a:xfrm>
              <a:off x="7429500" y="3290776"/>
              <a:ext cx="1236641" cy="381000"/>
            </a:xfrm>
            <a:prstGeom prst="homePlate">
              <a:avLst/>
            </a:prstGeom>
            <a:solidFill>
              <a:schemeClr val="bg2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36000" bIns="36000" rtlCol="0" anchor="ctr" anchorCtr="0"/>
            <a:lstStyle/>
            <a:p>
              <a:pPr marL="0" indent="0" algn="ctr" defTabSz="914400" rtl="0" eaLnBrk="1" latinLnBrk="1" hangingPunct="1">
                <a:lnSpc>
                  <a:spcPct val="100000"/>
                </a:lnSpc>
                <a:spcAft>
                  <a:spcPts val="200"/>
                </a:spcAft>
                <a:buFont typeface="Arial" panose="020B0604020202020204" pitchFamily="34" charset="0"/>
                <a:buNone/>
              </a:pPr>
              <a:r>
                <a:rPr lang="ko-KR" altLang="en-US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데이터 분석</a:t>
              </a:r>
              <a:br>
                <a:rPr lang="en-US" altLang="ko-KR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</a:br>
              <a:r>
                <a:rPr lang="ko-KR" altLang="en-US" sz="1100" b="0" kern="1200" dirty="0">
                  <a:solidFill>
                    <a:schemeClr val="tx1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및 결과도출</a:t>
              </a:r>
              <a:endParaRPr lang="en-US" altLang="ko-KR" sz="1100" b="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37C1BA7-93D8-274B-E87C-8163F68588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87739" y="3344567"/>
              <a:ext cx="156510" cy="15743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1</a:t>
              </a:r>
              <a:endParaRPr lang="ko-KR" altLang="en-US" sz="900" dirty="0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37BEC4D1-53F9-23AA-00CB-8417CD7144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72482" y="3344567"/>
              <a:ext cx="156510" cy="15743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2</a:t>
              </a:r>
              <a:endParaRPr lang="ko-KR" altLang="en-US" sz="900" dirty="0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577D5DF-CD2E-A802-194D-133BFE962A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3406" y="3344567"/>
              <a:ext cx="156510" cy="15743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3</a:t>
              </a:r>
              <a:endParaRPr lang="ko-KR" altLang="en-US" sz="900" dirty="0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D759CEE8-9932-B09E-E1AF-6A5CF68A07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45074" y="3344567"/>
              <a:ext cx="156510" cy="15743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/>
                <a:t>4</a:t>
              </a:r>
              <a:endParaRPr lang="ko-KR" altLang="en-US" sz="900" dirty="0"/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C7145E7-C89B-48ED-61E6-62633157326A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New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B9ACEC9-F131-4B66-3CDD-BC085FBCC9AC}"/>
              </a:ext>
            </a:extLst>
          </p:cNvPr>
          <p:cNvGrpSpPr/>
          <p:nvPr/>
        </p:nvGrpSpPr>
        <p:grpSpPr>
          <a:xfrm>
            <a:off x="2594631" y="4889401"/>
            <a:ext cx="1523051" cy="1413539"/>
            <a:chOff x="2594631" y="4889401"/>
            <a:chExt cx="1531188" cy="1413539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1AB72A0-CE6D-341A-15DD-0C20C1C0486C}"/>
                </a:ext>
              </a:extLst>
            </p:cNvPr>
            <p:cNvSpPr/>
            <p:nvPr/>
          </p:nvSpPr>
          <p:spPr>
            <a:xfrm>
              <a:off x="2668722" y="4889401"/>
              <a:ext cx="1377721" cy="288000"/>
            </a:xfrm>
            <a:prstGeom prst="rect">
              <a:avLst/>
            </a:prstGeom>
            <a:solidFill>
              <a:srgbClr val="0070C0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10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이해도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F05EC3DF-1AD6-B0CC-84FB-D12A48AE49F5}"/>
                </a:ext>
              </a:extLst>
            </p:cNvPr>
            <p:cNvGrpSpPr/>
            <p:nvPr/>
          </p:nvGrpSpPr>
          <p:grpSpPr>
            <a:xfrm>
              <a:off x="2594631" y="5218801"/>
              <a:ext cx="1531188" cy="1084139"/>
              <a:chOff x="2513648" y="5055773"/>
              <a:chExt cx="1531188" cy="1084139"/>
            </a:xfrm>
          </p:grpSpPr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C3B5D94D-9DB1-CE07-FB6A-9806244AAE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93013" y="5055773"/>
                <a:ext cx="1372448" cy="1084139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171450" marR="0" lvl="0" indent="-17145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ü"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AF4D9-C369-8FAF-FADD-8A3B324BBD46}"/>
                  </a:ext>
                </a:extLst>
              </p:cNvPr>
              <p:cNvSpPr txBox="1"/>
              <p:nvPr/>
            </p:nvSpPr>
            <p:spPr>
              <a:xfrm>
                <a:off x="2712416" y="5142242"/>
                <a:ext cx="1133645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개념 및 역할 정의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0A8CF8B-03C4-328B-78E4-48368D84F2AB}"/>
                  </a:ext>
                </a:extLst>
              </p:cNvPr>
              <p:cNvSpPr txBox="1"/>
              <p:nvPr/>
            </p:nvSpPr>
            <p:spPr>
              <a:xfrm>
                <a:off x="2635476" y="5472835"/>
                <a:ext cx="1287532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ko-KR" altLang="en-US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역할 분담</a:t>
                </a:r>
                <a:r>
                  <a:rPr lang="en-US" altLang="ko-KR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, </a:t>
                </a:r>
                <a:r>
                  <a:rPr lang="ko-KR" altLang="en-US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활용 가치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316AF7C-97A9-A49C-9FDF-D3D1FDA4D04C}"/>
                  </a:ext>
                </a:extLst>
              </p:cNvPr>
              <p:cNvSpPr txBox="1"/>
              <p:nvPr/>
            </p:nvSpPr>
            <p:spPr>
              <a:xfrm>
                <a:off x="2513648" y="5803427"/>
                <a:ext cx="1531188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미 활용 리스크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, </a:t>
                </a: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결과책임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B690712C-6C48-4835-7C1D-84EEEC42A5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710" y="5430649"/>
                <a:ext cx="1129054" cy="0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1310D0B8-4590-356B-AA96-7E4C6C6745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710" y="5761242"/>
                <a:ext cx="1129054" cy="0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1A048AE-1EFB-F4F2-C180-6E8FC329CAD0}"/>
              </a:ext>
            </a:extLst>
          </p:cNvPr>
          <p:cNvGrpSpPr/>
          <p:nvPr/>
        </p:nvGrpSpPr>
        <p:grpSpPr>
          <a:xfrm>
            <a:off x="4066762" y="4889401"/>
            <a:ext cx="1523051" cy="1413539"/>
            <a:chOff x="4112931" y="4889401"/>
            <a:chExt cx="1531188" cy="1413539"/>
          </a:xfrm>
        </p:grpSpPr>
        <p:sp>
          <p:nvSpPr>
            <p:cNvPr id="1031" name="직사각형 1030">
              <a:extLst>
                <a:ext uri="{FF2B5EF4-FFF2-40B4-BE49-F238E27FC236}">
                  <a16:creationId xmlns:a16="http://schemas.microsoft.com/office/drawing/2014/main" id="{59A2F0BC-C5A9-A22F-F4AC-B8E7EAD05465}"/>
                </a:ext>
              </a:extLst>
            </p:cNvPr>
            <p:cNvSpPr/>
            <p:nvPr/>
          </p:nvSpPr>
          <p:spPr>
            <a:xfrm>
              <a:off x="4187024" y="4889401"/>
              <a:ext cx="1377721" cy="288000"/>
            </a:xfrm>
            <a:prstGeom prst="rect">
              <a:avLst/>
            </a:prstGeom>
            <a:solidFill>
              <a:srgbClr val="002060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10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활용도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7B86E9B-9799-B29A-E138-73357E025D2C}"/>
                </a:ext>
              </a:extLst>
            </p:cNvPr>
            <p:cNvGrpSpPr/>
            <p:nvPr/>
          </p:nvGrpSpPr>
          <p:grpSpPr>
            <a:xfrm>
              <a:off x="4112931" y="5218801"/>
              <a:ext cx="1531188" cy="1084139"/>
              <a:chOff x="2513647" y="5055773"/>
              <a:chExt cx="1531188" cy="1084139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F112AB8-672B-CF83-714C-F8BCAACC83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93013" y="5055773"/>
                <a:ext cx="1372448" cy="1084139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171450" marR="0" lvl="0" indent="-17145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ü"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431DA3A-B889-8EE5-05CA-0221234ABF8D}"/>
                  </a:ext>
                </a:extLst>
              </p:cNvPr>
              <p:cNvSpPr txBox="1"/>
              <p:nvPr/>
            </p:nvSpPr>
            <p:spPr>
              <a:xfrm>
                <a:off x="2789362" y="5142242"/>
                <a:ext cx="979756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업무 활용 정의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957D65-B348-EE82-51D2-549677D58ED2}"/>
                  </a:ext>
                </a:extLst>
              </p:cNvPr>
              <p:cNvSpPr txBox="1"/>
              <p:nvPr/>
            </p:nvSpPr>
            <p:spPr>
              <a:xfrm>
                <a:off x="2513647" y="5472835"/>
                <a:ext cx="1531188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ko-KR" altLang="en-US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도구 선택 판단</a:t>
                </a:r>
                <a:r>
                  <a:rPr lang="en-US" altLang="ko-KR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, </a:t>
                </a:r>
                <a:r>
                  <a:rPr lang="ko-KR" altLang="en-US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업무지시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865C5B-9B0D-A6D9-77AB-59FA04269250}"/>
                  </a:ext>
                </a:extLst>
              </p:cNvPr>
              <p:cNvSpPr txBox="1"/>
              <p:nvPr/>
            </p:nvSpPr>
            <p:spPr>
              <a:xfrm>
                <a:off x="2646697" y="5803427"/>
                <a:ext cx="1265091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업무 흐름 별 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AI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활용</a:t>
                </a: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43F94F7D-EBD2-3CDE-0963-9A7AF61D29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710" y="5430649"/>
                <a:ext cx="1129054" cy="0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2C81598-C623-E132-D162-7946B54ACE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710" y="5761242"/>
                <a:ext cx="1129054" cy="0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DB6DF428-44B0-7AC2-C664-FA6C4CC79ADA}"/>
              </a:ext>
            </a:extLst>
          </p:cNvPr>
          <p:cNvGrpSpPr/>
          <p:nvPr/>
        </p:nvGrpSpPr>
        <p:grpSpPr>
          <a:xfrm>
            <a:off x="5593080" y="4889401"/>
            <a:ext cx="1401870" cy="1413539"/>
            <a:chOff x="5676492" y="4889401"/>
            <a:chExt cx="1401870" cy="1413539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8673D3B-D110-DDE6-742C-C8E9230DF871}"/>
                </a:ext>
              </a:extLst>
            </p:cNvPr>
            <p:cNvSpPr/>
            <p:nvPr/>
          </p:nvSpPr>
          <p:spPr>
            <a:xfrm>
              <a:off x="5689596" y="4889401"/>
              <a:ext cx="1370399" cy="288000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AI </a:t>
              </a:r>
              <a:r>
                <a:rPr lang="ko-KR" altLang="en-US" sz="100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활용도</a:t>
              </a: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E882F72F-053C-1DDE-6DC9-981AC071825A}"/>
                </a:ext>
              </a:extLst>
            </p:cNvPr>
            <p:cNvGrpSpPr/>
            <p:nvPr/>
          </p:nvGrpSpPr>
          <p:grpSpPr>
            <a:xfrm>
              <a:off x="5676492" y="5218801"/>
              <a:ext cx="1401870" cy="1084139"/>
              <a:chOff x="2574566" y="5055773"/>
              <a:chExt cx="1409360" cy="1084139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89E84327-8E9B-2726-D38E-DCEA3637D8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93013" y="5055773"/>
                <a:ext cx="1372448" cy="1084139"/>
              </a:xfrm>
              <a:prstGeom prst="rect">
                <a:avLst/>
              </a:prstGeom>
              <a:pattFill prst="ltUp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171450" marR="0" lvl="0" indent="-171450" algn="l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ü"/>
                  <a:tabLst/>
                  <a:defRPr/>
                </a:pP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58536E-2D76-304D-F702-2B72BB392D53}"/>
                  </a:ext>
                </a:extLst>
              </p:cNvPr>
              <p:cNvSpPr txBox="1"/>
              <p:nvPr/>
            </p:nvSpPr>
            <p:spPr>
              <a:xfrm>
                <a:off x="2651504" y="5142242"/>
                <a:ext cx="1255473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ko-KR" altLang="en-US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리더 역할 변화 인식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Bold" panose="00000800000000000000" pitchFamily="2" charset="-127"/>
                  <a:ea typeface="나눔스퀘어 네오 Bold" panose="00000800000000000000" pitchFamily="2" charset="-127"/>
                  <a:cs typeface="+mn-cs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D2858EF-4B43-BD2A-D411-2341A8D717E5}"/>
                  </a:ext>
                </a:extLst>
              </p:cNvPr>
              <p:cNvSpPr txBox="1"/>
              <p:nvPr/>
            </p:nvSpPr>
            <p:spPr>
              <a:xfrm>
                <a:off x="2943252" y="5472835"/>
                <a:ext cx="671979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marR="0" lvl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ko-KR" altLang="en-US" sz="1000" dirty="0">
                    <a:solidFill>
                      <a:prstClr val="black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  <a:cs typeface="+mn-cs"/>
                  </a:rPr>
                  <a:t>의사결정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0D2C730-D723-A98D-7C81-F661A26249FF}"/>
                  </a:ext>
                </a:extLst>
              </p:cNvPr>
              <p:cNvSpPr txBox="1"/>
              <p:nvPr/>
            </p:nvSpPr>
            <p:spPr>
              <a:xfrm>
                <a:off x="2574566" y="5803427"/>
                <a:ext cx="1409360" cy="246221"/>
              </a:xfrm>
              <a:prstGeom prst="rect">
                <a:avLst/>
              </a:prstGeom>
              <a:noFill/>
            </p:spPr>
            <p:txBody>
              <a:bodyPr wrap="none" anchor="ctr" anchorCtr="0">
                <a:spAutoFit/>
              </a:bodyPr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활용 문화</a:t>
                </a:r>
                <a:r>
                  <a:rPr lang="en-US" altLang="ko-KR" sz="1000" dirty="0">
                    <a:solidFill>
                      <a:schemeClr val="tx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  <a:latin typeface="나눔스퀘어 네오 Bold" panose="00000800000000000000" pitchFamily="2" charset="-127"/>
                    <a:ea typeface="나눔스퀘어 네오 Bold" panose="00000800000000000000" pitchFamily="2" charset="-127"/>
                  </a:rPr>
                  <a:t>오남용 통제</a:t>
                </a:r>
              </a:p>
            </p:txBody>
          </p: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C2AE2593-CE08-C683-147A-7A4629D136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710" y="5430649"/>
                <a:ext cx="1129054" cy="0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연결선 56">
                <a:extLst>
                  <a:ext uri="{FF2B5EF4-FFF2-40B4-BE49-F238E27FC236}">
                    <a16:creationId xmlns:a16="http://schemas.microsoft.com/office/drawing/2014/main" id="{4A49DF78-7F74-9479-9191-70487D9E49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710" y="5761242"/>
                <a:ext cx="1129054" cy="0"/>
              </a:xfrm>
              <a:prstGeom prst="line">
                <a:avLst/>
              </a:prstGeom>
              <a:ln w="9525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D159532D-1601-4BF0-4DE7-E9ECA6DC54E0}"/>
              </a:ext>
            </a:extLst>
          </p:cNvPr>
          <p:cNvGrpSpPr/>
          <p:nvPr/>
        </p:nvGrpSpPr>
        <p:grpSpPr>
          <a:xfrm>
            <a:off x="7132320" y="4889401"/>
            <a:ext cx="1679548" cy="1410091"/>
            <a:chOff x="7195007" y="4889401"/>
            <a:chExt cx="1679548" cy="1410091"/>
          </a:xfrm>
        </p:grpSpPr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A438C1EE-F647-734A-B9DF-F40ED4E7C427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95007" y="4889401"/>
              <a:ext cx="1319418" cy="845619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F8081DB3-8760-1897-7F2C-87C8FA03FB78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88751" y="5206966"/>
              <a:ext cx="1319418" cy="845619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1024" name="그림 1023">
              <a:extLst>
                <a:ext uri="{FF2B5EF4-FFF2-40B4-BE49-F238E27FC236}">
                  <a16:creationId xmlns:a16="http://schemas.microsoft.com/office/drawing/2014/main" id="{D604590D-37AB-182B-45F9-99AED0BD5CFF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555137" y="5524531"/>
              <a:ext cx="1319418" cy="774961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57050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89612-52E8-82D5-5B07-5D405E0C0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0F03C-0807-8BFF-AED8-72619525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프로그램 개발 단계  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거시설계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63E793-271F-3691-71C8-B1B550EED48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차시 별 </a:t>
            </a:r>
            <a:r>
              <a:rPr lang="en-US" altLang="ko-KR" dirty="0"/>
              <a:t>1</a:t>
            </a:r>
            <a:r>
              <a:rPr lang="ko-KR" altLang="en-US" dirty="0"/>
              <a:t>차로 설계한 상세내용은 다음과 같음</a:t>
            </a:r>
            <a:br>
              <a:rPr lang="en-US" altLang="ko-KR" dirty="0"/>
            </a:b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en-US" altLang="ko-KR" b="1" dirty="0"/>
              <a:t>2</a:t>
            </a:r>
            <a:r>
              <a:rPr lang="ko-KR" altLang="en-US" b="1" dirty="0"/>
              <a:t>차시 </a:t>
            </a:r>
            <a:r>
              <a:rPr lang="en-US" altLang="ko-KR" b="1" dirty="0"/>
              <a:t>‘AI</a:t>
            </a:r>
            <a:r>
              <a:rPr lang="ko-KR" altLang="en-US" b="1" dirty="0"/>
              <a:t>와 함께 일하기</a:t>
            </a:r>
            <a:r>
              <a:rPr lang="en-US" altLang="ko-KR" b="1" dirty="0"/>
              <a:t>’</a:t>
            </a:r>
            <a:r>
              <a:rPr lang="ko-KR" altLang="en-US" b="1" dirty="0"/>
              <a:t>의 경우 분석결과에 따라 상세설계 내용이 변경될 수 있음</a:t>
            </a:r>
            <a:r>
              <a:rPr lang="en-US" altLang="ko-KR" b="1" dirty="0"/>
              <a:t>(* </a:t>
            </a:r>
            <a:r>
              <a:rPr lang="ko-KR" altLang="en-US" b="1" dirty="0"/>
              <a:t>특히</a:t>
            </a:r>
            <a:r>
              <a:rPr lang="en-US" altLang="ko-KR" b="1" dirty="0"/>
              <a:t>, </a:t>
            </a:r>
            <a:r>
              <a:rPr lang="ko-KR" altLang="en-US" b="1" dirty="0"/>
              <a:t>유료버전 사용여부에 대한 결정 포함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C99F683-4A78-DC62-D466-A89F32A19668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52602"/>
          <a:ext cx="11125200" cy="4709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25878853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77018949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9831029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196795883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792031052"/>
                    </a:ext>
                  </a:extLst>
                </a:gridCol>
              </a:tblGrid>
              <a:tr h="221781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</a:p>
                  </a:txBody>
                  <a:tcPr marL="83127" marR="8312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상세 내용</a:t>
                      </a:r>
                    </a:p>
                  </a:txBody>
                  <a:tcPr marL="83127" marR="83127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구성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안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60311"/>
                  </a:ext>
                </a:extLst>
              </a:tr>
              <a:tr h="178027">
                <a:tc gridSpan="2">
                  <a:txBody>
                    <a:bodyPr/>
                    <a:lstStyle/>
                    <a:p>
                      <a:pPr algn="ctr" latinLnBrk="0">
                        <a:lnSpc>
                          <a:spcPct val="100000"/>
                        </a:lnSpc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Opening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anchor="ctr">
                    <a:lnL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과정 목적 및 취지 안내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2800" marR="468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ko-KR" altLang="en-US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83127" marR="83127" marT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610525"/>
                  </a:ext>
                </a:extLst>
              </a:tr>
              <a:tr h="83150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1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>
                        <a:lnSpc>
                          <a:spcPct val="120000"/>
                        </a:lnSpc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 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기본 개념 및 사용자 역할 </a:t>
                      </a: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명확화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의 탄생과 현대 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의 재탄생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AI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의 작동원리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인간 지능과의 경계</a:t>
                      </a:r>
                      <a:endParaRPr lang="en-US" altLang="ko-KR" sz="10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한계와 편향성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의존성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맥락 및 설명 가능성 부족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알고리즘 설계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조직 내 역할에 따른 생성형 </a:t>
                      </a:r>
                      <a: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기준</a:t>
                      </a:r>
                      <a:br>
                        <a:rPr lang="en-US" altLang="ko-KR" sz="1000" b="1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직책자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AI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업무에 적용시키고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팀의 결과로 만들어야 하는 사람</a:t>
                      </a:r>
                      <a:b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 </a:t>
                      </a:r>
                      <a:r>
                        <a:rPr lang="ko-KR" altLang="en-US" sz="1000" kern="1200" noProof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직책자</a:t>
                      </a:r>
                      <a:r>
                        <a:rPr lang="en-US" altLang="ko-KR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AI</a:t>
                      </a:r>
                      <a:r>
                        <a:rPr lang="ko-KR" altLang="en-US" sz="1000" kern="1200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내 업무에 쓰기 시작해야 하는 사람</a:t>
                      </a:r>
                    </a:p>
                  </a:txBody>
                  <a:tcPr marL="82800" marR="46800" marT="36000" marB="468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indent="0" algn="ctr" latinLnBrk="0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0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584"/>
                  </a:ext>
                </a:extLst>
              </a:tr>
              <a:tr h="1131509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2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와 함께 일하기</a:t>
                      </a: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(1)</a:t>
                      </a:r>
                      <a:b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</a:b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일하는 방식의 변화</a:t>
                      </a: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 인간의 일자리를 빼앗을 것이라는 막연한 불안감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현실의 변화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단순 대체가 아닌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'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협업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'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중심으로 전개되는 현장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핵심 질문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"AI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와 인간이 어떻게 협력할 때 더 높은 가치를 창출할 수 있는가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?"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방식의 재편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- AI</a:t>
                      </a:r>
                      <a:r>
                        <a:rPr lang="ko-KR" altLang="en-US" sz="1000" b="1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의 역할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: ‘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일을 대신하는 도구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’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가 아니라 판단 전 단계를 압축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·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정제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·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비교하는 엔진</a:t>
                      </a:r>
                      <a:b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</a:br>
                      <a:r>
                        <a:rPr lang="en-US" altLang="ko-KR" sz="1000" b="1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- AI </a:t>
                      </a:r>
                      <a:r>
                        <a:rPr lang="ko-KR" altLang="en-US" sz="1000" b="1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활용 접근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: 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자료 탐색 → 판단 구조화 → 최종 산출까지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, AI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로 완성하는 전략 판단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혁신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로드맵 만들기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목적에 맞는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Tool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선택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82800" marR="46800" marT="36000" marB="4680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3127" marR="83127" marT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143737"/>
                  </a:ext>
                </a:extLst>
              </a:tr>
              <a:tr h="2773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핵심질문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핵심내용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chemeClr val="bg1">
                          <a:lumMod val="8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648913"/>
                  </a:ext>
                </a:extLst>
              </a:tr>
              <a:tr h="5381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효과적인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프롬프팅 작성법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좋은 프롬프트 요소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시 적합한 프롬프트 예시와 비효율적인 프롬프트 비교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좋은 답변을 얻기 위한 프롬프트 작성 방법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메타 프롬프팅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2800" marR="468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343007"/>
                  </a:ext>
                </a:extLst>
              </a:tr>
              <a:tr h="5381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자료 </a:t>
                      </a:r>
                      <a:r>
                        <a:rPr lang="ko-KR" altLang="en-US" sz="1000" b="1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서치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자료서치ㅣ무엇을 믿고 판단할 것인가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?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- 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사용자에게 중요한 것은 ‘정보의 양’이 아니라 판단에 사용해도 되는 정보를 남기는 구조</a:t>
                      </a:r>
                      <a:b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</a:b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- 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사용 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AI Tool: Liner, Perplexity, Genspark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2800" marR="468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565086"/>
                  </a:ext>
                </a:extLst>
              </a:tr>
              <a:tr h="4235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정리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어떻게 구조화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비교 할 것 인가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?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사용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 AI Tool: ChatGPT(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구조 설계 도구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)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vs. Gemini(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비교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·</a:t>
                      </a:r>
                      <a:r>
                        <a:rPr lang="ko-KR" altLang="en-US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확장의 도구</a:t>
                      </a:r>
                      <a:r>
                        <a:rPr lang="en-US" altLang="ko-KR" sz="1000" b="0" i="0" u="none" strike="noStrike" kern="1200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Arial"/>
                        </a:rPr>
                        <a:t>)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2800" marR="468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44116"/>
                  </a:ext>
                </a:extLst>
              </a:tr>
              <a:tr h="5381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단계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출력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어떻게 설득 가능한 결과물로 만들 것인가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?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사용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AT Tool: NotebookLM(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최종보고서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),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Lilys AI(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지식 구조로 정리 및 출력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), Napkin AI(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시각화 출력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82800" marR="468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0571087"/>
                  </a:ext>
                </a:extLst>
              </a:tr>
            </a:tbl>
          </a:graphicData>
        </a:graphic>
      </p:graphicFrame>
      <p:pic>
        <p:nvPicPr>
          <p:cNvPr id="31" name="그림 30">
            <a:extLst>
              <a:ext uri="{FF2B5EF4-FFF2-40B4-BE49-F238E27FC236}">
                <a16:creationId xmlns:a16="http://schemas.microsoft.com/office/drawing/2014/main" id="{21B57121-C2B9-494A-85F3-A67F9C6F1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045527"/>
            <a:ext cx="2462997" cy="4304149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4803E1-78D2-A873-2C15-CF37C1436D68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30P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7792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A41F-CB12-89F5-B5B7-F30AABE0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0A3E2-E821-3AC6-337D-4390C44A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프로그램 개발 단계  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거시설계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75990D-9532-12CC-3DD4-D7515E648B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차시 별 </a:t>
            </a:r>
            <a:r>
              <a:rPr lang="en-US" altLang="ko-KR" dirty="0"/>
              <a:t>1</a:t>
            </a:r>
            <a:r>
              <a:rPr lang="ko-KR" altLang="en-US" dirty="0"/>
              <a:t>차로 설계한 상세내용은 다음과 같음</a:t>
            </a:r>
            <a:br>
              <a:rPr lang="en-US" altLang="ko-KR" dirty="0"/>
            </a:br>
            <a:r>
              <a:rPr lang="ko-KR" altLang="en-US" dirty="0"/>
              <a:t>특히</a:t>
            </a:r>
            <a:r>
              <a:rPr lang="en-US" altLang="ko-KR" dirty="0"/>
              <a:t>, </a:t>
            </a:r>
            <a:r>
              <a:rPr lang="en-US" altLang="ko-KR" b="1" dirty="0"/>
              <a:t>2</a:t>
            </a:r>
            <a:r>
              <a:rPr lang="ko-KR" altLang="en-US" b="1" dirty="0"/>
              <a:t>차시 </a:t>
            </a:r>
            <a:r>
              <a:rPr lang="en-US" altLang="ko-KR" b="1" dirty="0"/>
              <a:t>‘AI</a:t>
            </a:r>
            <a:r>
              <a:rPr lang="ko-KR" altLang="en-US" b="1" dirty="0"/>
              <a:t>와 함께 일하기</a:t>
            </a:r>
            <a:r>
              <a:rPr lang="en-US" altLang="ko-KR" b="1" dirty="0"/>
              <a:t>’</a:t>
            </a:r>
            <a:r>
              <a:rPr lang="ko-KR" altLang="en-US" b="1" dirty="0"/>
              <a:t>의 경우 분석결과에 따라 상세설계 내용이 변경될 수 있음</a:t>
            </a:r>
            <a:r>
              <a:rPr lang="en-US" altLang="ko-KR" b="1" dirty="0"/>
              <a:t>(* </a:t>
            </a:r>
            <a:r>
              <a:rPr lang="ko-KR" altLang="en-US" b="1" dirty="0"/>
              <a:t>특히</a:t>
            </a:r>
            <a:r>
              <a:rPr lang="en-US" altLang="ko-KR" b="1" dirty="0"/>
              <a:t>, </a:t>
            </a:r>
            <a:r>
              <a:rPr lang="ko-KR" altLang="en-US" b="1" dirty="0"/>
              <a:t>유료버전 사용여부에 대한 결정 포함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E89904-806C-18F2-835A-9AA95083A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89792"/>
              </p:ext>
            </p:extLst>
          </p:nvPr>
        </p:nvGraphicFramePr>
        <p:xfrm>
          <a:off x="533400" y="1752600"/>
          <a:ext cx="11125200" cy="47243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25878853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770189498"/>
                    </a:ext>
                  </a:extLst>
                </a:gridCol>
                <a:gridCol w="8077200">
                  <a:extLst>
                    <a:ext uri="{9D8B030D-6E8A-4147-A177-3AD203B41FA5}">
                      <a16:colId xmlns:a16="http://schemas.microsoft.com/office/drawing/2014/main" val="39831029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792031052"/>
                    </a:ext>
                  </a:extLst>
                </a:gridCol>
              </a:tblGrid>
              <a:tr h="320298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</a:p>
                  </a:txBody>
                  <a:tcPr marL="83127" marR="83127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상세 내용</a:t>
                      </a:r>
                    </a:p>
                  </a:txBody>
                  <a:tcPr marL="83127" marR="83127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비고</a:t>
                      </a:r>
                    </a:p>
                  </a:txBody>
                  <a:tcPr marL="83127" marR="83127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460311"/>
                  </a:ext>
                </a:extLst>
              </a:tr>
              <a:tr h="1383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3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와 함께 일하기</a:t>
                      </a: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(2)</a:t>
                      </a:r>
                      <a:b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</a:b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(AI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활용 기준</a:t>
                      </a: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조직 내 주요 기능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별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대표 상황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효과적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툴의 활용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특정 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쓰는 것이 아닌 </a:t>
                      </a:r>
                      <a:r>
                        <a:rPr lang="ko-KR" altLang="en-US" sz="10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 상황에 맞는 </a:t>
                      </a:r>
                      <a:r>
                        <a:rPr lang="en-US" altLang="ko-KR" sz="10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0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선택과 프롬프트 역량을 내재화 하는 것이 목표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 결과물의 검증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보정 방법</a:t>
                      </a:r>
                      <a:b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-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출처의 확인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논리의 검토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편향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누락 점검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사내규정 대조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후처리</a:t>
                      </a:r>
                    </a:p>
                  </a:txBody>
                  <a:tcPr marL="82800" marR="36000" marT="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2800" marR="36000" marT="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347757"/>
                  </a:ext>
                </a:extLst>
              </a:tr>
              <a:tr h="15873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4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리더의 </a:t>
                      </a: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 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활용</a:t>
                      </a:r>
                    </a:p>
                  </a:txBody>
                  <a:tcPr marL="83127" marR="83127" marT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과거의 리더십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경험과 직감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명령과 통제 중심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시대의 새로운 리더십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기술 이해력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인간 중심 사고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변화 관리 능력이 핵심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.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를 업무에 적용시키고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팀의 결과로 만들어 내야 하는 위치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목적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및 활용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포인트 인식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핵심 질문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리더는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라는 변화의 바람 앞에서 벽을 쌓을 것인가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풍차를 돌릴 것인가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?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기반 의사결정 패러다임의 전환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 기반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수평적 문화 확산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기반 합리적 근거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리더의 역할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분석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방향성 조율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b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(* 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기반 의사결정 방법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문제 정의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&amp;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확보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 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모델 적용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패턴 예측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) 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의사결정 지원 시나리오 공유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실행 후 결과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 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학습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&amp;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지속개선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82800" marR="36000" marT="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※ </a:t>
                      </a:r>
                      <a:r>
                        <a:rPr lang="ko-KR" alt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직책과장 대상 차시</a:t>
                      </a:r>
                    </a:p>
                  </a:txBody>
                  <a:tcPr marL="36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3274"/>
                  </a:ext>
                </a:extLst>
              </a:tr>
              <a:tr h="10329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5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차시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HD 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현대 그룹의</a:t>
                      </a:r>
                      <a:endParaRPr lang="en-US" altLang="ko-KR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적용 및 방향성</a:t>
                      </a:r>
                    </a:p>
                  </a:txBody>
                  <a:tcPr marL="83127" marR="83127" marT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현대 그룹 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적용 사례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해양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건설장비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인프라코어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로보틱스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현대 그룹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방향성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필요시 내부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전략과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Alignment)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현대 그룹 내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전략 및 활용 가이드라인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역할 별 유형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(AI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리터러시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구축자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Use Case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제안자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피드백 제공자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검증 및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보완자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문화 전파자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82800" marR="36000" marT="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40533"/>
                  </a:ext>
                </a:extLst>
              </a:tr>
              <a:tr h="4000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Closing</a:t>
                      </a: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83127" marR="83127" marT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현대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로드맵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(※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필요 시 공동 설계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82800" marR="36000" marT="0" marB="468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953273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6A91AA9C-D722-C730-0C20-0E0EDE7939AC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31P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302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CB3A0-4C2B-E993-8700-748B45196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AA44D-54ED-A223-4C5E-37C37E07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프로그램 개발 단계 </a:t>
            </a:r>
            <a:r>
              <a:rPr lang="ko-KR" altLang="en-US" sz="1400" dirty="0"/>
              <a:t> 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사용자의 역할 명확화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8316384-B15C-B50D-F1C9-0A8B94118B6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조직 내 역할과 생성형 </a:t>
            </a:r>
            <a:r>
              <a:rPr lang="en-US" altLang="ko-KR" b="1" dirty="0">
                <a:solidFill>
                  <a:schemeClr val="tx1"/>
                </a:solidFill>
                <a:sym typeface="Wingdings" panose="05000000000000000000" pitchFamily="2" charset="2"/>
              </a:rPr>
              <a:t>AI</a:t>
            </a:r>
            <a:r>
              <a:rPr lang="ko-KR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의 활용 목적</a:t>
            </a:r>
            <a:r>
              <a:rPr lang="en-US" altLang="ko-KR" b="1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적용 포인트의 명확한 설정을 선제적으로 적용하여</a:t>
            </a:r>
            <a:br>
              <a:rPr lang="en-US" altLang="ko-KR" b="1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altLang="ko-KR" b="1" dirty="0">
                <a:solidFill>
                  <a:srgbClr val="115497"/>
                </a:solidFill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olidFill>
                  <a:srgbClr val="115497"/>
                </a:solidFill>
                <a:sym typeface="Wingdings" panose="05000000000000000000" pitchFamily="2" charset="2"/>
              </a:rPr>
              <a:t>단순 ‘툴 </a:t>
            </a:r>
            <a:r>
              <a:rPr lang="ko-KR" altLang="en-US" b="1" dirty="0" err="1">
                <a:solidFill>
                  <a:srgbClr val="115497"/>
                </a:solidFill>
                <a:sym typeface="Wingdings" panose="05000000000000000000" pitchFamily="2" charset="2"/>
              </a:rPr>
              <a:t>학습’이</a:t>
            </a:r>
            <a:r>
              <a:rPr lang="ko-KR" altLang="en-US" b="1" dirty="0">
                <a:solidFill>
                  <a:srgbClr val="115497"/>
                </a:solidFill>
                <a:sym typeface="Wingdings" panose="05000000000000000000" pitchFamily="2" charset="2"/>
              </a:rPr>
              <a:t> 아니라 ‘업무 방식 </a:t>
            </a:r>
            <a:r>
              <a:rPr lang="ko-KR" altLang="en-US" b="1" dirty="0" err="1">
                <a:solidFill>
                  <a:srgbClr val="115497"/>
                </a:solidFill>
                <a:sym typeface="Wingdings" panose="05000000000000000000" pitchFamily="2" charset="2"/>
              </a:rPr>
              <a:t>전환’으로</a:t>
            </a:r>
            <a:r>
              <a:rPr lang="ko-KR" altLang="en-US" b="1" dirty="0">
                <a:solidFill>
                  <a:srgbClr val="115497"/>
                </a:solidFill>
                <a:sym typeface="Wingdings" panose="05000000000000000000" pitchFamily="2" charset="2"/>
              </a:rPr>
              <a:t> 작동하게 하는 마중물의 역할을 하게 함</a:t>
            </a:r>
            <a:endParaRPr lang="ko-KR" altLang="en-US" b="1" dirty="0">
              <a:solidFill>
                <a:srgbClr val="115497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73F578C-E64C-DA4D-F3E7-70B44B9AB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043789"/>
              </p:ext>
            </p:extLst>
          </p:nvPr>
        </p:nvGraphicFramePr>
        <p:xfrm>
          <a:off x="533400" y="2057400"/>
          <a:ext cx="11125200" cy="441960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95602585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318404368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4180323558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3730952059"/>
                    </a:ext>
                  </a:extLst>
                </a:gridCol>
              </a:tblGrid>
              <a:tr h="39263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200" dirty="0">
                        <a:solidFill>
                          <a:schemeClr val="bg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직책과장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비직책 직원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226958"/>
                  </a:ext>
                </a:extLst>
              </a:tr>
              <a:tr h="61922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Role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2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</a:t>
                      </a:r>
                      <a:r>
                        <a:rPr lang="ko-KR" altLang="en-US" sz="1200" dirty="0">
                          <a:solidFill>
                            <a:srgbClr val="C00000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업무에 적용시키고</a:t>
                      </a:r>
                      <a:r>
                        <a:rPr lang="en-US" altLang="ko-KR" sz="1200" dirty="0">
                          <a:solidFill>
                            <a:srgbClr val="C00000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solidFill>
                            <a:srgbClr val="C00000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팀의 결과로 만들어야 하는 사람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를 </a:t>
                      </a:r>
                      <a:r>
                        <a:rPr lang="ko-KR" altLang="en-US" sz="1200" kern="1200" dirty="0">
                          <a:solidFill>
                            <a:srgbClr val="C00000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내 업무에 쓰기 시작해야 하는 사람</a:t>
                      </a:r>
                      <a:endParaRPr lang="ko-KR" altLang="en-US" sz="1200" dirty="0">
                        <a:solidFill>
                          <a:srgbClr val="C00000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57620"/>
                  </a:ext>
                </a:extLst>
              </a:tr>
              <a:tr h="61922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목적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조직관점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팀 성과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의사결정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업무방식 변화</a:t>
                      </a:r>
                      <a:endParaRPr lang="en-US" altLang="ko-KR" sz="12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개인관점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개인 단위 업무 속도 증가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실수 감소</a:t>
                      </a:r>
                      <a:endParaRPr lang="en-US" altLang="ko-KR" sz="12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727616"/>
                  </a:ext>
                </a:extLst>
              </a:tr>
              <a:tr h="61922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활용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</a:t>
                      </a:r>
                      <a:r>
                        <a:rPr lang="ko-KR" altLang="en-US" sz="12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판단 기준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누가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언제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어떤 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쓰게 할 것 인가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</a:t>
                      </a:r>
                      <a:r>
                        <a:rPr lang="ko-KR" altLang="en-US" sz="12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사용법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이건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어떻게 쓰나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?)</a:t>
                      </a:r>
                      <a:endParaRPr lang="ko-KR" altLang="en-US" sz="12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8994324"/>
                  </a:ext>
                </a:extLst>
              </a:tr>
              <a:tr h="61922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포인트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업무흐름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역할분담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기준 설정 중심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보고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정리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분석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커뮤니케이션 중심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185273"/>
                  </a:ext>
                </a:extLst>
              </a:tr>
              <a:tr h="387516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업무 적용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예시</a:t>
                      </a:r>
                      <a:endParaRPr lang="en-US" altLang="ko-KR" sz="1300" kern="12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(Sample)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보고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문서업무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팀원 보고서들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로 비교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중복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누락 포인트 체크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내가 만드는 문서를 빨리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덜 힘들게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461480"/>
                  </a:ext>
                </a:extLst>
              </a:tr>
              <a:tr h="3875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업무 기획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개선 과제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팀 업무를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로 프로세스 맵핑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내가 맡은 과제를 잘 정리하는 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활용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14"/>
                  </a:ext>
                </a:extLst>
              </a:tr>
              <a:tr h="3875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데이터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리포트 해석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활용 기반 판단 가능한 시나리오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가지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숫자는 어렵지만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설명은 필요할 때</a:t>
                      </a: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922116"/>
                  </a:ext>
                </a:extLst>
              </a:tr>
              <a:tr h="3875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buNone/>
                      </a:pP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회의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메일</a:t>
                      </a:r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30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보고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‘의사결정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리스크 점검 </a:t>
                      </a:r>
                      <a:r>
                        <a:rPr lang="ko-KR" altLang="en-US" sz="12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도구’로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활용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를 ‘초안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정리</a:t>
                      </a:r>
                      <a:r>
                        <a:rPr lang="en-US" altLang="ko-KR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표현 </a:t>
                      </a:r>
                      <a:r>
                        <a:rPr lang="ko-KR" altLang="en-US" sz="12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보조자’로</a:t>
                      </a:r>
                      <a:r>
                        <a:rPr lang="ko-KR" altLang="en-US" sz="12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활용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marT="0" marB="0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156"/>
                  </a:ext>
                </a:extLst>
              </a:tr>
            </a:tbl>
          </a:graphicData>
        </a:graphic>
      </p:graphicFrame>
      <p:sp>
        <p:nvSpPr>
          <p:cNvPr id="11" name="Text 8">
            <a:extLst>
              <a:ext uri="{FF2B5EF4-FFF2-40B4-BE49-F238E27FC236}">
                <a16:creationId xmlns:a16="http://schemas.microsoft.com/office/drawing/2014/main" id="{DDD1D731-5027-70E1-C7C2-2CBC82C0C61A}"/>
              </a:ext>
            </a:extLst>
          </p:cNvPr>
          <p:cNvSpPr txBox="1"/>
          <p:nvPr/>
        </p:nvSpPr>
        <p:spPr>
          <a:xfrm>
            <a:off x="533400" y="1752600"/>
            <a:ext cx="2115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37415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Noto Sans KR" pitchFamily="34" charset="-120"/>
              </a:rPr>
              <a:t>○ 사용자의 역할 명확화</a:t>
            </a:r>
            <a:endParaRPr lang="en-US" sz="15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49D3A-F298-6F61-FC35-A11908A5B8C9}"/>
              </a:ext>
            </a:extLst>
          </p:cNvPr>
          <p:cNvSpPr txBox="1"/>
          <p:nvPr/>
        </p:nvSpPr>
        <p:spPr>
          <a:xfrm>
            <a:off x="487680" y="1688068"/>
            <a:ext cx="53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F9BC465-DC0B-0CDF-1018-BB9A05BAF149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29P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0372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EDB8-542D-BF5A-3DF3-D3B67443D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F7243-CAC7-644B-B5F6-81815BE6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프로그램 개발 단계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243B5A-7D2A-6254-FFF8-A4958808605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학습 효과 확인</a:t>
            </a:r>
            <a:r>
              <a:rPr lang="en-US" altLang="ko-KR" dirty="0"/>
              <a:t>, </a:t>
            </a:r>
            <a:r>
              <a:rPr lang="ko-KR" altLang="en-US" dirty="0"/>
              <a:t>조직 차원 활용도 진단</a:t>
            </a:r>
            <a:r>
              <a:rPr lang="en-US" altLang="ko-KR" dirty="0"/>
              <a:t>, </a:t>
            </a:r>
            <a:r>
              <a:rPr lang="ko-KR" altLang="en-US" dirty="0"/>
              <a:t>학습 동기 부여 등을 통해 </a:t>
            </a:r>
            <a:r>
              <a:rPr lang="ko-KR" altLang="en-US" b="1" dirty="0"/>
              <a:t>교육 효과와 조직적 활용도를 검증</a:t>
            </a: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E482646-417B-14B2-476D-EA403BB46393}"/>
              </a:ext>
            </a:extLst>
          </p:cNvPr>
          <p:cNvSpPr txBox="1"/>
          <p:nvPr/>
        </p:nvSpPr>
        <p:spPr>
          <a:xfrm>
            <a:off x="704393" y="1981200"/>
            <a:ext cx="2115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3단계 교육평가 프로세스</a:t>
            </a:r>
            <a:endParaRPr lang="en-US" sz="15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90E6F4A2-03F9-F3E8-4AB5-E8A14F2A3E91}"/>
              </a:ext>
            </a:extLst>
          </p:cNvPr>
          <p:cNvSpPr/>
          <p:nvPr/>
        </p:nvSpPr>
        <p:spPr>
          <a:xfrm>
            <a:off x="685800" y="2298294"/>
            <a:ext cx="3504895" cy="1238098"/>
          </a:xfrm>
          <a:prstGeom prst="roundRect">
            <a:avLst>
              <a:gd name="adj" fmla="val 4545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9A2A99DE-3FF5-A834-83FC-F0FB491BD333}"/>
              </a:ext>
            </a:extLst>
          </p:cNvPr>
          <p:cNvSpPr/>
          <p:nvPr/>
        </p:nvSpPr>
        <p:spPr>
          <a:xfrm>
            <a:off x="838505" y="244094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36AF0CD0-2429-E3CD-C40A-934AFA7B5655}"/>
              </a:ext>
            </a:extLst>
          </p:cNvPr>
          <p:cNvSpPr txBox="1"/>
          <p:nvPr/>
        </p:nvSpPr>
        <p:spPr>
          <a:xfrm>
            <a:off x="948233" y="2479345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1</a:t>
            </a:r>
            <a:endParaRPr 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C5D8AF8B-FCD9-60CA-001D-9C0DD92A869C}"/>
              </a:ext>
            </a:extLst>
          </p:cNvPr>
          <p:cNvSpPr txBox="1"/>
          <p:nvPr/>
        </p:nvSpPr>
        <p:spPr>
          <a:xfrm>
            <a:off x="1218895" y="246928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지식 확인</a:t>
            </a:r>
            <a:endParaRPr lang="en-US" sz="13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Shape 16">
            <a:extLst>
              <a:ext uri="{FF2B5EF4-FFF2-40B4-BE49-F238E27FC236}">
                <a16:creationId xmlns:a16="http://schemas.microsoft.com/office/drawing/2014/main" id="{EAB16F33-0730-98C8-2B0F-B30FE3D2416E}"/>
              </a:ext>
            </a:extLst>
          </p:cNvPr>
          <p:cNvSpPr/>
          <p:nvPr/>
        </p:nvSpPr>
        <p:spPr>
          <a:xfrm>
            <a:off x="4343401" y="2298294"/>
            <a:ext cx="3504895" cy="1238098"/>
          </a:xfrm>
          <a:prstGeom prst="roundRect">
            <a:avLst>
              <a:gd name="adj" fmla="val 4545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EA579B52-E9A5-3777-B902-C828E2F12FAE}"/>
              </a:ext>
            </a:extLst>
          </p:cNvPr>
          <p:cNvSpPr/>
          <p:nvPr/>
        </p:nvSpPr>
        <p:spPr>
          <a:xfrm>
            <a:off x="4496105" y="244094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4" name="Text 18">
            <a:extLst>
              <a:ext uri="{FF2B5EF4-FFF2-40B4-BE49-F238E27FC236}">
                <a16:creationId xmlns:a16="http://schemas.microsoft.com/office/drawing/2014/main" id="{5049217F-5110-7ED2-BE10-69297EBC7231}"/>
              </a:ext>
            </a:extLst>
          </p:cNvPr>
          <p:cNvSpPr txBox="1"/>
          <p:nvPr/>
        </p:nvSpPr>
        <p:spPr>
          <a:xfrm>
            <a:off x="4605833" y="2479345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2</a:t>
            </a:r>
            <a:endParaRPr 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F05DB7E6-9968-E2D2-2B47-A0D2D3EAEB45}"/>
              </a:ext>
            </a:extLst>
          </p:cNvPr>
          <p:cNvSpPr txBox="1"/>
          <p:nvPr/>
        </p:nvSpPr>
        <p:spPr>
          <a:xfrm>
            <a:off x="4876495" y="2469287"/>
            <a:ext cx="824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적용·분석</a:t>
            </a:r>
            <a:endParaRPr lang="en-US" sz="13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6" name="Shape 23">
            <a:extLst>
              <a:ext uri="{FF2B5EF4-FFF2-40B4-BE49-F238E27FC236}">
                <a16:creationId xmlns:a16="http://schemas.microsoft.com/office/drawing/2014/main" id="{9D7783BB-C8AF-1727-D045-BD7C80FA7B14}"/>
              </a:ext>
            </a:extLst>
          </p:cNvPr>
          <p:cNvSpPr/>
          <p:nvPr/>
        </p:nvSpPr>
        <p:spPr>
          <a:xfrm>
            <a:off x="8001000" y="2298294"/>
            <a:ext cx="3504895" cy="1238098"/>
          </a:xfrm>
          <a:prstGeom prst="roundRect">
            <a:avLst>
              <a:gd name="adj" fmla="val 4545"/>
            </a:avLst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7" name="Shape 24">
            <a:extLst>
              <a:ext uri="{FF2B5EF4-FFF2-40B4-BE49-F238E27FC236}">
                <a16:creationId xmlns:a16="http://schemas.microsoft.com/office/drawing/2014/main" id="{945F8A71-9B73-E623-A4BA-F70E221EEA51}"/>
              </a:ext>
            </a:extLst>
          </p:cNvPr>
          <p:cNvSpPr/>
          <p:nvPr/>
        </p:nvSpPr>
        <p:spPr>
          <a:xfrm>
            <a:off x="8153705" y="2440940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1D4ED8"/>
          </a:solidFill>
          <a:ln/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8" name="Text 25">
            <a:extLst>
              <a:ext uri="{FF2B5EF4-FFF2-40B4-BE49-F238E27FC236}">
                <a16:creationId xmlns:a16="http://schemas.microsoft.com/office/drawing/2014/main" id="{0C6EFB15-9E2B-461B-CAA3-F95955C98015}"/>
              </a:ext>
            </a:extLst>
          </p:cNvPr>
          <p:cNvSpPr txBox="1"/>
          <p:nvPr/>
        </p:nvSpPr>
        <p:spPr>
          <a:xfrm>
            <a:off x="8263433" y="2479345"/>
            <a:ext cx="200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3</a:t>
            </a:r>
            <a:endParaRPr 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26E078A0-EBC0-F91D-C99A-07C67FA74CBF}"/>
              </a:ext>
            </a:extLst>
          </p:cNvPr>
          <p:cNvSpPr txBox="1"/>
          <p:nvPr/>
        </p:nvSpPr>
        <p:spPr>
          <a:xfrm>
            <a:off x="8534095" y="2469287"/>
            <a:ext cx="8247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성찰·전이</a:t>
            </a:r>
            <a:endParaRPr lang="en-US" sz="13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F038E6C9-0329-1C06-3676-116C42B96784}"/>
              </a:ext>
            </a:extLst>
          </p:cNvPr>
          <p:cNvSpPr txBox="1"/>
          <p:nvPr/>
        </p:nvSpPr>
        <p:spPr>
          <a:xfrm>
            <a:off x="704393" y="3962400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7415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핵심 차별화 포인트</a:t>
            </a:r>
            <a:endParaRPr lang="en-US" sz="15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1" name="Shape 31">
            <a:extLst>
              <a:ext uri="{FF2B5EF4-FFF2-40B4-BE49-F238E27FC236}">
                <a16:creationId xmlns:a16="http://schemas.microsoft.com/office/drawing/2014/main" id="{20BD78D0-4188-B7F4-B84E-327B671F449D}"/>
              </a:ext>
            </a:extLst>
          </p:cNvPr>
          <p:cNvSpPr/>
          <p:nvPr/>
        </p:nvSpPr>
        <p:spPr>
          <a:xfrm>
            <a:off x="685800" y="4239463"/>
            <a:ext cx="3504895" cy="1609344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2" name="Shape 32">
            <a:extLst>
              <a:ext uri="{FF2B5EF4-FFF2-40B4-BE49-F238E27FC236}">
                <a16:creationId xmlns:a16="http://schemas.microsoft.com/office/drawing/2014/main" id="{93E29F28-366B-7A1A-B493-4D7EE059C933}"/>
              </a:ext>
            </a:extLst>
          </p:cNvPr>
          <p:cNvSpPr/>
          <p:nvPr/>
        </p:nvSpPr>
        <p:spPr>
          <a:xfrm>
            <a:off x="838505" y="4344518"/>
            <a:ext cx="476402" cy="476402"/>
          </a:xfrm>
          <a:prstGeom prst="ellipse">
            <a:avLst/>
          </a:prstGeom>
          <a:solidFill>
            <a:srgbClr val="E6F0FF"/>
          </a:solidFill>
          <a:ln/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35620D8C-A4A8-C6C6-963E-28024650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1009498" y="4506366"/>
            <a:ext cx="133502" cy="152705"/>
          </a:xfrm>
          <a:prstGeom prst="rect">
            <a:avLst/>
          </a:prstGeom>
        </p:spPr>
      </p:pic>
      <p:sp>
        <p:nvSpPr>
          <p:cNvPr id="24" name="Text 33">
            <a:extLst>
              <a:ext uri="{FF2B5EF4-FFF2-40B4-BE49-F238E27FC236}">
                <a16:creationId xmlns:a16="http://schemas.microsoft.com/office/drawing/2014/main" id="{059DC39D-9B95-3C46-ED3C-79916D5E4634}"/>
              </a:ext>
            </a:extLst>
          </p:cNvPr>
          <p:cNvSpPr txBox="1"/>
          <p:nvPr/>
        </p:nvSpPr>
        <p:spPr>
          <a:xfrm>
            <a:off x="838505" y="5078578"/>
            <a:ext cx="2019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단계별 문제 은행 개발 및 제공</a:t>
            </a:r>
            <a:endParaRPr 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5" name="Text 34">
            <a:extLst>
              <a:ext uri="{FF2B5EF4-FFF2-40B4-BE49-F238E27FC236}">
                <a16:creationId xmlns:a16="http://schemas.microsoft.com/office/drawing/2014/main" id="{E3B0E486-0CD6-6568-E65F-762B850A0D51}"/>
              </a:ext>
            </a:extLst>
          </p:cNvPr>
          <p:cNvSpPr txBox="1"/>
          <p:nvPr/>
        </p:nvSpPr>
        <p:spPr>
          <a:xfrm>
            <a:off x="838505" y="5345582"/>
            <a:ext cx="32250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각 단계별 특성에 최적화된 전문 문항을 </a:t>
            </a: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개발·제공하여</a:t>
            </a:r>
            <a:b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</a:b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효과적인</a:t>
            </a: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평가 지원</a:t>
            </a:r>
            <a:endParaRPr 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6" name="Shape 35">
            <a:extLst>
              <a:ext uri="{FF2B5EF4-FFF2-40B4-BE49-F238E27FC236}">
                <a16:creationId xmlns:a16="http://schemas.microsoft.com/office/drawing/2014/main" id="{EFD45A13-E3FB-C600-E2D4-31A50CF99B9A}"/>
              </a:ext>
            </a:extLst>
          </p:cNvPr>
          <p:cNvSpPr/>
          <p:nvPr/>
        </p:nvSpPr>
        <p:spPr>
          <a:xfrm>
            <a:off x="4343400" y="4239463"/>
            <a:ext cx="3504895" cy="1609344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27" name="Shape 36">
            <a:extLst>
              <a:ext uri="{FF2B5EF4-FFF2-40B4-BE49-F238E27FC236}">
                <a16:creationId xmlns:a16="http://schemas.microsoft.com/office/drawing/2014/main" id="{0053DE17-6E5F-DF31-0EAA-6B3C051CF2CD}"/>
              </a:ext>
            </a:extLst>
          </p:cNvPr>
          <p:cNvSpPr/>
          <p:nvPr/>
        </p:nvSpPr>
        <p:spPr>
          <a:xfrm>
            <a:off x="4496105" y="4344518"/>
            <a:ext cx="476402" cy="476402"/>
          </a:xfrm>
          <a:prstGeom prst="ellipse">
            <a:avLst/>
          </a:prstGeom>
          <a:solidFill>
            <a:srgbClr val="E6F0FF"/>
          </a:solidFill>
          <a:ln/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F6C9F62B-6315-33CA-503D-9198D34779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4638751" y="4506366"/>
            <a:ext cx="190195" cy="152705"/>
          </a:xfrm>
          <a:prstGeom prst="rect">
            <a:avLst/>
          </a:prstGeom>
        </p:spPr>
      </p:pic>
      <p:sp>
        <p:nvSpPr>
          <p:cNvPr id="29" name="Text 37">
            <a:extLst>
              <a:ext uri="{FF2B5EF4-FFF2-40B4-BE49-F238E27FC236}">
                <a16:creationId xmlns:a16="http://schemas.microsoft.com/office/drawing/2014/main" id="{E81233CD-CA1A-DFA4-5279-8A3136A3436D}"/>
              </a:ext>
            </a:extLst>
          </p:cNvPr>
          <p:cNvSpPr txBox="1"/>
          <p:nvPr/>
        </p:nvSpPr>
        <p:spPr>
          <a:xfrm>
            <a:off x="4496105" y="507857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유연한 적용 지원</a:t>
            </a:r>
            <a:endParaRPr 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16AC3145-F351-CF7D-9FEB-51678E0E6FE3}"/>
              </a:ext>
            </a:extLst>
          </p:cNvPr>
          <p:cNvSpPr txBox="1"/>
          <p:nvPr/>
        </p:nvSpPr>
        <p:spPr>
          <a:xfrm>
            <a:off x="4496105" y="5345582"/>
            <a:ext cx="32909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기업 규모, 교육 여건, 학습자 수준에 따라 전체 3단계 </a:t>
            </a:r>
            <a:b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</a:b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또는</a:t>
            </a: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필요</a:t>
            </a: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단계만 선택 가능</a:t>
            </a:r>
            <a:endParaRPr 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1" name="Shape 39">
            <a:extLst>
              <a:ext uri="{FF2B5EF4-FFF2-40B4-BE49-F238E27FC236}">
                <a16:creationId xmlns:a16="http://schemas.microsoft.com/office/drawing/2014/main" id="{4D64A3CE-8425-0335-C76A-2DECD6E4095B}"/>
              </a:ext>
            </a:extLst>
          </p:cNvPr>
          <p:cNvSpPr/>
          <p:nvPr/>
        </p:nvSpPr>
        <p:spPr>
          <a:xfrm>
            <a:off x="8001000" y="4239463"/>
            <a:ext cx="3504895" cy="1609344"/>
          </a:xfrm>
          <a:prstGeom prst="roundRect">
            <a:avLst>
              <a:gd name="adj" fmla="val 4545"/>
            </a:avLst>
          </a:prstGeom>
          <a:solidFill>
            <a:srgbClr val="F8FA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2" name="Shape 40">
            <a:extLst>
              <a:ext uri="{FF2B5EF4-FFF2-40B4-BE49-F238E27FC236}">
                <a16:creationId xmlns:a16="http://schemas.microsoft.com/office/drawing/2014/main" id="{386F7348-3989-0BC4-6FE6-CA42BAB2EF84}"/>
              </a:ext>
            </a:extLst>
          </p:cNvPr>
          <p:cNvSpPr/>
          <p:nvPr/>
        </p:nvSpPr>
        <p:spPr>
          <a:xfrm>
            <a:off x="8153705" y="4344518"/>
            <a:ext cx="476402" cy="476402"/>
          </a:xfrm>
          <a:prstGeom prst="ellipse">
            <a:avLst/>
          </a:prstGeom>
          <a:solidFill>
            <a:srgbClr val="E6F0FF"/>
          </a:solidFill>
          <a:ln/>
        </p:spPr>
        <p:txBody>
          <a:bodyPr/>
          <a:lstStyle/>
          <a:p>
            <a:endParaRPr lang="ko-KR" altLang="en-US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02060285-934D-5D57-4287-B5FFCEAE89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00" b="-100"/>
          <a:stretch/>
        </p:blipFill>
        <p:spPr>
          <a:xfrm>
            <a:off x="8334756" y="4506366"/>
            <a:ext cx="114300" cy="152705"/>
          </a:xfrm>
          <a:prstGeom prst="rect">
            <a:avLst/>
          </a:prstGeom>
        </p:spPr>
      </p:pic>
      <p:sp>
        <p:nvSpPr>
          <p:cNvPr id="34" name="Text 41">
            <a:extLst>
              <a:ext uri="{FF2B5EF4-FFF2-40B4-BE49-F238E27FC236}">
                <a16:creationId xmlns:a16="http://schemas.microsoft.com/office/drawing/2014/main" id="{E305F7BA-DEB2-9008-5BF1-D1D3172DCAEA}"/>
              </a:ext>
            </a:extLst>
          </p:cNvPr>
          <p:cNvSpPr txBox="1"/>
          <p:nvPr/>
        </p:nvSpPr>
        <p:spPr>
          <a:xfrm>
            <a:off x="8153705" y="5078578"/>
            <a:ext cx="2057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HD현대</a:t>
            </a:r>
            <a:r>
              <a:rPr lang="en-US" sz="12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ko-KR" altLang="en-US" sz="12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그룹</a:t>
            </a:r>
            <a:r>
              <a:rPr lang="en-US" sz="1200" b="1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상황 맞춤 선택적 활용</a:t>
            </a:r>
            <a:endParaRPr lang="en-US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5" name="Text 42">
            <a:extLst>
              <a:ext uri="{FF2B5EF4-FFF2-40B4-BE49-F238E27FC236}">
                <a16:creationId xmlns:a16="http://schemas.microsoft.com/office/drawing/2014/main" id="{9252330C-B1F5-A8D0-BE3A-1DAF5B781A2E}"/>
              </a:ext>
            </a:extLst>
          </p:cNvPr>
          <p:cNvSpPr txBox="1"/>
          <p:nvPr/>
        </p:nvSpPr>
        <p:spPr>
          <a:xfrm>
            <a:off x="8153705" y="5345582"/>
            <a:ext cx="32058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HD현대의 업종, 직무, 학습 목표에 </a:t>
            </a: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완벽히</a:t>
            </a: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부합하는</a:t>
            </a:r>
            <a:b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</a:br>
            <a:r>
              <a:rPr lang="en-US" sz="10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맞춤형</a:t>
            </a:r>
            <a:r>
              <a:rPr lang="en-US" sz="10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평가 도구 구현</a:t>
            </a:r>
            <a:endParaRPr 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6" name="Text 43">
            <a:extLst>
              <a:ext uri="{FF2B5EF4-FFF2-40B4-BE49-F238E27FC236}">
                <a16:creationId xmlns:a16="http://schemas.microsoft.com/office/drawing/2014/main" id="{9BBC7F01-882C-2E30-4D4F-B8B6A673B4C0}"/>
              </a:ext>
            </a:extLst>
          </p:cNvPr>
          <p:cNvSpPr txBox="1"/>
          <p:nvPr/>
        </p:nvSpPr>
        <p:spPr>
          <a:xfrm>
            <a:off x="609905" y="6096305"/>
            <a:ext cx="4806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B556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※ HD현대의 상황과 요구에 맞춰 전체 또는 필요 단계만 선택적으로 활용 가능합니다.</a:t>
            </a:r>
            <a:endParaRPr lang="en-US" sz="1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16D5F2D5-0A28-66DF-966C-9E00D368BA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4195725" y="2803043"/>
            <a:ext cx="142646" cy="228600"/>
          </a:xfrm>
          <a:prstGeom prst="rect">
            <a:avLst/>
          </a:prstGeom>
        </p:spPr>
      </p:pic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00613A57-34B0-3060-9D30-0B7F14521B0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80" b="-80"/>
          <a:stretch/>
        </p:blipFill>
        <p:spPr>
          <a:xfrm>
            <a:off x="7853326" y="2803043"/>
            <a:ext cx="142646" cy="2286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9EC1379-EDCE-0803-FB4E-AEE7458DEEEA}"/>
              </a:ext>
            </a:extLst>
          </p:cNvPr>
          <p:cNvSpPr txBox="1"/>
          <p:nvPr/>
        </p:nvSpPr>
        <p:spPr>
          <a:xfrm>
            <a:off x="1076249" y="2795021"/>
            <a:ext cx="1782166" cy="643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ko-KR" altLang="en-US" sz="11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개념 이해 확인 퀴즈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객관식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, OX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문항</a:t>
            </a:r>
            <a:b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</a:b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기본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개념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숙지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확인</a:t>
            </a:r>
            <a:endParaRPr lang="ko-KR" altLang="en-US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8BB198-91DC-E92F-3C3A-37F1CA317DEB}"/>
              </a:ext>
            </a:extLst>
          </p:cNvPr>
          <p:cNvSpPr txBox="1"/>
          <p:nvPr/>
        </p:nvSpPr>
        <p:spPr>
          <a:xfrm>
            <a:off x="4787536" y="2795021"/>
            <a:ext cx="2286065" cy="643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사례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분석형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과제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실무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상황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해결방안</a:t>
            </a:r>
            <a:b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</a:b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실무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전이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가능성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강화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4B0368-2DFD-0A6A-E57C-FFF9FCFD9DAE}"/>
              </a:ext>
            </a:extLst>
          </p:cNvPr>
          <p:cNvSpPr txBox="1"/>
          <p:nvPr/>
        </p:nvSpPr>
        <p:spPr>
          <a:xfrm>
            <a:off x="8435863" y="2795021"/>
            <a:ext cx="2286065" cy="643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자기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성찰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리포트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개인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경험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연결</a:t>
            </a:r>
            <a:b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</a:b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  <a:sym typeface="Wingdings" panose="05000000000000000000" pitchFamily="2" charset="2"/>
              </a:rPr>
              <a:t>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장기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기억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및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실천력</a:t>
            </a:r>
            <a:r>
              <a:rPr lang="en-US" altLang="ko-KR" sz="1100" dirty="0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 </a:t>
            </a:r>
            <a:r>
              <a:rPr lang="en-US" altLang="ko-KR" sz="1100" dirty="0" err="1">
                <a:solidFill>
                  <a:srgbClr val="333333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Noto Sans KR" pitchFamily="34" charset="-120"/>
              </a:rPr>
              <a:t>강화</a:t>
            </a:r>
            <a:endParaRPr lang="en-US" altLang="ko-KR" sz="11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37C1E7-22C5-292F-7AE6-ED3E7B9BDF3F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28P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3F9231D-98E3-D859-AFA8-8452EF6FE97B}"/>
              </a:ext>
            </a:extLst>
          </p:cNvPr>
          <p:cNvSpPr/>
          <p:nvPr/>
        </p:nvSpPr>
        <p:spPr>
          <a:xfrm>
            <a:off x="2917170" y="509743"/>
            <a:ext cx="1600200" cy="248870"/>
          </a:xfrm>
          <a:prstGeom prst="rect">
            <a:avLst/>
          </a:prstGeom>
          <a:solidFill>
            <a:schemeClr val="tx1">
              <a:alpha val="83000"/>
            </a:scheme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 anchorCtr="0"/>
          <a:lstStyle/>
          <a:p>
            <a:pPr lvl="1" algn="ctr" rtl="0"/>
            <a:r>
              <a:rPr lang="ko-KR" altLang="en-US" sz="1500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영상 학습 평가방안</a:t>
            </a:r>
          </a:p>
        </p:txBody>
      </p:sp>
    </p:spTree>
    <p:extLst>
      <p:ext uri="{BB962C8B-B14F-4D97-AF65-F5344CB8AC3E}">
        <p14:creationId xmlns:p14="http://schemas.microsoft.com/office/powerpoint/2010/main" val="3974589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FE723C-2F5B-3F93-DB54-E17526F7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추가제안</a:t>
            </a:r>
            <a:r>
              <a:rPr lang="en-US" altLang="ko-KR" dirty="0"/>
              <a:t>] Why, </a:t>
            </a:r>
            <a:r>
              <a:rPr lang="ko-KR" altLang="en-US" dirty="0"/>
              <a:t>프롬프트 역량 평가인가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30F402-8223-93C5-F4E4-BDEAE4C347F4}"/>
              </a:ext>
            </a:extLst>
          </p:cNvPr>
          <p:cNvSpPr txBox="1"/>
          <p:nvPr/>
        </p:nvSpPr>
        <p:spPr>
          <a:xfrm>
            <a:off x="2754379" y="3873808"/>
            <a:ext cx="66832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프롬프팅 역량 </a:t>
            </a:r>
            <a:r>
              <a:rPr lang="ko-KR" altLang="en-US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평가를</a:t>
            </a:r>
            <a:r>
              <a:rPr lang="ko-KR" altLang="en-US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‘</a:t>
            </a:r>
            <a:r>
              <a:rPr lang="ko-KR" altLang="en-US" b="1" dirty="0" err="1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시험’이</a:t>
            </a:r>
            <a:r>
              <a:rPr lang="ko-KR" altLang="en-US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아니라</a:t>
            </a:r>
            <a:br>
              <a:rPr lang="en-US" altLang="ko-KR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‘</a:t>
            </a:r>
            <a:r>
              <a:rPr lang="en-US" altLang="ko-KR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</a:t>
            </a:r>
            <a:r>
              <a:rPr lang="en-US" altLang="ko-KR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b="1" dirty="0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안전하게 업무에 쓰게 하기 위한 조직차원의 안전 </a:t>
            </a:r>
            <a:r>
              <a:rPr lang="ko-KR" altLang="en-US" b="1" dirty="0" err="1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장치</a:t>
            </a:r>
            <a:r>
              <a:rPr lang="ko-KR" altLang="en-US" dirty="0" err="1">
                <a:solidFill>
                  <a:srgbClr val="0070C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’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정의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C31C4-0442-6563-2FB2-DCADE3EE15BC}"/>
              </a:ext>
            </a:extLst>
          </p:cNvPr>
          <p:cNvSpPr txBox="1"/>
          <p:nvPr/>
        </p:nvSpPr>
        <p:spPr>
          <a:xfrm>
            <a:off x="2509120" y="1391696"/>
            <a:ext cx="7173760" cy="646331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ctr"/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기업들은 단순 실습을 넘어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프롬프트 역량을 ‘공통 </a:t>
            </a:r>
            <a:r>
              <a:rPr lang="ko-KR" altLang="en-US" dirty="0" err="1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기준’으로</a:t>
            </a:r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정의하고</a:t>
            </a:r>
            <a:endParaRPr lang="en-US" altLang="ko-KR" dirty="0">
              <a:solidFill>
                <a:srgbClr val="FF000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이를 기반으로 한 평가 체계</a:t>
            </a:r>
            <a:r>
              <a:rPr lang="en-US" altLang="ko-KR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경험 </a:t>
            </a:r>
            <a:r>
              <a:rPr lang="en-US" altLang="ko-KR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판단</a:t>
            </a:r>
            <a:r>
              <a:rPr lang="en-US" altLang="ko-KR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/</a:t>
            </a:r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성과</a:t>
            </a:r>
            <a:r>
              <a:rPr lang="en-US" altLang="ko-KR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)</a:t>
            </a:r>
            <a:r>
              <a:rPr lang="ko-KR" altLang="en-US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도입을 검토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하는 추세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ED468CD-54AB-3E70-9180-B11F587E28D9}"/>
              </a:ext>
            </a:extLst>
          </p:cNvPr>
          <p:cNvCxnSpPr>
            <a:cxnSpLocks/>
          </p:cNvCxnSpPr>
          <p:nvPr/>
        </p:nvCxnSpPr>
        <p:spPr>
          <a:xfrm>
            <a:off x="6096000" y="3388703"/>
            <a:ext cx="0" cy="3442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0FCA49-4AB8-4C8C-9C77-E2925CA267B0}"/>
              </a:ext>
            </a:extLst>
          </p:cNvPr>
          <p:cNvSpPr/>
          <p:nvPr/>
        </p:nvSpPr>
        <p:spPr>
          <a:xfrm>
            <a:off x="2478160" y="2139672"/>
            <a:ext cx="7235681" cy="118298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16000" tIns="0" bIns="0" rtlCol="0" anchor="ctr" anchorCtr="0"/>
          <a:lstStyle/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ko-KR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</a:t>
            </a: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의 전사 도구화 </a:t>
            </a:r>
            <a:r>
              <a:rPr lang="en-US" altLang="ko-KR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역할별 활용도가 차이 나는 현실</a:t>
            </a:r>
            <a:endParaRPr lang="en-US" altLang="ko-KR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sym typeface="Wingdings" panose="05000000000000000000" pitchFamily="2" charset="2"/>
            </a:endParaRP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단순 사용으로 인한 </a:t>
            </a:r>
            <a:r>
              <a:rPr lang="en-US" altLang="ko-KR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품질 편차 심화</a:t>
            </a:r>
            <a:endParaRPr lang="en-US" altLang="ko-KR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sym typeface="Wingdings" panose="05000000000000000000" pitchFamily="2" charset="2"/>
            </a:endParaRPr>
          </a:p>
          <a:p>
            <a:pPr marL="285750" marR="0" indent="-285750" algn="l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ko-KR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 </a:t>
            </a: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업무 적용 </a:t>
            </a:r>
            <a:r>
              <a:rPr lang="en-US" altLang="ko-KR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</a:t>
            </a: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조직 성과 연결 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243B38-14A7-D022-6FDE-45CCE3AEB893}"/>
              </a:ext>
            </a:extLst>
          </p:cNvPr>
          <p:cNvSpPr/>
          <p:nvPr/>
        </p:nvSpPr>
        <p:spPr>
          <a:xfrm>
            <a:off x="2478160" y="4590149"/>
            <a:ext cx="7235681" cy="150585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144000" bIns="0" rtlCol="0" anchor="t" anchorCtr="0"/>
          <a:lstStyle/>
          <a:p>
            <a:pPr marR="0" algn="ctr" defTabSz="914400" rtl="0" eaLnBrk="1" fontAlgn="auto" latinLnBrk="0" hangingPunct="1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평가방식 </a:t>
            </a:r>
            <a:r>
              <a:rPr lang="en-US" altLang="ko-KR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&amp; </a:t>
            </a:r>
            <a:r>
              <a:rPr lang="ko-KR" altLang="en-US" b="1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기준</a:t>
            </a:r>
            <a:r>
              <a:rPr lang="ko-KR" altLang="en-US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설정 필요</a:t>
            </a:r>
          </a:p>
        </p:txBody>
      </p:sp>
      <p:pic>
        <p:nvPicPr>
          <p:cNvPr id="1027" name="Picture 3" descr="ppt에 유용한 화살표, 동그라미, 별표 ~ 올려요~[png파일] | 포토샵, 색연필, 블로그">
            <a:extLst>
              <a:ext uri="{FF2B5EF4-FFF2-40B4-BE49-F238E27FC236}">
                <a16:creationId xmlns:a16="http://schemas.microsoft.com/office/drawing/2014/main" id="{33765B1A-F6D1-542A-68B7-2B7CF8DC6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74" y="4315704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말풍선: 사각형 22">
            <a:extLst>
              <a:ext uri="{FF2B5EF4-FFF2-40B4-BE49-F238E27FC236}">
                <a16:creationId xmlns:a16="http://schemas.microsoft.com/office/drawing/2014/main" id="{518DBFC9-6CDF-56B6-9256-FCD5DC5A48C4}"/>
              </a:ext>
            </a:extLst>
          </p:cNvPr>
          <p:cNvSpPr/>
          <p:nvPr/>
        </p:nvSpPr>
        <p:spPr>
          <a:xfrm>
            <a:off x="3238500" y="5272035"/>
            <a:ext cx="5715000" cy="685800"/>
          </a:xfrm>
          <a:prstGeom prst="wedgeRectCallout">
            <a:avLst>
              <a:gd name="adj1" fmla="val -3953"/>
              <a:gd name="adj2" fmla="val -82555"/>
            </a:avLst>
          </a:prstGeom>
          <a:solidFill>
            <a:srgbClr val="0070C0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kern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업무에 어디까지 사용할 수 있는 지를 확인</a:t>
            </a:r>
          </a:p>
        </p:txBody>
      </p:sp>
    </p:spTree>
    <p:extLst>
      <p:ext uri="{BB962C8B-B14F-4D97-AF65-F5344CB8AC3E}">
        <p14:creationId xmlns:p14="http://schemas.microsoft.com/office/powerpoint/2010/main" val="3785663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2F9C3-82CA-6884-5B13-FF69024E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AFFF5-DC91-7367-F701-405C6A10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추가제안</a:t>
            </a:r>
            <a:r>
              <a:rPr lang="en-US" altLang="ko-KR" dirty="0"/>
              <a:t>] Why, </a:t>
            </a:r>
            <a:r>
              <a:rPr lang="ko-KR" altLang="en-US" dirty="0"/>
              <a:t>프롬프트 역량 평가인가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A682F1A-D64C-54DB-E0D3-A47480143DDD}"/>
              </a:ext>
            </a:extLst>
          </p:cNvPr>
          <p:cNvGraphicFramePr>
            <a:graphicFrameLocks noGrp="1"/>
          </p:cNvGraphicFramePr>
          <p:nvPr/>
        </p:nvGraphicFramePr>
        <p:xfrm>
          <a:off x="441938" y="2048740"/>
          <a:ext cx="11308124" cy="4199658"/>
        </p:xfrm>
        <a:graphic>
          <a:graphicData uri="http://schemas.openxmlformats.org/drawingml/2006/table">
            <a:tbl>
              <a:tblPr/>
              <a:tblGrid>
                <a:gridCol w="1196362">
                  <a:extLst>
                    <a:ext uri="{9D8B030D-6E8A-4147-A177-3AD203B41FA5}">
                      <a16:colId xmlns:a16="http://schemas.microsoft.com/office/drawing/2014/main" val="3492048185"/>
                    </a:ext>
                  </a:extLst>
                </a:gridCol>
                <a:gridCol w="1196362">
                  <a:extLst>
                    <a:ext uri="{9D8B030D-6E8A-4147-A177-3AD203B41FA5}">
                      <a16:colId xmlns:a16="http://schemas.microsoft.com/office/drawing/2014/main" val="167475151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63422533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1917726756"/>
                    </a:ext>
                  </a:extLst>
                </a:gridCol>
              </a:tblGrid>
              <a:tr h="6237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업무 유형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요구 </a:t>
                      </a:r>
                      <a:r>
                        <a:rPr lang="en-US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프롬프트 테스트 핵심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</a:t>
                      </a:r>
                      <a:r>
                        <a:rPr lang="en-US" altLang="ko-KR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ko-KR" altLang="en-US" sz="15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활용한 가능업무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37089"/>
                  </a:ext>
                </a:extLst>
              </a:tr>
              <a:tr h="1191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정보 조사</a:t>
                      </a:r>
                    </a:p>
                  </a:txBody>
                  <a:tcPr anchor="ctr">
                    <a:lnL>
                      <a:noFill/>
                    </a:lnL>
                    <a:lnR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Level 1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CORSTART </a:t>
                      </a:r>
                      <a:r>
                        <a:rPr lang="ko-KR" alt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요소를</a:t>
                      </a:r>
                      <a:endParaRPr lang="en-US" altLang="ko-KR" sz="15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빠짐없이 명시</a:t>
                      </a:r>
                      <a:r>
                        <a:rPr lang="ko-KR" alt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했는가</a:t>
                      </a:r>
                    </a:p>
                  </a:txBody>
                  <a:tcPr marL="7200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정보 검색</a:t>
                      </a:r>
                      <a:r>
                        <a:rPr lang="en-US" altLang="ko-KR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요약</a:t>
                      </a:r>
                      <a:r>
                        <a:rPr lang="en-US" altLang="ko-KR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아이디어 참고</a:t>
                      </a:r>
                      <a:b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예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사람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정보 조사 담당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AI: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요약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정리 보조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사람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결정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   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정보 조사 업무를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보조 하에 수행 가능</a:t>
                      </a:r>
                    </a:p>
                  </a:txBody>
                  <a:tcPr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471049"/>
                  </a:ext>
                </a:extLst>
              </a:tr>
              <a:tr h="1191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초안 작성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Level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CORSTART +</a:t>
                      </a: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 기반 결과 유도</a:t>
                      </a:r>
                      <a:r>
                        <a:rPr lang="ko-KR" alt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 가능한가</a:t>
                      </a:r>
                    </a:p>
                  </a:txBody>
                  <a:tcPr marL="7200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 초안</a:t>
                      </a:r>
                      <a:r>
                        <a:rPr lang="en-US" altLang="ko-KR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비교 분석</a:t>
                      </a:r>
                      <a:r>
                        <a:rPr lang="en-US" altLang="ko-KR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기획 구조 설계</a:t>
                      </a:r>
                      <a:br>
                        <a:rPr lang="en-US" altLang="ko-KR" sz="1600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예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사람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초안 작성 담당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AI: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구조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문장 초안 생성수정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사람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검토          </a:t>
                      </a:r>
                      <a:b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     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초안 작성 업무를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보조 하에 수행 가능</a:t>
                      </a:r>
                    </a:p>
                  </a:txBody>
                  <a:tcPr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757985"/>
                  </a:ext>
                </a:extLst>
              </a:tr>
              <a:tr h="11919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대외 보고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Level 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en-US" altLang="ko-KR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CORSTART </a:t>
                      </a:r>
                      <a:r>
                        <a:rPr lang="en-US" altLang="ko-KR" sz="1500" b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+</a:t>
                      </a:r>
                      <a:endParaRPr lang="en-US" altLang="ko-KR" sz="15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ko-KR" altLang="en-US" sz="1500" b="1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할루시네이션</a:t>
                      </a: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없이 필요한</a:t>
                      </a:r>
                      <a:br>
                        <a:rPr lang="en-US" altLang="ko-KR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ko-KR" altLang="en-US" sz="15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정보의 충분한 회수</a:t>
                      </a:r>
                      <a:r>
                        <a:rPr lang="ko-KR" altLang="en-US" sz="15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가 가능한가</a:t>
                      </a:r>
                    </a:p>
                  </a:txBody>
                  <a:tcPr marL="72000" marR="0"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보고서 초안</a:t>
                      </a:r>
                      <a:r>
                        <a:rPr lang="en-US" altLang="ko-KR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리스크 정리</a:t>
                      </a:r>
                      <a:r>
                        <a:rPr lang="en-US" altLang="ko-KR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600" b="1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의사결정 보조 자료</a:t>
                      </a:r>
                      <a:br>
                        <a:rPr lang="en-US" altLang="ko-KR" sz="1600" i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600" i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예</a:t>
                      </a:r>
                      <a:r>
                        <a:rPr lang="en-US" altLang="ko-KR" sz="1600" i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1600" i="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사람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보고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분석 담당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/AI: 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분석 정리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자료 초안 생성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사람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판단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승인   </a:t>
                      </a:r>
                      <a:b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      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보고 보조 업무까지 </a:t>
                      </a:r>
                      <a:r>
                        <a:rPr lang="en-US" altLang="ko-KR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</a:t>
                      </a:r>
                      <a:r>
                        <a:rPr lang="ko-KR" altLang="en-US" sz="16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활용 가능</a:t>
                      </a:r>
                      <a:endParaRPr lang="ko-KR" altLang="en-US" sz="1600" i="1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R="72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512835"/>
                  </a:ext>
                </a:extLst>
              </a:tr>
            </a:tbl>
          </a:graphicData>
        </a:graphic>
      </p:graphicFrame>
      <p:sp>
        <p:nvSpPr>
          <p:cNvPr id="5" name="말풍선: 타원형 4">
            <a:extLst>
              <a:ext uri="{FF2B5EF4-FFF2-40B4-BE49-F238E27FC236}">
                <a16:creationId xmlns:a16="http://schemas.microsoft.com/office/drawing/2014/main" id="{898B1B93-29BE-A547-A83F-FD3A8BE86195}"/>
              </a:ext>
            </a:extLst>
          </p:cNvPr>
          <p:cNvSpPr/>
          <p:nvPr/>
        </p:nvSpPr>
        <p:spPr>
          <a:xfrm>
            <a:off x="1295400" y="938892"/>
            <a:ext cx="3352800" cy="1029210"/>
          </a:xfrm>
          <a:prstGeom prst="wedgeEllipseCallout">
            <a:avLst>
              <a:gd name="adj1" fmla="val -21432"/>
              <a:gd name="adj2" fmla="val 72263"/>
            </a:avLst>
          </a:prstGeom>
          <a:solidFill>
            <a:srgbClr val="00206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i="1" kern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더 중요한 업무에 </a:t>
            </a:r>
            <a:r>
              <a:rPr lang="en-US" altLang="ko-KR" i="1" kern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</a:t>
            </a:r>
            <a:r>
              <a:rPr lang="ko-KR" altLang="en-US" i="1" kern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를</a:t>
            </a:r>
            <a:endParaRPr lang="en-US" altLang="ko-KR" i="1" kern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i="1" kern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어디까지 활용할 수  있는가</a:t>
            </a:r>
            <a:r>
              <a:rPr lang="en-US" altLang="ko-KR" i="1" kern="1200" dirty="0">
                <a:solidFill>
                  <a:schemeClr val="bg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?</a:t>
            </a:r>
            <a:endParaRPr lang="ko-KR" altLang="en-US" i="1" kern="1200" dirty="0">
              <a:solidFill>
                <a:schemeClr val="bg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9115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921A49-EB52-4592-6FC4-098D52077360}"/>
              </a:ext>
            </a:extLst>
          </p:cNvPr>
          <p:cNvSpPr/>
          <p:nvPr/>
        </p:nvSpPr>
        <p:spPr>
          <a:xfrm>
            <a:off x="612613" y="1590869"/>
            <a:ext cx="2772000" cy="302562"/>
          </a:xfrm>
          <a:prstGeom prst="rect">
            <a:avLst/>
          </a:prstGeom>
          <a:solidFill>
            <a:schemeClr val="tx1">
              <a:alpha val="83000"/>
            </a:scheme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 anchorCtr="0"/>
          <a:lstStyle/>
          <a:p>
            <a:pPr lvl="1" algn="l" rtl="0" fontAlgn="ctr" latinLnBrk="1"/>
            <a:r>
              <a:rPr lang="ko-KR" altLang="en-US" sz="1500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프롬프팅 평가 </a:t>
            </a:r>
            <a:r>
              <a:rPr lang="en-US" altLang="ko-KR" sz="1500" dirty="0">
                <a:solidFill>
                  <a:srgbClr val="FFFF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Platform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E3664A2-77E5-D166-9936-9BD43736A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추가제안</a:t>
            </a:r>
            <a:r>
              <a:rPr lang="en-US" altLang="ko-KR" dirty="0"/>
              <a:t>] HD</a:t>
            </a:r>
            <a:r>
              <a:rPr lang="ko-KR" altLang="en-US" dirty="0"/>
              <a:t>현대 그룹 공통 </a:t>
            </a:r>
            <a:r>
              <a:rPr lang="en-US" altLang="ko-KR" dirty="0"/>
              <a:t>Prompt Maturity Compass​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FE5F8-F102-E4AE-71F4-D6079C2CC9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임직원의 프롬프트 작성 역량을 </a:t>
            </a:r>
            <a:r>
              <a:rPr lang="ko-KR" altLang="en-US" dirty="0">
                <a:solidFill>
                  <a:srgbClr val="C00000"/>
                </a:solidFill>
              </a:rPr>
              <a:t>‘감각</a:t>
            </a:r>
            <a:r>
              <a:rPr lang="en-US" altLang="ko-KR" dirty="0">
                <a:solidFill>
                  <a:srgbClr val="C00000"/>
                </a:solidFill>
              </a:rPr>
              <a:t> </a:t>
            </a:r>
            <a:r>
              <a:rPr lang="ko-KR" altLang="en-US" dirty="0">
                <a:solidFill>
                  <a:srgbClr val="C00000"/>
                </a:solidFill>
              </a:rPr>
              <a:t>또는 개인 </a:t>
            </a:r>
            <a:r>
              <a:rPr lang="ko-KR" altLang="en-US" dirty="0" err="1">
                <a:solidFill>
                  <a:srgbClr val="C00000"/>
                </a:solidFill>
              </a:rPr>
              <a:t>역량’이</a:t>
            </a:r>
            <a:r>
              <a:rPr lang="ko-KR" altLang="en-US" dirty="0">
                <a:solidFill>
                  <a:srgbClr val="C00000"/>
                </a:solidFill>
              </a:rPr>
              <a:t> 아닌 단계별로 진단</a:t>
            </a:r>
            <a:r>
              <a:rPr lang="en-US" altLang="ko-KR" dirty="0">
                <a:solidFill>
                  <a:srgbClr val="C00000"/>
                </a:solidFill>
              </a:rPr>
              <a:t>·</a:t>
            </a:r>
            <a:r>
              <a:rPr lang="ko-KR" altLang="en-US" dirty="0">
                <a:solidFill>
                  <a:srgbClr val="C00000"/>
                </a:solidFill>
              </a:rPr>
              <a:t>관리하기 위한 </a:t>
            </a:r>
            <a:r>
              <a:rPr lang="en-US" altLang="ko-KR" dirty="0">
                <a:solidFill>
                  <a:srgbClr val="C00000"/>
                </a:solidFill>
              </a:rPr>
              <a:t>HD</a:t>
            </a:r>
            <a:r>
              <a:rPr lang="ko-KR" altLang="en-US" dirty="0">
                <a:solidFill>
                  <a:srgbClr val="C00000"/>
                </a:solidFill>
              </a:rPr>
              <a:t>현대 그룹 공통 프레임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07AAF8-26C8-60A3-782D-8B8014B146AE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New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1026" name="Picture 2">
            <a:hlinkClick r:id="rId2"/>
            <a:extLst>
              <a:ext uri="{FF2B5EF4-FFF2-40B4-BE49-F238E27FC236}">
                <a16:creationId xmlns:a16="http://schemas.microsoft.com/office/drawing/2014/main" id="{A85CA05B-6E2F-9A92-0155-609255848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13" y="1950311"/>
            <a:ext cx="3884214" cy="19148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 descr="텍스트, 스크린샷, 소프트웨어, 컴퓨터 아이콘이(가) 표시된 사진&#10;&#10;AI 생성 콘텐츠는 정확하지 않을 수 있습니다.">
            <a:hlinkClick r:id="rId4"/>
            <a:extLst>
              <a:ext uri="{FF2B5EF4-FFF2-40B4-BE49-F238E27FC236}">
                <a16:creationId xmlns:a16="http://schemas.microsoft.com/office/drawing/2014/main" id="{D389193C-49BD-E781-F9D4-96B01FA3A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13" y="4333918"/>
            <a:ext cx="3883187" cy="19144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665557-5ED8-C7B7-74B6-0ABB8AC6895D}"/>
              </a:ext>
            </a:extLst>
          </p:cNvPr>
          <p:cNvSpPr/>
          <p:nvPr/>
        </p:nvSpPr>
        <p:spPr>
          <a:xfrm>
            <a:off x="612613" y="4000406"/>
            <a:ext cx="2772000" cy="302562"/>
          </a:xfrm>
          <a:prstGeom prst="rect">
            <a:avLst/>
          </a:prstGeom>
          <a:solidFill>
            <a:srgbClr val="002060"/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 anchorCtr="0"/>
          <a:lstStyle/>
          <a:p>
            <a:r>
              <a:rPr lang="ko-KR" altLang="ko-KR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프롬프트 실습 및 평가 </a:t>
            </a:r>
            <a:r>
              <a:rPr lang="en-US" altLang="ko-KR" sz="15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Platform</a:t>
            </a:r>
            <a:endParaRPr lang="ko-KR" altLang="ko-KR" sz="15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196FF0-A819-DCFF-9319-ABE3F9A5D70F}"/>
              </a:ext>
            </a:extLst>
          </p:cNvPr>
          <p:cNvSpPr txBox="1"/>
          <p:nvPr/>
        </p:nvSpPr>
        <p:spPr>
          <a:xfrm>
            <a:off x="4846943" y="1476701"/>
            <a:ext cx="3382657" cy="369332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algn="l"/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경험 중심 학습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  <a:sym typeface="Wingdings" panose="05000000000000000000" pitchFamily="2" charset="2"/>
              </a:rPr>
              <a:t>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역량 중심 관리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4023FEE8-C2F1-461F-20B8-E49CF62F3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808582"/>
              </p:ext>
            </p:extLst>
          </p:nvPr>
        </p:nvGraphicFramePr>
        <p:xfrm>
          <a:off x="4945472" y="1922614"/>
          <a:ext cx="6713128" cy="4325786"/>
        </p:xfrm>
        <a:graphic>
          <a:graphicData uri="http://schemas.openxmlformats.org/drawingml/2006/table">
            <a:tbl>
              <a:tblPr/>
              <a:tblGrid>
                <a:gridCol w="998128">
                  <a:extLst>
                    <a:ext uri="{9D8B030D-6E8A-4147-A177-3AD203B41FA5}">
                      <a16:colId xmlns:a16="http://schemas.microsoft.com/office/drawing/2014/main" val="139162317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940655577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616787137"/>
                    </a:ext>
                  </a:extLst>
                </a:gridCol>
              </a:tblGrid>
              <a:tr h="631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 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실습 </a:t>
                      </a:r>
                      <a:r>
                        <a:rPr 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Platform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프롬프팅 평가 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Platform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400674"/>
                  </a:ext>
                </a:extLst>
              </a:tr>
              <a:tr h="923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목적</a:t>
                      </a:r>
                      <a:endParaRPr lang="ko-KR" altLang="en-US" sz="140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직접 써보는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학습</a:t>
                      </a:r>
                      <a:r>
                        <a:rPr lang="en-US" altLang="ko-KR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경험 제공</a:t>
                      </a:r>
                      <a:endParaRPr lang="ko-KR" altLang="en-US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프롬프트 역량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평가</a:t>
                      </a:r>
                      <a:r>
                        <a:rPr lang="en-US" altLang="ko-KR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진단</a:t>
                      </a:r>
                      <a:r>
                        <a:rPr lang="en-US" altLang="ko-KR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400" b="1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관리</a:t>
                      </a:r>
                      <a:endParaRPr lang="ko-KR" altLang="en-US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094971"/>
                  </a:ext>
                </a:extLst>
              </a:tr>
              <a:tr h="923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관점</a:t>
                      </a:r>
                      <a:endParaRPr lang="ko-KR" altLang="en-US" sz="140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개인 학습 중심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조직 공통 기준 중심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301827"/>
                  </a:ext>
                </a:extLst>
              </a:tr>
              <a:tr h="923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평가 방식</a:t>
                      </a:r>
                      <a:endParaRPr lang="ko-KR" altLang="en-US" sz="140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과제 제출 여부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완료 중심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정성적 확인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프롬프트 기준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충족도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성숙도 레벨 평가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정량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·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정성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090748"/>
                  </a:ext>
                </a:extLst>
              </a:tr>
              <a:tr h="923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b="1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성과 결과</a:t>
                      </a:r>
                      <a:endParaRPr lang="ko-KR" altLang="en-US" sz="140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“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사용하고 있다”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“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AI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이 수준으로 활용하고 있다”</a:t>
                      </a:r>
                      <a:endParaRPr lang="en-US" altLang="ko-KR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</a:t>
                      </a:r>
                      <a:r>
                        <a:rPr lang="ko-KR" altLang="en-US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업무의 리허설 공간</a:t>
                      </a:r>
                      <a:r>
                        <a:rPr lang="en-US" altLang="ko-KR" sz="1400" dirty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)</a:t>
                      </a:r>
                      <a:endParaRPr lang="ko-KR" altLang="en-US" sz="1400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063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996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187E-3268-FAB9-7472-E02A9953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719596E-3ED9-03F5-ABD9-4EF672CC6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844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818B473C-B0BA-EF15-5D50-8517A93C9F61}"/>
              </a:ext>
            </a:extLst>
          </p:cNvPr>
          <p:cNvSpPr/>
          <p:nvPr/>
        </p:nvSpPr>
        <p:spPr>
          <a:xfrm>
            <a:off x="0" y="0"/>
            <a:ext cx="5029200" cy="6884416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1864FC-57EE-4E2F-284F-5F3A10BB0B16}"/>
              </a:ext>
            </a:extLst>
          </p:cNvPr>
          <p:cNvSpPr txBox="1"/>
          <p:nvPr/>
        </p:nvSpPr>
        <p:spPr>
          <a:xfrm>
            <a:off x="6023368" y="3920308"/>
            <a:ext cx="2007404" cy="1434688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 일정  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추진 조직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프로젝트 투입인력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  <a:p>
            <a:pPr marL="342900" indent="-342900">
              <a:lnSpc>
                <a:spcPct val="160000"/>
              </a:lnSpc>
              <a:buFont typeface="+mj-lt"/>
              <a:buAutoNum type="arabicPeriod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보안 대책 매뉴얼화 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4ABCD-B00E-35E7-44E3-666FACB16B93}"/>
              </a:ext>
            </a:extLst>
          </p:cNvPr>
          <p:cNvSpPr txBox="1"/>
          <p:nvPr/>
        </p:nvSpPr>
        <p:spPr>
          <a:xfrm>
            <a:off x="5513487" y="3292003"/>
            <a:ext cx="2081019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Ⅲ. </a:t>
            </a:r>
            <a:r>
              <a:rPr lang="ko-KR" altLang="en-US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사업관리 계획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DFD2947C-E272-A826-EEC7-2AC31F5CCD92}"/>
              </a:ext>
            </a:extLst>
          </p:cNvPr>
          <p:cNvCxnSpPr>
            <a:cxnSpLocks/>
          </p:cNvCxnSpPr>
          <p:nvPr/>
        </p:nvCxnSpPr>
        <p:spPr>
          <a:xfrm>
            <a:off x="430679" y="1466065"/>
            <a:ext cx="215059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320629-B881-D749-75C1-1D7F52F44C67}"/>
              </a:ext>
            </a:extLst>
          </p:cNvPr>
          <p:cNvSpPr txBox="1"/>
          <p:nvPr/>
        </p:nvSpPr>
        <p:spPr>
          <a:xfrm>
            <a:off x="305094" y="928295"/>
            <a:ext cx="2954779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「디지털 전환에 따른 일하는 방식의 변화」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8E92E-213F-3479-C556-7187684959D7}"/>
              </a:ext>
            </a:extLst>
          </p:cNvPr>
          <p:cNvSpPr txBox="1"/>
          <p:nvPr/>
        </p:nvSpPr>
        <p:spPr>
          <a:xfrm>
            <a:off x="400344" y="1163533"/>
            <a:ext cx="2057098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239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730106-B587-C0FA-38E4-144BB5EB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프로젝트 추진 일정  </a:t>
            </a:r>
            <a:endParaRPr lang="ko-KR" altLang="en-US" sz="140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596CDAD-CDDA-A907-B593-66040D0A242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ko-KR" altLang="en-US" sz="1200" dirty="0"/>
              <a:t>일정 내 개발 결과물을 도출하는데 있어 </a:t>
            </a:r>
            <a:r>
              <a:rPr lang="ko-KR" altLang="en-US" sz="1200" b="1" dirty="0"/>
              <a:t>추진 단계별 성과 관리를 체계적으로 진행</a:t>
            </a:r>
            <a:r>
              <a:rPr lang="ko-KR" altLang="en-US" sz="1200" dirty="0"/>
              <a:t>하여 성공적인 결과물 도출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CB3C8F-7DEE-2ADC-8711-D205FECA752B}"/>
              </a:ext>
            </a:extLst>
          </p:cNvPr>
          <p:cNvSpPr/>
          <p:nvPr/>
        </p:nvSpPr>
        <p:spPr>
          <a:xfrm>
            <a:off x="502875" y="6299946"/>
            <a:ext cx="586410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ko-KR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* </a:t>
            </a:r>
            <a:r>
              <a:rPr lang="ko-KR" altLang="en-US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본 수행 일정은 기획 단계의 일정으로 실제 프로젝트 진행 시</a:t>
            </a:r>
            <a:r>
              <a:rPr lang="en-US" altLang="ko-KR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lang="ko-KR" altLang="en-US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협의를 통해 충분히 조정될 수 있음</a:t>
            </a:r>
            <a:r>
              <a:rPr lang="en-US" altLang="ko-KR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.</a:t>
            </a:r>
          </a:p>
        </p:txBody>
      </p:sp>
      <p:graphicFrame>
        <p:nvGraphicFramePr>
          <p:cNvPr id="17" name="Group 1554">
            <a:extLst>
              <a:ext uri="{FF2B5EF4-FFF2-40B4-BE49-F238E27FC236}">
                <a16:creationId xmlns:a16="http://schemas.microsoft.com/office/drawing/2014/main" id="{8725AE7B-5BDE-AB27-74F3-C3751182D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170095"/>
              </p:ext>
            </p:extLst>
          </p:nvPr>
        </p:nvGraphicFramePr>
        <p:xfrm>
          <a:off x="533400" y="1361783"/>
          <a:ext cx="11125175" cy="4941875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9333543"/>
                    </a:ext>
                  </a:extLst>
                </a:gridCol>
                <a:gridCol w="1968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301436919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3427993350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3376123749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69648185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665010133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743123655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1636532256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302781346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257239767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1040071463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1302556148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1094178330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881665651"/>
                    </a:ext>
                  </a:extLst>
                </a:gridCol>
                <a:gridCol w="264428">
                  <a:extLst>
                    <a:ext uri="{9D8B030D-6E8A-4147-A177-3AD203B41FA5}">
                      <a16:colId xmlns:a16="http://schemas.microsoft.com/office/drawing/2014/main" val="3848970452"/>
                    </a:ext>
                  </a:extLst>
                </a:gridCol>
              </a:tblGrid>
              <a:tr h="273977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단 계</a:t>
                      </a:r>
                    </a:p>
                  </a:txBody>
                  <a:tcPr marL="100712" marR="100712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세 부 내 용</a:t>
                      </a:r>
                    </a:p>
                  </a:txBody>
                  <a:tcPr marL="100712" marR="100712" marT="50360" marB="5036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W1</a:t>
                      </a: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맑은고딕"/>
                        <a:ea typeface="굴림" pitchFamily="50" charset="-127"/>
                        <a:cs typeface="Times New Roman" pitchFamily="18" charset="0"/>
                      </a:endParaRPr>
                    </a:p>
                  </a:txBody>
                  <a:tcPr marL="100714" marR="100714" marT="50358" marB="50358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E7DB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W2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W3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W4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W5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E7DB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E7DB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E7DBC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W6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en-US" altLang="ko-K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W7</a:t>
                      </a: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endParaRPr kumimoji="0" lang="ko-KR" alt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100712" marR="100712" marT="50360" marB="5036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209">
                <a:tc rowSpan="1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영상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개발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기획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자료 수집 및 분석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SME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선정 및 샘플원고 집필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원고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원고 및 시나리오 작성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검수 및 수정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디자인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디자인 시안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(UI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및 캐릭터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프로토타입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내용설계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(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스토리보드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샘플 콘텐츠 개발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프로토 시연 및 최종 수정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설계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스토리보드 설계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검수 및 수정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개발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콘텐츠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 개발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검수 및 수정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포팅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테스트 포팅 및 운영 테스트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오류 수정 및 포팅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9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20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AI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서베이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문항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/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도구 개발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문항 및 도구 개발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31221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서베이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 실시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사전 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– 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사후 실시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999554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서베이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 결과 분석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결과분석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092905"/>
                  </a:ext>
                </a:extLst>
              </a:tr>
              <a:tr h="233209">
                <a:tc row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Prompt</a:t>
                      </a:r>
                      <a:b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</a:b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평가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사이트 개발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수준 평가 사이트 개발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0818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학습 사이트 연동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내부 학습 사이트</a:t>
                      </a:r>
                      <a:r>
                        <a:rPr kumimoji="0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(Hi-class)</a:t>
                      </a: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 연동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141855"/>
                  </a:ext>
                </a:extLst>
              </a:tr>
              <a:tr h="233209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50360" marB="50360" anchor="ctr" horzOverflow="overflow">
                    <a:lnL cap="flat"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운영테스트</a:t>
                      </a:r>
                      <a:endParaRPr lang="ko-KR" altLang="en-US" sz="1000" dirty="0"/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 pitchFamily="18" charset="0"/>
                        </a:rPr>
                        <a:t>운영테스트</a:t>
                      </a:r>
                    </a:p>
                  </a:txBody>
                  <a:tcPr marL="3600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AAB3B3"/>
                        </a:buClr>
                        <a:buSzPct val="100000"/>
                        <a:buFont typeface="Times" pitchFamily="18" charset="0"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2B333C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50951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1CB406C3-2183-A569-A7BA-2D1CF55EF7FD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38P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1200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77C4F-55B8-54E9-5A1B-F7CB930ED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A5CC842-2CF1-F82B-465B-09C56CE1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프로젝트 추진 조직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7D8CA30-525E-A452-ADD1-582E55163E3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본 프로젝트의 최상의 성과를 도출할 수 있도록 프로젝트 추진 조직을 구성하고 최적합 인력을 투입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65C60D3-8B4D-6B91-E6A8-537A6AF0D2BA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V="1">
            <a:off x="2264813" y="2693419"/>
            <a:ext cx="0" cy="1453293"/>
          </a:xfrm>
          <a:prstGeom prst="line">
            <a:avLst/>
          </a:prstGeom>
          <a:noFill/>
          <a:ln w="762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B463F14-BA38-B434-9816-E26F512BEF9B}"/>
              </a:ext>
            </a:extLst>
          </p:cNvPr>
          <p:cNvCxnSpPr>
            <a:cxnSpLocks/>
            <a:stCxn id="88" idx="2"/>
            <a:endCxn id="92" idx="0"/>
          </p:cNvCxnSpPr>
          <p:nvPr/>
        </p:nvCxnSpPr>
        <p:spPr>
          <a:xfrm flipV="1">
            <a:off x="9927188" y="2693419"/>
            <a:ext cx="174" cy="1453293"/>
          </a:xfrm>
          <a:prstGeom prst="line">
            <a:avLst/>
          </a:prstGeom>
          <a:noFill/>
          <a:ln w="7620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F9A09888-ACE4-7A55-17CD-5AE420657BB0}"/>
              </a:ext>
            </a:extLst>
          </p:cNvPr>
          <p:cNvSpPr/>
          <p:nvPr/>
        </p:nvSpPr>
        <p:spPr>
          <a:xfrm>
            <a:off x="8359812" y="3819557"/>
            <a:ext cx="3134751" cy="32715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외부 네트워크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4C5AB3E-50AE-7B56-022E-4C0A7FFC51FF}"/>
              </a:ext>
            </a:extLst>
          </p:cNvPr>
          <p:cNvSpPr/>
          <p:nvPr/>
        </p:nvSpPr>
        <p:spPr>
          <a:xfrm>
            <a:off x="697437" y="3819557"/>
            <a:ext cx="3134751" cy="32715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전문가 플랫폼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F5D767B-D2C1-A384-62BD-1CB0D1AE28F1}"/>
              </a:ext>
            </a:extLst>
          </p:cNvPr>
          <p:cNvSpPr/>
          <p:nvPr/>
        </p:nvSpPr>
        <p:spPr>
          <a:xfrm>
            <a:off x="697437" y="2693419"/>
            <a:ext cx="3134751" cy="397273"/>
          </a:xfrm>
          <a:prstGeom prst="rect">
            <a:avLst/>
          </a:prstGeom>
          <a:solidFill>
            <a:srgbClr val="03428E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 </a:t>
            </a:r>
            <a:r>
              <a:rPr kumimoji="0" lang="en-US" altLang="ko-KR" sz="11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Faculty</a:t>
            </a:r>
            <a:endParaRPr kumimoji="0" lang="ko-KR" altLang="en-US" sz="11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006BBD9E-BDD8-B54B-91C7-FFAF07868014}"/>
              </a:ext>
            </a:extLst>
          </p:cNvPr>
          <p:cNvSpPr/>
          <p:nvPr/>
        </p:nvSpPr>
        <p:spPr>
          <a:xfrm>
            <a:off x="697437" y="3090737"/>
            <a:ext cx="3134751" cy="635708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전임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/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겸임 강사진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3D343EC3-6255-9556-EFC0-12C6E8F4AE99}"/>
              </a:ext>
            </a:extLst>
          </p:cNvPr>
          <p:cNvSpPr/>
          <p:nvPr/>
        </p:nvSpPr>
        <p:spPr>
          <a:xfrm>
            <a:off x="8360161" y="2693419"/>
            <a:ext cx="3134402" cy="397273"/>
          </a:xfrm>
          <a:prstGeom prst="rect">
            <a:avLst/>
          </a:prstGeom>
          <a:solidFill>
            <a:srgbClr val="1770C9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 latinLnBrk="0"/>
            <a:r>
              <a:rPr lang="en-US" altLang="ko-KR" sz="1100" kern="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Network Expert Group</a:t>
            </a:r>
            <a:endParaRPr lang="ko-KR" altLang="en-US" sz="1100" kern="0" dirty="0">
              <a:solidFill>
                <a:srgbClr val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EEC7767-DCE9-5C58-6197-C9DC3D25D48B}"/>
              </a:ext>
            </a:extLst>
          </p:cNvPr>
          <p:cNvSpPr/>
          <p:nvPr/>
        </p:nvSpPr>
        <p:spPr>
          <a:xfrm>
            <a:off x="8360161" y="3090737"/>
            <a:ext cx="3134402" cy="635708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한국</a:t>
            </a:r>
            <a:r>
              <a:rPr lang="en-US" altLang="ko-KR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</a:t>
            </a:r>
            <a:r>
              <a:rPr lang="ko-KR" altLang="en-US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리터러시협회</a:t>
            </a:r>
            <a:r>
              <a:rPr lang="en-US" altLang="ko-KR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인공지능연구원</a:t>
            </a:r>
            <a:r>
              <a:rPr lang="en-US" altLang="ko-KR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(AIRI)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성균관대학교 </a:t>
            </a:r>
            <a:r>
              <a:rPr lang="en-US" altLang="ko-KR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K-</a:t>
            </a:r>
            <a:r>
              <a:rPr lang="ko-KR" altLang="en-US" sz="105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하이테크 사업본부</a:t>
            </a:r>
            <a:endParaRPr lang="en-US" altLang="ko-KR" sz="105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5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경북대학교 데이터 융복합 연구원</a:t>
            </a:r>
            <a:endParaRPr lang="en-US" altLang="ko-KR" sz="1050" kern="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69916B1-013B-E08E-0C09-427C2616A499}"/>
              </a:ext>
            </a:extLst>
          </p:cNvPr>
          <p:cNvSpPr/>
          <p:nvPr/>
        </p:nvSpPr>
        <p:spPr>
          <a:xfrm>
            <a:off x="4528799" y="1636667"/>
            <a:ext cx="3134751" cy="397273"/>
          </a:xfrm>
          <a:prstGeom prst="rect">
            <a:avLst/>
          </a:prstGeom>
          <a:solidFill>
            <a:srgbClr val="364354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Project Manager</a:t>
            </a:r>
            <a:endParaRPr kumimoji="0" lang="ko-KR" altLang="en-US" sz="11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0BE47FC1-0870-654A-0514-1F1150E90C96}"/>
              </a:ext>
            </a:extLst>
          </p:cNvPr>
          <p:cNvSpPr/>
          <p:nvPr/>
        </p:nvSpPr>
        <p:spPr>
          <a:xfrm>
            <a:off x="4528799" y="2033985"/>
            <a:ext cx="3134751" cy="524175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기업성장</a:t>
            </a:r>
            <a:r>
              <a:rPr lang="en-US" altLang="ko-KR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·</a:t>
            </a:r>
            <a:r>
              <a:rPr lang="ko-KR" altLang="en-US" sz="1100" b="1" dirty="0" err="1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혁신실</a:t>
            </a:r>
            <a:r>
              <a:rPr lang="en-US" altLang="ko-KR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이미영 실장</a:t>
            </a:r>
            <a:endParaRPr lang="en-US" altLang="ko-KR" sz="11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930A2EF-9504-0998-F911-E79920DA2E44}"/>
              </a:ext>
            </a:extLst>
          </p:cNvPr>
          <p:cNvSpPr/>
          <p:nvPr/>
        </p:nvSpPr>
        <p:spPr>
          <a:xfrm>
            <a:off x="4169892" y="3819512"/>
            <a:ext cx="3852565" cy="397273"/>
          </a:xfrm>
          <a:prstGeom prst="rect">
            <a:avLst/>
          </a:prstGeom>
          <a:solidFill>
            <a:srgbClr val="7030A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 </a:t>
            </a:r>
            <a:r>
              <a:rPr lang="en-US" altLang="ko-KR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Project Team</a:t>
            </a:r>
            <a:endParaRPr lang="ko-KR" altLang="en-US" sz="1100" dirty="0">
              <a:solidFill>
                <a:srgbClr val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CECB2A6-261D-6C1A-7D97-F768D6911DAC}"/>
              </a:ext>
            </a:extLst>
          </p:cNvPr>
          <p:cNvSpPr/>
          <p:nvPr/>
        </p:nvSpPr>
        <p:spPr>
          <a:xfrm>
            <a:off x="4169892" y="4216830"/>
            <a:ext cx="3852565" cy="715092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dirty="0" err="1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미래성장랩실</a:t>
            </a:r>
            <a:endParaRPr lang="en-US" altLang="ko-KR" sz="1100" b="1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조혜정 책임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, 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강민지 선임 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9" name="이등변 삼각형 98">
            <a:extLst>
              <a:ext uri="{FF2B5EF4-FFF2-40B4-BE49-F238E27FC236}">
                <a16:creationId xmlns:a16="http://schemas.microsoft.com/office/drawing/2014/main" id="{0A1B7084-9B9B-2426-1921-2ADEDD44804B}"/>
              </a:ext>
            </a:extLst>
          </p:cNvPr>
          <p:cNvSpPr/>
          <p:nvPr/>
        </p:nvSpPr>
        <p:spPr>
          <a:xfrm rot="16200000">
            <a:off x="4345308" y="2045042"/>
            <a:ext cx="1237748" cy="2263984"/>
          </a:xfrm>
          <a:prstGeom prst="triangle">
            <a:avLst>
              <a:gd name="adj" fmla="val 45684"/>
            </a:avLst>
          </a:prstGeom>
          <a:solidFill>
            <a:srgbClr val="FFFFFF">
              <a:lumMod val="85000"/>
              <a:alpha val="6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0" name="이등변 삼각형 99">
            <a:extLst>
              <a:ext uri="{FF2B5EF4-FFF2-40B4-BE49-F238E27FC236}">
                <a16:creationId xmlns:a16="http://schemas.microsoft.com/office/drawing/2014/main" id="{20A94AC5-27D3-B1BC-004A-254FB1A08D41}"/>
              </a:ext>
            </a:extLst>
          </p:cNvPr>
          <p:cNvSpPr/>
          <p:nvPr/>
        </p:nvSpPr>
        <p:spPr>
          <a:xfrm rot="5400000" flipH="1">
            <a:off x="6613339" y="2060373"/>
            <a:ext cx="1237753" cy="2233326"/>
          </a:xfrm>
          <a:prstGeom prst="triangle">
            <a:avLst>
              <a:gd name="adj" fmla="val 45684"/>
            </a:avLst>
          </a:prstGeom>
          <a:solidFill>
            <a:srgbClr val="FFFFFF">
              <a:lumMod val="85000"/>
              <a:alpha val="60000"/>
            </a:srgb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101" name="직선 연결선 20">
            <a:extLst>
              <a:ext uri="{FF2B5EF4-FFF2-40B4-BE49-F238E27FC236}">
                <a16:creationId xmlns:a16="http://schemas.microsoft.com/office/drawing/2014/main" id="{C8DBF7B3-99F6-FF2E-2769-4FFE45E2EB35}"/>
              </a:ext>
            </a:extLst>
          </p:cNvPr>
          <p:cNvCxnSpPr>
            <a:cxnSpLocks/>
          </p:cNvCxnSpPr>
          <p:nvPr/>
        </p:nvCxnSpPr>
        <p:spPr>
          <a:xfrm>
            <a:off x="6096174" y="2559084"/>
            <a:ext cx="0" cy="1236825"/>
          </a:xfrm>
          <a:prstGeom prst="straightConnector1">
            <a:avLst/>
          </a:prstGeom>
          <a:noFill/>
          <a:ln w="317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cxnSp>
        <p:nvCxnSpPr>
          <p:cNvPr id="102" name="직선 연결선 20">
            <a:extLst>
              <a:ext uri="{FF2B5EF4-FFF2-40B4-BE49-F238E27FC236}">
                <a16:creationId xmlns:a16="http://schemas.microsoft.com/office/drawing/2014/main" id="{8E29DBF6-BFFF-74D6-ECBC-92ED51FB81BC}"/>
              </a:ext>
            </a:extLst>
          </p:cNvPr>
          <p:cNvCxnSpPr>
            <a:endCxn id="103" idx="3"/>
          </p:cNvCxnSpPr>
          <p:nvPr/>
        </p:nvCxnSpPr>
        <p:spPr>
          <a:xfrm flipH="1">
            <a:off x="3832188" y="2559084"/>
            <a:ext cx="2263987" cy="669485"/>
          </a:xfrm>
          <a:prstGeom prst="straightConnector1">
            <a:avLst/>
          </a:prstGeom>
          <a:noFill/>
          <a:ln w="317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EFF23288-C8EF-663F-A5EC-2684109E1219}"/>
              </a:ext>
            </a:extLst>
          </p:cNvPr>
          <p:cNvSpPr/>
          <p:nvPr/>
        </p:nvSpPr>
        <p:spPr>
          <a:xfrm>
            <a:off x="3700884" y="2558159"/>
            <a:ext cx="131304" cy="1340817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D2A2756-0FCC-E0EB-EEF2-0A1E0F0C3198}"/>
              </a:ext>
            </a:extLst>
          </p:cNvPr>
          <p:cNvSpPr/>
          <p:nvPr/>
        </p:nvSpPr>
        <p:spPr>
          <a:xfrm>
            <a:off x="8360161" y="2558159"/>
            <a:ext cx="131304" cy="1340817"/>
          </a:xfrm>
          <a:prstGeom prst="rect">
            <a:avLst/>
          </a:prstGeom>
          <a:noFill/>
          <a:ln w="3175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105" name="직선 연결선 20">
            <a:extLst>
              <a:ext uri="{FF2B5EF4-FFF2-40B4-BE49-F238E27FC236}">
                <a16:creationId xmlns:a16="http://schemas.microsoft.com/office/drawing/2014/main" id="{BDFADA8A-A018-6E9A-C831-9E879F12DDF4}"/>
              </a:ext>
            </a:extLst>
          </p:cNvPr>
          <p:cNvCxnSpPr>
            <a:cxnSpLocks/>
            <a:endCxn id="103" idx="3"/>
          </p:cNvCxnSpPr>
          <p:nvPr/>
        </p:nvCxnSpPr>
        <p:spPr>
          <a:xfrm flipH="1" flipV="1">
            <a:off x="3832188" y="3228568"/>
            <a:ext cx="2263987" cy="567340"/>
          </a:xfrm>
          <a:prstGeom prst="straightConnector1">
            <a:avLst/>
          </a:prstGeom>
          <a:noFill/>
          <a:ln w="317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cxnSp>
        <p:nvCxnSpPr>
          <p:cNvPr id="106" name="직선 연결선 20">
            <a:extLst>
              <a:ext uri="{FF2B5EF4-FFF2-40B4-BE49-F238E27FC236}">
                <a16:creationId xmlns:a16="http://schemas.microsoft.com/office/drawing/2014/main" id="{6570D913-41A7-273D-1EB3-EC0B68254D5B}"/>
              </a:ext>
            </a:extLst>
          </p:cNvPr>
          <p:cNvCxnSpPr>
            <a:stCxn id="104" idx="1"/>
          </p:cNvCxnSpPr>
          <p:nvPr/>
        </p:nvCxnSpPr>
        <p:spPr>
          <a:xfrm flipH="1" flipV="1">
            <a:off x="6096175" y="2559084"/>
            <a:ext cx="2263987" cy="669485"/>
          </a:xfrm>
          <a:prstGeom prst="straightConnector1">
            <a:avLst/>
          </a:prstGeom>
          <a:noFill/>
          <a:ln w="317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cxnSp>
        <p:nvCxnSpPr>
          <p:cNvPr id="107" name="직선 연결선 20">
            <a:extLst>
              <a:ext uri="{FF2B5EF4-FFF2-40B4-BE49-F238E27FC236}">
                <a16:creationId xmlns:a16="http://schemas.microsoft.com/office/drawing/2014/main" id="{03789008-B0FE-39DC-8B4E-695CF5CE5563}"/>
              </a:ext>
            </a:extLst>
          </p:cNvPr>
          <p:cNvCxnSpPr>
            <a:cxnSpLocks/>
            <a:stCxn id="104" idx="1"/>
          </p:cNvCxnSpPr>
          <p:nvPr/>
        </p:nvCxnSpPr>
        <p:spPr>
          <a:xfrm flipH="1">
            <a:off x="6096175" y="3228568"/>
            <a:ext cx="2263987" cy="567340"/>
          </a:xfrm>
          <a:prstGeom prst="straightConnector1">
            <a:avLst/>
          </a:prstGeom>
          <a:noFill/>
          <a:ln w="317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miter lim="800000"/>
          </a:ln>
          <a:effectLst/>
        </p:spPr>
      </p:cxn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1FDD4275-CAAD-E021-5F0F-2DE412C6D588}"/>
              </a:ext>
            </a:extLst>
          </p:cNvPr>
          <p:cNvCxnSpPr>
            <a:cxnSpLocks/>
          </p:cNvCxnSpPr>
          <p:nvPr/>
        </p:nvCxnSpPr>
        <p:spPr>
          <a:xfrm>
            <a:off x="6095723" y="4935603"/>
            <a:ext cx="555" cy="14543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8F0EAE62-E5C5-169C-3302-2E083473F146}"/>
              </a:ext>
            </a:extLst>
          </p:cNvPr>
          <p:cNvSpPr/>
          <p:nvPr/>
        </p:nvSpPr>
        <p:spPr>
          <a:xfrm>
            <a:off x="697437" y="5217069"/>
            <a:ext cx="2503448" cy="360000"/>
          </a:xfrm>
          <a:prstGeom prst="rect">
            <a:avLst/>
          </a:prstGeom>
          <a:solidFill>
            <a:srgbClr val="7030A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1"/>
            <a:r>
              <a:rPr lang="en-US" altLang="ko-KR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R&amp;D </a:t>
            </a:r>
            <a:r>
              <a:rPr lang="ko-KR" altLang="en-US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파트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C21CA0FB-996B-FF38-77C9-0C3F92A4E820}"/>
              </a:ext>
            </a:extLst>
          </p:cNvPr>
          <p:cNvSpPr/>
          <p:nvPr/>
        </p:nvSpPr>
        <p:spPr>
          <a:xfrm>
            <a:off x="697437" y="5567873"/>
            <a:ext cx="2503448" cy="648000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디지털 전환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D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X)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기업이슈 및</a:t>
            </a:r>
            <a:b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</a:b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트렌드 분석기반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콘텐츠 기획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및 도입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EE48381-05B4-D4FC-7A56-2ECCC1463189}"/>
              </a:ext>
            </a:extLst>
          </p:cNvPr>
          <p:cNvSpPr/>
          <p:nvPr/>
        </p:nvSpPr>
        <p:spPr>
          <a:xfrm>
            <a:off x="3461625" y="5217069"/>
            <a:ext cx="2503448" cy="360000"/>
          </a:xfrm>
          <a:prstGeom prst="rect">
            <a:avLst/>
          </a:prstGeom>
          <a:solidFill>
            <a:srgbClr val="7030A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1"/>
            <a:r>
              <a:rPr lang="ko-KR" altLang="en-US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 운영 파트</a:t>
            </a:r>
            <a:r>
              <a:rPr lang="en-US" altLang="ko-KR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지원 및 자문</a:t>
            </a:r>
            <a:r>
              <a:rPr lang="en-US" altLang="ko-KR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100" dirty="0">
              <a:solidFill>
                <a:srgbClr val="FFFF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C107DAD-ABA6-63B4-2B8D-EC09A6195E7C}"/>
              </a:ext>
            </a:extLst>
          </p:cNvPr>
          <p:cNvSpPr/>
          <p:nvPr/>
        </p:nvSpPr>
        <p:spPr>
          <a:xfrm>
            <a:off x="3461625" y="5567873"/>
            <a:ext cx="2503448" cy="648000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학습 여정관리 및</a:t>
            </a:r>
            <a:endParaRPr lang="en-US" altLang="ko-KR" sz="1100" kern="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학습지원 특화 그룹 운영</a:t>
            </a:r>
            <a:endParaRPr lang="en-US" altLang="ko-KR" sz="1100" kern="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81DCEAD4-6210-4231-4E89-BEDA7C0E37C8}"/>
              </a:ext>
            </a:extLst>
          </p:cNvPr>
          <p:cNvSpPr/>
          <p:nvPr/>
        </p:nvSpPr>
        <p:spPr>
          <a:xfrm>
            <a:off x="6225813" y="5217069"/>
            <a:ext cx="2503448" cy="360000"/>
          </a:xfrm>
          <a:prstGeom prst="rect">
            <a:avLst/>
          </a:prstGeom>
          <a:solidFill>
            <a:srgbClr val="7030A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1"/>
            <a:r>
              <a:rPr lang="en-US" altLang="ko-KR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IT </a:t>
            </a:r>
            <a:r>
              <a:rPr lang="ko-KR" altLang="en-US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개발 및 지원 파트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93E68B8-C6AF-CDC2-A3D8-9BFB9A89FEB6}"/>
              </a:ext>
            </a:extLst>
          </p:cNvPr>
          <p:cNvSpPr/>
          <p:nvPr/>
        </p:nvSpPr>
        <p:spPr>
          <a:xfrm>
            <a:off x="6225813" y="5567873"/>
            <a:ext cx="2503448" cy="648000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온라인 학습관리시스템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환경연동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FAB4B4E-377A-160B-27C7-91D41F1B0006}"/>
              </a:ext>
            </a:extLst>
          </p:cNvPr>
          <p:cNvSpPr/>
          <p:nvPr/>
        </p:nvSpPr>
        <p:spPr>
          <a:xfrm>
            <a:off x="8990002" y="5217069"/>
            <a:ext cx="2503448" cy="360000"/>
          </a:xfrm>
          <a:prstGeom prst="rect">
            <a:avLst/>
          </a:prstGeom>
          <a:solidFill>
            <a:srgbClr val="7030A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100" dirty="0">
                <a:solidFill>
                  <a:srgbClr val="FFFF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경영지원 파트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447B9E2-5788-2EFB-D10A-EFB0E1F72563}"/>
              </a:ext>
            </a:extLst>
          </p:cNvPr>
          <p:cNvSpPr/>
          <p:nvPr/>
        </p:nvSpPr>
        <p:spPr>
          <a:xfrm>
            <a:off x="8990002" y="5567873"/>
            <a:ext cx="2503448" cy="648000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행정처리 및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kern="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업무지원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BFFDAEED-496F-376B-F211-CF67A06C2BD2}"/>
              </a:ext>
            </a:extLst>
          </p:cNvPr>
          <p:cNvCxnSpPr>
            <a:cxnSpLocks/>
          </p:cNvCxnSpPr>
          <p:nvPr/>
        </p:nvCxnSpPr>
        <p:spPr>
          <a:xfrm>
            <a:off x="1948533" y="5078173"/>
            <a:ext cx="8293820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직선 연결선 163">
            <a:extLst>
              <a:ext uri="{FF2B5EF4-FFF2-40B4-BE49-F238E27FC236}">
                <a16:creationId xmlns:a16="http://schemas.microsoft.com/office/drawing/2014/main" id="{CBBD2321-9809-4B44-9B99-C38813036B84}"/>
              </a:ext>
            </a:extLst>
          </p:cNvPr>
          <p:cNvCxnSpPr>
            <a:cxnSpLocks/>
          </p:cNvCxnSpPr>
          <p:nvPr/>
        </p:nvCxnSpPr>
        <p:spPr>
          <a:xfrm>
            <a:off x="1948533" y="5078173"/>
            <a:ext cx="628" cy="14543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2E3C2AC7-3EC5-2675-CB75-D9CE596DBAAD}"/>
              </a:ext>
            </a:extLst>
          </p:cNvPr>
          <p:cNvCxnSpPr>
            <a:cxnSpLocks/>
          </p:cNvCxnSpPr>
          <p:nvPr/>
        </p:nvCxnSpPr>
        <p:spPr>
          <a:xfrm>
            <a:off x="10241725" y="5078173"/>
            <a:ext cx="628" cy="14543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257823FD-5BEB-D032-E837-DEE398AF7BB7}"/>
              </a:ext>
            </a:extLst>
          </p:cNvPr>
          <p:cNvCxnSpPr>
            <a:cxnSpLocks/>
          </p:cNvCxnSpPr>
          <p:nvPr/>
        </p:nvCxnSpPr>
        <p:spPr>
          <a:xfrm>
            <a:off x="4713035" y="5078173"/>
            <a:ext cx="628" cy="14543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3273B60D-B81E-B9E5-6F58-1FE077741BCA}"/>
              </a:ext>
            </a:extLst>
          </p:cNvPr>
          <p:cNvCxnSpPr>
            <a:cxnSpLocks/>
          </p:cNvCxnSpPr>
          <p:nvPr/>
        </p:nvCxnSpPr>
        <p:spPr>
          <a:xfrm>
            <a:off x="7477223" y="5078173"/>
            <a:ext cx="628" cy="14543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AAB56AC-7478-EFCA-F7EF-5D1CC69540A3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35P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8150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6B46-0688-6AFE-78BF-43C523D4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FAF0A3-EBBC-94CD-2923-15542FE3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투입인력</a:t>
            </a:r>
            <a:r>
              <a:rPr lang="ko-KR" altLang="en-US" dirty="0">
                <a:solidFill>
                  <a:prstClr val="black">
                    <a:lumMod val="95000"/>
                    <a:lumOff val="5000"/>
                  </a:prstClr>
                </a:solidFill>
              </a:rPr>
              <a:t> 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1)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영역별 투입인력의 전문성 확보  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0D5143-4B58-0705-2A73-9F36E00083A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/>
              <a:t>금번 과업에 투입되는 </a:t>
            </a:r>
            <a:r>
              <a:rPr lang="en-US" altLang="ko-KR" dirty="0"/>
              <a:t>SME</a:t>
            </a:r>
            <a:r>
              <a:rPr lang="ko-KR" altLang="en-US" dirty="0"/>
              <a:t>는 </a:t>
            </a:r>
            <a:r>
              <a:rPr lang="en-US" altLang="ko-KR" b="1" dirty="0"/>
              <a:t>3</a:t>
            </a:r>
            <a:r>
              <a:rPr lang="ko-KR" altLang="en-US" b="1" dirty="0"/>
              <a:t>단계 자체 심사를 통해 선정되며</a:t>
            </a:r>
            <a:r>
              <a:rPr lang="en-US" altLang="ko-KR" b="1" dirty="0"/>
              <a:t> </a:t>
            </a:r>
            <a:r>
              <a:rPr lang="ko-KR" altLang="en-US" b="1" dirty="0"/>
              <a:t>정기 및 수시 </a:t>
            </a:r>
            <a:r>
              <a:rPr lang="en-US" altLang="ko-KR" dirty="0"/>
              <a:t>SME</a:t>
            </a:r>
            <a:r>
              <a:rPr lang="ko-KR" altLang="en-US" b="1" dirty="0"/>
              <a:t>미팅을 통해</a:t>
            </a:r>
            <a:br>
              <a:rPr lang="en-US" altLang="ko-KR" b="1" dirty="0"/>
            </a:br>
            <a:r>
              <a:rPr lang="ko-KR" altLang="en-US" b="1" dirty="0"/>
              <a:t>진행방안 및 아이디어를</a:t>
            </a:r>
            <a:r>
              <a:rPr lang="ko-KR" altLang="en-US" sz="12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dirty="0"/>
              <a:t>공유하고 직후에는 </a:t>
            </a:r>
            <a:r>
              <a:rPr lang="ko-KR" altLang="en-US" b="1" dirty="0"/>
              <a:t>강의 피드백을 공유하여 강의 품질을 </a:t>
            </a:r>
            <a:r>
              <a:rPr lang="ko-KR" altLang="en-US" dirty="0"/>
              <a:t>제고</a:t>
            </a:r>
            <a:endParaRPr lang="en-US" altLang="ko-KR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B84496-7F56-1F9F-6832-51625F1757EB}"/>
              </a:ext>
            </a:extLst>
          </p:cNvPr>
          <p:cNvSpPr/>
          <p:nvPr/>
        </p:nvSpPr>
        <p:spPr>
          <a:xfrm>
            <a:off x="529227" y="1600200"/>
            <a:ext cx="11248161" cy="4734895"/>
          </a:xfrm>
          <a:prstGeom prst="rect">
            <a:avLst/>
          </a:pr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B1DB4E7-42A8-79C1-254C-C94E3077F6C8}"/>
              </a:ext>
            </a:extLst>
          </p:cNvPr>
          <p:cNvSpPr txBox="1"/>
          <p:nvPr/>
        </p:nvSpPr>
        <p:spPr>
          <a:xfrm>
            <a:off x="8017647" y="1920393"/>
            <a:ext cx="15872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ko-KR" sz="1300" dirty="0">
                <a:ln w="6350">
                  <a:solidFill>
                    <a:schemeClr val="tx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[ </a:t>
            </a:r>
            <a:r>
              <a:rPr lang="ko-KR" altLang="en-US" sz="1300" dirty="0">
                <a:ln w="6350">
                  <a:solidFill>
                    <a:schemeClr val="tx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콘텐츠 품질 제고 </a:t>
            </a:r>
            <a:r>
              <a:rPr lang="en-US" altLang="ko-KR" sz="1300" dirty="0">
                <a:ln w="6350">
                  <a:solidFill>
                    <a:schemeClr val="tx1"/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]</a:t>
            </a:r>
            <a:endParaRPr lang="ko-KR" altLang="en-US" sz="1300" dirty="0">
              <a:ln w="6350">
                <a:solidFill>
                  <a:schemeClr val="tx1"/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351D77D-C617-1BEC-AE38-808A223EDEC6}"/>
              </a:ext>
            </a:extLst>
          </p:cNvPr>
          <p:cNvGrpSpPr/>
          <p:nvPr/>
        </p:nvGrpSpPr>
        <p:grpSpPr>
          <a:xfrm>
            <a:off x="6358019" y="2209313"/>
            <a:ext cx="4906548" cy="3886687"/>
            <a:chOff x="6447252" y="2209313"/>
            <a:chExt cx="4601748" cy="3886687"/>
          </a:xfrm>
        </p:grpSpPr>
        <p:pic>
          <p:nvPicPr>
            <p:cNvPr id="40" name="그림 39" descr="CAM00990.jpg">
              <a:extLst>
                <a:ext uri="{FF2B5EF4-FFF2-40B4-BE49-F238E27FC236}">
                  <a16:creationId xmlns:a16="http://schemas.microsoft.com/office/drawing/2014/main" id="{318B7854-CA00-131D-8D43-79F5CEB239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7814" y="2854106"/>
              <a:ext cx="2160000" cy="1280459"/>
            </a:xfrm>
            <a:prstGeom prst="rect">
              <a:avLst/>
            </a:prstGeom>
            <a:noFill/>
            <a:ln w="9525">
              <a:solidFill>
                <a:sysClr val="windowText" lastClr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AC2F013B-0118-6109-3B9C-C139A8E646F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" cstate="print"/>
            <a:srcRect l="30979" t="24139" r="15243" b="11912"/>
            <a:stretch/>
          </p:blipFill>
          <p:spPr>
            <a:xfrm>
              <a:off x="8878655" y="2854106"/>
              <a:ext cx="2160000" cy="1280459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ffectLst/>
          </p:spPr>
        </p:pic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B4E286E-EA62-5106-3D1D-1460F836E615}"/>
                </a:ext>
              </a:extLst>
            </p:cNvPr>
            <p:cNvSpPr/>
            <p:nvPr/>
          </p:nvSpPr>
          <p:spPr>
            <a:xfrm>
              <a:off x="10840451" y="2854105"/>
              <a:ext cx="180000" cy="11911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rtlCol="0" anchor="ctr"/>
            <a:lstStyle/>
            <a:p>
              <a:pPr algn="ctr">
                <a:defRPr/>
              </a:pPr>
              <a:endParaRPr lang="ko-KR" altLang="en-US" sz="1050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endParaRPr>
            </a:p>
          </p:txBody>
        </p:sp>
        <p:pic>
          <p:nvPicPr>
            <p:cNvPr id="46" name="그림 45">
              <a:extLst>
                <a:ext uri="{FF2B5EF4-FFF2-40B4-BE49-F238E27FC236}">
                  <a16:creationId xmlns:a16="http://schemas.microsoft.com/office/drawing/2014/main" id="{0BD2AC1A-FF33-3ABF-196E-30266CF0769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print"/>
            <a:srcRect l="30776" t="23958" r="15141" b="9737"/>
            <a:stretch/>
          </p:blipFill>
          <p:spPr>
            <a:xfrm>
              <a:off x="6457814" y="4815648"/>
              <a:ext cx="2160000" cy="1280352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ffectLst/>
          </p:spPr>
        </p:pic>
        <p:pic>
          <p:nvPicPr>
            <p:cNvPr id="47" name="Picture 103">
              <a:extLst>
                <a:ext uri="{FF2B5EF4-FFF2-40B4-BE49-F238E27FC236}">
                  <a16:creationId xmlns:a16="http://schemas.microsoft.com/office/drawing/2014/main" id="{92FAA99F-BE92-BD50-892F-5E843A0B3B4F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5" cstate="print"/>
            <a:srcRect l="22688" t="32292" r="16780" b="19487"/>
            <a:stretch>
              <a:fillRect/>
            </a:stretch>
          </p:blipFill>
          <p:spPr bwMode="auto">
            <a:xfrm>
              <a:off x="8882202" y="4815648"/>
              <a:ext cx="2160000" cy="1280352"/>
            </a:xfrm>
            <a:prstGeom prst="rect">
              <a:avLst/>
            </a:prstGeom>
            <a:noFill/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25807BA1-0637-42E2-D6A5-87C72FC128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0406" y="5152559"/>
              <a:ext cx="734625" cy="53093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ysDot"/>
              <a:miter lim="800000"/>
              <a:headEnd type="none" w="med" len="med"/>
              <a:tailEnd type="triangle" w="med" len="med"/>
            </a:ln>
            <a:effectLst/>
          </p:spPr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DB4F3EDE-EFBA-5694-E652-35AE515AD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9252" y="5666668"/>
              <a:ext cx="1960454" cy="63025"/>
            </a:xfrm>
            <a:prstGeom prst="straightConnector1">
              <a:avLst/>
            </a:prstGeom>
            <a:noFill/>
            <a:ln w="28575" cap="flat" cmpd="sng" algn="ctr">
              <a:solidFill>
                <a:srgbClr val="C00000"/>
              </a:solidFill>
              <a:prstDash val="sysDot"/>
              <a:miter lim="800000"/>
              <a:headEnd type="none" w="med" len="med"/>
              <a:tailEnd type="triangle" w="med" len="med"/>
            </a:ln>
            <a:effectLst/>
          </p:spPr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7E432F1-A110-AAAE-1D82-3E6D9F603089}"/>
                </a:ext>
              </a:extLst>
            </p:cNvPr>
            <p:cNvSpPr/>
            <p:nvPr/>
          </p:nvSpPr>
          <p:spPr>
            <a:xfrm>
              <a:off x="6447252" y="2209313"/>
              <a:ext cx="4601748" cy="26706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100" b="1" dirty="0">
                  <a:solidFill>
                    <a:prstClr val="white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교육 시작 전</a:t>
              </a: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1B5B36D-0228-F878-0498-5192B7E20FCF}"/>
                </a:ext>
              </a:extLst>
            </p:cNvPr>
            <p:cNvSpPr/>
            <p:nvPr/>
          </p:nvSpPr>
          <p:spPr>
            <a:xfrm>
              <a:off x="6447252" y="4300789"/>
              <a:ext cx="4601748" cy="267069"/>
            </a:xfrm>
            <a:prstGeom prst="rect">
              <a:avLst/>
            </a:prstGeom>
            <a:solidFill>
              <a:srgbClr val="00206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50" b="1" dirty="0">
                  <a:solidFill>
                    <a:prstClr val="white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개발 중  </a:t>
              </a:r>
            </a:p>
          </p:txBody>
        </p:sp>
        <p:sp>
          <p:nvSpPr>
            <p:cNvPr id="56" name="직사각형 11">
              <a:extLst>
                <a:ext uri="{FF2B5EF4-FFF2-40B4-BE49-F238E27FC236}">
                  <a16:creationId xmlns:a16="http://schemas.microsoft.com/office/drawing/2014/main" id="{B0DB2B15-4B30-BBC2-8658-B0B62D8BD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4296" y="2539629"/>
              <a:ext cx="1863041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>
                <a:defRPr/>
              </a:pP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&lt; 1</a:t>
              </a:r>
              <a:r>
                <a:rPr kumimoji="0" lang="ko-KR" altLang="en-US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차 </a:t>
              </a: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SME</a:t>
              </a:r>
              <a:r>
                <a:rPr kumimoji="0" lang="ko-KR" altLang="en-US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미팅</a:t>
              </a: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_</a:t>
              </a:r>
              <a:r>
                <a:rPr kumimoji="0" lang="ko-KR" altLang="en-US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진행방안 논의 </a:t>
              </a: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&gt;</a:t>
              </a:r>
            </a:p>
          </p:txBody>
        </p:sp>
        <p:sp>
          <p:nvSpPr>
            <p:cNvPr id="57" name="직사각형 12">
              <a:extLst>
                <a:ext uri="{FF2B5EF4-FFF2-40B4-BE49-F238E27FC236}">
                  <a16:creationId xmlns:a16="http://schemas.microsoft.com/office/drawing/2014/main" id="{7C0E1904-066B-8911-E481-95B9CEA70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720" y="2539629"/>
              <a:ext cx="135187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>
                <a:defRPr/>
              </a:pP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&lt; </a:t>
              </a:r>
              <a:r>
                <a:rPr kumimoji="0" lang="ko-KR" altLang="en-US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과정개발 방향 도출 </a:t>
              </a: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&gt;</a:t>
              </a:r>
            </a:p>
          </p:txBody>
        </p:sp>
        <p:sp>
          <p:nvSpPr>
            <p:cNvPr id="58" name="직사각형 13">
              <a:extLst>
                <a:ext uri="{FF2B5EF4-FFF2-40B4-BE49-F238E27FC236}">
                  <a16:creationId xmlns:a16="http://schemas.microsoft.com/office/drawing/2014/main" id="{2E235CC6-A288-CDE4-6226-936C41BFF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3798" y="4559385"/>
              <a:ext cx="1610468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>
                <a:defRPr/>
              </a:pP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&lt; </a:t>
              </a:r>
              <a:r>
                <a:rPr kumimoji="0" lang="ko-KR" altLang="en-US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중간 회의 수정 방안 공유</a:t>
              </a: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&gt;</a:t>
              </a:r>
            </a:p>
          </p:txBody>
        </p:sp>
        <p:sp>
          <p:nvSpPr>
            <p:cNvPr id="59" name="직사각형 14">
              <a:extLst>
                <a:ext uri="{FF2B5EF4-FFF2-40B4-BE49-F238E27FC236}">
                  <a16:creationId xmlns:a16="http://schemas.microsoft.com/office/drawing/2014/main" id="{0C607F2C-8453-BFC7-E24B-B4B43F3CE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67684" y="4559385"/>
              <a:ext cx="1381946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>
                <a:defRPr/>
              </a:pP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&lt; </a:t>
              </a:r>
              <a:r>
                <a:rPr kumimoji="0" lang="ko-KR" altLang="en-US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개발 과정 즉시 반영 </a:t>
              </a:r>
              <a:r>
                <a:rPr kumimoji="0" lang="en-US" altLang="ko-KR" sz="1000" b="1" dirty="0">
                  <a:solidFill>
                    <a:srgbClr val="0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&gt;</a:t>
              </a:r>
            </a:p>
          </p:txBody>
        </p:sp>
        <p:sp>
          <p:nvSpPr>
            <p:cNvPr id="62" name="Text Box 29">
              <a:extLst>
                <a:ext uri="{FF2B5EF4-FFF2-40B4-BE49-F238E27FC236}">
                  <a16:creationId xmlns:a16="http://schemas.microsoft.com/office/drawing/2014/main" id="{68A1412E-3429-13C7-36A0-2477AA4A20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79139">
              <a:off x="6984772" y="5227118"/>
              <a:ext cx="1098453" cy="2616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>
              <a:lvl1pPr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ctr" eaLnBrk="1" fontAlgn="base" latinLnBrk="1" hangingPunct="1">
                <a:spcBef>
                  <a:spcPct val="0"/>
                </a:spcBef>
              </a:pPr>
              <a:r>
                <a:rPr lang="en-US" altLang="ko-KR" dirty="0">
                  <a:solidFill>
                    <a:srgbClr val="C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illustrative</a:t>
              </a:r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id="{9C3C551E-6F6F-20DF-3DBC-88F245E62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79139">
              <a:off x="9326904" y="5227118"/>
              <a:ext cx="1098453" cy="2616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>
              <a:lvl1pPr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ctr" eaLnBrk="1" fontAlgn="base" latinLnBrk="1" hangingPunct="1">
                <a:spcBef>
                  <a:spcPct val="0"/>
                </a:spcBef>
              </a:pPr>
              <a:r>
                <a:rPr lang="en-US" altLang="ko-KR" dirty="0">
                  <a:solidFill>
                    <a:srgbClr val="C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illustrative</a:t>
              </a:r>
            </a:p>
          </p:txBody>
        </p:sp>
        <p:sp>
          <p:nvSpPr>
            <p:cNvPr id="64" name="Text Box 29">
              <a:extLst>
                <a:ext uri="{FF2B5EF4-FFF2-40B4-BE49-F238E27FC236}">
                  <a16:creationId xmlns:a16="http://schemas.microsoft.com/office/drawing/2014/main" id="{34661D53-E261-C3ED-AF58-288072642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579139">
              <a:off x="9317952" y="3341485"/>
              <a:ext cx="1098453" cy="2616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>
              <a:lvl1pPr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1pPr>
              <a:lvl2pPr marL="742950" indent="-28575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2pPr>
              <a:lvl3pPr marL="11430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3pPr>
              <a:lvl4pPr marL="16002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4pPr>
              <a:lvl5pPr marL="2057400" indent="-228600"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5pPr>
              <a:lvl6pPr marL="25146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6pPr>
              <a:lvl7pPr marL="29718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7pPr>
              <a:lvl8pPr marL="34290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8pPr>
              <a:lvl9pPr marL="3886200" indent="-228600" algn="ctr" eaLnBrk="0" fontAlgn="ctr" hangingPunct="0">
                <a:spcBef>
                  <a:spcPct val="50000"/>
                </a:spcBef>
                <a:spcAft>
                  <a:spcPct val="0"/>
                </a:spcAft>
                <a:defRPr kumimoji="1" sz="1100" b="1">
                  <a:solidFill>
                    <a:schemeClr val="tx1"/>
                  </a:solidFill>
                  <a:latin typeface="Arial" charset="0"/>
                  <a:ea typeface="맑은 고딕" pitchFamily="50" charset="-127"/>
                </a:defRPr>
              </a:lvl9pPr>
            </a:lstStyle>
            <a:p>
              <a:pPr algn="ctr" eaLnBrk="1" fontAlgn="base" latinLnBrk="1" hangingPunct="1">
                <a:spcBef>
                  <a:spcPct val="0"/>
                </a:spcBef>
              </a:pPr>
              <a:r>
                <a:rPr lang="en-US" altLang="ko-KR" sz="1050" dirty="0">
                  <a:solidFill>
                    <a:srgbClr val="C00000"/>
                  </a:solidFill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illustrative</a:t>
              </a: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D7DC26-005E-658F-D09D-C35E15F2C259}"/>
              </a:ext>
            </a:extLst>
          </p:cNvPr>
          <p:cNvSpPr/>
          <p:nvPr/>
        </p:nvSpPr>
        <p:spPr>
          <a:xfrm>
            <a:off x="927433" y="2196096"/>
            <a:ext cx="4555345" cy="1698032"/>
          </a:xfrm>
          <a:prstGeom prst="rect">
            <a:avLst/>
          </a:prstGeom>
          <a:solidFill>
            <a:sysClr val="window" lastClr="FFFFFF">
              <a:lumMod val="85000"/>
              <a:alpha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defRPr/>
            </a:pPr>
            <a:endParaRPr lang="ko-KR" altLang="en-US" sz="1400" dirty="0">
              <a:solidFill>
                <a:prstClr val="white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28913EC-E6FD-CD1A-9B00-A926F9AF4AE5}"/>
              </a:ext>
            </a:extLst>
          </p:cNvPr>
          <p:cNvSpPr/>
          <p:nvPr/>
        </p:nvSpPr>
        <p:spPr>
          <a:xfrm>
            <a:off x="927433" y="4561512"/>
            <a:ext cx="4555345" cy="1534488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ko-KR" altLang="en-US" sz="1400" dirty="0">
              <a:solidFill>
                <a:prstClr val="white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1" name="직사각형 19">
            <a:extLst>
              <a:ext uri="{FF2B5EF4-FFF2-40B4-BE49-F238E27FC236}">
                <a16:creationId xmlns:a16="http://schemas.microsoft.com/office/drawing/2014/main" id="{C8425989-1A11-3606-4368-C6F5D029C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346" y="5125888"/>
            <a:ext cx="4661624" cy="72338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차 선정된 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SME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및 대체강사 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Pool 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전달</a:t>
            </a:r>
            <a:endParaRPr lang="en-US" altLang="ko-KR" sz="11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강의 진행 정보 및 유의사항 수렴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강의 인력에게 전달</a:t>
            </a:r>
            <a:endParaRPr lang="en-US" altLang="ko-KR" sz="11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최종 확정된 강사 중 대표강사 선정</a:t>
            </a:r>
            <a:endParaRPr lang="en-US" altLang="ko-KR" sz="11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18426D-5A7B-3ADC-5082-03367752F0C7}"/>
              </a:ext>
            </a:extLst>
          </p:cNvPr>
          <p:cNvSpPr txBox="1"/>
          <p:nvPr/>
        </p:nvSpPr>
        <p:spPr>
          <a:xfrm>
            <a:off x="1053346" y="4790593"/>
            <a:ext cx="3978714" cy="293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  <a:lvl1pPr>
              <a:defRPr sz="1300" b="1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en-US" altLang="ko-KR" dirty="0"/>
              <a:t>[ 2</a:t>
            </a:r>
            <a:r>
              <a:rPr lang="ko-KR" altLang="en-US" dirty="0"/>
              <a:t>차 </a:t>
            </a:r>
            <a:r>
              <a:rPr lang="en-US" altLang="ko-KR" dirty="0"/>
              <a:t>] </a:t>
            </a:r>
            <a:r>
              <a:rPr lang="ko-KR" altLang="en-US" dirty="0"/>
              <a:t>담당부서와 협의</a:t>
            </a:r>
            <a:r>
              <a:rPr lang="en-US" altLang="ko-KR" dirty="0"/>
              <a:t> </a:t>
            </a:r>
            <a:r>
              <a:rPr lang="ko-KR" altLang="en-US" dirty="0"/>
              <a:t>및 최종 선정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DA9C01-7230-4F3F-91B0-3DD1D85DE784}"/>
              </a:ext>
            </a:extLst>
          </p:cNvPr>
          <p:cNvSpPr txBox="1"/>
          <p:nvPr/>
        </p:nvSpPr>
        <p:spPr>
          <a:xfrm>
            <a:off x="1017625" y="2436993"/>
            <a:ext cx="438468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[ 1</a:t>
            </a:r>
            <a:r>
              <a:rPr lang="ko-KR" altLang="en-US" sz="1300" b="1" dirty="0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 </a:t>
            </a:r>
            <a:r>
              <a:rPr lang="en-US" altLang="ko-KR" sz="1300" b="1" dirty="0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] </a:t>
            </a:r>
            <a:r>
              <a:rPr lang="ko-KR" altLang="en-US" sz="1300" b="1" dirty="0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 자체 평가를 통한 최종 </a:t>
            </a:r>
            <a:r>
              <a:rPr lang="en-US" altLang="ko-KR" sz="1300" b="1" dirty="0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SME Pool </a:t>
            </a:r>
            <a:r>
              <a:rPr lang="ko-KR" altLang="en-US" sz="1300" b="1" dirty="0">
                <a:solidFill>
                  <a:srgbClr val="434B56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구성 </a:t>
            </a:r>
          </a:p>
        </p:txBody>
      </p:sp>
      <p:sp>
        <p:nvSpPr>
          <p:cNvPr id="37" name="직사각형 19">
            <a:extLst>
              <a:ext uri="{FF2B5EF4-FFF2-40B4-BE49-F238E27FC236}">
                <a16:creationId xmlns:a16="http://schemas.microsoft.com/office/drawing/2014/main" id="{4639BE2F-29FD-0544-971A-5AD21F3B2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029" y="2822694"/>
            <a:ext cx="4733063" cy="757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단계 </a:t>
            </a:r>
            <a:r>
              <a:rPr lang="en-US" altLang="ko-KR" sz="11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SME</a:t>
            </a:r>
            <a:r>
              <a:rPr lang="ko-KR" altLang="en-US" sz="11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1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Pool </a:t>
            </a:r>
            <a:r>
              <a:rPr lang="ko-KR" altLang="en-US" sz="11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선정 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유사과정 강의경험 및 강사평가 분석</a:t>
            </a:r>
            <a:endParaRPr lang="en-US" altLang="ko-KR" sz="1100" b="1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단계 </a:t>
            </a:r>
            <a:r>
              <a:rPr lang="ko-KR" altLang="en-US" sz="11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전문성 심사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콘텐츠 및 </a:t>
            </a:r>
            <a:r>
              <a:rPr lang="ko-KR" altLang="en-US" sz="1100" b="1" dirty="0" err="1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강의력</a:t>
            </a:r>
            <a:r>
              <a:rPr lang="ko-KR" altLang="en-US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전문성 검증</a:t>
            </a:r>
            <a:endParaRPr lang="en-US" altLang="ko-KR" sz="11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단계 </a:t>
            </a:r>
            <a:r>
              <a:rPr lang="ko-KR" altLang="en-US" sz="1100" b="1" dirty="0">
                <a:solidFill>
                  <a:srgbClr val="C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만족도 심사 </a:t>
            </a:r>
            <a:r>
              <a:rPr lang="en-US" altLang="ko-KR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11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학습자 </a:t>
            </a:r>
            <a:r>
              <a:rPr lang="ko-KR" altLang="en-US" sz="1100" b="1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만족도 및 강의 평가 결과 분석</a:t>
            </a:r>
            <a:endParaRPr lang="en-US" altLang="ko-KR" sz="1100" b="1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" name="이등변 삼각형 5">
            <a:extLst>
              <a:ext uri="{FF2B5EF4-FFF2-40B4-BE49-F238E27FC236}">
                <a16:creationId xmlns:a16="http://schemas.microsoft.com/office/drawing/2014/main" id="{B643B293-3FC1-1A72-873A-620B3CA0A3E2}"/>
              </a:ext>
            </a:extLst>
          </p:cNvPr>
          <p:cNvSpPr/>
          <p:nvPr/>
        </p:nvSpPr>
        <p:spPr>
          <a:xfrm flipV="1">
            <a:off x="1674787" y="4037800"/>
            <a:ext cx="3060637" cy="380037"/>
          </a:xfrm>
          <a:prstGeom prst="triangle">
            <a:avLst/>
          </a:prstGeom>
          <a:gradFill flip="none" rotWithShape="1">
            <a:gsLst>
              <a:gs pos="0">
                <a:sysClr val="window" lastClr="FFFFFF">
                  <a:lumMod val="50000"/>
                </a:sysClr>
              </a:gs>
              <a:gs pos="100000">
                <a:sysClr val="window" lastClr="FFFFFF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lnSpc>
                <a:spcPct val="150000"/>
              </a:lnSpc>
              <a:defRPr/>
            </a:pPr>
            <a:endParaRPr lang="ko-KR" altLang="en-US" sz="1100" dirty="0">
              <a:solidFill>
                <a:prstClr val="white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8470C2-B2C1-A8E3-9D5E-3C6879B1BDDB}"/>
              </a:ext>
            </a:extLst>
          </p:cNvPr>
          <p:cNvSpPr txBox="1"/>
          <p:nvPr/>
        </p:nvSpPr>
        <p:spPr>
          <a:xfrm>
            <a:off x="1922542" y="1920393"/>
            <a:ext cx="256512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altLang="ko-KR" sz="1300" dirty="0">
                <a:ln w="6350">
                  <a:solidFill>
                    <a:schemeClr val="tx1"/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[ </a:t>
            </a:r>
            <a:r>
              <a:rPr lang="ko-KR" altLang="en-US" sz="1300" dirty="0" err="1">
                <a:ln w="6350">
                  <a:solidFill>
                    <a:schemeClr val="tx1"/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최적합</a:t>
            </a:r>
            <a:r>
              <a:rPr lang="ko-KR" altLang="en-US" sz="1300" dirty="0">
                <a:ln w="6350">
                  <a:solidFill>
                    <a:schemeClr val="tx1"/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 투입 </a:t>
            </a:r>
            <a:r>
              <a:rPr lang="en-US" altLang="ko-KR" sz="1300" dirty="0">
                <a:ln w="6350">
                  <a:solidFill>
                    <a:schemeClr val="tx1"/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SME </a:t>
            </a:r>
            <a:r>
              <a:rPr lang="ko-KR" altLang="en-US" sz="1300" dirty="0">
                <a:ln w="6350">
                  <a:solidFill>
                    <a:schemeClr val="tx1"/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선정 프로세스 </a:t>
            </a:r>
            <a:r>
              <a:rPr lang="en-US" altLang="ko-KR" sz="1300" dirty="0">
                <a:ln w="6350">
                  <a:solidFill>
                    <a:schemeClr val="tx1"/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]</a:t>
            </a:r>
            <a:endParaRPr lang="ko-KR" altLang="en-US" sz="1300" dirty="0">
              <a:ln w="6350">
                <a:solidFill>
                  <a:schemeClr val="tx1"/>
                </a:solidFill>
              </a:ln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F7ED20-84F3-1966-EC5D-4FCE07031461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36P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8815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C905D-33A9-FDFD-1294-5812B187A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5D047-24F6-1FD5-02C0-65E2D468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3.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프로젝트 투입인력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 </a:t>
            </a:r>
            <a:r>
              <a:rPr lang="en-US" altLang="ko-KR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2)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온라인 콘텐츠 개발 </a:t>
            </a:r>
            <a:r>
              <a:rPr lang="en-US" altLang="ko-KR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SME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DBCF98-5995-A2C7-D6BB-4D6ECC4483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8" name="Google Shape;148;p1">
            <a:extLst>
              <a:ext uri="{FF2B5EF4-FFF2-40B4-BE49-F238E27FC236}">
                <a16:creationId xmlns:a16="http://schemas.microsoft.com/office/drawing/2014/main" id="{5A2E0DA0-179C-D8B9-F207-A76EB778B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756001"/>
              </p:ext>
            </p:extLst>
          </p:nvPr>
        </p:nvGraphicFramePr>
        <p:xfrm>
          <a:off x="1772991" y="1893292"/>
          <a:ext cx="5292343" cy="98051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74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u="none" strike="noStrike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학력</a:t>
                      </a:r>
                      <a:endParaRPr sz="1050" u="none" strike="noStrike" cap="none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171450" marR="0" lvl="0" indent="-171450" algn="l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Cornell Samsung Human Resource Course </a:t>
                      </a:r>
                      <a:r>
                        <a:rPr lang="ko-KR" altLang="en-US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수료</a:t>
                      </a:r>
                    </a:p>
                    <a:p>
                      <a:pPr marL="171450" marR="0" lvl="0" indent="-171450" algn="l" rtl="0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경희대학교 국제경영대학원 국제경영학 박사 졸업</a:t>
                      </a:r>
                      <a:endParaRPr sz="1000" u="none" strike="noStrike" cap="none" dirty="0">
                        <a:solidFill>
                          <a:srgbClr val="262626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25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2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u="none" strike="noStrike" cap="none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주요 강의 분야</a:t>
                      </a:r>
                      <a:endParaRPr sz="1050" u="none" strike="noStrike" cap="none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171450" marR="0" lvl="0" indent="-171450" algn="l" rtl="0" latinLnBrk="0"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금융 데이터 분석</a:t>
                      </a:r>
                      <a:endParaRPr lang="en-US" altLang="ko-KR" sz="1000" u="none" strike="noStrike" cap="none" dirty="0">
                        <a:solidFill>
                          <a:srgbClr val="262626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 latinLnBrk="0">
                        <a:spcBef>
                          <a:spcPts val="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AI </a:t>
                      </a:r>
                      <a:r>
                        <a:rPr lang="ko-KR" altLang="en-US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스마트 워크</a:t>
                      </a:r>
                      <a:r>
                        <a:rPr lang="en-US" altLang="ko-KR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업무 자동화</a:t>
                      </a:r>
                      <a:r>
                        <a:rPr lang="en-US" altLang="ko-KR" sz="1000" u="none" strike="noStrike" cap="none" dirty="0">
                          <a:solidFill>
                            <a:srgbClr val="262626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)</a:t>
                      </a:r>
                      <a:endParaRPr lang="ko-KR" altLang="en-US" sz="1000" u="none" strike="noStrike" cap="none" dirty="0">
                        <a:solidFill>
                          <a:srgbClr val="262626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696314"/>
                  </a:ext>
                </a:extLst>
              </a:tr>
            </a:tbl>
          </a:graphicData>
        </a:graphic>
      </p:graphicFrame>
      <p:sp>
        <p:nvSpPr>
          <p:cNvPr id="11" name="Google Shape;143;p1">
            <a:extLst>
              <a:ext uri="{FF2B5EF4-FFF2-40B4-BE49-F238E27FC236}">
                <a16:creationId xmlns:a16="http://schemas.microsoft.com/office/drawing/2014/main" id="{15D88319-C3EC-6F24-B1BE-A058349C9A9A}"/>
              </a:ext>
            </a:extLst>
          </p:cNvPr>
          <p:cNvSpPr txBox="1"/>
          <p:nvPr/>
        </p:nvSpPr>
        <p:spPr>
          <a:xfrm>
            <a:off x="1709196" y="4283602"/>
            <a:ext cx="105987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algn="l" rtl="0"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주요과정개발</a:t>
            </a:r>
            <a:endParaRPr lang="en-US" altLang="ko-KR" sz="1200" dirty="0">
              <a:solidFill>
                <a:srgbClr val="000000"/>
              </a:solidFill>
              <a:latin typeface="나눔스퀘어 네오 Bold"/>
              <a:ea typeface="나눔스퀘어 네오 Bold"/>
              <a:cs typeface="Arial"/>
              <a:sym typeface="Arial"/>
            </a:endParaRPr>
          </a:p>
        </p:txBody>
      </p:sp>
      <p:graphicFrame>
        <p:nvGraphicFramePr>
          <p:cNvPr id="12" name="Google Shape;141;p1">
            <a:extLst>
              <a:ext uri="{FF2B5EF4-FFF2-40B4-BE49-F238E27FC236}">
                <a16:creationId xmlns:a16="http://schemas.microsoft.com/office/drawing/2014/main" id="{3D87126A-71B7-0D80-A1BC-8DBD0B0B81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576820"/>
              </p:ext>
            </p:extLst>
          </p:nvPr>
        </p:nvGraphicFramePr>
        <p:xfrm>
          <a:off x="1772991" y="4536381"/>
          <a:ext cx="5313609" cy="116718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656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4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08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영역</a:t>
                      </a:r>
                      <a:endParaRPr sz="1050" b="0" u="none" strike="noStrike" cap="none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u="none" strike="noStrike" cap="none" dirty="0" err="1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교육명</a:t>
                      </a:r>
                      <a:endParaRPr sz="1050" b="0" u="none" strike="noStrike" cap="none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비고</a:t>
                      </a:r>
                      <a:endParaRPr sz="1050" b="0" u="none" strike="noStrike" cap="none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B2B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디지털트렌스포메이션</a:t>
                      </a:r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 온라인과정 개발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865528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B2B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디지털리더십 온라인과정 개발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39415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B2B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85000"/>
                            <a:lumOff val="15000"/>
                          </a:prstClr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en-US" altLang="ko-KR" sz="1000" b="0" dirty="0"/>
                        <a:t>AI</a:t>
                      </a:r>
                      <a:r>
                        <a:rPr lang="ko-KR" altLang="en-US" sz="1000" b="0" dirty="0"/>
                        <a:t>리더십</a:t>
                      </a:r>
                      <a:r>
                        <a:rPr lang="en-US" altLang="ko-KR" sz="1000" b="0" dirty="0"/>
                        <a:t> </a:t>
                      </a:r>
                      <a:r>
                        <a:rPr lang="ko-KR" altLang="en-US" sz="1000" b="0" dirty="0"/>
                        <a:t>온라인 과정</a:t>
                      </a:r>
                      <a:r>
                        <a:rPr lang="en-US" altLang="ko-KR" sz="1000" b="0" dirty="0"/>
                        <a:t>, ICT </a:t>
                      </a:r>
                      <a:r>
                        <a:rPr lang="ko-KR" altLang="en-US" sz="1000" b="0" dirty="0"/>
                        <a:t>트렌드 온라인과정 개발 </a:t>
                      </a:r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77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85000"/>
                              <a:lumOff val="15000"/>
                            </a:prstClr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B2B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en-US" altLang="ko-KR" sz="1000" b="0" dirty="0"/>
                        <a:t>AX</a:t>
                      </a:r>
                      <a:r>
                        <a:rPr lang="ko-KR" altLang="en-US" sz="1000" b="0" dirty="0"/>
                        <a:t>시대 리더의 역할 온라인과정 개발</a:t>
                      </a:r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446594"/>
                  </a:ext>
                </a:extLst>
              </a:tr>
            </a:tbl>
          </a:graphicData>
        </a:graphic>
      </p:graphicFrame>
      <p:graphicFrame>
        <p:nvGraphicFramePr>
          <p:cNvPr id="13" name="Google Shape;141;p1">
            <a:extLst>
              <a:ext uri="{FF2B5EF4-FFF2-40B4-BE49-F238E27FC236}">
                <a16:creationId xmlns:a16="http://schemas.microsoft.com/office/drawing/2014/main" id="{09A51514-F9B5-0A37-596F-1EABC1CEF7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9256722"/>
              </p:ext>
            </p:extLst>
          </p:nvPr>
        </p:nvGraphicFramePr>
        <p:xfrm>
          <a:off x="1772991" y="3155712"/>
          <a:ext cx="5313609" cy="105407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3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24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54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회사명</a:t>
                      </a:r>
                      <a:endParaRPr sz="1050" b="0" u="none" strike="noStrike" cap="none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부서</a:t>
                      </a:r>
                      <a:r>
                        <a:rPr lang="en-US" altLang="ko-KR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(</a:t>
                      </a:r>
                      <a:r>
                        <a:rPr lang="ko-KR" altLang="en-US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담당업무</a:t>
                      </a:r>
                      <a:r>
                        <a:rPr lang="en-US" altLang="ko-KR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)</a:t>
                      </a:r>
                      <a:endParaRPr sz="1050" b="0" u="none" strike="noStrike" cap="none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50" b="0" u="none" strike="noStrike" cap="none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Arial"/>
                          <a:sym typeface="Arial"/>
                        </a:rPr>
                        <a:t>비고</a:t>
                      </a:r>
                      <a:endParaRPr sz="1050" b="0" u="none" strike="noStrike" cap="none" dirty="0">
                        <a:solidFill>
                          <a:schemeClr val="bg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Arial"/>
                        <a:sym typeface="Arial"/>
                      </a:endParaRPr>
                    </a:p>
                  </a:txBody>
                  <a:tcPr marL="60625" marR="60625" marT="30325" marB="30325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1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한국열린사이버대학</a:t>
                      </a:r>
                      <a:endParaRPr lang="ko-KR" alt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디지털융합경영학과 교수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1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한국디지털광고협회</a:t>
                      </a:r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수출바우처사업</a:t>
                      </a:r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 평가위원</a:t>
                      </a:r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17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경희대학교</a:t>
                      </a:r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r>
                        <a:rPr lang="ko-KR" altLang="en-US" sz="1000" b="0" i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Times New Roman"/>
                        </a:rPr>
                        <a:t>국제대학원 교수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algn="l"/>
                      <a:endParaRPr lang="en-US" sz="10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463267"/>
                  </a:ext>
                </a:extLst>
              </a:tr>
            </a:tbl>
          </a:graphicData>
        </a:graphic>
      </p:graphicFrame>
      <p:sp>
        <p:nvSpPr>
          <p:cNvPr id="14" name="Google Shape;143;p1">
            <a:extLst>
              <a:ext uri="{FF2B5EF4-FFF2-40B4-BE49-F238E27FC236}">
                <a16:creationId xmlns:a16="http://schemas.microsoft.com/office/drawing/2014/main" id="{15773262-CB5C-D322-9AD4-3894F7913B3F}"/>
              </a:ext>
            </a:extLst>
          </p:cNvPr>
          <p:cNvSpPr txBox="1"/>
          <p:nvPr/>
        </p:nvSpPr>
        <p:spPr>
          <a:xfrm>
            <a:off x="1680915" y="2890520"/>
            <a:ext cx="105987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algn="l" rtl="0"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주요경력사항</a:t>
            </a:r>
            <a:endParaRPr sz="1400" dirty="0">
              <a:solidFill>
                <a:srgbClr val="000000"/>
              </a:solidFill>
              <a:latin typeface="나눔스퀘어 네오 Bold"/>
              <a:ea typeface="나눔스퀘어 네오 Bold"/>
              <a:cs typeface="Arial"/>
              <a:sym typeface="Arial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BF48A09-D042-852E-D672-CCE6CE4EA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410641"/>
              </p:ext>
            </p:extLst>
          </p:nvPr>
        </p:nvGraphicFramePr>
        <p:xfrm>
          <a:off x="7239000" y="1893292"/>
          <a:ext cx="4348115" cy="4583710"/>
        </p:xfrm>
        <a:graphic>
          <a:graphicData uri="http://schemas.openxmlformats.org/drawingml/2006/table">
            <a:tbl>
              <a:tblPr/>
              <a:tblGrid>
                <a:gridCol w="1215967">
                  <a:extLst>
                    <a:ext uri="{9D8B030D-6E8A-4147-A177-3AD203B41FA5}">
                      <a16:colId xmlns:a16="http://schemas.microsoft.com/office/drawing/2014/main" val="3102178566"/>
                    </a:ext>
                  </a:extLst>
                </a:gridCol>
                <a:gridCol w="3132148">
                  <a:extLst>
                    <a:ext uri="{9D8B030D-6E8A-4147-A177-3AD203B41FA5}">
                      <a16:colId xmlns:a16="http://schemas.microsoft.com/office/drawing/2014/main" val="476858849"/>
                    </a:ext>
                  </a:extLst>
                </a:gridCol>
              </a:tblGrid>
              <a:tr h="11423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ko-KR" altLang="en-US" sz="1000" kern="1200" spc="0" baseline="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j-cs"/>
                        </a:rPr>
                        <a:t>성우</a:t>
                      </a:r>
                      <a:endParaRPr lang="en-US" altLang="ko-KR" sz="1000" kern="1200" spc="0" baseline="0" dirty="0">
                        <a:solidFill>
                          <a:schemeClr val="bg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j-cs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ko-KR" altLang="en-US" sz="1000" kern="1200" spc="0" baseline="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j-cs"/>
                        </a:rPr>
                        <a:t>추천조건</a:t>
                      </a:r>
                    </a:p>
                  </a:txBody>
                  <a:tcPr marL="72000" marR="7200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콘텐츠 특성과 메시지 일관성</a:t>
                      </a:r>
                      <a:endParaRPr lang="en-US" altLang="ko-KR" sz="1000" dirty="0"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타깃 학습자</a:t>
                      </a:r>
                      <a:r>
                        <a:rPr lang="en-US" altLang="ko-KR" sz="1000" dirty="0"/>
                        <a:t>/</a:t>
                      </a:r>
                      <a:r>
                        <a:rPr lang="ko-KR" altLang="en-US" sz="1000" dirty="0"/>
                        <a:t>시청자와의 매칭</a:t>
                      </a:r>
                      <a:endParaRPr lang="en-US" altLang="ko-KR" sz="1000" dirty="0"/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/>
                        <a:t>성우 역량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발음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딕션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연기력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등</a:t>
                      </a:r>
                      <a:r>
                        <a:rPr lang="en-US" altLang="ko-KR" sz="1000" dirty="0"/>
                        <a:t>)</a:t>
                      </a:r>
                      <a:endParaRPr lang="en-US" altLang="ko-KR" sz="1000" dirty="0"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372996"/>
                  </a:ext>
                </a:extLst>
              </a:tr>
              <a:tr h="2985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항 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샘플 </a:t>
                      </a:r>
                      <a:r>
                        <a:rPr kumimoji="0" lang="en-US" altLang="ko-KR" sz="1000" b="1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Voice</a:t>
                      </a:r>
                      <a:endParaRPr kumimoji="0" lang="ko-KR" altLang="en-US" sz="1000" b="1" i="0" u="none" strike="noStrike" kern="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528527"/>
                  </a:ext>
                </a:extLst>
              </a:tr>
              <a:tr h="7857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성우 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여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defRPr kumimoji="1" sz="10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kumimoji="1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kumimoji="1" sz="9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 kumimoji="1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 kumimoji="1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8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17950"/>
                  </a:ext>
                </a:extLst>
              </a:tr>
              <a:tr h="7857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성우 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여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2057571"/>
                  </a:ext>
                </a:extLst>
              </a:tr>
              <a:tr h="7857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성우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3(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남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703440"/>
                  </a:ext>
                </a:extLst>
              </a:tr>
              <a:tr h="78570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성우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4(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남</a:t>
                      </a: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421510"/>
                  </a:ext>
                </a:extLst>
              </a:tr>
            </a:tbl>
          </a:graphicData>
        </a:graphic>
      </p:graphicFrame>
      <p:sp>
        <p:nvSpPr>
          <p:cNvPr id="16" name="Google Shape;143;p1">
            <a:extLst>
              <a:ext uri="{FF2B5EF4-FFF2-40B4-BE49-F238E27FC236}">
                <a16:creationId xmlns:a16="http://schemas.microsoft.com/office/drawing/2014/main" id="{E01AF493-86C1-EA36-3D3F-C4EEE6975376}"/>
              </a:ext>
            </a:extLst>
          </p:cNvPr>
          <p:cNvSpPr txBox="1"/>
          <p:nvPr/>
        </p:nvSpPr>
        <p:spPr>
          <a:xfrm>
            <a:off x="415160" y="1524000"/>
            <a:ext cx="165459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algn="l" rtl="0">
              <a:buClr>
                <a:srgbClr val="000000"/>
              </a:buClr>
              <a:buSzPts val="1200"/>
              <a:buFont typeface="Arial"/>
              <a:buNone/>
            </a:pPr>
            <a:r>
              <a:rPr lang="en-US" altLang="ko-KR" dirty="0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SME</a:t>
            </a:r>
            <a:r>
              <a:rPr lang="ko-KR" altLang="en-US" dirty="0" err="1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ㅣ오상진</a:t>
            </a:r>
            <a:r>
              <a:rPr lang="ko-KR" altLang="en-US" dirty="0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 </a:t>
            </a:r>
            <a:endParaRPr dirty="0">
              <a:solidFill>
                <a:srgbClr val="000000"/>
              </a:solidFill>
              <a:latin typeface="나눔스퀘어 네오 Bold"/>
              <a:ea typeface="나눔스퀘어 네오 Bold"/>
              <a:cs typeface="Arial"/>
              <a:sym typeface="Arial"/>
            </a:endParaRPr>
          </a:p>
        </p:txBody>
      </p:sp>
      <p:sp>
        <p:nvSpPr>
          <p:cNvPr id="17" name="Google Shape;143;p1">
            <a:extLst>
              <a:ext uri="{FF2B5EF4-FFF2-40B4-BE49-F238E27FC236}">
                <a16:creationId xmlns:a16="http://schemas.microsoft.com/office/drawing/2014/main" id="{36DAD915-E91F-DDDB-872F-DE64BCA74440}"/>
              </a:ext>
            </a:extLst>
          </p:cNvPr>
          <p:cNvSpPr txBox="1"/>
          <p:nvPr/>
        </p:nvSpPr>
        <p:spPr>
          <a:xfrm>
            <a:off x="7086600" y="1524000"/>
            <a:ext cx="623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algn="l" rtl="0"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dirty="0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성우</a:t>
            </a:r>
            <a:endParaRPr dirty="0">
              <a:solidFill>
                <a:srgbClr val="000000"/>
              </a:solidFill>
              <a:latin typeface="나눔스퀘어 네오 Bold"/>
              <a:ea typeface="나눔스퀘어 네오 Bold"/>
              <a:cs typeface="Arial"/>
              <a:sym typeface="Arial"/>
            </a:endParaRPr>
          </a:p>
        </p:txBody>
      </p:sp>
      <p:sp>
        <p:nvSpPr>
          <p:cNvPr id="18" name="Google Shape;143;p1">
            <a:extLst>
              <a:ext uri="{FF2B5EF4-FFF2-40B4-BE49-F238E27FC236}">
                <a16:creationId xmlns:a16="http://schemas.microsoft.com/office/drawing/2014/main" id="{18A23379-2F0A-6FBA-09DD-8E0F90EB0D30}"/>
              </a:ext>
            </a:extLst>
          </p:cNvPr>
          <p:cNvSpPr txBox="1"/>
          <p:nvPr/>
        </p:nvSpPr>
        <p:spPr>
          <a:xfrm>
            <a:off x="1709196" y="5753206"/>
            <a:ext cx="1059875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t" anchorCtr="0">
            <a:spAutoFit/>
          </a:bodyPr>
          <a:lstStyle/>
          <a:p>
            <a:pPr algn="l" rtl="0"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>
                <a:solidFill>
                  <a:srgbClr val="000000"/>
                </a:solidFill>
                <a:latin typeface="나눔스퀘어 네오 Bold"/>
                <a:ea typeface="나눔스퀘어 네오 Bold"/>
                <a:cs typeface="Arial"/>
                <a:sym typeface="Arial"/>
              </a:rPr>
              <a:t>주요연구분야</a:t>
            </a:r>
            <a:endParaRPr lang="en-US" altLang="ko-KR" sz="1200" dirty="0">
              <a:solidFill>
                <a:srgbClr val="000000"/>
              </a:solidFill>
              <a:latin typeface="나눔스퀘어 네오 Bold"/>
              <a:ea typeface="나눔스퀘어 네오 Bold"/>
              <a:cs typeface="Arial"/>
              <a:sym typeface="Arial"/>
            </a:endParaRPr>
          </a:p>
        </p:txBody>
      </p:sp>
      <p:graphicFrame>
        <p:nvGraphicFramePr>
          <p:cNvPr id="19" name="Google Shape;141;p1">
            <a:extLst>
              <a:ext uri="{FF2B5EF4-FFF2-40B4-BE49-F238E27FC236}">
                <a16:creationId xmlns:a16="http://schemas.microsoft.com/office/drawing/2014/main" id="{46919935-C5E4-0A9F-6C3B-DDDA04553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933091"/>
              </p:ext>
            </p:extLst>
          </p:nvPr>
        </p:nvGraphicFramePr>
        <p:xfrm>
          <a:off x="1772991" y="6065518"/>
          <a:ext cx="5313609" cy="4114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313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4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나눔스퀘어 네오 Regular"/>
                          <a:ea typeface="나눔스퀘어 네오 Regular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/>
                        <a:t>창의와 혁신</a:t>
                      </a:r>
                      <a:r>
                        <a:rPr lang="en-US" altLang="ko-KR" sz="1000" b="0" dirty="0"/>
                        <a:t>, HR Analytics, </a:t>
                      </a:r>
                      <a:r>
                        <a:rPr lang="ko-KR" altLang="en-US" sz="1000" b="0" dirty="0"/>
                        <a:t>디지털 </a:t>
                      </a:r>
                      <a:r>
                        <a:rPr lang="ko-KR" altLang="en-US" sz="1000" b="0" dirty="0" err="1"/>
                        <a:t>트랜스포메이션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혁신행동</a:t>
                      </a:r>
                      <a:r>
                        <a:rPr lang="en-US" altLang="ko-KR" sz="1000" b="0" dirty="0"/>
                        <a:t>, DT </a:t>
                      </a:r>
                      <a:r>
                        <a:rPr lang="ko-KR" altLang="en-US" sz="1000" b="0" dirty="0"/>
                        <a:t>코칭 리더십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분산된 리더십</a:t>
                      </a:r>
                      <a:r>
                        <a:rPr lang="en-US" altLang="ko-KR" sz="1000" b="0" dirty="0"/>
                        <a:t>(Distributed Leadership), </a:t>
                      </a:r>
                      <a:r>
                        <a:rPr lang="ko-KR" altLang="en-US" sz="1000" b="0" dirty="0"/>
                        <a:t>디지털 리더십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기술경영</a:t>
                      </a:r>
                      <a:r>
                        <a:rPr lang="en-US" altLang="ko-KR" sz="1000" b="0" dirty="0"/>
                        <a:t>, </a:t>
                      </a:r>
                      <a:r>
                        <a:rPr lang="ko-KR" altLang="en-US" sz="1000" b="0" dirty="0"/>
                        <a:t>빅데이터</a:t>
                      </a:r>
                      <a:r>
                        <a:rPr lang="en-US" altLang="ko-KR" sz="1000" b="0" dirty="0"/>
                        <a:t>, AI </a:t>
                      </a:r>
                      <a:r>
                        <a:rPr lang="ko-KR" altLang="en-US" sz="1000" b="0" dirty="0"/>
                        <a:t>경영전략</a:t>
                      </a:r>
                      <a:r>
                        <a:rPr lang="en-US" altLang="ko-KR" sz="1000" b="0" dirty="0"/>
                        <a:t>, ESG </a:t>
                      </a:r>
                      <a:r>
                        <a:rPr lang="ko-KR" altLang="en-US" sz="1000" b="0" dirty="0"/>
                        <a:t>등</a:t>
                      </a:r>
                    </a:p>
                  </a:txBody>
                  <a:tcPr marL="60629" marR="60629" marT="30314" marB="30314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" name="여_1_">
            <a:hlinkClick r:id="" action="ppaction://media"/>
            <a:extLst>
              <a:ext uri="{FF2B5EF4-FFF2-40B4-BE49-F238E27FC236}">
                <a16:creationId xmlns:a16="http://schemas.microsoft.com/office/drawing/2014/main" id="{A2B55FAF-9F7D-2ED7-34F6-777262F73D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657397" y="3495040"/>
            <a:ext cx="487363" cy="487363"/>
          </a:xfrm>
          <a:prstGeom prst="rect">
            <a:avLst/>
          </a:prstGeom>
        </p:spPr>
      </p:pic>
      <p:pic>
        <p:nvPicPr>
          <p:cNvPr id="21" name="여_2">
            <a:hlinkClick r:id="" action="ppaction://media"/>
            <a:extLst>
              <a:ext uri="{FF2B5EF4-FFF2-40B4-BE49-F238E27FC236}">
                <a16:creationId xmlns:a16="http://schemas.microsoft.com/office/drawing/2014/main" id="{BA7B2D1B-9F36-0BFC-6C65-21DFF195FBF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657397" y="4270913"/>
            <a:ext cx="487363" cy="487363"/>
          </a:xfrm>
          <a:prstGeom prst="rect">
            <a:avLst/>
          </a:prstGeom>
        </p:spPr>
      </p:pic>
      <p:pic>
        <p:nvPicPr>
          <p:cNvPr id="22" name="남_1">
            <a:hlinkClick r:id="" action="ppaction://media"/>
            <a:extLst>
              <a:ext uri="{FF2B5EF4-FFF2-40B4-BE49-F238E27FC236}">
                <a16:creationId xmlns:a16="http://schemas.microsoft.com/office/drawing/2014/main" id="{710A71F3-6F16-E56E-EE6F-42EB7FF1857B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657397" y="5822660"/>
            <a:ext cx="487363" cy="487363"/>
          </a:xfrm>
          <a:prstGeom prst="rect">
            <a:avLst/>
          </a:prstGeom>
        </p:spPr>
      </p:pic>
      <p:pic>
        <p:nvPicPr>
          <p:cNvPr id="23" name="남_2_">
            <a:hlinkClick r:id="" action="ppaction://media"/>
            <a:extLst>
              <a:ext uri="{FF2B5EF4-FFF2-40B4-BE49-F238E27FC236}">
                <a16:creationId xmlns:a16="http://schemas.microsoft.com/office/drawing/2014/main" id="{46063865-511A-137D-4FB1-3D3523F645D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657397" y="5046786"/>
            <a:ext cx="487363" cy="487363"/>
          </a:xfrm>
          <a:prstGeom prst="rect">
            <a:avLst/>
          </a:prstGeom>
        </p:spPr>
      </p:pic>
      <p:pic>
        <p:nvPicPr>
          <p:cNvPr id="25" name="A1019529수정.jpg" descr="A1019529수정.jpg">
            <a:extLst>
              <a:ext uri="{FF2B5EF4-FFF2-40B4-BE49-F238E27FC236}">
                <a16:creationId xmlns:a16="http://schemas.microsoft.com/office/drawing/2014/main" id="{54CFBE0B-D3A9-081F-4B4A-79BD836CFAD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2595" t="2595" r="2595" b="14267"/>
          <a:stretch>
            <a:fillRect/>
          </a:stretch>
        </p:blipFill>
        <p:spPr>
          <a:xfrm>
            <a:off x="486280" y="1892275"/>
            <a:ext cx="1265445" cy="15367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말풍선: 타원형 2">
            <a:extLst>
              <a:ext uri="{FF2B5EF4-FFF2-40B4-BE49-F238E27FC236}">
                <a16:creationId xmlns:a16="http://schemas.microsoft.com/office/drawing/2014/main" id="{4AEB8D04-630A-5161-8650-CCC60F9E7BCD}"/>
              </a:ext>
            </a:extLst>
          </p:cNvPr>
          <p:cNvSpPr/>
          <p:nvPr/>
        </p:nvSpPr>
        <p:spPr>
          <a:xfrm>
            <a:off x="10419009" y="2817560"/>
            <a:ext cx="1010991" cy="338152"/>
          </a:xfrm>
          <a:prstGeom prst="wedgeEllipseCallout">
            <a:avLst>
              <a:gd name="adj1" fmla="val -27678"/>
              <a:gd name="adj2" fmla="val 72456"/>
            </a:avLst>
          </a:prstGeom>
          <a:solidFill>
            <a:srgbClr val="7030A0"/>
          </a:solidFill>
          <a:ln w="222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sz="1100" kern="12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Hey, Listen</a:t>
            </a:r>
            <a:endParaRPr lang="ko-KR" altLang="en-US" sz="1100" kern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1A877AD-BEDE-AABD-3153-3CBCBF013B66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32P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84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775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2265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0589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38609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  <p:audio>
              <p:cMediaNode vol="8000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3A4C-18EF-1223-3A8F-AF5072766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0315FF68-3AC0-087D-C7B3-56397E950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082415"/>
              </p:ext>
            </p:extLst>
          </p:nvPr>
        </p:nvGraphicFramePr>
        <p:xfrm>
          <a:off x="533400" y="1854200"/>
          <a:ext cx="11026287" cy="431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853">
                  <a:extLst>
                    <a:ext uri="{9D8B030D-6E8A-4147-A177-3AD203B41FA5}">
                      <a16:colId xmlns:a16="http://schemas.microsoft.com/office/drawing/2014/main" val="2302890196"/>
                    </a:ext>
                  </a:extLst>
                </a:gridCol>
                <a:gridCol w="5110959">
                  <a:extLst>
                    <a:ext uri="{9D8B030D-6E8A-4147-A177-3AD203B41FA5}">
                      <a16:colId xmlns:a16="http://schemas.microsoft.com/office/drawing/2014/main" val="2415015964"/>
                    </a:ext>
                  </a:extLst>
                </a:gridCol>
                <a:gridCol w="1127417">
                  <a:extLst>
                    <a:ext uri="{9D8B030D-6E8A-4147-A177-3AD203B41FA5}">
                      <a16:colId xmlns:a16="http://schemas.microsoft.com/office/drawing/2014/main" val="1792568151"/>
                    </a:ext>
                  </a:extLst>
                </a:gridCol>
                <a:gridCol w="1052256">
                  <a:extLst>
                    <a:ext uri="{9D8B030D-6E8A-4147-A177-3AD203B41FA5}">
                      <a16:colId xmlns:a16="http://schemas.microsoft.com/office/drawing/2014/main" val="2875852920"/>
                    </a:ext>
                  </a:extLst>
                </a:gridCol>
                <a:gridCol w="2705802">
                  <a:extLst>
                    <a:ext uri="{9D8B030D-6E8A-4147-A177-3AD203B41FA5}">
                      <a16:colId xmlns:a16="http://schemas.microsoft.com/office/drawing/2014/main" val="458504631"/>
                    </a:ext>
                  </a:extLst>
                </a:gridCol>
              </a:tblGrid>
              <a:tr h="344242"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프로젝트 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R&amp;R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322613"/>
                  </a:ext>
                </a:extLst>
              </a:tr>
              <a:tr h="1094866">
                <a:tc>
                  <a:txBody>
                    <a:bodyPr/>
                    <a:lstStyle/>
                    <a:p>
                      <a:pPr latinLnBrk="1">
                        <a:lnSpc>
                          <a:spcPct val="120000"/>
                        </a:lnSpc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수행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PM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(Project Mgr.)</a:t>
                      </a:r>
                    </a:p>
                  </a:txBody>
                  <a:tcPr marL="72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spcBef>
                          <a:spcPts val="200"/>
                        </a:spcBef>
                        <a:buClr>
                          <a:srgbClr val="F5F5F5"/>
                        </a:buClr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이미영 컨설팅사업본부 </a:t>
                      </a:r>
                      <a:r>
                        <a:rPr lang="ko-KR" altLang="en-US" sz="1000" b="1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기업성장</a:t>
                      </a:r>
                      <a:r>
                        <a:rPr lang="en-US" altLang="ko-KR" sz="1000" b="1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000" b="1" dirty="0" err="1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혁신실</a:t>
                      </a:r>
                      <a:r>
                        <a:rPr lang="en-US" altLang="ko-KR" sz="1000" b="1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 </a:t>
                      </a:r>
                      <a:r>
                        <a:rPr lang="ko-KR" altLang="en-US" sz="1000" b="1" dirty="0">
                          <a:solidFill>
                            <a:srgbClr val="1E1E1E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실장</a:t>
                      </a:r>
                      <a:endParaRPr lang="en-US" altLang="ko-KR" sz="1000" b="1" dirty="0">
                        <a:solidFill>
                          <a:srgbClr val="1E1E1E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0">
                        <a:spcBef>
                          <a:spcPts val="200"/>
                        </a:spcBef>
                        <a:buClr>
                          <a:srgbClr val="F5F5F5"/>
                        </a:buClr>
                        <a:defRPr/>
                      </a:pPr>
                      <a:r>
                        <a:rPr lang="ko-KR" altLang="en-US" sz="900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고려대학교 영어영문학 학사</a:t>
                      </a:r>
                      <a:endParaRPr lang="en-US" altLang="ko-KR" sz="900" noProof="0" dirty="0">
                        <a:solidFill>
                          <a:prstClr val="black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0">
                        <a:spcBef>
                          <a:spcPts val="200"/>
                        </a:spcBef>
                        <a:buClr>
                          <a:srgbClr val="F5F5F5"/>
                        </a:buClr>
                        <a:defRPr/>
                      </a:pP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전문분야 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DAX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교육체계 수립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온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오프라인 과정 기획 및 개발</a:t>
                      </a:r>
                      <a:r>
                        <a:rPr lang="en-US" altLang="ko-KR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000000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외</a:t>
                      </a:r>
                      <a:endParaRPr lang="en-US" altLang="ko-KR" sz="900" dirty="0">
                        <a:solidFill>
                          <a:srgbClr val="000000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latinLnBrk="0">
                        <a:spcBef>
                          <a:spcPts val="200"/>
                        </a:spcBef>
                        <a:buClr>
                          <a:srgbClr val="F5F5F5"/>
                        </a:buClr>
                        <a:defRPr/>
                      </a:pP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DT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분야 레퍼런스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현대중공업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현대모비스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KB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증권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하나은행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KB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국민은행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신한은행</a:t>
                      </a: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ABL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생명 외 다수</a:t>
                      </a:r>
                      <a:endParaRPr lang="ko-KR" altLang="en-US" sz="900" noProof="0" dirty="0">
                        <a:solidFill>
                          <a:prstClr val="black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92000" marR="0" marT="180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Network</a:t>
                      </a:r>
                      <a:b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Expert Group</a:t>
                      </a:r>
                    </a:p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외부전문가 그룹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)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050" b="1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디지털 전환 전문기관 협업체계</a:t>
                      </a:r>
                      <a:br>
                        <a:rPr lang="en-US" altLang="ko-KR" sz="1050" b="1" kern="1200" dirty="0">
                          <a:solidFill>
                            <a:schemeClr val="tx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kumimoji="0" lang="en-US" altLang="ko-KR" sz="9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전환 및 확산을 위한 교육 방향 설정 및 프로그램 기획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·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자문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   - </a:t>
                      </a:r>
                      <a:r>
                        <a:rPr lang="ko-KR" altLang="en-US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한국</a:t>
                      </a: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</a:t>
                      </a:r>
                      <a:r>
                        <a:rPr lang="ko-KR" altLang="en-US" sz="900" kern="0" dirty="0" err="1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리터러시</a:t>
                      </a:r>
                      <a:r>
                        <a:rPr lang="ko-KR" altLang="en-US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협회</a:t>
                      </a: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인공지능연구원</a:t>
                      </a: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(AIRI)</a:t>
                      </a:r>
                      <a:b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</a:b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   - </a:t>
                      </a:r>
                      <a:r>
                        <a:rPr lang="ko-KR" altLang="en-US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성균관대학교 </a:t>
                      </a: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K-</a:t>
                      </a:r>
                      <a:r>
                        <a:rPr lang="ko-KR" altLang="en-US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하이테크 사업본부</a:t>
                      </a:r>
                      <a:r>
                        <a:rPr lang="en-US" altLang="ko-KR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900" kern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경북대학교 데이터 융복합 연구원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619462"/>
                  </a:ext>
                </a:extLst>
              </a:tr>
              <a:tr h="931364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프로젝트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Member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(Project Member)</a:t>
                      </a:r>
                    </a:p>
                  </a:txBody>
                  <a:tcPr marL="72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김윤석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미래성장랩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랩장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서강대학교 사회학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신문방송학 학사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전문분야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이러닝 과정 설계 및 개발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DT</a:t>
                      </a:r>
                      <a:r>
                        <a:rPr lang="ko-KR" altLang="en-US" sz="900" u="none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분야 레퍼런스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 및 활용 관련 과정</a:t>
                      </a:r>
                      <a:endParaRPr lang="ko-KR" altLang="en-US" sz="900" baseline="-25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92000" marR="0" marT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프로젝트</a:t>
                      </a: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Member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(Project Member)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72000" marR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IT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개발 및 운영</a:t>
                      </a:r>
                      <a:b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서비스 지원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0" marR="0" marT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알파코 시스템 지원팀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컴퓨터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관련 전공 및 고 숙련자로 구성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LMS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플랫폼 개발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시스템 개발 및 운영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marT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258812"/>
                  </a:ext>
                </a:extLst>
              </a:tr>
              <a:tr h="93136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조혜정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미래성장랩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인하대학교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프랑스문화학 학사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전문분야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이러닝 과정 설계 및 개발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DT</a:t>
                      </a:r>
                      <a:r>
                        <a:rPr lang="ko-KR" altLang="en-US" sz="900" u="none" noProof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분야 레퍼런스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 및 활용 관련 과정</a:t>
                      </a:r>
                      <a:endParaRPr lang="ko-KR" altLang="en-US" sz="900" baseline="-250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92000" marR="0" marT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온라인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오프라인</a:t>
                      </a:r>
                      <a:b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학습 완주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지원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0" marR="0" marT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일파코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온라인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오프라인 운영 전담 서비스팀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연간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2,000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건 이상 과정 운영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여정 전반 관리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marT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677198"/>
                  </a:ext>
                </a:extLst>
              </a:tr>
              <a:tr h="101660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0000" marR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강민지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R&amp;D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실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책임컨설턴트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상명대학교 국어국문학과 석사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전문분야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이러닝 과정 설계 및 개발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rgbClr val="F5F5F5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DT</a:t>
                      </a:r>
                      <a:r>
                        <a:rPr lang="ko-KR" altLang="en-US" sz="900" u="none" noProof="0" dirty="0">
                          <a:solidFill>
                            <a:prstClr val="black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분야 레퍼런스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생성형 </a:t>
                      </a:r>
                      <a:r>
                        <a:rPr kumimoji="0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이해 및 활용 관련 과정</a:t>
                      </a:r>
                      <a:endParaRPr kumimoji="0" lang="ko-KR" altLang="en-US" sz="900" b="0" i="0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92000" marR="0" marT="72000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0000" marR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온라인 </a:t>
                      </a: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· </a:t>
                      </a: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오프라인</a:t>
                      </a:r>
                      <a:b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</a:br>
                      <a:r>
                        <a:rPr kumimoji="0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학습 완주 지원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marL="0" marR="0" marT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일파코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온라인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오프라인 운영 전담 서비스팀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연간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2,000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건 이상 과정 운영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학습 여정 전반 관리</a:t>
                      </a:r>
                      <a:endParaRPr kumimoji="0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72000" marR="0" marT="7200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555100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3A6F08DA-7DA4-F616-B81C-CD6C85001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프로젝트 투입인력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+mj-cs"/>
              </a:rPr>
              <a:t> 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j-cs"/>
              </a:rPr>
              <a:t>개발 전문 인력</a:t>
            </a:r>
            <a:endParaRPr lang="ko-KR" altLang="en-US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36574-2521-B386-1E33-A4BBC4DCEB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금번 프로젝트에 참여하는 내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외부 전문 인력은 해당 분야 </a:t>
            </a:r>
            <a:r>
              <a:rPr lang="ko-KR" altLang="en-US" dirty="0" err="1">
                <a:solidFill>
                  <a:schemeClr val="tx1"/>
                </a:solidFill>
              </a:rPr>
              <a:t>숙련가들로</a:t>
            </a:r>
            <a:r>
              <a:rPr lang="ko-KR" altLang="en-US" dirty="0">
                <a:solidFill>
                  <a:schemeClr val="tx1"/>
                </a:solidFill>
              </a:rPr>
              <a:t> 구성하여 전담팀을 별도 편제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프로젝트 기간 중 본 프로젝트에 </a:t>
            </a:r>
            <a:r>
              <a:rPr lang="en-US" altLang="ko-KR" dirty="0">
                <a:solidFill>
                  <a:schemeClr val="tx1"/>
                </a:solidFill>
              </a:rPr>
              <a:t>100% </a:t>
            </a:r>
            <a:r>
              <a:rPr lang="ko-KR" altLang="en-US" dirty="0">
                <a:solidFill>
                  <a:schemeClr val="tx1"/>
                </a:solidFill>
              </a:rPr>
              <a:t>몰입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A380E6F-7B98-D147-CF08-424BEADF1C4A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0" t="5770" r="4947" b="20060"/>
          <a:stretch/>
        </p:blipFill>
        <p:spPr bwMode="auto">
          <a:xfrm>
            <a:off x="1651114" y="2415822"/>
            <a:ext cx="615695" cy="7136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94443570-1FD4-EBB8-943E-AFBB355DA78D}"/>
              </a:ext>
            </a:extLst>
          </p:cNvPr>
          <p:cNvPicPr preferRelativeResize="0"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4" b="5064"/>
          <a:stretch/>
        </p:blipFill>
        <p:spPr bwMode="auto">
          <a:xfrm>
            <a:off x="1651114" y="4294239"/>
            <a:ext cx="615695" cy="7136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F240D4EE-1D14-961B-8323-17E1DC50C91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14" y="3392168"/>
            <a:ext cx="615600" cy="7128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D4C447F-5E0B-BE73-9FF1-52D0FCD57F7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14" y="5229224"/>
            <a:ext cx="615695" cy="71364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06DD533-5B9C-CB93-4388-77C6B9481872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37P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4784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F1EE-C435-E3A8-EA89-756784B8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F259C-6D7C-8ADC-52D9-DE021855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보안 대책 매뉴얼화 </a:t>
            </a:r>
            <a:endParaRPr lang="ko-KR" altLang="en-US" sz="13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55AA9D9-16C0-EF39-F839-F30283003A2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sz="1200" b="1" dirty="0"/>
              <a:t>과정 운영 시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습득하게 되는 내부 정보 또는 산출물에 대해 보안 활동을 명확히</a:t>
            </a:r>
            <a:r>
              <a:rPr lang="ko-KR" altLang="en-US" sz="1200" dirty="0"/>
              <a:t> 하고</a:t>
            </a:r>
            <a:r>
              <a:rPr lang="en-US" altLang="ko-KR" sz="1200" dirty="0"/>
              <a:t>, HD</a:t>
            </a:r>
            <a:r>
              <a:rPr lang="ko-KR" altLang="en-US" sz="1200" dirty="0"/>
              <a:t>현대 정책 및 절차를 충실히 이행하여 철저한 보안관리를 실시함</a:t>
            </a:r>
            <a:endParaRPr lang="en-US" altLang="ko-KR" sz="1200" dirty="0"/>
          </a:p>
        </p:txBody>
      </p:sp>
      <p:graphicFrame>
        <p:nvGraphicFramePr>
          <p:cNvPr id="6" name="표 9">
            <a:extLst>
              <a:ext uri="{FF2B5EF4-FFF2-40B4-BE49-F238E27FC236}">
                <a16:creationId xmlns:a16="http://schemas.microsoft.com/office/drawing/2014/main" id="{5E6E1609-E9FA-009A-F232-E5DC4D6A1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445682"/>
              </p:ext>
            </p:extLst>
          </p:nvPr>
        </p:nvGraphicFramePr>
        <p:xfrm>
          <a:off x="615929" y="1628801"/>
          <a:ext cx="10960143" cy="885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8220">
                  <a:extLst>
                    <a:ext uri="{9D8B030D-6E8A-4147-A177-3AD203B41FA5}">
                      <a16:colId xmlns:a16="http://schemas.microsoft.com/office/drawing/2014/main" val="201739958"/>
                    </a:ext>
                  </a:extLst>
                </a:gridCol>
                <a:gridCol w="3681923">
                  <a:extLst>
                    <a:ext uri="{9D8B030D-6E8A-4147-A177-3AD203B41FA5}">
                      <a16:colId xmlns:a16="http://schemas.microsoft.com/office/drawing/2014/main" val="2498061501"/>
                    </a:ext>
                  </a:extLst>
                </a:gridCol>
              </a:tblGrid>
              <a:tr h="2952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세부 내용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5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책임자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85512"/>
                  </a:ext>
                </a:extLst>
              </a:tr>
              <a:tr h="2952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자체 내부 보안관리 체계를 바탕으로 발생 가능한 모든 위험요소와 취약점을 사전에 파악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이미영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Project Manager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516291"/>
                  </a:ext>
                </a:extLst>
              </a:tr>
              <a:tr h="2952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운영 中 발생할 수 있는 보안 문제에 대한 적절한 대책 수립 및 정보자산 보호 활동 시행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이미영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Project Manager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982522"/>
                  </a:ext>
                </a:extLst>
              </a:tr>
            </a:tbl>
          </a:graphicData>
        </a:graphic>
      </p:graphicFrame>
      <p:graphicFrame>
        <p:nvGraphicFramePr>
          <p:cNvPr id="16" name="표 39">
            <a:extLst>
              <a:ext uri="{FF2B5EF4-FFF2-40B4-BE49-F238E27FC236}">
                <a16:creationId xmlns:a16="http://schemas.microsoft.com/office/drawing/2014/main" id="{2D2BA676-E850-3B8D-F6EE-5B54CA467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292288"/>
              </p:ext>
            </p:extLst>
          </p:nvPr>
        </p:nvGraphicFramePr>
        <p:xfrm>
          <a:off x="602158" y="2976056"/>
          <a:ext cx="5551585" cy="3489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763">
                  <a:extLst>
                    <a:ext uri="{9D8B030D-6E8A-4147-A177-3AD203B41FA5}">
                      <a16:colId xmlns:a16="http://schemas.microsoft.com/office/drawing/2014/main" val="47728115"/>
                    </a:ext>
                  </a:extLst>
                </a:gridCol>
                <a:gridCol w="4391822">
                  <a:extLst>
                    <a:ext uri="{9D8B030D-6E8A-4147-A177-3AD203B41FA5}">
                      <a16:colId xmlns:a16="http://schemas.microsoft.com/office/drawing/2014/main" val="3037689177"/>
                    </a:ext>
                  </a:extLst>
                </a:gridCol>
              </a:tblGrid>
              <a:tr h="3384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kern="1200" dirty="0">
                          <a:solidFill>
                            <a:schemeClr val="bg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보안대책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413933"/>
                  </a:ext>
                </a:extLst>
              </a:tr>
              <a:tr h="837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문서자료 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보안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수행장소 및 지저장소 내에서만 문서 생성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문서는 화재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도난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비인가자의 접근이 통제된 시설에 보관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모든 문서는 수급인의 소유금지 및 임의 복사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외부유출 금지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81649"/>
                  </a:ext>
                </a:extLst>
              </a:tr>
              <a:tr h="837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파일자료 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보안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모든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O/A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기기는 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부 책임자를 지정하여 관리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파일자료는 공유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PC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나 파일서버에 보관하지 않는 것 원칙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업무용 노트북 운용현황은 보안책임자의 책임하에 관리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2152"/>
                  </a:ext>
                </a:extLst>
              </a:tr>
              <a:tr h="6395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관리적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물리적 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인원보안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 참여 인원 전원에 대해 정보 보안각서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904882"/>
                  </a:ext>
                </a:extLst>
              </a:tr>
              <a:tr h="8372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데이터 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접근통제 </a:t>
                      </a:r>
                      <a:b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인원보안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사용자별 접근권한 부여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IP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주소는 대외비로 분류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취급 및 관리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171450" indent="-171450" algn="l" latinLnBrk="1"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주기적 비밀번호 변경 및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ID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와 동일한 비밀번호 사용금지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182685"/>
                  </a:ext>
                </a:extLst>
              </a:tr>
            </a:tbl>
          </a:graphicData>
        </a:graphic>
      </p:graphicFrame>
      <p:graphicFrame>
        <p:nvGraphicFramePr>
          <p:cNvPr id="25" name="표 44">
            <a:extLst>
              <a:ext uri="{FF2B5EF4-FFF2-40B4-BE49-F238E27FC236}">
                <a16:creationId xmlns:a16="http://schemas.microsoft.com/office/drawing/2014/main" id="{D4A369DF-C314-B125-A904-3B4942AF4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734998"/>
              </p:ext>
            </p:extLst>
          </p:nvPr>
        </p:nvGraphicFramePr>
        <p:xfrm>
          <a:off x="6755498" y="5250642"/>
          <a:ext cx="2336756" cy="121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756">
                  <a:extLst>
                    <a:ext uri="{9D8B030D-6E8A-4147-A177-3AD203B41FA5}">
                      <a16:colId xmlns:a16="http://schemas.microsoft.com/office/drawing/2014/main" val="2605562783"/>
                    </a:ext>
                  </a:extLst>
                </a:gridCol>
              </a:tblGrid>
              <a:tr h="459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baseline="30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1)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정책 및 절차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907173"/>
                  </a:ext>
                </a:extLst>
              </a:tr>
              <a:tr h="755595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프로젝트의 보안을 위해 표준화된 정책 또는 절차 대책 수립 </a:t>
                      </a:r>
                      <a:b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</a:b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사전 위험요소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취약점 차단</a:t>
                      </a: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42222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C118FB4-B634-FA10-D118-C0A4775A1BDF}"/>
              </a:ext>
            </a:extLst>
          </p:cNvPr>
          <p:cNvSpPr txBox="1"/>
          <p:nvPr/>
        </p:nvSpPr>
        <p:spPr>
          <a:xfrm>
            <a:off x="532729" y="2636912"/>
            <a:ext cx="881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| </a:t>
            </a:r>
            <a:r>
              <a:rPr lang="ko-KR" altLang="en-US" sz="1200" b="1" dirty="0">
                <a:solidFill>
                  <a:schemeClr val="tx2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보안 대책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40CA0D3C-5C10-5D99-AEBD-ADF3E0E91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6587"/>
              </p:ext>
            </p:extLst>
          </p:nvPr>
        </p:nvGraphicFramePr>
        <p:xfrm>
          <a:off x="9211363" y="5250642"/>
          <a:ext cx="2336756" cy="1215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756">
                  <a:extLst>
                    <a:ext uri="{9D8B030D-6E8A-4147-A177-3AD203B41FA5}">
                      <a16:colId xmlns:a16="http://schemas.microsoft.com/office/drawing/2014/main" val="2605562783"/>
                    </a:ext>
                  </a:extLst>
                </a:gridCol>
              </a:tblGrid>
              <a:tr h="4596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kern="1200" baseline="300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2)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통제조직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907173"/>
                  </a:ext>
                </a:extLst>
              </a:tr>
              <a:tr h="755595"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HD</a:t>
                      </a:r>
                      <a:r>
                        <a:rPr lang="ko-KR" altLang="en-US" sz="110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현대 데이터를 조직차원에서 보호하도록 통제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4222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D78F29-8507-8DAC-2D2E-DA52D188DA06}"/>
              </a:ext>
            </a:extLst>
          </p:cNvPr>
          <p:cNvSpPr txBox="1"/>
          <p:nvPr/>
        </p:nvSpPr>
        <p:spPr>
          <a:xfrm>
            <a:off x="6657730" y="2636912"/>
            <a:ext cx="1830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| </a:t>
            </a:r>
            <a:r>
              <a:rPr lang="ko-KR" altLang="en-US" sz="1200" b="1" dirty="0">
                <a:solidFill>
                  <a:schemeClr val="tx2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문서 등 고객사 보안관리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207D49-E788-2957-96E8-42FE5C7702AB}"/>
              </a:ext>
            </a:extLst>
          </p:cNvPr>
          <p:cNvGrpSpPr/>
          <p:nvPr/>
        </p:nvGrpSpPr>
        <p:grpSpPr>
          <a:xfrm>
            <a:off x="6755498" y="3442108"/>
            <a:ext cx="4792621" cy="1215230"/>
            <a:chOff x="5169024" y="3653931"/>
            <a:chExt cx="3974891" cy="1215230"/>
          </a:xfrm>
        </p:grpSpPr>
        <p:pic>
          <p:nvPicPr>
            <p:cNvPr id="13" name="Picture 2" descr="문서보안 어떻게 처리하시나요?">
              <a:extLst>
                <a:ext uri="{FF2B5EF4-FFF2-40B4-BE49-F238E27FC236}">
                  <a16:creationId xmlns:a16="http://schemas.microsoft.com/office/drawing/2014/main" id="{802B192F-72CB-CCB6-211F-C01A542395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9024" y="3653931"/>
              <a:ext cx="1999921" cy="12152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F98FC29A-F7CB-12E2-B669-D82E7B4AFF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/>
            <a:srcRect l="7154" r="27320"/>
            <a:stretch/>
          </p:blipFill>
          <p:spPr bwMode="auto">
            <a:xfrm>
              <a:off x="7205863" y="3653931"/>
              <a:ext cx="1938052" cy="1215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33AA2A-EE30-EDA5-7AFE-C62E8CD45AD5}"/>
              </a:ext>
            </a:extLst>
          </p:cNvPr>
          <p:cNvSpPr/>
          <p:nvPr/>
        </p:nvSpPr>
        <p:spPr>
          <a:xfrm>
            <a:off x="6657730" y="2881588"/>
            <a:ext cx="5296129" cy="560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4138" marR="0" lvl="0" indent="-84138" algn="l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HD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현대 관련 정보</a:t>
            </a:r>
            <a:r>
              <a:rPr kumimoji="1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</a:t>
            </a: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획득 자료는 사전 서면동의 없이 유출 금지</a:t>
            </a:r>
          </a:p>
          <a:p>
            <a:pPr marL="84138" marR="0" lvl="0" indent="-84138" algn="l" defTabSz="914400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교육 산출물 유출로 인한 결과에 대하여는 법률적 책임을 다함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7784A9-C494-A002-A477-F8710B997450}"/>
              </a:ext>
            </a:extLst>
          </p:cNvPr>
          <p:cNvSpPr txBox="1"/>
          <p:nvPr/>
        </p:nvSpPr>
        <p:spPr>
          <a:xfrm>
            <a:off x="6657730" y="4712037"/>
            <a:ext cx="11737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2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| </a:t>
            </a:r>
            <a:r>
              <a:rPr lang="ko-KR" altLang="en-US" sz="1200" b="1" dirty="0">
                <a:solidFill>
                  <a:schemeClr val="tx2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보안관리 방안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596927A-DBBD-96A8-F120-BE711B270565}"/>
              </a:ext>
            </a:extLst>
          </p:cNvPr>
          <p:cNvGrpSpPr/>
          <p:nvPr/>
        </p:nvGrpSpPr>
        <p:grpSpPr>
          <a:xfrm>
            <a:off x="8006425" y="4824893"/>
            <a:ext cx="2455865" cy="432100"/>
            <a:chOff x="7672051" y="4824893"/>
            <a:chExt cx="2455865" cy="432100"/>
          </a:xfrm>
        </p:grpSpPr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84EB6B7F-CDDC-20B5-264C-7D4817992110}"/>
                </a:ext>
              </a:extLst>
            </p:cNvPr>
            <p:cNvCxnSpPr>
              <a:cxnSpLocks/>
              <a:stCxn id="25" idx="0"/>
              <a:endCxn id="26" idx="0"/>
            </p:cNvCxnSpPr>
            <p:nvPr/>
          </p:nvCxnSpPr>
          <p:spPr>
            <a:xfrm rot="5400000" flipH="1" flipV="1">
              <a:off x="8893634" y="4022710"/>
              <a:ext cx="12700" cy="2455865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ABA234D-3F8D-D7A4-D1EB-394E3D85CF87}"/>
                </a:ext>
              </a:extLst>
            </p:cNvPr>
            <p:cNvSpPr/>
            <p:nvPr/>
          </p:nvSpPr>
          <p:spPr>
            <a:xfrm>
              <a:off x="7869802" y="4824893"/>
              <a:ext cx="1736435" cy="288831"/>
            </a:xfrm>
            <a:prstGeom prst="rect">
              <a:avLst/>
            </a:prstGeom>
            <a:solidFill>
              <a:srgbClr val="456DE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latin typeface="나눔스퀘어 네오 Regular" panose="00000500000000000000" pitchFamily="2" charset="-127"/>
                  <a:ea typeface="나눔스퀘어 네오 Regular" panose="00000500000000000000" pitchFamily="2" charset="-127"/>
                </a:rPr>
                <a:t>보안관리</a:t>
              </a: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3E4235-3F13-A484-F490-5F67EBCF9659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39P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3263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9140E-4919-75D9-AFF3-15DEAA427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A16EEEC-AC0C-B6CB-6859-B869D7DC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88441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158BCD4-D5B9-7512-64D6-FF69FB169445}"/>
              </a:ext>
            </a:extLst>
          </p:cNvPr>
          <p:cNvSpPr/>
          <p:nvPr/>
        </p:nvSpPr>
        <p:spPr>
          <a:xfrm>
            <a:off x="0" y="0"/>
            <a:ext cx="5029200" cy="6884416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A4C4E-2FCC-FC89-0C97-EAE1B1C5AA6B}"/>
              </a:ext>
            </a:extLst>
          </p:cNvPr>
          <p:cNvSpPr txBox="1"/>
          <p:nvPr/>
        </p:nvSpPr>
        <p:spPr>
          <a:xfrm>
            <a:off x="6023368" y="3920308"/>
            <a:ext cx="1581005" cy="400559"/>
          </a:xfrm>
          <a:prstGeom prst="rect">
            <a:avLst/>
          </a:prstGeom>
          <a:solidFill>
            <a:schemeClr val="bg1"/>
          </a:solidFill>
        </p:spPr>
        <p:txBody>
          <a:bodyPr wrap="none" lIns="36000" anchor="t" anchorCtr="0">
            <a:spAutoFit/>
          </a:bodyPr>
          <a:lstStyle/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40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소요 예상 비용</a:t>
            </a:r>
            <a:endParaRPr lang="en-US" altLang="ko-KR" sz="1400" dirty="0">
              <a:ln>
                <a:solidFill>
                  <a:srgbClr val="4F81BD">
                    <a:alpha val="0"/>
                  </a:srgbClr>
                </a:solidFill>
              </a:ln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6F8138-F37E-61C9-7EA3-03F09F9F0175}"/>
              </a:ext>
            </a:extLst>
          </p:cNvPr>
          <p:cNvSpPr txBox="1"/>
          <p:nvPr/>
        </p:nvSpPr>
        <p:spPr>
          <a:xfrm>
            <a:off x="5513487" y="3292003"/>
            <a:ext cx="2156360" cy="40011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Ⅳ. </a:t>
            </a:r>
            <a:r>
              <a:rPr lang="ko-KR" altLang="en-US" sz="2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소요 예상 비용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58EC9A7D-4BC8-3A15-3D4B-02714CA6E2E2}"/>
              </a:ext>
            </a:extLst>
          </p:cNvPr>
          <p:cNvCxnSpPr>
            <a:cxnSpLocks/>
          </p:cNvCxnSpPr>
          <p:nvPr/>
        </p:nvCxnSpPr>
        <p:spPr>
          <a:xfrm>
            <a:off x="430679" y="1466065"/>
            <a:ext cx="215059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803E243-E802-50AC-48E4-A11E5416BD3D}"/>
              </a:ext>
            </a:extLst>
          </p:cNvPr>
          <p:cNvSpPr txBox="1"/>
          <p:nvPr/>
        </p:nvSpPr>
        <p:spPr>
          <a:xfrm>
            <a:off x="305094" y="928295"/>
            <a:ext cx="2954779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「디지털 전환에 따른 일하는 방식의 변화」</a:t>
            </a:r>
            <a:endParaRPr kumimoji="0" lang="en-US" altLang="ko-KR" sz="12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rgbClr val="FFFF00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6C43C-A959-BE8A-E0A5-2355F9075ADC}"/>
              </a:ext>
            </a:extLst>
          </p:cNvPr>
          <p:cNvSpPr txBox="1"/>
          <p:nvPr/>
        </p:nvSpPr>
        <p:spPr>
          <a:xfrm>
            <a:off x="400344" y="1163533"/>
            <a:ext cx="2057098" cy="276999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HD</a:t>
            </a: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현대 </a:t>
            </a:r>
            <a:r>
              <a:rPr lang="en-US" altLang="ko-KR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AI Level – up </a:t>
            </a:r>
            <a:r>
              <a:rPr lang="ko-KR" altLang="en-US" sz="12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과정 </a:t>
            </a:r>
            <a:endParaRPr kumimoji="0" lang="ko-KR" altLang="en-US" sz="1200" b="1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4494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BB7F-A7B6-5BDC-4F45-006B9B295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7675D-46D6-A382-E3F2-A51F8AAB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소요 예상 비용</a:t>
            </a:r>
            <a:endParaRPr lang="ko-KR" altLang="en-US" sz="13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CEA2940-A36F-C2D2-1F5E-9BE9A8C58FC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b="1" dirty="0"/>
              <a:t>소요예상 비용은 다음과 같음</a:t>
            </a:r>
            <a:endParaRPr lang="en-US" altLang="ko-KR" sz="12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DBE6F4B-E2E3-C7EC-233B-BCC1034E1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5642"/>
              </p:ext>
            </p:extLst>
          </p:nvPr>
        </p:nvGraphicFramePr>
        <p:xfrm>
          <a:off x="533401" y="1371601"/>
          <a:ext cx="11125198" cy="4876803"/>
        </p:xfrm>
        <a:graphic>
          <a:graphicData uri="http://schemas.openxmlformats.org/drawingml/2006/table">
            <a:tbl>
              <a:tblPr/>
              <a:tblGrid>
                <a:gridCol w="1524215">
                  <a:extLst>
                    <a:ext uri="{9D8B030D-6E8A-4147-A177-3AD203B41FA5}">
                      <a16:colId xmlns:a16="http://schemas.microsoft.com/office/drawing/2014/main" val="2028651562"/>
                    </a:ext>
                  </a:extLst>
                </a:gridCol>
                <a:gridCol w="1524215">
                  <a:extLst>
                    <a:ext uri="{9D8B030D-6E8A-4147-A177-3AD203B41FA5}">
                      <a16:colId xmlns:a16="http://schemas.microsoft.com/office/drawing/2014/main" val="1635493473"/>
                    </a:ext>
                  </a:extLst>
                </a:gridCol>
                <a:gridCol w="1634210">
                  <a:extLst>
                    <a:ext uri="{9D8B030D-6E8A-4147-A177-3AD203B41FA5}">
                      <a16:colId xmlns:a16="http://schemas.microsoft.com/office/drawing/2014/main" val="3124125307"/>
                    </a:ext>
                  </a:extLst>
                </a:gridCol>
                <a:gridCol w="3221279">
                  <a:extLst>
                    <a:ext uri="{9D8B030D-6E8A-4147-A177-3AD203B41FA5}">
                      <a16:colId xmlns:a16="http://schemas.microsoft.com/office/drawing/2014/main" val="1444774135"/>
                    </a:ext>
                  </a:extLst>
                </a:gridCol>
                <a:gridCol w="3221279">
                  <a:extLst>
                    <a:ext uri="{9D8B030D-6E8A-4147-A177-3AD203B41FA5}">
                      <a16:colId xmlns:a16="http://schemas.microsoft.com/office/drawing/2014/main" val="4183005708"/>
                    </a:ext>
                  </a:extLst>
                </a:gridCol>
              </a:tblGrid>
              <a:tr h="2983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marL="7007" marR="7007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항목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수량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금액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원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비고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930473"/>
                  </a:ext>
                </a:extLst>
              </a:tr>
              <a:tr h="28790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직접 인건비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과정개발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0" marR="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사업관리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4,000,000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프로젝트 총괄관리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003035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교수설계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6,000,000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교육과정 설계 및 스토리보드 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01043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 </a:t>
                      </a: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PL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4,500,000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 프로세스 관리 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40007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UI/UX 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디자인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2,800,000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인터페이스 및 그래픽 디자인 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873562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삽화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애니메이션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명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4,000,000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모션그래픽 및 애니메이션 제작 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028639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직접인건비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 소계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21,300,000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674832"/>
                  </a:ext>
                </a:extLst>
              </a:tr>
              <a:tr h="287906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직접 경비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제작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강사 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출연비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식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5,000,000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전문강사 촬영 및 출연료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590389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오디오 제작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성우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100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분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700,000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전문성우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 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나레이션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 녹음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129711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동영상 제작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식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5,000,000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촬영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 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편집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 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후반작업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703514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평가문항 개발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식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진단평가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 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형성평가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 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총괄평가 문항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173647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사전사후 진단지 개발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식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AI 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리터러시</a:t>
                      </a: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이해도 및 활용도 진단도구 개발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957268"/>
                  </a:ext>
                </a:extLst>
              </a:tr>
              <a:tr h="2879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직접경비 소계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11,200,000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304641"/>
                  </a:ext>
                </a:extLst>
              </a:tr>
              <a:tr h="274280"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이윤</a:t>
                      </a:r>
                      <a:r>
                        <a:rPr lang="en-US" altLang="ko-K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(10%)</a:t>
                      </a: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2,770,000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860836"/>
                  </a:ext>
                </a:extLst>
              </a:tr>
              <a:tr h="300761"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소계</a:t>
                      </a: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35,270,000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631193"/>
                  </a:ext>
                </a:extLst>
              </a:tr>
              <a:tr h="274280"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VAT</a:t>
                      </a: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3,527,000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　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761274"/>
                  </a:ext>
                </a:extLst>
              </a:tr>
              <a:tr h="274280"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총계</a:t>
                      </a: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007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38,000,000</a:t>
                      </a:r>
                    </a:p>
                  </a:txBody>
                  <a:tcPr marL="7620" marR="10800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VAT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포함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십만원단위 절사</a:t>
                      </a:r>
                    </a:p>
                  </a:txBody>
                  <a:tcPr marL="72000" marR="7007" marT="700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04020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071F45D-BE08-70ED-31F3-9FF4CBD843C6}"/>
              </a:ext>
            </a:extLst>
          </p:cNvPr>
          <p:cNvSpPr txBox="1"/>
          <p:nvPr/>
        </p:nvSpPr>
        <p:spPr>
          <a:xfrm>
            <a:off x="523240" y="635508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ctr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*</a:t>
            </a:r>
            <a:r>
              <a:rPr lang="ko-KR" altLang="en-US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lang="en-US" altLang="ko-KR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</a:t>
            </a:r>
            <a:r>
              <a:rPr lang="ko-KR" altLang="en-US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차 견적으로 </a:t>
            </a:r>
            <a:r>
              <a:rPr lang="en-US" altLang="ko-KR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HD</a:t>
            </a:r>
            <a:r>
              <a:rPr lang="ko-KR" altLang="en-US" sz="11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현대와의 조율에 의해 조정 될 수 있음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147F6E-F00B-B835-04A4-2B5D2E4ABC7C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ko-KR" altLang="en-US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본 제안</a:t>
            </a: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41P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1164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97493-F7E7-24D8-3BE0-E78E61864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3FC61-FD98-0F1C-512B-ADA87C15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소요 예상 비용  </a:t>
            </a:r>
            <a:r>
              <a:rPr lang="en-US" altLang="ko-KR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2)</a:t>
            </a:r>
            <a:r>
              <a:rPr lang="ko-KR" altLang="en-US" sz="1400" dirty="0">
                <a:solidFill>
                  <a:prstClr val="black">
                    <a:lumMod val="95000"/>
                    <a:lumOff val="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프롬프트 평가 도구 개발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532F08E-8B39-2766-E0A5-A7F7861EEAA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ko-KR" altLang="en-US" b="1" dirty="0"/>
              <a:t>소요예상 비용은 다음과 같음</a:t>
            </a:r>
            <a:endParaRPr lang="en-US" altLang="ko-KR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AFFBD0-6C89-662B-25A4-2B5EEDCF047C}"/>
              </a:ext>
            </a:extLst>
          </p:cNvPr>
          <p:cNvSpPr/>
          <p:nvPr/>
        </p:nvSpPr>
        <p:spPr>
          <a:xfrm>
            <a:off x="8839200" y="470191"/>
            <a:ext cx="1821180" cy="3499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0" bIns="0" rtlCol="0" anchor="ctr" anchorCtr="0"/>
          <a:lstStyle/>
          <a:p>
            <a:pPr marR="0" algn="ctr" defTabSz="914400" rtl="0" eaLnBrk="1" fontAlgn="auto" latinLnBrk="0" hangingPunct="1">
              <a:spcBef>
                <a:spcPts val="200"/>
              </a:spcBef>
              <a:spcAft>
                <a:spcPts val="0"/>
              </a:spcAft>
              <a:buClrTx/>
              <a:buSzTx/>
              <a:tabLst/>
            </a:pPr>
            <a:r>
              <a:rPr lang="en-US" altLang="ko-KR" sz="1700" kern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NEW</a:t>
            </a:r>
            <a:endParaRPr lang="ko-KR" altLang="en-US" sz="1700" kern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7BA4E53-893B-DE49-2F56-E6F0DD2536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161436"/>
              </p:ext>
            </p:extLst>
          </p:nvPr>
        </p:nvGraphicFramePr>
        <p:xfrm>
          <a:off x="548880" y="1432560"/>
          <a:ext cx="11094244" cy="4815841"/>
        </p:xfrm>
        <a:graphic>
          <a:graphicData uri="http://schemas.openxmlformats.org/drawingml/2006/table">
            <a:tbl>
              <a:tblPr/>
              <a:tblGrid>
                <a:gridCol w="1203720">
                  <a:extLst>
                    <a:ext uri="{9D8B030D-6E8A-4147-A177-3AD203B41FA5}">
                      <a16:colId xmlns:a16="http://schemas.microsoft.com/office/drawing/2014/main" val="3562552228"/>
                    </a:ext>
                  </a:extLst>
                </a:gridCol>
                <a:gridCol w="4945262">
                  <a:extLst>
                    <a:ext uri="{9D8B030D-6E8A-4147-A177-3AD203B41FA5}">
                      <a16:colId xmlns:a16="http://schemas.microsoft.com/office/drawing/2014/main" val="3505770997"/>
                    </a:ext>
                  </a:extLst>
                </a:gridCol>
                <a:gridCol w="4945262">
                  <a:extLst>
                    <a:ext uri="{9D8B030D-6E8A-4147-A177-3AD203B41FA5}">
                      <a16:colId xmlns:a16="http://schemas.microsoft.com/office/drawing/2014/main" val="3357116995"/>
                    </a:ext>
                  </a:extLst>
                </a:gridCol>
              </a:tblGrid>
              <a:tr h="39447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marL="0" marR="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프롬프트 실습 및 평가 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Platform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0" marR="0" marT="700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프롬프팅 평가 </a:t>
                      </a:r>
                      <a:r>
                        <a:rPr lang="en-US" altLang="ko-KR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Platform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61988"/>
                  </a:ext>
                </a:extLst>
              </a:tr>
              <a:tr h="3237953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세부사항</a:t>
                      </a:r>
                    </a:p>
                  </a:txBody>
                  <a:tcPr marL="0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실습 및 평가      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• 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특징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반복 실습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(1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 수준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정성평가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44000" marR="0" marT="108000" marB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기능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                            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• 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특징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Level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별 정량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·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정성평가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marL="171450" indent="-171450" algn="l" rtl="0" fontAlgn="ctr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 수준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 1 ~ 3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단계 평가        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• 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개발기간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: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영업일 기준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주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44000" marR="108000" marT="108000" marB="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570165"/>
                  </a:ext>
                </a:extLst>
              </a:tr>
              <a:tr h="3944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소계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59,500,000</a:t>
                      </a:r>
                    </a:p>
                  </a:txBody>
                  <a:tcPr marL="7007" marR="108000" marT="700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51,000,000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372077"/>
                  </a:ext>
                </a:extLst>
              </a:tr>
              <a:tr h="3944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VAT</a:t>
                      </a: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5,950,000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5,100,000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873193"/>
                  </a:ext>
                </a:extLst>
              </a:tr>
              <a:tr h="39447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총계</a:t>
                      </a:r>
                    </a:p>
                  </a:txBody>
                  <a:tcPr marL="7007" marR="108000" marT="7007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65,400,000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56,000,000</a:t>
                      </a:r>
                    </a:p>
                  </a:txBody>
                  <a:tcPr marL="7620" marR="10800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66103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F8D7F47-1398-E022-06D4-6B0F5710ABB6}"/>
              </a:ext>
            </a:extLst>
          </p:cNvPr>
          <p:cNvSpPr txBox="1"/>
          <p:nvPr/>
        </p:nvSpPr>
        <p:spPr>
          <a:xfrm>
            <a:off x="523240" y="6248400"/>
            <a:ext cx="3280065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lvl="0" algn="l" defTabSz="914400" rtl="0" eaLnBrk="1" fontAlgn="ctr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*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견적 기준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: 17,000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명</a:t>
            </a:r>
            <a:br>
              <a:rPr lang="en-US" altLang="ko-KR" sz="10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</a:br>
            <a:r>
              <a:rPr lang="en-US" altLang="ko-KR" sz="10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** 1</a:t>
            </a:r>
            <a:r>
              <a:rPr lang="ko-KR" altLang="en-US" sz="10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차 견적으로 </a:t>
            </a:r>
            <a:r>
              <a:rPr lang="en-US" altLang="ko-KR" sz="10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HD</a:t>
            </a:r>
            <a:r>
              <a:rPr lang="ko-KR" altLang="en-US" sz="1000" kern="1200" dirty="0"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현대와의 조율에 의해 조정 될 수 있음</a:t>
            </a:r>
            <a:endParaRPr lang="en-US" altLang="ko-KR" sz="1000" kern="1200" dirty="0"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33376BB-E5BA-56D3-8776-0D78C5C64587}"/>
              </a:ext>
            </a:extLst>
          </p:cNvPr>
          <p:cNvGrpSpPr/>
          <p:nvPr/>
        </p:nvGrpSpPr>
        <p:grpSpPr>
          <a:xfrm>
            <a:off x="6781800" y="2734998"/>
            <a:ext cx="4789714" cy="2078273"/>
            <a:chOff x="6781800" y="2595755"/>
            <a:chExt cx="4789714" cy="2078273"/>
          </a:xfrm>
        </p:grpSpPr>
        <p:pic>
          <p:nvPicPr>
            <p:cNvPr id="8" name="그림 7" descr="텍스트, 스크린샷, 소프트웨어, 웹 페이지이(가) 표시된 사진">
              <a:extLst>
                <a:ext uri="{FF2B5EF4-FFF2-40B4-BE49-F238E27FC236}">
                  <a16:creationId xmlns:a16="http://schemas.microsoft.com/office/drawing/2014/main" id="{0EF6A513-A1B8-483D-D4E3-1F3B8DB23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2717942"/>
              <a:ext cx="2656114" cy="1956086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9" name="그림 8" descr="텍스트, 스크린샷, 소프트웨어, 컴퓨터 아이콘이(가) 표시된 사진">
              <a:extLst>
                <a:ext uri="{FF2B5EF4-FFF2-40B4-BE49-F238E27FC236}">
                  <a16:creationId xmlns:a16="http://schemas.microsoft.com/office/drawing/2014/main" id="{45F6548E-F82C-4B23-3700-88370146E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915400" y="2595755"/>
              <a:ext cx="2656114" cy="1709748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D1B2C26-0588-B34B-EFA7-3A895444FF45}"/>
              </a:ext>
            </a:extLst>
          </p:cNvPr>
          <p:cNvGrpSpPr/>
          <p:nvPr/>
        </p:nvGrpSpPr>
        <p:grpSpPr>
          <a:xfrm>
            <a:off x="1828800" y="2514600"/>
            <a:ext cx="4835466" cy="2438400"/>
            <a:chOff x="1828800" y="2375357"/>
            <a:chExt cx="4835466" cy="2438400"/>
          </a:xfrm>
        </p:grpSpPr>
        <p:pic>
          <p:nvPicPr>
            <p:cNvPr id="12" name="그림 11" descr="텍스트, 스크린샷, 소프트웨어, 웹 페이지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E58476C-293C-4566-EE35-AA9A770CE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28800" y="2375357"/>
              <a:ext cx="2286683" cy="2438400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pic>
          <p:nvPicPr>
            <p:cNvPr id="13" name="그림 12" descr="텍스트, 소프트웨어, 웹 페이지, 웹사이트이(가) 표시된 사진">
              <a:extLst>
                <a:ext uri="{FF2B5EF4-FFF2-40B4-BE49-F238E27FC236}">
                  <a16:creationId xmlns:a16="http://schemas.microsoft.com/office/drawing/2014/main" id="{F3CEFB22-4AF9-565E-718C-9F3DD86A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21126" y="2595754"/>
              <a:ext cx="3443140" cy="1709747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401357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273803" y="5271516"/>
            <a:ext cx="5407660" cy="842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4900"/>
              </a:lnSpc>
              <a:spcBef>
                <a:spcPts val="100"/>
              </a:spcBef>
            </a:pPr>
            <a:r>
              <a:rPr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문의</a:t>
            </a:r>
            <a:r>
              <a:rPr sz="1200" spc="48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 </a:t>
            </a:r>
            <a:r>
              <a:rPr sz="1200" spc="-8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ㅣ</a:t>
            </a:r>
            <a:r>
              <a:rPr sz="1200" spc="45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 </a:t>
            </a:r>
            <a:r>
              <a:rPr sz="1200" spc="-8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알파코</a:t>
            </a:r>
            <a:r>
              <a:rPr lang="en-US" sz="1200" spc="4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 </a:t>
            </a:r>
            <a:r>
              <a:rPr lang="ko-KR" altLang="en-US" sz="1200" spc="4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기업성장</a:t>
            </a:r>
            <a:r>
              <a:rPr lang="en-US" altLang="ko-KR" sz="1200" spc="4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·</a:t>
            </a:r>
            <a:r>
              <a:rPr lang="ko-KR" altLang="en-US" sz="1200" spc="40" dirty="0" err="1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혁신실</a:t>
            </a:r>
            <a:br>
              <a:rPr lang="en-US" altLang="ko-KR" sz="1200" spc="4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</a:br>
            <a:r>
              <a:rPr lang="ko-KR" altLang="en-US" sz="1200" spc="4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이미영 실장</a:t>
            </a:r>
            <a:r>
              <a:rPr lang="en-US" altLang="ko-KR" sz="1200" spc="4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: mylee</a:t>
            </a:r>
            <a:r>
              <a:rPr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@alpaco.co.kr/</a:t>
            </a:r>
            <a:r>
              <a:rPr sz="1200" spc="-25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 </a:t>
            </a:r>
            <a:r>
              <a:rPr lang="en-US" sz="1200" spc="85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010 8507 0915</a:t>
            </a:r>
            <a:br>
              <a:rPr lang="en-US" sz="1200" spc="85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</a:br>
            <a:r>
              <a:rPr lang="en-US" sz="1200" spc="75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</a:rPr>
              <a:t> </a:t>
            </a:r>
            <a:r>
              <a:rPr lang="en-US" sz="1200" spc="7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Malgun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www.alpaco.co.kr</a:t>
            </a:r>
            <a:endParaRPr sz="12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Malgun Gothic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A558BF0-EF38-927F-0640-6CFDBA38F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200" cy="68844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DAD439-64EA-951B-D300-C4E47830D809}"/>
              </a:ext>
            </a:extLst>
          </p:cNvPr>
          <p:cNvSpPr txBox="1"/>
          <p:nvPr/>
        </p:nvSpPr>
        <p:spPr>
          <a:xfrm>
            <a:off x="533400" y="1812264"/>
            <a:ext cx="1386918" cy="369332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1" hangingPunct="1">
              <a:spcBef>
                <a:spcPts val="0"/>
              </a:spcBef>
              <a:spcAft>
                <a:spcPts val="110"/>
              </a:spcAft>
              <a:buClrTx/>
              <a:buSzTx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Thank you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A93D5C-7DB7-3EEE-B558-CFB665F7721F}"/>
              </a:ext>
            </a:extLst>
          </p:cNvPr>
          <p:cNvSpPr txBox="1"/>
          <p:nvPr/>
        </p:nvSpPr>
        <p:spPr>
          <a:xfrm>
            <a:off x="533400" y="2221468"/>
            <a:ext cx="2230098" cy="369332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1" hangingPunct="1">
              <a:spcBef>
                <a:spcPts val="0"/>
              </a:spcBef>
              <a:spcAft>
                <a:spcPts val="110"/>
              </a:spcAft>
              <a:buClrTx/>
              <a:buSzTx/>
              <a:tabLst/>
              <a:defRPr/>
            </a:pPr>
            <a:r>
              <a:rPr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End of Document</a:t>
            </a:r>
            <a:endParaRPr kumimoji="0" lang="en-US" altLang="ko-KR" sz="18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그림 12" descr="스크린샷, 블랙, 그래픽, 폰트이(가) 표시된 사진&#10;&#10;자동 생성된 설명">
            <a:extLst>
              <a:ext uri="{FF2B5EF4-FFF2-40B4-BE49-F238E27FC236}">
                <a16:creationId xmlns:a16="http://schemas.microsoft.com/office/drawing/2014/main" id="{4119BD88-39C9-E14F-2054-5D0209DD2F16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603" y="6042660"/>
            <a:ext cx="967370" cy="3200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0SlyZyt2J4csRlS3yIgg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깨끗한나라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9525">
          <a:solidFill>
            <a:schemeClr val="bg1">
              <a:lumMod val="50000"/>
            </a:schemeClr>
          </a:solidFill>
        </a:ln>
      </a:spPr>
      <a:bodyPr wrap="none" lIns="108000" tIns="0" bIns="0" rtlCol="0" anchor="ctr" anchorCtr="0"/>
      <a:lstStyle>
        <a:defPPr marR="0" algn="ctr" defTabSz="914400" rtl="0" eaLnBrk="1" fontAlgn="auto" latinLnBrk="0" hangingPunct="1">
          <a:spcBef>
            <a:spcPts val="200"/>
          </a:spcBef>
          <a:spcAft>
            <a:spcPts val="0"/>
          </a:spcAft>
          <a:buClrTx/>
          <a:buSzTx/>
          <a:tabLst/>
          <a:defRPr kern="1200" smtClean="0">
            <a:solidFill>
              <a:schemeClr val="bg1"/>
            </a:solidFill>
            <a:latin typeface="나눔스퀘어 네오 Regular" panose="00000500000000000000" pitchFamily="2" charset="-127"/>
            <a:ea typeface="나눔스퀘어 네오 Regular" panose="000005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11225</TotalTime>
  <Words>5636</Words>
  <Application>Microsoft Office PowerPoint</Application>
  <PresentationFormat>와이드스크린</PresentationFormat>
  <Paragraphs>939</Paragraphs>
  <Slides>30</Slides>
  <Notes>16</Notes>
  <HiddenSlides>0</HiddenSlides>
  <MMClips>4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6" baseType="lpstr">
      <vt:lpstr>KoPub돋움체 Light</vt:lpstr>
      <vt:lpstr>나눔스퀘어</vt:lpstr>
      <vt:lpstr>나눔스퀘어 Bold</vt:lpstr>
      <vt:lpstr>나눔스퀘어 ExtraBold</vt:lpstr>
      <vt:lpstr>나눔스퀘어 네오 Bold</vt:lpstr>
      <vt:lpstr>나눔스퀘어 네오 ExtraBold</vt:lpstr>
      <vt:lpstr>나눔스퀘어 네오 Regular</vt:lpstr>
      <vt:lpstr>맑은 고딕</vt:lpstr>
      <vt:lpstr>맑은 고딕</vt:lpstr>
      <vt:lpstr>Arial</vt:lpstr>
      <vt:lpstr>Calibri</vt:lpstr>
      <vt:lpstr>Times</vt:lpstr>
      <vt:lpstr>Wingdings</vt:lpstr>
      <vt:lpstr>Office Theme</vt:lpstr>
      <vt:lpstr>Office 테마</vt:lpstr>
      <vt:lpstr>think-cell Slide</vt:lpstr>
      <vt:lpstr>PowerPoint 프레젠테이션</vt:lpstr>
      <vt:lpstr>PowerPoint 프레젠테이션</vt:lpstr>
      <vt:lpstr>1. 일반현황 및 주요 연혁</vt:lpstr>
      <vt:lpstr>2. 주요사업 분야 및 조직구성</vt:lpstr>
      <vt:lpstr>3. DX·AI 변화관리 파트너, 알파코 </vt:lpstr>
      <vt:lpstr>3. DX·AI 변화관리 파트너, 알파코 </vt:lpstr>
      <vt:lpstr>3. DX·AI 변화관리 파트너, 알파코 </vt:lpstr>
      <vt:lpstr>3. DX·AI 변화관리 파트너, 알파코 </vt:lpstr>
      <vt:lpstr>PowerPoint 프레젠테이션</vt:lpstr>
      <vt:lpstr>[참고] 알파코 AX 교육체계</vt:lpstr>
      <vt:lpstr>1. 프로그램 개발 개요</vt:lpstr>
      <vt:lpstr>[참고] AI 이해도 및 활용도 진단 실시 개요</vt:lpstr>
      <vt:lpstr>3. 프로그램 개발 단계  거시설계</vt:lpstr>
      <vt:lpstr>3. 프로그램 개발 단계  거시설계</vt:lpstr>
      <vt:lpstr>3. 프로그램 개발 단계  사용자의 역할 명확화</vt:lpstr>
      <vt:lpstr>3. 프로그램 개발 단계</vt:lpstr>
      <vt:lpstr>[추가제안] Why, 프롬프트 역량 평가인가?</vt:lpstr>
      <vt:lpstr>[추가제안] Why, 프롬프트 역량 평가인가?</vt:lpstr>
      <vt:lpstr>[추가제안] HD현대 그룹 공통 Prompt Maturity Compass​</vt:lpstr>
      <vt:lpstr>PowerPoint 프레젠테이션</vt:lpstr>
      <vt:lpstr>1. 프로젝트 추진 일정  </vt:lpstr>
      <vt:lpstr>2. 프로젝트 추진 조직</vt:lpstr>
      <vt:lpstr>3. 프로젝트 투입인력  1)영역별 투입인력의 전문성 확보  </vt:lpstr>
      <vt:lpstr>3. 프로젝트 투입인력  2)온라인 콘텐츠 개발 SME</vt:lpstr>
      <vt:lpstr>3. 프로젝트 투입인력  3)개발 전문 인력</vt:lpstr>
      <vt:lpstr>4. 보안 대책 매뉴얼화 </vt:lpstr>
      <vt:lpstr>PowerPoint 프레젠테이션</vt:lpstr>
      <vt:lpstr>소요 예상 비용</vt:lpstr>
      <vt:lpstr>1. 소요 예상 비용  2)프롬프트 평가 도구 개발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이미영</dc:creator>
  <cp:lastModifiedBy>이미영</cp:lastModifiedBy>
  <cp:revision>2093</cp:revision>
  <cp:lastPrinted>2025-09-08T02:46:10Z</cp:lastPrinted>
  <dcterms:created xsi:type="dcterms:W3CDTF">2024-11-12T02:28:04Z</dcterms:created>
  <dcterms:modified xsi:type="dcterms:W3CDTF">2026-02-20T06:35:16Z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2024-10-21T00:00:00Z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2024-11-12T00:00:00Z</vt:filetime>
  </property>
  <property fmtid="{D5CDD505-2E9C-101B-9397-08002B2CF9AE}" pid="5" name="Producer">
    <vt:lpwstr>Microsoft® PowerPoint® Microsoft 365용</vt:lpwstr>
  </property>
</Properties>
</file>