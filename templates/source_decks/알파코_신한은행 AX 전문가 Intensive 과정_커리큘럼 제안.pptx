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8"/>
  </p:notesMasterIdLst>
  <p:handoutMasterIdLst>
    <p:handoutMasterId r:id="rId9"/>
  </p:handoutMasterIdLst>
  <p:sldIdLst>
    <p:sldId id="2134806963" r:id="rId2"/>
    <p:sldId id="2147472323" r:id="rId3"/>
    <p:sldId id="2147472324" r:id="rId4"/>
    <p:sldId id="2147472325" r:id="rId5"/>
    <p:sldId id="2147472326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455" userDrawn="1">
          <p15:clr>
            <a:srgbClr val="A4A3A4"/>
          </p15:clr>
        </p15:guide>
        <p15:guide id="5" pos="279" userDrawn="1">
          <p15:clr>
            <a:srgbClr val="A4A3A4"/>
          </p15:clr>
        </p15:guide>
        <p15:guide id="7" pos="6811" userDrawn="1">
          <p15:clr>
            <a:srgbClr val="A4A3A4"/>
          </p15:clr>
        </p15:guide>
        <p15:guide id="9" orient="horz" pos="3952" userDrawn="1">
          <p15:clr>
            <a:srgbClr val="A4A3A4"/>
          </p15:clr>
        </p15:guide>
        <p15:guide id="10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FDBCBA-A7AC-1879-3402-43141050D246}" name="허선희" initials="선허" userId="S::shheo@alpacohq.onmicrosoft.com::c4e9853a-1165-4b41-9e5f-81e93a4ca5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E8E8E8"/>
    <a:srgbClr val="CAEEFB"/>
    <a:srgbClr val="F0F0F0"/>
    <a:srgbClr val="1D1DFF"/>
    <a:srgbClr val="BDD7EE"/>
    <a:srgbClr val="F9FAFD"/>
    <a:srgbClr val="0E2841"/>
    <a:srgbClr val="000000"/>
    <a:srgbClr val="1C4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83628" autoAdjust="0"/>
  </p:normalViewPr>
  <p:slideViewPr>
    <p:cSldViewPr snapToGrid="0">
      <p:cViewPr varScale="1">
        <p:scale>
          <a:sx n="79" d="100"/>
          <a:sy n="79" d="100"/>
        </p:scale>
        <p:origin x="523" y="67"/>
      </p:cViewPr>
      <p:guideLst>
        <p:guide orient="horz" pos="2455"/>
        <p:guide pos="279"/>
        <p:guide pos="6811"/>
        <p:guide orient="horz" pos="3952"/>
        <p:guide pos="744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3624"/>
    </p:cViewPr>
  </p:sorterViewPr>
  <p:notesViewPr>
    <p:cSldViewPr snapToGrid="0" showGuides="1">
      <p:cViewPr varScale="1">
        <p:scale>
          <a:sx n="78" d="100"/>
          <a:sy n="78" d="100"/>
        </p:scale>
        <p:origin x="396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9C4B981-6444-AD8D-591A-D2F7EA9AC0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8FF8C9-7F90-ADC9-D9D6-8097BCCB99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61469-5116-4AA3-84E2-7557003214AD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FEE640-7A55-785C-6547-8883E4D59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66DE9C-1E97-EA1A-7820-F9BACBE84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704D-C65F-4A4E-A36E-024F8F1B4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50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EC462-72A7-4B77-9EC8-FE07B068CB84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E9AFB-D72A-4918-9833-75E573AF6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1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표현이 더욱 세면 좋겠음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(+) </a:t>
            </a:r>
            <a:r>
              <a:rPr lang="ko-KR" altLang="en-US" dirty="0"/>
              <a:t>결과발표 장표 추가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99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4437-76FA-55CA-3F68-82DF53AB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BF57F0-FB47-82A8-92C9-1CD9D7C0C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8AB42D-6696-5D58-AA2D-4D5EB6A04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1" hangingPunct="1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98FE31-67FB-67C7-5B12-5F680CD9E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7E9AFB-D72A-4918-9833-75E573AF68D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516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FD21-274E-F258-0B53-6E915DA3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5A479F-19A9-9B49-14B5-37EED11DF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BA526A-80FD-2261-C29D-C967B1D51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1" hangingPunct="1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EFA70-64EA-8639-FCCF-1A75C8A75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7E9AFB-D72A-4918-9833-75E573AF68D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114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584B-146E-C771-F17A-EFCB3CCA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24ABC9-9EB6-F497-73F0-DFAD66821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3512F9-1FC6-31C6-FD25-FB21BF37D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1" hangingPunct="1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0C5B29-205F-6420-EFB3-9064EF910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7E9AFB-D72A-4918-9833-75E573AF68D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218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3F14-3F96-F347-19A0-E576EC8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E9041F-C5C8-3B2E-EF2F-22DAFE49F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E031A-F3A0-C6A7-B3BF-FD5277484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1" hangingPunct="1"/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9BEBC-70B8-2481-B63A-DC39898F2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7E9AFB-D72A-4918-9833-75E573AF68D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65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4010-D462-FB20-4D36-8DAE97EA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54C8D5-B515-9231-13CF-ABD67A5CA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8E015-7C9D-32D7-B1D3-49B49C8F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39C07-50D3-4037-BB89-50A4D60F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CB0532-0B74-7486-0FC2-965D39C1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2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7AF94-015B-3914-7B9A-566FFB2D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007725-83E4-A5BD-9B3A-2D0AA0FBB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760DE5-EF4D-E6AD-E51F-46272CD1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4A4F9-4C52-3577-BFA3-80C16D33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603E09-EBA8-9FF2-9C32-CEEF97D8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89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C8F21-A9FC-585A-3558-6C91C11E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5592AB-A357-66F8-236C-A2ACE65C9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5B0BA-00BB-ED7B-DFCB-2F28D0B0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1C7767-268A-FD86-15CA-37DC9929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70860-F016-6912-CA15-3FF0A470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0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4000F-370E-6B04-6E03-6353DBEB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DA2E3-8B31-15C4-E396-A6CB07635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DBB328-A13B-CC70-60A8-42BF3C52D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460A7A-2BAC-D9BC-F235-71716F71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EB39F4-1E98-811F-3874-FB4173D0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10A993-A0CC-6D19-2B4C-AB4547E0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49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15175-C853-209A-AE4B-048AE63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D14307-8493-58B0-3466-6CB6EFC2F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5D3973-A868-C3C0-9864-17FCD86B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16A7AD-35B7-8DC3-E426-9C8FA6074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C09D1F-2063-A91C-D4DD-B097DEF3C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AF6C4F-80E5-BF8A-469A-CA343E77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12864D-DDDC-C2D5-1B7B-014F2D75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57CEE-D237-923D-AD37-0C51FD05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7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1711B-E9E2-42B6-0678-B8A397E2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A702DB-C0EE-043B-2B5F-1D58245C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46D36-B023-3E40-240A-BF4DE904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52D4FE-6D35-0CDC-F843-CEB1A0E0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0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92B813-36DA-09CD-4F3E-9F5C86AC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C37EB4-0751-9839-EC1C-40B4F75E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6E0EC-EF9B-E458-C582-B7FE5DCC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43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801CA-A6EE-2846-8101-C60423BB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BD7FD-D69D-80DF-3222-B2EA31AE5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504788-AABC-4CBC-B019-64A9DECD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FCCC17-2D5E-E233-8844-C21F8124A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5FC7EF-0EF4-4579-52F4-FD001A08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28D564-21B8-F308-65D4-FA9248B2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30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AF26F-05DA-A908-4781-465A661C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88AF8-3E56-60C8-8670-9C8117B1C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BB20EA-55D3-6D1D-6F11-28C99757A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473D51-67A3-A3EF-0EA8-CD61B80B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4EDF6B-721A-F8EB-F14E-68ABF9B2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00C44A-84FB-67BC-DFDF-9FE3781C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89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7B7D6-1508-5C42-E082-60521B5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81718B-1BEB-DB29-7606-120AFB877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9EE7-63D2-D7F7-317E-80004B9F5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720F5-07A3-6CFE-FEA8-2E55808B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218435-27E9-CA1D-00A8-0BA050A7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63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8D65B4-D4FD-AC48-9D8C-192BC303D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77C144-57B4-5D34-379A-B34210DC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846A8-0987-A576-35A8-D74FC7A6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68AE3-55F1-3F3F-7E6B-DC1B70F4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987845-608D-5DF0-2E08-20FD90B3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F705FA-B6FA-4E92-8990-AB9836E13F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42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38529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91D2A224-831B-EE8F-AF07-2B24337A5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3177" y="310895"/>
            <a:ext cx="452104" cy="18639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EC1C265-741F-5B92-D0FB-4E52B65A932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296959" y="301167"/>
            <a:ext cx="711403" cy="18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711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ub-Chapter">
  <p:cSld name="3_Sub-Chapt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502875" y="467603"/>
            <a:ext cx="9163639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sz="2000">
                <a:solidFill>
                  <a:srgbClr val="0C0C0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577254" y="1200154"/>
            <a:ext cx="11147727" cy="73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0">
                <a:solidFill>
                  <a:srgbClr val="262626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77CA4796-5B5B-3E10-09BA-9E66DE45937C}"/>
              </a:ext>
            </a:extLst>
          </p:cNvPr>
          <p:cNvSpPr txBox="1">
            <a:spLocks/>
          </p:cNvSpPr>
          <p:nvPr userDrawn="1"/>
        </p:nvSpPr>
        <p:spPr>
          <a:xfrm>
            <a:off x="11255757" y="6462430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83CB9-D307-3297-0990-D397A78D47F1}"/>
              </a:ext>
            </a:extLst>
          </p:cNvPr>
          <p:cNvSpPr txBox="1"/>
          <p:nvPr userDrawn="1"/>
        </p:nvSpPr>
        <p:spPr>
          <a:xfrm>
            <a:off x="9560648" y="6473681"/>
            <a:ext cx="1997663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한화투자증권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DA·AX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역량강화 과정 제안</a:t>
            </a:r>
          </a:p>
        </p:txBody>
      </p:sp>
    </p:spTree>
    <p:extLst>
      <p:ext uri="{BB962C8B-B14F-4D97-AF65-F5344CB8AC3E}">
        <p14:creationId xmlns:p14="http://schemas.microsoft.com/office/powerpoint/2010/main" val="633813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타워, 하늘, 대도시, 도시 풍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9768D-BFA4-215A-81C1-7415D8F5E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0"/>
            <a:ext cx="12191998" cy="6862027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1DE757BA-7C1C-1A36-0FD6-0B92A57661B5}"/>
              </a:ext>
            </a:extLst>
          </p:cNvPr>
          <p:cNvSpPr/>
          <p:nvPr userDrawn="1"/>
        </p:nvSpPr>
        <p:spPr>
          <a:xfrm>
            <a:off x="450850" y="4445000"/>
            <a:ext cx="7619999" cy="1930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80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939098-CBE9-BBA1-6A66-A6990C6E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BE55C-E9CB-376E-8022-4ACC40EFB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C010B-5627-A0B1-2AEC-05AA4C5DC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0E463-A884-4032-ABFD-4EE2D30882E6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D3B1C-EAB3-071D-70AF-77369EFAB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03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A7B8-75A0-CB77-4D7D-19EA4365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65FAE6-63D2-3106-E37A-9B47AFEED674}"/>
              </a:ext>
            </a:extLst>
          </p:cNvPr>
          <p:cNvSpPr/>
          <p:nvPr/>
        </p:nvSpPr>
        <p:spPr>
          <a:xfrm>
            <a:off x="0" y="-24478"/>
            <a:ext cx="7840494" cy="6857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BC835-D28F-CD8F-6AE3-D9DABF28F4F9}"/>
              </a:ext>
            </a:extLst>
          </p:cNvPr>
          <p:cNvSpPr txBox="1"/>
          <p:nvPr/>
        </p:nvSpPr>
        <p:spPr>
          <a:xfrm>
            <a:off x="416168" y="2947801"/>
            <a:ext cx="4625108" cy="1015663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AX </a:t>
            </a:r>
            <a:r>
              <a:rPr lang="ko-KR" altLang="en-US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전문가 </a:t>
            </a:r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Intensive </a:t>
            </a:r>
            <a:r>
              <a:rPr lang="ko-KR" altLang="en-US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</a:t>
            </a:r>
            <a:endParaRPr lang="en-US" altLang="ko-KR" sz="30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ko-KR" altLang="en-US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커리큘럼 제안</a:t>
            </a:r>
            <a:endParaRPr lang="en-US" altLang="ko-KR" sz="30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C0C590C-473A-D13C-2624-FCD92D35BDEB}"/>
              </a:ext>
            </a:extLst>
          </p:cNvPr>
          <p:cNvGrpSpPr/>
          <p:nvPr/>
        </p:nvGrpSpPr>
        <p:grpSpPr>
          <a:xfrm>
            <a:off x="5584126" y="2"/>
            <a:ext cx="6607874" cy="6857998"/>
            <a:chOff x="5584126" y="-3"/>
            <a:chExt cx="6607874" cy="685799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73DECAA-FC2A-76EF-FCD6-11AF58A0C554}"/>
                </a:ext>
              </a:extLst>
            </p:cNvPr>
            <p:cNvSpPr/>
            <p:nvPr/>
          </p:nvSpPr>
          <p:spPr>
            <a:xfrm rot="16200000">
              <a:off x="7153278" y="1819272"/>
              <a:ext cx="6857998" cy="3219447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2" name="그림 11" descr="폰트, 그래픽, 로고, 상징이(가) 표시된 사진&#10;&#10;자동 생성된 설명">
              <a:extLst>
                <a:ext uri="{FF2B5EF4-FFF2-40B4-BE49-F238E27FC236}">
                  <a16:creationId xmlns:a16="http://schemas.microsoft.com/office/drawing/2014/main" id="{39DB4DDB-3512-D57C-D778-CBC69D7AF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0406" y="6171511"/>
              <a:ext cx="811657" cy="297260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D605CBBF-8D2D-2908-1DE2-CD91ADFCB057}"/>
                </a:ext>
              </a:extLst>
            </p:cNvPr>
            <p:cNvGrpSpPr/>
            <p:nvPr/>
          </p:nvGrpSpPr>
          <p:grpSpPr>
            <a:xfrm>
              <a:off x="5584126" y="0"/>
              <a:ext cx="6607874" cy="6857995"/>
              <a:chOff x="5584126" y="0"/>
              <a:chExt cx="6607874" cy="6857995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0B03C12C-1BD1-61E1-14EA-A9D5089F3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128" t="81596" r="79536" b="4858"/>
              <a:stretch/>
            </p:blipFill>
            <p:spPr>
              <a:xfrm>
                <a:off x="5584126" y="0"/>
                <a:ext cx="6607874" cy="6857995"/>
              </a:xfrm>
              <a:custGeom>
                <a:avLst/>
                <a:gdLst>
                  <a:gd name="connsiteX0" fmla="*/ 2006520 w 6607874"/>
                  <a:gd name="connsiteY0" fmla="*/ 0 h 6857995"/>
                  <a:gd name="connsiteX1" fmla="*/ 6607874 w 6607874"/>
                  <a:gd name="connsiteY1" fmla="*/ 0 h 6857995"/>
                  <a:gd name="connsiteX2" fmla="*/ 4650152 w 6607874"/>
                  <a:gd name="connsiteY2" fmla="*/ 6857995 h 6857995"/>
                  <a:gd name="connsiteX3" fmla="*/ 0 w 6607874"/>
                  <a:gd name="connsiteY3" fmla="*/ 6857995 h 6857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7874" h="6857995">
                    <a:moveTo>
                      <a:pt x="2006520" y="0"/>
                    </a:moveTo>
                    <a:lnTo>
                      <a:pt x="6607874" y="0"/>
                    </a:lnTo>
                    <a:lnTo>
                      <a:pt x="4650152" y="6857995"/>
                    </a:lnTo>
                    <a:lnTo>
                      <a:pt x="0" y="6857995"/>
                    </a:lnTo>
                    <a:close/>
                  </a:path>
                </a:pathLst>
              </a:cu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47992035-9B48-C92F-D063-50FF0DE6C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028" r="9024" b="4858"/>
              <a:stretch/>
            </p:blipFill>
            <p:spPr>
              <a:xfrm>
                <a:off x="6284485" y="1289445"/>
                <a:ext cx="5539266" cy="5342963"/>
              </a:xfrm>
              <a:custGeom>
                <a:avLst/>
                <a:gdLst>
                  <a:gd name="connsiteX0" fmla="*/ 2006523 w 7109969"/>
                  <a:gd name="connsiteY0" fmla="*/ 0 h 6857999"/>
                  <a:gd name="connsiteX1" fmla="*/ 7109969 w 7109969"/>
                  <a:gd name="connsiteY1" fmla="*/ 0 h 6857999"/>
                  <a:gd name="connsiteX2" fmla="*/ 5152245 w 7109969"/>
                  <a:gd name="connsiteY2" fmla="*/ 6857999 h 6857999"/>
                  <a:gd name="connsiteX3" fmla="*/ 0 w 7109969"/>
                  <a:gd name="connsiteY3" fmla="*/ 6857999 h 685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9969" h="6857999">
                    <a:moveTo>
                      <a:pt x="2006523" y="0"/>
                    </a:moveTo>
                    <a:lnTo>
                      <a:pt x="7109969" y="0"/>
                    </a:lnTo>
                    <a:lnTo>
                      <a:pt x="5152245" y="6857999"/>
                    </a:lnTo>
                    <a:lnTo>
                      <a:pt x="0" y="685799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2658960-F17D-C744-1D8A-86BFD6C3E9A9}"/>
              </a:ext>
            </a:extLst>
          </p:cNvPr>
          <p:cNvGrpSpPr/>
          <p:nvPr/>
        </p:nvGrpSpPr>
        <p:grpSpPr>
          <a:xfrm>
            <a:off x="630092" y="1864694"/>
            <a:ext cx="710575" cy="359905"/>
            <a:chOff x="630092" y="1864694"/>
            <a:chExt cx="710575" cy="35990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D457B0-166A-63B8-4A53-C83189BEC506}"/>
                </a:ext>
              </a:extLst>
            </p:cNvPr>
            <p:cNvSpPr txBox="1"/>
            <p:nvPr/>
          </p:nvSpPr>
          <p:spPr>
            <a:xfrm>
              <a:off x="630092" y="1886045"/>
              <a:ext cx="710575" cy="338554"/>
            </a:xfrm>
            <a:prstGeom prst="rect">
              <a:avLst/>
            </a:prstGeom>
            <a:noFill/>
          </p:spPr>
          <p:txBody>
            <a:bodyPr wrap="none" lIns="36000" anchor="ctr" anchorCtr="0">
              <a:spAutoFit/>
            </a:bodyPr>
            <a:lstStyle/>
            <a:p>
              <a:r>
                <a:rPr lang="ko-KR" altLang="en-US" sz="1600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Calibri" panose="020F0502020204030204" pitchFamily="34" charset="0"/>
                  <a:sym typeface="Arial" panose="020B0604020202020204" pitchFamily="34" charset="0"/>
                </a:rPr>
                <a:t>제안서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35B0A98-5A31-AD2C-CA49-2B338BF0F5EB}"/>
                </a:ext>
              </a:extLst>
            </p:cNvPr>
            <p:cNvCxnSpPr>
              <a:cxnSpLocks/>
            </p:cNvCxnSpPr>
            <p:nvPr/>
          </p:nvCxnSpPr>
          <p:spPr>
            <a:xfrm>
              <a:off x="678329" y="1864694"/>
              <a:ext cx="54000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E388AE36-F41B-9B51-76B9-4388E036A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68" y="2460437"/>
            <a:ext cx="1860105" cy="48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9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2440-71C9-DF7B-73F2-45E21EC1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D867C27-4ADC-5BD6-711C-285A5B0A5386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커리큘럼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BC74854-76DA-5043-D689-41CC117D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커리큘럼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6A219C-F45A-ECDD-A390-0A51181BE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64814"/>
              </p:ext>
            </p:extLst>
          </p:nvPr>
        </p:nvGraphicFramePr>
        <p:xfrm>
          <a:off x="502875" y="1976327"/>
          <a:ext cx="11147727" cy="4338412"/>
        </p:xfrm>
        <a:graphic>
          <a:graphicData uri="http://schemas.openxmlformats.org/drawingml/2006/table">
            <a:tbl>
              <a:tblPr/>
              <a:tblGrid>
                <a:gridCol w="2018757">
                  <a:extLst>
                    <a:ext uri="{9D8B030D-6E8A-4147-A177-3AD203B41FA5}">
                      <a16:colId xmlns:a16="http://schemas.microsoft.com/office/drawing/2014/main" val="694558615"/>
                    </a:ext>
                  </a:extLst>
                </a:gridCol>
                <a:gridCol w="2871740">
                  <a:extLst>
                    <a:ext uri="{9D8B030D-6E8A-4147-A177-3AD203B41FA5}">
                      <a16:colId xmlns:a16="http://schemas.microsoft.com/office/drawing/2014/main" val="1800841770"/>
                    </a:ext>
                  </a:extLst>
                </a:gridCol>
                <a:gridCol w="2640003">
                  <a:extLst>
                    <a:ext uri="{9D8B030D-6E8A-4147-A177-3AD203B41FA5}">
                      <a16:colId xmlns:a16="http://schemas.microsoft.com/office/drawing/2014/main" val="2399145440"/>
                    </a:ext>
                  </a:extLst>
                </a:gridCol>
                <a:gridCol w="2994923">
                  <a:extLst>
                    <a:ext uri="{9D8B030D-6E8A-4147-A177-3AD203B41FA5}">
                      <a16:colId xmlns:a16="http://schemas.microsoft.com/office/drawing/2014/main" val="2065660591"/>
                    </a:ext>
                  </a:extLst>
                </a:gridCol>
                <a:gridCol w="622304">
                  <a:extLst>
                    <a:ext uri="{9D8B030D-6E8A-4147-A177-3AD203B41FA5}">
                      <a16:colId xmlns:a16="http://schemas.microsoft.com/office/drawing/2014/main" val="2253230642"/>
                    </a:ext>
                  </a:extLst>
                </a:gridCol>
              </a:tblGrid>
              <a:tr h="459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세부내용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아웃풋 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90034"/>
                  </a:ext>
                </a:extLst>
              </a:tr>
              <a:tr h="19606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은행 업무를 이해하는 </a:t>
                      </a:r>
                      <a:b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개념과 은행 업무 활용 사례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프롬프트 엔지니어링 기본 구조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파이썬 기초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바이브코딩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개념 및 실습 방식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환경 세팅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코드 구조 해부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바이브코딩으로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간단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실행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흐름도 작성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76630"/>
                  </a:ext>
                </a:extLst>
              </a:tr>
              <a:tr h="1918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기반 사고와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설계 기초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은행 업무 시나리오 해석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금융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소비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거시 공공 데이터 이해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구조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(CSV/JSON)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읽기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Python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처리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 기반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설계 관점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보안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개인정보 고려사항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공공 데이터 수집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CSV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병합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기초 분석 및 인사이트 도출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분석 결과 기반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입력 설계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바이브코딩으로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데이터 처리 로직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입력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출력 구조 초안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267927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03DD97-8FAA-8C60-1DAC-845B29E0BC5C}"/>
              </a:ext>
            </a:extLst>
          </p:cNvPr>
          <p:cNvSpPr/>
          <p:nvPr/>
        </p:nvSpPr>
        <p:spPr>
          <a:xfrm>
            <a:off x="502875" y="1658336"/>
            <a:ext cx="1218349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총 교육시간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(88</a:t>
            </a:r>
            <a:r>
              <a:rPr lang="en-US" altLang="ko-KR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2DFFC216-749E-4FF4-3E37-F2FAF2E3695C}"/>
              </a:ext>
            </a:extLst>
          </p:cNvPr>
          <p:cNvSpPr txBox="1">
            <a:spLocks/>
          </p:cNvSpPr>
          <p:nvPr/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교육 과정의 상세 커리큘럼은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83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DF3F-B329-792A-0324-A39877FD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3AEE262-563A-879E-EABA-D01094F590F4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커리큘럼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1C7FF76-0DC3-0B3C-7E17-BEC78332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커리큘럼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B1D5DBD-F5F3-454D-5372-EBBB8535E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44007"/>
              </p:ext>
            </p:extLst>
          </p:nvPr>
        </p:nvGraphicFramePr>
        <p:xfrm>
          <a:off x="502875" y="1976327"/>
          <a:ext cx="11147727" cy="4338412"/>
        </p:xfrm>
        <a:graphic>
          <a:graphicData uri="http://schemas.openxmlformats.org/drawingml/2006/table">
            <a:tbl>
              <a:tblPr/>
              <a:tblGrid>
                <a:gridCol w="2018757">
                  <a:extLst>
                    <a:ext uri="{9D8B030D-6E8A-4147-A177-3AD203B41FA5}">
                      <a16:colId xmlns:a16="http://schemas.microsoft.com/office/drawing/2014/main" val="694558615"/>
                    </a:ext>
                  </a:extLst>
                </a:gridCol>
                <a:gridCol w="2871740">
                  <a:extLst>
                    <a:ext uri="{9D8B030D-6E8A-4147-A177-3AD203B41FA5}">
                      <a16:colId xmlns:a16="http://schemas.microsoft.com/office/drawing/2014/main" val="1800841770"/>
                    </a:ext>
                  </a:extLst>
                </a:gridCol>
                <a:gridCol w="2640003">
                  <a:extLst>
                    <a:ext uri="{9D8B030D-6E8A-4147-A177-3AD203B41FA5}">
                      <a16:colId xmlns:a16="http://schemas.microsoft.com/office/drawing/2014/main" val="2399145440"/>
                    </a:ext>
                  </a:extLst>
                </a:gridCol>
                <a:gridCol w="2994923">
                  <a:extLst>
                    <a:ext uri="{9D8B030D-6E8A-4147-A177-3AD203B41FA5}">
                      <a16:colId xmlns:a16="http://schemas.microsoft.com/office/drawing/2014/main" val="2065660591"/>
                    </a:ext>
                  </a:extLst>
                </a:gridCol>
                <a:gridCol w="622304">
                  <a:extLst>
                    <a:ext uri="{9D8B030D-6E8A-4147-A177-3AD203B41FA5}">
                      <a16:colId xmlns:a16="http://schemas.microsoft.com/office/drawing/2014/main" val="2253230642"/>
                    </a:ext>
                  </a:extLst>
                </a:gridCol>
              </a:tblGrid>
              <a:tr h="459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세부내용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아웃풋 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90034"/>
                  </a:ext>
                </a:extLst>
              </a:tr>
              <a:tr h="19606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기획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문제 정의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&amp;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요구사항 설계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은행 업무 관점 문제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사용자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내부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설정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Pain Point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구조화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목표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적용 적합성 판단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팀별 문제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사용자 여정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(User Journey)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요구사항 정리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도입 포인트 도출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문제 정의서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사용자 여정 맵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요구사항 정의서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76630"/>
                  </a:ext>
                </a:extLst>
              </a:tr>
              <a:tr h="1918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기획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(AI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구조 설계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구조 이해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입력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–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처리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–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출력 구조 설계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KPI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및 성공 지표 설정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할루시네이션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대응 구조 기획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팀별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구조 설계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 우선순위 설정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KPI·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검증 시나리오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BRD/PRD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문서화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 PRD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서비스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IA</a:t>
                      </a:r>
                      <a:endParaRPr lang="ko-KR" altLang="en-US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267927"/>
                  </a:ext>
                </a:extLst>
              </a:tr>
            </a:tbl>
          </a:graphicData>
        </a:graphic>
      </p:graphicFrame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C8660DD9-B963-EB94-BE0A-9D295DA9925E}"/>
              </a:ext>
            </a:extLst>
          </p:cNvPr>
          <p:cNvSpPr txBox="1">
            <a:spLocks/>
          </p:cNvSpPr>
          <p:nvPr/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교육 과정의 상세 커리큘럼은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51E4E83-4466-D7D8-1A2C-0FDAC4B53910}"/>
              </a:ext>
            </a:extLst>
          </p:cNvPr>
          <p:cNvSpPr/>
          <p:nvPr/>
        </p:nvSpPr>
        <p:spPr>
          <a:xfrm>
            <a:off x="502875" y="1658336"/>
            <a:ext cx="1218349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총 교육시간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(88</a:t>
            </a:r>
            <a:r>
              <a:rPr lang="en-US" altLang="ko-KR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76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32EB-0FA1-5BBC-65D7-B2727330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95F7DEC-C3A0-7F3C-839B-2D94012A03FF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커리큘럼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97D08A5-FD2E-52CA-E1BD-FA73C813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커리큘럼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B18736A-985A-5FD3-039B-A0AC16AC1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020293"/>
              </p:ext>
            </p:extLst>
          </p:nvPr>
        </p:nvGraphicFramePr>
        <p:xfrm>
          <a:off x="502875" y="1976327"/>
          <a:ext cx="11147727" cy="4338412"/>
        </p:xfrm>
        <a:graphic>
          <a:graphicData uri="http://schemas.openxmlformats.org/drawingml/2006/table">
            <a:tbl>
              <a:tblPr/>
              <a:tblGrid>
                <a:gridCol w="2018757">
                  <a:extLst>
                    <a:ext uri="{9D8B030D-6E8A-4147-A177-3AD203B41FA5}">
                      <a16:colId xmlns:a16="http://schemas.microsoft.com/office/drawing/2014/main" val="694558615"/>
                    </a:ext>
                  </a:extLst>
                </a:gridCol>
                <a:gridCol w="2871740">
                  <a:extLst>
                    <a:ext uri="{9D8B030D-6E8A-4147-A177-3AD203B41FA5}">
                      <a16:colId xmlns:a16="http://schemas.microsoft.com/office/drawing/2014/main" val="1800841770"/>
                    </a:ext>
                  </a:extLst>
                </a:gridCol>
                <a:gridCol w="2640003">
                  <a:extLst>
                    <a:ext uri="{9D8B030D-6E8A-4147-A177-3AD203B41FA5}">
                      <a16:colId xmlns:a16="http://schemas.microsoft.com/office/drawing/2014/main" val="2399145440"/>
                    </a:ext>
                  </a:extLst>
                </a:gridCol>
                <a:gridCol w="2994923">
                  <a:extLst>
                    <a:ext uri="{9D8B030D-6E8A-4147-A177-3AD203B41FA5}">
                      <a16:colId xmlns:a16="http://schemas.microsoft.com/office/drawing/2014/main" val="2065660591"/>
                    </a:ext>
                  </a:extLst>
                </a:gridCol>
                <a:gridCol w="622304">
                  <a:extLst>
                    <a:ext uri="{9D8B030D-6E8A-4147-A177-3AD203B41FA5}">
                      <a16:colId xmlns:a16="http://schemas.microsoft.com/office/drawing/2014/main" val="2253230642"/>
                    </a:ext>
                  </a:extLst>
                </a:gridCol>
              </a:tblGrid>
              <a:tr h="459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세부내용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아웃풋 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90034"/>
                  </a:ext>
                </a:extLst>
              </a:tr>
              <a:tr h="19606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5: AI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설계 및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구성 요소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(LLM / Tool / Workflow / Memory)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단일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vs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멀티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API·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외부 데이터 연계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Spec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바이브코딩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기반 구현 전략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팀별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데이터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툴 연계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핵심 기능 구현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중간 리뷰 및 구조 개선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실행 가능한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차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PoC Agent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다이어그램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24H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76630"/>
                  </a:ext>
                </a:extLst>
              </a:tr>
              <a:tr h="1918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6: 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고도화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&amp; </a:t>
                      </a:r>
                      <a:b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 관점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성능 평가 기준 정의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결과 비교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검증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로직 개선 전략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예외 처리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안정성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 관점 고려사항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버전 관리 개념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성능 평가 및 개선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검증 로직 추가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git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버전 관리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 v2 (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고도화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성능 개선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24H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267927"/>
                  </a:ext>
                </a:extLst>
              </a:tr>
            </a:tbl>
          </a:graphicData>
        </a:graphic>
      </p:graphicFrame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1A1C6517-638E-DA61-1C9D-D18184124157}"/>
              </a:ext>
            </a:extLst>
          </p:cNvPr>
          <p:cNvSpPr txBox="1">
            <a:spLocks/>
          </p:cNvSpPr>
          <p:nvPr/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교육 과정의 상세 커리큘럼은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0103947-E229-0899-7856-2B0FBB78AF75}"/>
              </a:ext>
            </a:extLst>
          </p:cNvPr>
          <p:cNvSpPr/>
          <p:nvPr/>
        </p:nvSpPr>
        <p:spPr>
          <a:xfrm>
            <a:off x="502875" y="1658336"/>
            <a:ext cx="1218349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총 교육시간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(88</a:t>
            </a:r>
            <a:r>
              <a:rPr lang="en-US" altLang="ko-KR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09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AE5A-867C-2511-1245-84A48F42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7B3B8C6-068D-D9A6-56B0-24ADD4E28CC1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커리큘럼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EDE3DE4-F8C9-8F4A-9B44-4CE7D8D4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커리큘럼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48DEAF3-3941-EE7F-5F80-DDE62F926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466859"/>
              </p:ext>
            </p:extLst>
          </p:nvPr>
        </p:nvGraphicFramePr>
        <p:xfrm>
          <a:off x="502875" y="1976327"/>
          <a:ext cx="11147727" cy="4338412"/>
        </p:xfrm>
        <a:graphic>
          <a:graphicData uri="http://schemas.openxmlformats.org/drawingml/2006/table">
            <a:tbl>
              <a:tblPr/>
              <a:tblGrid>
                <a:gridCol w="2018757">
                  <a:extLst>
                    <a:ext uri="{9D8B030D-6E8A-4147-A177-3AD203B41FA5}">
                      <a16:colId xmlns:a16="http://schemas.microsoft.com/office/drawing/2014/main" val="694558615"/>
                    </a:ext>
                  </a:extLst>
                </a:gridCol>
                <a:gridCol w="2871740">
                  <a:extLst>
                    <a:ext uri="{9D8B030D-6E8A-4147-A177-3AD203B41FA5}">
                      <a16:colId xmlns:a16="http://schemas.microsoft.com/office/drawing/2014/main" val="1800841770"/>
                    </a:ext>
                  </a:extLst>
                </a:gridCol>
                <a:gridCol w="2640003">
                  <a:extLst>
                    <a:ext uri="{9D8B030D-6E8A-4147-A177-3AD203B41FA5}">
                      <a16:colId xmlns:a16="http://schemas.microsoft.com/office/drawing/2014/main" val="2399145440"/>
                    </a:ext>
                  </a:extLst>
                </a:gridCol>
                <a:gridCol w="2994923">
                  <a:extLst>
                    <a:ext uri="{9D8B030D-6E8A-4147-A177-3AD203B41FA5}">
                      <a16:colId xmlns:a16="http://schemas.microsoft.com/office/drawing/2014/main" val="2065660591"/>
                    </a:ext>
                  </a:extLst>
                </a:gridCol>
                <a:gridCol w="622304">
                  <a:extLst>
                    <a:ext uri="{9D8B030D-6E8A-4147-A177-3AD203B41FA5}">
                      <a16:colId xmlns:a16="http://schemas.microsoft.com/office/drawing/2014/main" val="2253230642"/>
                    </a:ext>
                  </a:extLst>
                </a:gridCol>
              </a:tblGrid>
              <a:tr h="459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모듈명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세부내용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아웃풋 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90034"/>
                  </a:ext>
                </a:extLst>
              </a:tr>
              <a:tr h="19606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7: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결과 정리 및 발표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문제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–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기획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–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구현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–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결과 스토리 구성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Agent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구조 </a:t>
                      </a:r>
                      <a:r>
                        <a:rPr lang="ko-KR" altLang="en-US" sz="1100" b="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설명법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발표 자료 구성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심사 기준 대응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발표 자료 제작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시연 시나리오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최종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Agent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발표 자료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사용자 가이드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실무 적용 체크리스트</a:t>
                      </a:r>
                      <a:endParaRPr lang="en-US" altLang="ko-KR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76630"/>
                  </a:ext>
                </a:extLst>
              </a:tr>
              <a:tr h="1918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모듈 </a:t>
                      </a: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8: </a:t>
                      </a: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최종 발표회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조별 발표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b="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267927"/>
                  </a:ext>
                </a:extLst>
              </a:tr>
            </a:tbl>
          </a:graphicData>
        </a:graphic>
      </p:graphicFrame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928C66B1-BE03-E205-2CE6-E36EB574D897}"/>
              </a:ext>
            </a:extLst>
          </p:cNvPr>
          <p:cNvSpPr txBox="1">
            <a:spLocks/>
          </p:cNvSpPr>
          <p:nvPr/>
        </p:nvSpPr>
        <p:spPr>
          <a:xfrm>
            <a:off x="688704" y="1292656"/>
            <a:ext cx="11147727" cy="7344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본 교육 과정의 상세 커리큘럼은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FD335C5-6894-0906-F9AE-D2963C9483C5}"/>
              </a:ext>
            </a:extLst>
          </p:cNvPr>
          <p:cNvSpPr/>
          <p:nvPr/>
        </p:nvSpPr>
        <p:spPr>
          <a:xfrm>
            <a:off x="502875" y="1658336"/>
            <a:ext cx="1218349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총 교육시간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(88</a:t>
            </a:r>
            <a:r>
              <a:rPr lang="en-US" altLang="ko-KR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65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0BFB7-7EFD-7ECB-07DB-CA1B94F59C8A}"/>
              </a:ext>
            </a:extLst>
          </p:cNvPr>
          <p:cNvSpPr txBox="1"/>
          <p:nvPr/>
        </p:nvSpPr>
        <p:spPr>
          <a:xfrm>
            <a:off x="3047665" y="3180890"/>
            <a:ext cx="6096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-90" normalizeH="0" baseline="0" noProof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+mn-cs"/>
              </a:rPr>
              <a:t>THANK YOU</a:t>
            </a:r>
            <a:endParaRPr kumimoji="0" lang="ko-KR" altLang="en-US" sz="4800" b="0" i="0" u="none" strike="noStrike" kern="1200" cap="none" spc="-90" normalizeH="0" baseline="0" noProof="0" dirty="0">
              <a:ln>
                <a:noFill/>
              </a:ln>
              <a:solidFill>
                <a:srgbClr val="003A8C"/>
              </a:soli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79DC7C0-513B-93FA-1D8F-A7E087933F1E}"/>
              </a:ext>
            </a:extLst>
          </p:cNvPr>
          <p:cNvGrpSpPr/>
          <p:nvPr/>
        </p:nvGrpSpPr>
        <p:grpSpPr>
          <a:xfrm>
            <a:off x="6933559" y="2503515"/>
            <a:ext cx="1192955" cy="602931"/>
            <a:chOff x="436649" y="5742701"/>
            <a:chExt cx="1413817" cy="7145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BE6E40-9E78-C285-8C10-E57471BB29D2}"/>
                </a:ext>
              </a:extLst>
            </p:cNvPr>
            <p:cNvSpPr txBox="1"/>
            <p:nvPr/>
          </p:nvSpPr>
          <p:spPr>
            <a:xfrm>
              <a:off x="436649" y="5742701"/>
              <a:ext cx="1413817" cy="273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A8C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고용노동부 인증기관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3A8C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455AC8B1-CA10-E3AC-8486-562E62DE5F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50793" y="5988922"/>
              <a:ext cx="1135964" cy="468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4741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11606</TotalTime>
  <Words>527</Words>
  <Application>Microsoft Office PowerPoint</Application>
  <PresentationFormat>와이드스크린</PresentationFormat>
  <Paragraphs>147</Paragraphs>
  <Slides>6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나눔스퀘어 네오 Bold</vt:lpstr>
      <vt:lpstr>나눔스퀘어 네오 Heavy</vt:lpstr>
      <vt:lpstr>나눔스퀘어 네오 Regular</vt:lpstr>
      <vt:lpstr>맑은 고딕</vt:lpstr>
      <vt:lpstr>Arial</vt:lpstr>
      <vt:lpstr>2_Office 테마</vt:lpstr>
      <vt:lpstr>think-cell Slide</vt:lpstr>
      <vt:lpstr>PowerPoint 프레젠테이션</vt:lpstr>
      <vt:lpstr>1. 커리큘럼</vt:lpstr>
      <vt:lpstr>1. 커리큘럼</vt:lpstr>
      <vt:lpstr>1. 커리큘럼</vt:lpstr>
      <vt:lpstr>1. 커리큘럼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김혜정</dc:creator>
  <cp:lastModifiedBy>김나율</cp:lastModifiedBy>
  <cp:revision>2224</cp:revision>
  <dcterms:created xsi:type="dcterms:W3CDTF">2024-10-07T05:19:08Z</dcterms:created>
  <dcterms:modified xsi:type="dcterms:W3CDTF">2026-04-03T04:06:31Z</dcterms:modified>
</cp:coreProperties>
</file>