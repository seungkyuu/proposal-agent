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579" r:id="rId2"/>
    <p:sldId id="2134807300" r:id="rId3"/>
    <p:sldId id="2134807318" r:id="rId4"/>
    <p:sldId id="2134807321" r:id="rId5"/>
    <p:sldId id="2134807319" r:id="rId6"/>
    <p:sldId id="2134807320" r:id="rId7"/>
    <p:sldId id="2134807404" r:id="rId8"/>
    <p:sldId id="2134807403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940" userDrawn="1">
          <p15:clr>
            <a:srgbClr val="A4A3A4"/>
          </p15:clr>
        </p15:guide>
        <p15:guide id="6" pos="7582" userDrawn="1">
          <p15:clr>
            <a:srgbClr val="A4A3A4"/>
          </p15:clr>
        </p15:guide>
        <p15:guide id="7" pos="36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75FA1"/>
    <a:srgbClr val="0791F8"/>
    <a:srgbClr val="FFFFFF"/>
    <a:srgbClr val="D1D1D1"/>
    <a:srgbClr val="E5E5E5"/>
    <a:srgbClr val="E8E8E8"/>
    <a:srgbClr val="474747"/>
    <a:srgbClr val="1835BC"/>
    <a:srgbClr val="043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 autoAdjust="0"/>
    <p:restoredTop sz="95026" autoAdjust="0"/>
  </p:normalViewPr>
  <p:slideViewPr>
    <p:cSldViewPr snapToGrid="0" showGuides="1">
      <p:cViewPr varScale="1">
        <p:scale>
          <a:sx n="82" d="100"/>
          <a:sy n="82" d="100"/>
        </p:scale>
        <p:origin x="557" y="72"/>
      </p:cViewPr>
      <p:guideLst>
        <p:guide orient="horz" pos="1026"/>
        <p:guide pos="257"/>
        <p:guide orient="horz" pos="3974"/>
        <p:guide pos="3940"/>
        <p:guide pos="7582"/>
        <p:guide pos="36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845"/>
    </p:cViewPr>
  </p:sorterViewPr>
  <p:notesViewPr>
    <p:cSldViewPr snapToGrid="0" showGuides="1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F0260AD-8063-8BFB-778E-5442BD90C5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784536-A782-7E5B-3670-C4CA2F182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5DA62-EE03-4628-B65F-C6C84EB2B25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D42BC0-1F44-547E-C673-AFF5DA69E1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8A0E72-3E1F-A320-A469-9322E2A35F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96715-8F58-4E81-83C1-6C2DE8E9D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719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10DCF-CB7C-4DAB-9B4B-2924BB241ED2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E32F2-9390-478D-9AA7-A55F3EC73D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79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7E72-5CE6-240B-24B1-C245A9EA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2851D6-0E70-326B-254C-E9B4A236D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C1692D-B307-E9CD-416E-EB0F59E99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B41F28-DDCC-B11D-DFB4-766D41703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353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426C5-BD22-3B19-58C6-480CBA32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E6A1D5-32BE-D53F-73C3-30448F6F3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BD2396-40E0-EEB3-EA5D-0489BE91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D7FCF1-F858-2E1A-3E69-B8C9056BA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84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D4AFB-6DD8-121D-3422-369A4D82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966A1-CDA5-0407-2326-06C388728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ABD2F1-AC5E-23C0-EF0F-AA1678E05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9AA635-ED53-D6E7-9E10-243107D04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062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E341D-22A3-CF3E-A9F8-916E6B6C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1CA449-B130-DC2F-13C9-B3785BC03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AA0DD8-52C4-B0DC-6D18-F6B3F5B5B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9BE1E3-6B94-47C9-0D69-972F5A46B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937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6040-8033-8755-BAEC-C1A6CDC0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71B432-624A-7ED8-19DB-45DBD55CE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F33F83-70C2-0B1C-55D7-9FAD68715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04750-2900-F591-EBE1-2FD9728E1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505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E9E5D-6ED7-4E49-8A61-D472A99C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EE86B2-8396-F450-D098-F985FCBA9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BD253F-F14C-F98B-8E61-BE25DA2C4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비금융</a:t>
            </a:r>
            <a:r>
              <a:rPr lang="ko-KR" altLang="en-US" dirty="0"/>
              <a:t> 알아볼 수 있도록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11798E-E1BC-0A9D-7170-7CEF5BBE2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149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6C466-05D8-0B88-AB27-1B27DF45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5A915C-A4BE-C5A4-3C7B-596AE54E0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63ACD5-5550-E9E6-C381-96D77F068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금융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3BFFFD-17BE-832B-E981-BD1DB3368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522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8A28F6-5BC6-5887-7F16-327C078793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351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704" y="1292656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38529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725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10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타워, 하늘, 대도시, 도시 풍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9768D-BFA4-215A-81C1-7415D8F5E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" y="0"/>
            <a:ext cx="12191998" cy="6862027"/>
          </a:xfrm>
          <a:prstGeom prst="rect">
            <a:avLst/>
          </a:prstGeom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1DE757BA-7C1C-1A36-0FD6-0B92A57661B5}"/>
              </a:ext>
            </a:extLst>
          </p:cNvPr>
          <p:cNvSpPr/>
          <p:nvPr userDrawn="1"/>
        </p:nvSpPr>
        <p:spPr>
          <a:xfrm>
            <a:off x="450850" y="4445000"/>
            <a:ext cx="7619999" cy="1930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64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2442DE-84D3-EBB0-12BE-A57CAC4D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6837C0-7D26-A5B7-1A8D-0765A8BE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B4D8EB-44D0-CA41-ABAC-4B5DB3904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19C26-8626-410F-B4ED-707647943E8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E53C2-32B9-8E6D-9377-F961A01E6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93865-62DD-F271-874A-B450FEDE5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80C86-1D76-48D6-A3E3-4DD029458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31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7" r:id="rId3"/>
    <p:sldLayoutId id="2147483670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타워, 하늘, 대도시, 도시 풍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723A9A-8F4B-6C7D-BB0B-2F9A05A85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8" cy="6857999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0571303F-38C2-ABAB-9DD0-03D661B3B3AA}"/>
              </a:ext>
            </a:extLst>
          </p:cNvPr>
          <p:cNvSpPr/>
          <p:nvPr/>
        </p:nvSpPr>
        <p:spPr>
          <a:xfrm>
            <a:off x="-2" y="-1"/>
            <a:ext cx="12191694" cy="6857999"/>
          </a:xfrm>
          <a:prstGeom prst="rect">
            <a:avLst/>
          </a:prstGeom>
          <a:gradFill flip="none" rotWithShape="1">
            <a:gsLst>
              <a:gs pos="0">
                <a:srgbClr val="2C458E">
                  <a:alpha val="61000"/>
                </a:srgbClr>
              </a:gs>
              <a:gs pos="100000">
                <a:srgbClr val="0F172A"/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C2F053-31B0-3256-7468-3F435C840425}"/>
              </a:ext>
            </a:extLst>
          </p:cNvPr>
          <p:cNvGrpSpPr/>
          <p:nvPr/>
        </p:nvGrpSpPr>
        <p:grpSpPr>
          <a:xfrm>
            <a:off x="1" y="4004027"/>
            <a:ext cx="12191998" cy="2853974"/>
            <a:chOff x="0" y="2724182"/>
            <a:chExt cx="9144000" cy="2419319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514682D-7AE8-6EEE-E6E5-39A0BD34E349}"/>
                </a:ext>
              </a:extLst>
            </p:cNvPr>
            <p:cNvSpPr/>
            <p:nvPr/>
          </p:nvSpPr>
          <p:spPr>
            <a:xfrm>
              <a:off x="5952082" y="2724182"/>
              <a:ext cx="3191918" cy="897303"/>
            </a:xfrm>
            <a:custGeom>
              <a:avLst/>
              <a:gdLst>
                <a:gd name="connsiteX0" fmla="*/ 3191918 w 3191918"/>
                <a:gd name="connsiteY0" fmla="*/ 0 h 897303"/>
                <a:gd name="connsiteX1" fmla="*/ 3191918 w 3191918"/>
                <a:gd name="connsiteY1" fmla="*/ 755785 h 897303"/>
                <a:gd name="connsiteX2" fmla="*/ 3077632 w 3191918"/>
                <a:gd name="connsiteY2" fmla="*/ 768849 h 897303"/>
                <a:gd name="connsiteX3" fmla="*/ 533778 w 3191918"/>
                <a:gd name="connsiteY3" fmla="*/ 897303 h 897303"/>
                <a:gd name="connsiteX4" fmla="*/ 0 w 3191918"/>
                <a:gd name="connsiteY4" fmla="*/ 888862 h 897303"/>
                <a:gd name="connsiteX5" fmla="*/ 227947 w 3191918"/>
                <a:gd name="connsiteY5" fmla="*/ 845559 h 897303"/>
                <a:gd name="connsiteX6" fmla="*/ 3091686 w 3191918"/>
                <a:gd name="connsiteY6" fmla="*/ 38105 h 897303"/>
                <a:gd name="connsiteX7" fmla="*/ 3191918 w 3191918"/>
                <a:gd name="connsiteY7" fmla="*/ 0 h 897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91918" h="897303">
                  <a:moveTo>
                    <a:pt x="3191918" y="0"/>
                  </a:moveTo>
                  <a:lnTo>
                    <a:pt x="3191918" y="755785"/>
                  </a:lnTo>
                  <a:lnTo>
                    <a:pt x="3077632" y="768849"/>
                  </a:lnTo>
                  <a:cubicBezTo>
                    <a:pt x="2241234" y="853790"/>
                    <a:pt x="1392586" y="897303"/>
                    <a:pt x="533778" y="897303"/>
                  </a:cubicBezTo>
                  <a:lnTo>
                    <a:pt x="0" y="888862"/>
                  </a:lnTo>
                  <a:lnTo>
                    <a:pt x="227947" y="845559"/>
                  </a:lnTo>
                  <a:cubicBezTo>
                    <a:pt x="1210992" y="647605"/>
                    <a:pt x="2167546" y="376478"/>
                    <a:pt x="3091686" y="38105"/>
                  </a:cubicBezTo>
                  <a:lnTo>
                    <a:pt x="3191918" y="0"/>
                  </a:lnTo>
                  <a:close/>
                </a:path>
              </a:pathLst>
            </a:custGeom>
            <a:solidFill>
              <a:srgbClr val="003A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CD091E6-F1E0-80A5-DEA4-E3105E0535F2}"/>
                </a:ext>
              </a:extLst>
            </p:cNvPr>
            <p:cNvSpPr/>
            <p:nvPr/>
          </p:nvSpPr>
          <p:spPr>
            <a:xfrm>
              <a:off x="0" y="2762485"/>
              <a:ext cx="7648543" cy="1150845"/>
            </a:xfrm>
            <a:custGeom>
              <a:avLst/>
              <a:gdLst>
                <a:gd name="connsiteX0" fmla="*/ 0 w 7648543"/>
                <a:gd name="connsiteY0" fmla="*/ 0 h 1150845"/>
                <a:gd name="connsiteX1" fmla="*/ 267914 w 7648543"/>
                <a:gd name="connsiteY1" fmla="*/ 72498 h 1150845"/>
                <a:gd name="connsiteX2" fmla="*/ 6485860 w 7648543"/>
                <a:gd name="connsiteY2" fmla="*/ 855792 h 1150845"/>
                <a:gd name="connsiteX3" fmla="*/ 7128029 w 7648543"/>
                <a:gd name="connsiteY3" fmla="*/ 847666 h 1150845"/>
                <a:gd name="connsiteX4" fmla="*/ 7648543 w 7648543"/>
                <a:gd name="connsiteY4" fmla="*/ 827889 h 1150845"/>
                <a:gd name="connsiteX5" fmla="*/ 7148039 w 7648543"/>
                <a:gd name="connsiteY5" fmla="*/ 915662 h 1150845"/>
                <a:gd name="connsiteX6" fmla="*/ 4163615 w 7648543"/>
                <a:gd name="connsiteY6" fmla="*/ 1150845 h 1150845"/>
                <a:gd name="connsiteX7" fmla="*/ 368661 w 7648543"/>
                <a:gd name="connsiteY7" fmla="*/ 768281 h 1150845"/>
                <a:gd name="connsiteX8" fmla="*/ 0 w 7648543"/>
                <a:gd name="connsiteY8" fmla="*/ 688025 h 1150845"/>
                <a:gd name="connsiteX9" fmla="*/ 0 w 7648543"/>
                <a:gd name="connsiteY9" fmla="*/ 0 h 115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48543" h="1150845">
                  <a:moveTo>
                    <a:pt x="0" y="0"/>
                  </a:moveTo>
                  <a:lnTo>
                    <a:pt x="267914" y="72498"/>
                  </a:lnTo>
                  <a:cubicBezTo>
                    <a:pt x="2255332" y="583838"/>
                    <a:pt x="4338837" y="855792"/>
                    <a:pt x="6485860" y="855792"/>
                  </a:cubicBezTo>
                  <a:cubicBezTo>
                    <a:pt x="6700562" y="855792"/>
                    <a:pt x="6914629" y="853073"/>
                    <a:pt x="7128029" y="847666"/>
                  </a:cubicBezTo>
                  <a:lnTo>
                    <a:pt x="7648543" y="827889"/>
                  </a:lnTo>
                  <a:lnTo>
                    <a:pt x="7148039" y="915662"/>
                  </a:lnTo>
                  <a:cubicBezTo>
                    <a:pt x="6176021" y="1070445"/>
                    <a:pt x="5179207" y="1150845"/>
                    <a:pt x="4163615" y="1150845"/>
                  </a:cubicBezTo>
                  <a:cubicBezTo>
                    <a:pt x="2863657" y="1150845"/>
                    <a:pt x="1594466" y="1019117"/>
                    <a:pt x="368661" y="768281"/>
                  </a:cubicBezTo>
                  <a:lnTo>
                    <a:pt x="0" y="688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B4C1CA28-8118-ED04-CE91-B1C6DCF96E3F}"/>
                </a:ext>
              </a:extLst>
            </p:cNvPr>
            <p:cNvSpPr/>
            <p:nvPr/>
          </p:nvSpPr>
          <p:spPr>
            <a:xfrm>
              <a:off x="0" y="3243042"/>
              <a:ext cx="9144000" cy="1900459"/>
            </a:xfrm>
            <a:custGeom>
              <a:avLst/>
              <a:gdLst>
                <a:gd name="connsiteX0" fmla="*/ 9144000 w 9144000"/>
                <a:gd name="connsiteY0" fmla="*/ 0 h 1900459"/>
                <a:gd name="connsiteX1" fmla="*/ 9144000 w 9144000"/>
                <a:gd name="connsiteY1" fmla="*/ 1900459 h 1900459"/>
                <a:gd name="connsiteX2" fmla="*/ 0 w 9144000"/>
                <a:gd name="connsiteY2" fmla="*/ 1900459 h 1900459"/>
                <a:gd name="connsiteX3" fmla="*/ 0 w 9144000"/>
                <a:gd name="connsiteY3" fmla="*/ 204261 h 1900459"/>
                <a:gd name="connsiteX4" fmla="*/ 368661 w 9144000"/>
                <a:gd name="connsiteY4" fmla="*/ 284517 h 1900459"/>
                <a:gd name="connsiteX5" fmla="*/ 4163615 w 9144000"/>
                <a:gd name="connsiteY5" fmla="*/ 667081 h 1900459"/>
                <a:gd name="connsiteX6" fmla="*/ 8869591 w 9144000"/>
                <a:gd name="connsiteY6" fmla="*/ 74255 h 1900459"/>
                <a:gd name="connsiteX7" fmla="*/ 9144000 w 9144000"/>
                <a:gd name="connsiteY7" fmla="*/ 0 h 19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44000" h="1900459">
                  <a:moveTo>
                    <a:pt x="9144000" y="0"/>
                  </a:moveTo>
                  <a:lnTo>
                    <a:pt x="9144000" y="1900459"/>
                  </a:lnTo>
                  <a:lnTo>
                    <a:pt x="0" y="1900459"/>
                  </a:lnTo>
                  <a:lnTo>
                    <a:pt x="0" y="204261"/>
                  </a:lnTo>
                  <a:lnTo>
                    <a:pt x="368661" y="284517"/>
                  </a:lnTo>
                  <a:cubicBezTo>
                    <a:pt x="1594466" y="535353"/>
                    <a:pt x="2863657" y="667081"/>
                    <a:pt x="4163615" y="667081"/>
                  </a:cubicBezTo>
                  <a:cubicBezTo>
                    <a:pt x="5788563" y="667081"/>
                    <a:pt x="7365438" y="461256"/>
                    <a:pt x="8869591" y="74255"/>
                  </a:cubicBezTo>
                  <a:lnTo>
                    <a:pt x="9144000" y="0"/>
                  </a:lnTo>
                  <a:close/>
                </a:path>
              </a:pathLst>
            </a:custGeom>
            <a:solidFill>
              <a:schemeClr val="tx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Shape 1">
            <a:extLst>
              <a:ext uri="{FF2B5EF4-FFF2-40B4-BE49-F238E27FC236}">
                <a16:creationId xmlns:a16="http://schemas.microsoft.com/office/drawing/2014/main" id="{5FE669CE-7D0B-2217-6EF7-33015A871771}"/>
              </a:ext>
            </a:extLst>
          </p:cNvPr>
          <p:cNvSpPr/>
          <p:nvPr/>
        </p:nvSpPr>
        <p:spPr>
          <a:xfrm>
            <a:off x="450850" y="4445000"/>
            <a:ext cx="7619999" cy="1930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07D0CB-2B56-DBCA-0DEC-C67979AC27E6}"/>
              </a:ext>
            </a:extLst>
          </p:cNvPr>
          <p:cNvGrpSpPr/>
          <p:nvPr/>
        </p:nvGrpSpPr>
        <p:grpSpPr>
          <a:xfrm>
            <a:off x="5517000" y="5802606"/>
            <a:ext cx="1157689" cy="602931"/>
            <a:chOff x="436649" y="5742701"/>
            <a:chExt cx="1372022" cy="71455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E31825-9110-1C30-FB36-7AE82A8E34B5}"/>
                </a:ext>
              </a:extLst>
            </p:cNvPr>
            <p:cNvSpPr txBox="1"/>
            <p:nvPr/>
          </p:nvSpPr>
          <p:spPr>
            <a:xfrm>
              <a:off x="436649" y="5742701"/>
              <a:ext cx="1372022" cy="273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chemeClr val="bg1"/>
                  </a:solidFill>
                  <a:latin typeface="+mn-ea"/>
                </a:rPr>
                <a:t>고용노동부 인증기관</a:t>
              </a:r>
              <a:endParaRPr lang="en-US" altLang="ko-KR" sz="900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0112EFAF-9B0E-D189-B243-F743068A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0793" y="5988922"/>
              <a:ext cx="1135964" cy="468336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43F3439-2C53-E43C-6BEE-05278855F0BB}"/>
              </a:ext>
            </a:extLst>
          </p:cNvPr>
          <p:cNvGrpSpPr/>
          <p:nvPr/>
        </p:nvGrpSpPr>
        <p:grpSpPr>
          <a:xfrm>
            <a:off x="545871" y="1806136"/>
            <a:ext cx="10994904" cy="1359304"/>
            <a:chOff x="1124874" y="1717322"/>
            <a:chExt cx="11285328" cy="139521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467089-E67D-B405-F8B7-12611D8D3949}"/>
                </a:ext>
              </a:extLst>
            </p:cNvPr>
            <p:cNvSpPr txBox="1"/>
            <p:nvPr/>
          </p:nvSpPr>
          <p:spPr>
            <a:xfrm>
              <a:off x="1124874" y="1717322"/>
              <a:ext cx="8770709" cy="1358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3200" b="1" spc="-150" dirty="0">
                  <a:solidFill>
                    <a:srgbClr val="FFFFFF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2026 </a:t>
              </a:r>
              <a:r>
                <a:rPr lang="ko-KR" altLang="en-US" sz="3200" b="1" spc="-150" dirty="0">
                  <a:solidFill>
                    <a:srgbClr val="FFFFFF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귀뚜라미 그룹</a:t>
              </a:r>
              <a:endParaRPr lang="en-US" altLang="ko-KR" sz="3200" b="1" spc="-150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b="1" spc="-150" dirty="0">
                  <a:solidFill>
                    <a:srgbClr val="FFFFFF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</a:t>
              </a:r>
              <a:r>
                <a:rPr lang="ko-KR" altLang="en-US" sz="4800" b="1" spc="-150" dirty="0">
                  <a:solidFill>
                    <a:srgbClr val="FFFFFF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 위탁교육 제안</a:t>
              </a:r>
              <a:endParaRPr lang="en-US" altLang="ko-KR" sz="4800" b="1" spc="-150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FDAAA0B-66D0-3F34-0DB6-A7E8685A20A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1" y="3112532"/>
              <a:ext cx="11191001" cy="0"/>
            </a:xfrm>
            <a:prstGeom prst="line">
              <a:avLst/>
            </a:prstGeom>
            <a:ln>
              <a:solidFill>
                <a:srgbClr val="B4C5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807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79AE0-B5A4-07FA-AF03-C0718B3A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F0F3B-A2EB-7F9C-6F51-21C88A76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기관</a:t>
            </a:r>
            <a:r>
              <a:rPr lang="ko-KR" altLang="en-US" kern="0" dirty="0">
                <a:ln>
                  <a:solidFill>
                    <a:srgbClr val="4F81BD">
                      <a:alpha val="0"/>
                    </a:srgbClr>
                  </a:solidFill>
                </a:ln>
                <a:cs typeface="Calibri" panose="020F0502020204030204" pitchFamily="34" charset="0"/>
                <a:sym typeface="Arial" panose="020B0604020202020204" pitchFamily="34" charset="0"/>
              </a:rPr>
              <a:t> 소개</a:t>
            </a:r>
            <a:endParaRPr lang="ko-KR" altLang="en-US" sz="13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21BB4A-3104-F545-7878-EADE9121AA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atinLnBrk="1"/>
            <a:r>
              <a:rPr lang="ko-KR" altLang="en-US" dirty="0"/>
              <a:t>알파코는 </a:t>
            </a:r>
            <a:r>
              <a:rPr lang="en-US" altLang="ko-KR" dirty="0"/>
              <a:t>AX•DX </a:t>
            </a:r>
            <a:r>
              <a:rPr lang="ko-KR" altLang="en-US" dirty="0"/>
              <a:t>교육 변화에 선제적으로 대응하며 </a:t>
            </a:r>
            <a:r>
              <a:rPr lang="en-US" altLang="ko-KR" dirty="0"/>
              <a:t>DX </a:t>
            </a:r>
            <a:r>
              <a:rPr lang="ko-KR" altLang="en-US" dirty="0"/>
              <a:t>기반 학습환경을 구축해 디지털 우수교육 기관으로 역량을 강화하고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06230D-89C7-495F-D700-46FEF665E787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1-1.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일반현황 및 주요 연혁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46BBF327-E98F-3E0B-CCF9-BD4B49844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53409"/>
              </p:ext>
            </p:extLst>
          </p:nvPr>
        </p:nvGraphicFramePr>
        <p:xfrm>
          <a:off x="442913" y="1978340"/>
          <a:ext cx="5545137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08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9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알파코</a:t>
                      </a:r>
                      <a:endParaRPr lang="ko-KR" altLang="en-US" sz="9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08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 분야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서비스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19579"/>
                  </a:ext>
                </a:extLst>
              </a:tr>
              <a:tr h="24108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 설립일자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1999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9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법인전환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2006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2046"/>
                  </a:ext>
                </a:extLst>
              </a:tr>
              <a:tr h="24108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이윤성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96741"/>
                  </a:ext>
                </a:extLst>
              </a:tr>
              <a:tr h="24108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인적구성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60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88312"/>
                  </a:ext>
                </a:extLst>
              </a:tr>
              <a:tr h="1042315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사무실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성수이로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113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제강빌딩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아차산로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111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우행빌딩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 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대구광역시 수성구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달구벌대로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2280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아성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N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타워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39156"/>
                  </a:ext>
                </a:extLst>
              </a:tr>
              <a:tr h="24108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 전화번호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02-2163-5700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636"/>
                  </a:ext>
                </a:extLst>
              </a:tr>
              <a:tr h="24108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홈페이지 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https://corp.alpaco.co.kr/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588166"/>
                  </a:ext>
                </a:extLst>
              </a:tr>
              <a:tr h="145357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인증  및 수상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트레이닝 운영기관 재선정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사업주 </a:t>
                      </a:r>
                      <a:r>
                        <a:rPr lang="ko-KR" altLang="en-US" sz="950" b="0" kern="1200" spc="-2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직업능력개발훈련우수사례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경진대회 최우수기관 선정</a:t>
                      </a:r>
                      <a:r>
                        <a:rPr lang="en-US" altLang="ko-KR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spc="-2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디지털기초역량 운영기관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하이테크플랫폼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찾아가는 학교 연수 지원 사업 주관 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한국과학창의재단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원격훈련 기관인증평가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인증 우수기관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교실혁명 선도교사 양성 연수 수행기관 선정 외 다수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82711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BE639263-CC82-DA9E-3827-E75A0B7F1267}"/>
              </a:ext>
            </a:extLst>
          </p:cNvPr>
          <p:cNvSpPr/>
          <p:nvPr/>
        </p:nvSpPr>
        <p:spPr>
          <a:xfrm>
            <a:off x="442913" y="1659294"/>
            <a:ext cx="1224000" cy="2712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일반 현황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402A0FA-C390-AC2C-BF0B-89C2D601E7C8}"/>
              </a:ext>
            </a:extLst>
          </p:cNvPr>
          <p:cNvGrpSpPr/>
          <p:nvPr/>
        </p:nvGrpSpPr>
        <p:grpSpPr>
          <a:xfrm>
            <a:off x="6104322" y="1659294"/>
            <a:ext cx="5644765" cy="4814846"/>
            <a:chOff x="6104322" y="1305597"/>
            <a:chExt cx="5454865" cy="500415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4C47A6B-28EF-429E-592B-438845C879C4}"/>
                </a:ext>
              </a:extLst>
            </p:cNvPr>
            <p:cNvSpPr/>
            <p:nvPr/>
          </p:nvSpPr>
          <p:spPr>
            <a:xfrm>
              <a:off x="6106083" y="1305597"/>
              <a:ext cx="1224001" cy="30183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 defTabSz="914400"/>
              <a:r>
                <a:rPr lang="ko-KR" altLang="en-US" sz="14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주요 연혁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7797FF4E-9429-89BF-A23B-A47904930E15}"/>
                </a:ext>
              </a:extLst>
            </p:cNvPr>
            <p:cNvGrpSpPr/>
            <p:nvPr/>
          </p:nvGrpSpPr>
          <p:grpSpPr>
            <a:xfrm>
              <a:off x="6104322" y="1661368"/>
              <a:ext cx="5454865" cy="4648388"/>
              <a:chOff x="6285297" y="1730008"/>
              <a:chExt cx="5454865" cy="4579747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07A8F82E-2E87-A7EF-FB22-AF4518FB1BCF}"/>
                  </a:ext>
                </a:extLst>
              </p:cNvPr>
              <p:cNvSpPr/>
              <p:nvPr/>
            </p:nvSpPr>
            <p:spPr>
              <a:xfrm>
                <a:off x="7502565" y="1730182"/>
                <a:ext cx="4212160" cy="8818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K-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사업기관 선정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(2021.09)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전용교육장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스튜디오 및 캠퍼스 오픈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(2021.08)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디지털 전환 콘텐츠 개발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(Python,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빅데이터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AI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등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코딩실습 프로그램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(IDE)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(2021.01)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외 다수 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중소벤처기업부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K-</a:t>
                </a:r>
                <a:r>
                  <a:rPr lang="ko-KR" altLang="en-US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비대면바우처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 공급기업 선정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(2020.09)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3C9535E-30E9-E67B-009B-478B2F6ECEE0}"/>
                  </a:ext>
                </a:extLst>
              </p:cNvPr>
              <p:cNvSpPr/>
              <p:nvPr/>
            </p:nvSpPr>
            <p:spPr>
              <a:xfrm>
                <a:off x="6285297" y="1730008"/>
                <a:ext cx="1227524" cy="88222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디지털 전환기</a:t>
                </a:r>
                <a:endParaRPr lang="en-US" altLang="ko-KR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2020 ~ </a:t>
                </a:r>
                <a:r>
                  <a:rPr lang="ko-KR" altLang="en-US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현재</a:t>
                </a:r>
              </a:p>
            </p:txBody>
          </p:sp>
          <p:sp>
            <p:nvSpPr>
              <p:cNvPr id="50" name="순서도: 대체 처리 49">
                <a:extLst>
                  <a:ext uri="{FF2B5EF4-FFF2-40B4-BE49-F238E27FC236}">
                    <a16:creationId xmlns:a16="http://schemas.microsoft.com/office/drawing/2014/main" id="{B37BA9F5-9307-A097-9997-2486F4D41187}"/>
                  </a:ext>
                </a:extLst>
              </p:cNvPr>
              <p:cNvSpPr/>
              <p:nvPr/>
            </p:nvSpPr>
            <p:spPr>
              <a:xfrm>
                <a:off x="6330396" y="1932599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디지털 전환기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C18C5816-2D70-A586-4B45-6D4673597060}"/>
                  </a:ext>
                </a:extLst>
              </p:cNvPr>
              <p:cNvSpPr/>
              <p:nvPr/>
            </p:nvSpPr>
            <p:spPr>
              <a:xfrm>
                <a:off x="7492481" y="2825079"/>
                <a:ext cx="4247681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고용노동부 기관인증평가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3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년 우수훈련기관 선정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(2019.12)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과학기술정보통신부 </a:t>
                </a:r>
                <a:r>
                  <a:rPr lang="ko-KR" altLang="en-US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굿콘텐츠서비스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 인증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(2019.10)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헬스케어 사업부분 신설 및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WELDERS 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브랜드 런칭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(2019.03)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2,000개,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(2017.12)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538562B-8CF9-C000-50D9-10FE3F9344B6}"/>
                  </a:ext>
                </a:extLst>
              </p:cNvPr>
              <p:cNvSpPr/>
              <p:nvPr/>
            </p:nvSpPr>
            <p:spPr>
              <a:xfrm>
                <a:off x="6285297" y="2825079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새로운 </a:t>
                </a:r>
                <a:r>
                  <a:rPr lang="ko-KR" altLang="en-US" sz="1100" b="1" i="1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도전기</a:t>
                </a:r>
                <a:endParaRPr lang="en-US" altLang="ko-KR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2016 ~ 2019</a:t>
                </a:r>
              </a:p>
            </p:txBody>
          </p:sp>
          <p:sp>
            <p:nvSpPr>
              <p:cNvPr id="53" name="순서도: 대체 처리 52">
                <a:extLst>
                  <a:ext uri="{FF2B5EF4-FFF2-40B4-BE49-F238E27FC236}">
                    <a16:creationId xmlns:a16="http://schemas.microsoft.com/office/drawing/2014/main" id="{A429A66E-070A-E525-9D26-8CED1699D760}"/>
                  </a:ext>
                </a:extLst>
              </p:cNvPr>
              <p:cNvSpPr/>
              <p:nvPr/>
            </p:nvSpPr>
            <p:spPr>
              <a:xfrm>
                <a:off x="6330396" y="2960640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새로운 </a:t>
                </a:r>
                <a:r>
                  <a:rPr lang="ko-KR" altLang="en-US" sz="1100" dirty="0" err="1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도전기</a:t>
                </a:r>
                <a:endPara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958D46F8-44B6-731E-EFCE-D1E0C38484CE}"/>
                  </a:ext>
                </a:extLst>
              </p:cNvPr>
              <p:cNvSpPr/>
              <p:nvPr/>
            </p:nvSpPr>
            <p:spPr>
              <a:xfrm>
                <a:off x="7503324" y="3752244"/>
                <a:ext cx="4209482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훈련기관평가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4년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연속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최우수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(1위)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직업능력개발원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NIPA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시범사업자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선정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/ICT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사업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1,500개,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100만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DEFF58AF-367F-CF87-E963-1FB2D2DF87EE}"/>
                  </a:ext>
                </a:extLst>
              </p:cNvPr>
              <p:cNvSpPr/>
              <p:nvPr/>
            </p:nvSpPr>
            <p:spPr>
              <a:xfrm>
                <a:off x="6285297" y="375224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체질 </a:t>
                </a:r>
                <a:r>
                  <a:rPr lang="ko-KR" altLang="en-US" sz="1100" b="1" i="1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강화기</a:t>
                </a:r>
                <a:endParaRPr lang="en-US" altLang="ko-KR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2011 ~ 2015</a:t>
                </a:r>
              </a:p>
            </p:txBody>
          </p:sp>
          <p:sp>
            <p:nvSpPr>
              <p:cNvPr id="56" name="순서도: 대체 처리 55">
                <a:extLst>
                  <a:ext uri="{FF2B5EF4-FFF2-40B4-BE49-F238E27FC236}">
                    <a16:creationId xmlns:a16="http://schemas.microsoft.com/office/drawing/2014/main" id="{3EA1EBB7-FC69-EFBF-9E4D-B4528D3CACB8}"/>
                  </a:ext>
                </a:extLst>
              </p:cNvPr>
              <p:cNvSpPr/>
              <p:nvPr/>
            </p:nvSpPr>
            <p:spPr>
              <a:xfrm>
                <a:off x="6330396" y="3884524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체질 </a:t>
                </a:r>
                <a:r>
                  <a:rPr lang="ko-KR" altLang="en-US" sz="1100" dirty="0" err="1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강화기</a:t>
                </a:r>
                <a:endPara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86DBF062-D68B-5C29-A36D-D009005475A5}"/>
                  </a:ext>
                </a:extLst>
              </p:cNvPr>
              <p:cNvSpPr/>
              <p:nvPr/>
            </p:nvSpPr>
            <p:spPr>
              <a:xfrm>
                <a:off x="7502564" y="4674433"/>
                <a:ext cx="4212160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인적자원우수기관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인증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산업인력공단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우수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프로그램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경진대회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금상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인터넷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원격훈련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이러닝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1,000개,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50만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34B3E13-926A-6C8F-CE54-E55E98EA56C6}"/>
                  </a:ext>
                </a:extLst>
              </p:cNvPr>
              <p:cNvSpPr/>
              <p:nvPr/>
            </p:nvSpPr>
            <p:spPr>
              <a:xfrm>
                <a:off x="6285297" y="4674433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성장과 </a:t>
                </a:r>
                <a:r>
                  <a:rPr lang="ko-KR" altLang="en-US" sz="1100" b="1" i="1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향상기</a:t>
                </a:r>
                <a:endParaRPr lang="ko-KR" altLang="en-US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2011 ~ 2015</a:t>
                </a:r>
              </a:p>
            </p:txBody>
          </p:sp>
          <p:sp>
            <p:nvSpPr>
              <p:cNvPr id="59" name="순서도: 대체 처리 58">
                <a:extLst>
                  <a:ext uri="{FF2B5EF4-FFF2-40B4-BE49-F238E27FC236}">
                    <a16:creationId xmlns:a16="http://schemas.microsoft.com/office/drawing/2014/main" id="{87C470F3-92B2-41AA-699D-0CB8A50C03DE}"/>
                  </a:ext>
                </a:extLst>
              </p:cNvPr>
              <p:cNvSpPr/>
              <p:nvPr/>
            </p:nvSpPr>
            <p:spPr>
              <a:xfrm>
                <a:off x="6330396" y="4790465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성장과 </a:t>
                </a:r>
                <a:r>
                  <a:rPr lang="ko-KR" altLang="en-US" sz="1100" dirty="0" err="1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향상기</a:t>
                </a:r>
                <a:endPara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F177F64-FFAD-67F2-C1B0-A46311DB3E14}"/>
                  </a:ext>
                </a:extLst>
              </p:cNvPr>
              <p:cNvSpPr/>
              <p:nvPr/>
            </p:nvSpPr>
            <p:spPr>
              <a:xfrm>
                <a:off x="7499688" y="5596624"/>
                <a:ext cx="4222293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1999년 9월 1일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설립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동업계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최초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Web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기반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학습관리시스템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(LMS)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구축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통신교육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프로세스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83E00919-966E-4BF5-C1EB-474D0B320715}"/>
                  </a:ext>
                </a:extLst>
              </p:cNvPr>
              <p:cNvSpPr/>
              <p:nvPr/>
            </p:nvSpPr>
            <p:spPr>
              <a:xfrm>
                <a:off x="6285297" y="559662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창업과 형성기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1999 ~ 2004</a:t>
                </a: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2EBC551B-12C8-60F2-6576-D984D39D2767}"/>
                  </a:ext>
                </a:extLst>
              </p:cNvPr>
              <p:cNvSpPr/>
              <p:nvPr/>
            </p:nvSpPr>
            <p:spPr>
              <a:xfrm>
                <a:off x="6330396" y="5702827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창업과 형성기</a:t>
                </a:r>
              </a:p>
            </p:txBody>
          </p:sp>
          <p:sp>
            <p:nvSpPr>
              <p:cNvPr id="63" name="순서도: 추출 62">
                <a:extLst>
                  <a:ext uri="{FF2B5EF4-FFF2-40B4-BE49-F238E27FC236}">
                    <a16:creationId xmlns:a16="http://schemas.microsoft.com/office/drawing/2014/main" id="{18A32DAB-E4DD-DB18-749D-052C69FCCC6F}"/>
                  </a:ext>
                </a:extLst>
              </p:cNvPr>
              <p:cNvSpPr/>
              <p:nvPr/>
            </p:nvSpPr>
            <p:spPr>
              <a:xfrm>
                <a:off x="6801899" y="2651860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순서도: 추출 63">
                <a:extLst>
                  <a:ext uri="{FF2B5EF4-FFF2-40B4-BE49-F238E27FC236}">
                    <a16:creationId xmlns:a16="http://schemas.microsoft.com/office/drawing/2014/main" id="{7C2ABAFF-6C9E-73D2-F563-8AD5C0EB6C5D}"/>
                  </a:ext>
                </a:extLst>
              </p:cNvPr>
              <p:cNvSpPr/>
              <p:nvPr/>
            </p:nvSpPr>
            <p:spPr>
              <a:xfrm>
                <a:off x="6801899" y="3584003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순서도: 추출 64">
                <a:extLst>
                  <a:ext uri="{FF2B5EF4-FFF2-40B4-BE49-F238E27FC236}">
                    <a16:creationId xmlns:a16="http://schemas.microsoft.com/office/drawing/2014/main" id="{F5A7208C-C373-64FA-B397-34E59DDD0F5C}"/>
                  </a:ext>
                </a:extLst>
              </p:cNvPr>
              <p:cNvSpPr/>
              <p:nvPr/>
            </p:nvSpPr>
            <p:spPr>
              <a:xfrm>
                <a:off x="6801899" y="4507804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순서도: 추출 65">
                <a:extLst>
                  <a:ext uri="{FF2B5EF4-FFF2-40B4-BE49-F238E27FC236}">
                    <a16:creationId xmlns:a16="http://schemas.microsoft.com/office/drawing/2014/main" id="{D07FCF89-07D1-3E95-AA6C-61C5FD4C6BB4}"/>
                  </a:ext>
                </a:extLst>
              </p:cNvPr>
              <p:cNvSpPr/>
              <p:nvPr/>
            </p:nvSpPr>
            <p:spPr>
              <a:xfrm>
                <a:off x="6801899" y="5433296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992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27F0-6B93-FCA5-E5D8-A8BEFD66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01B07-84FC-3D43-7AEA-685288F1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kern="0" dirty="0">
                <a:ln>
                  <a:solidFill>
                    <a:srgbClr val="4F81BD">
                      <a:alpha val="0"/>
                    </a:srgbClr>
                  </a:solidFill>
                </a:ln>
                <a:cs typeface="Calibri" panose="020F0502020204030204" pitchFamily="34" charset="0"/>
                <a:sym typeface="Arial" panose="020B0604020202020204" pitchFamily="34" charset="0"/>
              </a:rPr>
              <a:t>기관 소개</a:t>
            </a:r>
            <a:endParaRPr lang="ko-KR" altLang="en-US" sz="13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B4D6B4-F778-46C0-5119-57C4C0B3D9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전공자 중심 콘텐츠 개발 및 운영인력</a:t>
            </a:r>
            <a:r>
              <a:rPr lang="en-US" altLang="ko-KR" dirty="0"/>
              <a:t>&amp;</a:t>
            </a:r>
            <a:r>
              <a:rPr lang="ko-KR" altLang="en-US" dirty="0" err="1"/>
              <a:t>전직원</a:t>
            </a:r>
            <a:r>
              <a:rPr lang="ko-KR" altLang="en-US" dirty="0"/>
              <a:t> 교육 관련 자격증 취득 의무화를 통해 고품질의 교육서비스를 제공하고 있습니다</a:t>
            </a:r>
            <a:r>
              <a:rPr lang="en-US" altLang="ko-KR" dirty="0"/>
              <a:t>.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5D851E-3A9A-EB19-9436-93B1559B273B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1-2.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인력현황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BC0FEA9-D423-C9C1-0AF8-19FBC39D4D55}"/>
              </a:ext>
            </a:extLst>
          </p:cNvPr>
          <p:cNvSpPr/>
          <p:nvPr/>
        </p:nvSpPr>
        <p:spPr>
          <a:xfrm>
            <a:off x="8082565" y="2025149"/>
            <a:ext cx="3656704" cy="4015023"/>
          </a:xfrm>
          <a:prstGeom prst="roundRect">
            <a:avLst>
              <a:gd name="adj" fmla="val 378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lIns="36000" rIns="36000" rtlCol="0" anchor="t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0" cap="none" spc="-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스퀘어 네오 Regular"/>
              <a:ea typeface="나눔스퀘어 네오 Regular"/>
              <a:cs typeface="KoPubWorld돋움체 Bold" panose="00000800000000000000" pitchFamily="2" charset="-127"/>
            </a:endParaRPr>
          </a:p>
        </p:txBody>
      </p:sp>
      <p:sp>
        <p:nvSpPr>
          <p:cNvPr id="45" name="사각형: 둥근 위쪽 모서리 44">
            <a:extLst>
              <a:ext uri="{FF2B5EF4-FFF2-40B4-BE49-F238E27FC236}">
                <a16:creationId xmlns:a16="http://schemas.microsoft.com/office/drawing/2014/main" id="{2D56C32E-CBFA-CED6-0A71-9A66B7043118}"/>
              </a:ext>
            </a:extLst>
          </p:cNvPr>
          <p:cNvSpPr/>
          <p:nvPr/>
        </p:nvSpPr>
        <p:spPr>
          <a:xfrm>
            <a:off x="8336247" y="3429980"/>
            <a:ext cx="3144920" cy="37301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6AA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-9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ExtraBold"/>
              <a:ea typeface="나눔스퀘어 네오 ExtraBold"/>
              <a:cs typeface="Pretendard" panose="02000503000000020004" pitchFamily="50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0D2EF4E-2129-380F-3984-60FDC93740F8}"/>
              </a:ext>
            </a:extLst>
          </p:cNvPr>
          <p:cNvGrpSpPr/>
          <p:nvPr/>
        </p:nvGrpSpPr>
        <p:grpSpPr>
          <a:xfrm>
            <a:off x="8357569" y="2243198"/>
            <a:ext cx="2682212" cy="735842"/>
            <a:chOff x="755920" y="2248508"/>
            <a:chExt cx="2682212" cy="73584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0AB4C9D-9C8F-E372-25DC-40A7665AA985}"/>
                </a:ext>
              </a:extLst>
            </p:cNvPr>
            <p:cNvSpPr txBox="1"/>
            <p:nvPr/>
          </p:nvSpPr>
          <p:spPr>
            <a:xfrm>
              <a:off x="1059276" y="2248508"/>
              <a:ext cx="2378856" cy="73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9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전공자 위주의 개발팀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-90" normalizeH="0" baseline="0" noProof="0">
                  <a:ln>
                    <a:noFill/>
                  </a:ln>
                  <a:solidFill>
                    <a:srgbClr val="0096AA"/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개발인력 전문성 강화</a:t>
              </a: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ACCB3A0-2089-24B3-F9A5-C00C3226514C}"/>
                </a:ext>
              </a:extLst>
            </p:cNvPr>
            <p:cNvSpPr/>
            <p:nvPr/>
          </p:nvSpPr>
          <p:spPr>
            <a:xfrm>
              <a:off x="755920" y="2313073"/>
              <a:ext cx="303356" cy="303356"/>
            </a:xfrm>
            <a:prstGeom prst="ellipse">
              <a:avLst/>
            </a:prstGeom>
            <a:solidFill>
              <a:srgbClr val="0096AA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-9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Heavy" panose="00000A00000000000000" pitchFamily="2" charset="-127"/>
                  <a:ea typeface="나눔스퀘어 네오 Heavy" panose="00000A00000000000000" pitchFamily="2" charset="-127"/>
                  <a:cs typeface="+mn-cs"/>
                </a:rPr>
                <a:t>02</a:t>
              </a:r>
              <a:endParaRPr kumimoji="0" lang="ko-KR" altLang="en-US" sz="1100" b="0" i="0" u="none" strike="noStrike" kern="0" cap="none" spc="-9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endParaRPr>
            </a:p>
          </p:txBody>
        </p:sp>
      </p:grp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BBB3AC5F-AE5E-FE40-4636-06B8C2F3163F}"/>
              </a:ext>
            </a:extLst>
          </p:cNvPr>
          <p:cNvSpPr/>
          <p:nvPr/>
        </p:nvSpPr>
        <p:spPr>
          <a:xfrm>
            <a:off x="4279249" y="2025150"/>
            <a:ext cx="3656704" cy="4015023"/>
          </a:xfrm>
          <a:prstGeom prst="roundRect">
            <a:avLst>
              <a:gd name="adj" fmla="val 378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lIns="36000" rIns="36000" rtlCol="0" anchor="t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0" cap="none" spc="-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스퀘어 네오 Regular"/>
              <a:ea typeface="나눔스퀘어 네오 Regular"/>
              <a:cs typeface="KoPubWorld돋움체 Bold" panose="00000800000000000000" pitchFamily="2" charset="-127"/>
            </a:endParaRPr>
          </a:p>
        </p:txBody>
      </p:sp>
      <p:sp>
        <p:nvSpPr>
          <p:cNvPr id="50" name="사각형: 둥근 위쪽 모서리 49">
            <a:extLst>
              <a:ext uri="{FF2B5EF4-FFF2-40B4-BE49-F238E27FC236}">
                <a16:creationId xmlns:a16="http://schemas.microsoft.com/office/drawing/2014/main" id="{FF19E8B5-B2E2-3D1D-62E7-236812A2C4E8}"/>
              </a:ext>
            </a:extLst>
          </p:cNvPr>
          <p:cNvSpPr/>
          <p:nvPr/>
        </p:nvSpPr>
        <p:spPr>
          <a:xfrm>
            <a:off x="4523540" y="3435290"/>
            <a:ext cx="3144920" cy="37301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A8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-9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ExtraBold"/>
              <a:ea typeface="나눔스퀘어 네오 ExtraBold"/>
              <a:cs typeface="Pretendard" panose="0200050300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FBEA4A6-1078-EF1C-370B-230AEA177B26}"/>
              </a:ext>
            </a:extLst>
          </p:cNvPr>
          <p:cNvGrpSpPr/>
          <p:nvPr/>
        </p:nvGrpSpPr>
        <p:grpSpPr>
          <a:xfrm>
            <a:off x="4544862" y="2248508"/>
            <a:ext cx="2075636" cy="735842"/>
            <a:chOff x="755920" y="2248508"/>
            <a:chExt cx="2075636" cy="73584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905D31A-5472-E221-3120-1EA48F57A1A5}"/>
                </a:ext>
              </a:extLst>
            </p:cNvPr>
            <p:cNvSpPr txBox="1"/>
            <p:nvPr/>
          </p:nvSpPr>
          <p:spPr>
            <a:xfrm>
              <a:off x="1059276" y="2248508"/>
              <a:ext cx="1772280" cy="73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9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자격보유 의무화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0" cap="none" spc="-90" normalizeH="0" baseline="0" noProof="0">
                  <a:ln>
                    <a:noFill/>
                  </a:ln>
                  <a:solidFill>
                    <a:srgbClr val="003A8C"/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HR</a:t>
              </a:r>
              <a:r>
                <a:rPr kumimoji="0" lang="ko-KR" altLang="en-US" sz="2000" b="0" i="0" u="none" strike="noStrike" kern="0" cap="none" spc="-90" normalizeH="0" baseline="0" noProof="0">
                  <a:ln>
                    <a:noFill/>
                  </a:ln>
                  <a:solidFill>
                    <a:srgbClr val="003A8C"/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전문가 육성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80AA5EB0-2AEF-F807-0E5B-6C5093C372EF}"/>
                </a:ext>
              </a:extLst>
            </p:cNvPr>
            <p:cNvSpPr/>
            <p:nvPr/>
          </p:nvSpPr>
          <p:spPr>
            <a:xfrm>
              <a:off x="755920" y="2313073"/>
              <a:ext cx="303356" cy="303356"/>
            </a:xfrm>
            <a:prstGeom prst="ellipse">
              <a:avLst/>
            </a:prstGeom>
            <a:solidFill>
              <a:srgbClr val="003A8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-9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Heavy" panose="00000A00000000000000" pitchFamily="2" charset="-127"/>
                  <a:ea typeface="나눔스퀘어 네오 Heavy" panose="00000A00000000000000" pitchFamily="2" charset="-127"/>
                  <a:cs typeface="+mn-cs"/>
                </a:rPr>
                <a:t>02</a:t>
              </a:r>
              <a:endParaRPr kumimoji="0" lang="ko-KR" altLang="en-US" sz="1100" b="0" i="0" u="none" strike="noStrike" kern="0" cap="none" spc="-9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endParaRP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6A4E685-39EE-204B-1BD6-A177B802542B}"/>
              </a:ext>
            </a:extLst>
          </p:cNvPr>
          <p:cNvSpPr/>
          <p:nvPr/>
        </p:nvSpPr>
        <p:spPr>
          <a:xfrm>
            <a:off x="475934" y="2025151"/>
            <a:ext cx="3656704" cy="4015023"/>
          </a:xfrm>
          <a:prstGeom prst="roundRect">
            <a:avLst>
              <a:gd name="adj" fmla="val 378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lIns="36000" rIns="36000" rtlCol="0" anchor="t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" b="0" i="0" u="none" strike="noStrike" kern="0" cap="none" spc="-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스퀘어 네오 Regular"/>
              <a:ea typeface="나눔스퀘어 네오 Regular"/>
              <a:cs typeface="KoPubWorld돋움체 Bold" panose="00000800000000000000" pitchFamily="2" charset="-127"/>
            </a:endParaRP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595A18E0-0ADF-B6D3-A725-07D975242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36627"/>
              </p:ext>
            </p:extLst>
          </p:nvPr>
        </p:nvGraphicFramePr>
        <p:xfrm>
          <a:off x="8336246" y="3427704"/>
          <a:ext cx="3144920" cy="2212284"/>
        </p:xfrm>
        <a:graphic>
          <a:graphicData uri="http://schemas.openxmlformats.org/drawingml/2006/table">
            <a:tbl>
              <a:tblPr firstRow="1" bandRow="1"/>
              <a:tblGrid>
                <a:gridCol w="1572460">
                  <a:extLst>
                    <a:ext uri="{9D8B030D-6E8A-4147-A177-3AD203B41FA5}">
                      <a16:colId xmlns:a16="http://schemas.microsoft.com/office/drawing/2014/main" val="1612350552"/>
                    </a:ext>
                  </a:extLst>
                </a:gridCol>
                <a:gridCol w="1572460">
                  <a:extLst>
                    <a:ext uri="{9D8B030D-6E8A-4147-A177-3AD203B41FA5}">
                      <a16:colId xmlns:a16="http://schemas.microsoft.com/office/drawing/2014/main" val="448845598"/>
                    </a:ext>
                  </a:extLst>
                </a:gridCol>
              </a:tblGrid>
              <a:tr h="3885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400" b="0" kern="1200" spc="-9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자격증명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400" b="0" kern="1200" spc="-9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121306"/>
                  </a:ext>
                </a:extLst>
              </a:tr>
              <a:tr h="4559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교육공학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767195"/>
                  </a:ext>
                </a:extLst>
              </a:tr>
              <a:tr h="4559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교육학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149099"/>
                  </a:ext>
                </a:extLst>
              </a:tr>
              <a:tr h="4559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경영 및 기타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4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215443"/>
                  </a:ext>
                </a:extLst>
              </a:tr>
              <a:tr h="4559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소계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9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9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729714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E2B0CFE2-FDE3-C2BB-4DDE-29D96CD551C9}"/>
              </a:ext>
            </a:extLst>
          </p:cNvPr>
          <p:cNvGraphicFramePr>
            <a:graphicFrameLocks noGrp="1"/>
          </p:cNvGraphicFramePr>
          <p:nvPr/>
        </p:nvGraphicFramePr>
        <p:xfrm>
          <a:off x="4523540" y="3431411"/>
          <a:ext cx="3144920" cy="2276004"/>
        </p:xfrm>
        <a:graphic>
          <a:graphicData uri="http://schemas.openxmlformats.org/drawingml/2006/table">
            <a:tbl>
              <a:tblPr firstRow="1" bandRow="1"/>
              <a:tblGrid>
                <a:gridCol w="1729966">
                  <a:extLst>
                    <a:ext uri="{9D8B030D-6E8A-4147-A177-3AD203B41FA5}">
                      <a16:colId xmlns:a16="http://schemas.microsoft.com/office/drawing/2014/main" val="1612350552"/>
                    </a:ext>
                  </a:extLst>
                </a:gridCol>
                <a:gridCol w="1414954">
                  <a:extLst>
                    <a:ext uri="{9D8B030D-6E8A-4147-A177-3AD203B41FA5}">
                      <a16:colId xmlns:a16="http://schemas.microsoft.com/office/drawing/2014/main" val="448845598"/>
                    </a:ext>
                  </a:extLst>
                </a:gridCol>
              </a:tblGrid>
              <a:tr h="3793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400" b="0" kern="1200" spc="-9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자격증명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400" b="0" kern="1200" spc="-9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121306"/>
                  </a:ext>
                </a:extLst>
              </a:tr>
              <a:tr h="3793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이러닝 </a:t>
                      </a:r>
                      <a:r>
                        <a:rPr lang="ko-KR" altLang="en-US" sz="1400" b="0" i="0" u="none" strike="noStrike" kern="1200" spc="-90" baseline="0" dirty="0" err="1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지도사</a:t>
                      </a:r>
                      <a:endParaRPr lang="ko-KR" altLang="en-US" sz="1400" b="0" i="0" u="none" strike="noStrike" kern="1200" spc="-90" baseline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16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767195"/>
                  </a:ext>
                </a:extLst>
              </a:tr>
              <a:tr h="3793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인적자원 개발사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149099"/>
                  </a:ext>
                </a:extLst>
              </a:tr>
              <a:tr h="3793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평생교육사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215443"/>
                  </a:ext>
                </a:extLst>
              </a:tr>
              <a:tr h="3793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CS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관리사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977480"/>
                  </a:ext>
                </a:extLst>
              </a:tr>
              <a:tr h="3793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개인정보보호사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400" b="0" i="0" u="none" strike="noStrike" kern="1200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046778"/>
                  </a:ext>
                </a:extLst>
              </a:tr>
            </a:tbl>
          </a:graphicData>
        </a:graphic>
      </p:graphicFrame>
      <p:sp>
        <p:nvSpPr>
          <p:cNvPr id="57" name="사각형: 둥근 위쪽 모서리 56">
            <a:extLst>
              <a:ext uri="{FF2B5EF4-FFF2-40B4-BE49-F238E27FC236}">
                <a16:creationId xmlns:a16="http://schemas.microsoft.com/office/drawing/2014/main" id="{F2DAF33A-A81C-8F87-C38E-609556C23AE5}"/>
              </a:ext>
            </a:extLst>
          </p:cNvPr>
          <p:cNvSpPr/>
          <p:nvPr/>
        </p:nvSpPr>
        <p:spPr>
          <a:xfrm>
            <a:off x="734598" y="3435290"/>
            <a:ext cx="3144920" cy="37301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6AA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-9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ExtraBold"/>
              <a:ea typeface="나눔스퀘어 네오 ExtraBold"/>
              <a:cs typeface="Pretendard" panose="02000503000000020004" pitchFamily="50" charset="-127"/>
            </a:endParaRPr>
          </a:p>
        </p:txBody>
      </p:sp>
      <p:graphicFrame>
        <p:nvGraphicFramePr>
          <p:cNvPr id="58" name="표 3">
            <a:extLst>
              <a:ext uri="{FF2B5EF4-FFF2-40B4-BE49-F238E27FC236}">
                <a16:creationId xmlns:a16="http://schemas.microsoft.com/office/drawing/2014/main" id="{6094ACB3-9DC3-7B98-B378-4EF248D51131}"/>
              </a:ext>
            </a:extLst>
          </p:cNvPr>
          <p:cNvGraphicFramePr>
            <a:graphicFrameLocks noGrp="1"/>
          </p:cNvGraphicFramePr>
          <p:nvPr/>
        </p:nvGraphicFramePr>
        <p:xfrm>
          <a:off x="734598" y="3430082"/>
          <a:ext cx="3144920" cy="2277336"/>
        </p:xfrm>
        <a:graphic>
          <a:graphicData uri="http://schemas.openxmlformats.org/drawingml/2006/table">
            <a:tbl>
              <a:tblPr firstRow="1" bandRow="1"/>
              <a:tblGrid>
                <a:gridCol w="1848024">
                  <a:extLst>
                    <a:ext uri="{9D8B030D-6E8A-4147-A177-3AD203B41FA5}">
                      <a16:colId xmlns:a16="http://schemas.microsoft.com/office/drawing/2014/main" val="1612350552"/>
                    </a:ext>
                  </a:extLst>
                </a:gridCol>
                <a:gridCol w="1296896">
                  <a:extLst>
                    <a:ext uri="{9D8B030D-6E8A-4147-A177-3AD203B41FA5}">
                      <a16:colId xmlns:a16="http://schemas.microsoft.com/office/drawing/2014/main" val="2668262217"/>
                    </a:ext>
                  </a:extLst>
                </a:gridCol>
              </a:tblGrid>
              <a:tr h="3795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kern="1200" spc="-9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경력기간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kern="1200" spc="-9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비율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121306"/>
                  </a:ext>
                </a:extLst>
              </a:tr>
              <a:tr h="3795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400" b="0" i="0" u="none" strike="noStrike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41.67%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149099"/>
                  </a:ext>
                </a:extLst>
              </a:tr>
              <a:tr h="3795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미만 </a:t>
                      </a:r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 5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400" b="0" i="0" u="none" strike="noStrike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25.00%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215443"/>
                  </a:ext>
                </a:extLst>
              </a:tr>
              <a:tr h="3795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미만 </a:t>
                      </a:r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 3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400" b="0" i="0" u="none" strike="noStrike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12.50%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977480"/>
                  </a:ext>
                </a:extLst>
              </a:tr>
              <a:tr h="3795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미만</a:t>
                      </a:r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~ 1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400" b="0" i="0" u="none" strike="noStrike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12.50%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076402"/>
                  </a:ext>
                </a:extLst>
              </a:tr>
              <a:tr h="3795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400" spc="-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이하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9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400" b="0" i="0" u="none" strike="noStrike" spc="-9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9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729714"/>
                  </a:ext>
                </a:extLst>
              </a:tr>
            </a:tbl>
          </a:graphicData>
        </a:graphic>
      </p:graphicFrame>
      <p:grpSp>
        <p:nvGrpSpPr>
          <p:cNvPr id="59" name="그룹 58">
            <a:extLst>
              <a:ext uri="{FF2B5EF4-FFF2-40B4-BE49-F238E27FC236}">
                <a16:creationId xmlns:a16="http://schemas.microsoft.com/office/drawing/2014/main" id="{63E357C1-5B19-2736-AC7E-B6915D420CD6}"/>
              </a:ext>
            </a:extLst>
          </p:cNvPr>
          <p:cNvGrpSpPr/>
          <p:nvPr/>
        </p:nvGrpSpPr>
        <p:grpSpPr>
          <a:xfrm>
            <a:off x="755920" y="2248508"/>
            <a:ext cx="2564873" cy="735842"/>
            <a:chOff x="755920" y="2248508"/>
            <a:chExt cx="2564873" cy="73584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25001AB-9D94-7E9C-E1EA-3172A316C90B}"/>
                </a:ext>
              </a:extLst>
            </p:cNvPr>
            <p:cNvSpPr txBox="1"/>
            <p:nvPr/>
          </p:nvSpPr>
          <p:spPr>
            <a:xfrm>
              <a:off x="1059276" y="2248508"/>
              <a:ext cx="2261517" cy="73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-9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5</a:t>
              </a:r>
              <a:r>
                <a:rPr kumimoji="0" lang="ko-KR" altLang="en-US" sz="1600" b="0" i="0" u="none" strike="noStrike" kern="0" cap="none" spc="-9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년 이상 경력</a:t>
              </a:r>
              <a:endParaRPr kumimoji="0" lang="en-US" altLang="ko-KR" sz="1600" b="0" i="0" u="none" strike="noStrike" kern="0" cap="none" spc="-9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네오 ExtraBold"/>
                <a:ea typeface="나눔스퀘어 네오 ExtraBold"/>
                <a:cs typeface="Pretendard" panose="02000503000000020004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-9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60%</a:t>
              </a:r>
              <a:r>
                <a:rPr kumimoji="0" lang="ko-KR" altLang="en-US" sz="1600" b="0" i="0" u="none" strike="noStrike" kern="0" cap="none" spc="-9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이상 </a:t>
              </a:r>
              <a:r>
                <a:rPr kumimoji="0" lang="ko-KR" altLang="en-US" sz="2000" b="0" i="0" u="none" strike="noStrike" kern="0" cap="none" spc="-90" normalizeH="0" baseline="0" noProof="0" dirty="0">
                  <a:ln>
                    <a:noFill/>
                  </a:ln>
                  <a:solidFill>
                    <a:srgbClr val="0096AA"/>
                  </a:solidFill>
                  <a:effectLst/>
                  <a:uLnTx/>
                  <a:uFillTx/>
                  <a:latin typeface="나눔스퀘어 네오 ExtraBold"/>
                  <a:ea typeface="나눔스퀘어 네오 ExtraBold"/>
                  <a:cs typeface="Pretendard" panose="02000503000000020004" pitchFamily="50" charset="-127"/>
                </a:rPr>
                <a:t>전문성 강화</a:t>
              </a:r>
              <a:endParaRPr kumimoji="0" lang="ko-KR" altLang="en-US" sz="1600" b="0" i="0" u="none" strike="noStrike" kern="0" cap="none" spc="-90" normalizeH="0" baseline="0" noProof="0" dirty="0">
                <a:ln>
                  <a:noFill/>
                </a:ln>
                <a:solidFill>
                  <a:srgbClr val="0096AA"/>
                </a:solidFill>
                <a:effectLst/>
                <a:uLnTx/>
                <a:uFillTx/>
                <a:latin typeface="나눔스퀘어 네오 ExtraBold"/>
                <a:ea typeface="나눔스퀘어 네오 ExtraBold"/>
                <a:cs typeface="Pretendard" panose="02000503000000020004" pitchFamily="50" charset="-127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D27F12A8-951D-4C2B-E2C2-7A5A4ECBC248}"/>
                </a:ext>
              </a:extLst>
            </p:cNvPr>
            <p:cNvSpPr/>
            <p:nvPr/>
          </p:nvSpPr>
          <p:spPr>
            <a:xfrm>
              <a:off x="755920" y="2313073"/>
              <a:ext cx="303356" cy="303356"/>
            </a:xfrm>
            <a:prstGeom prst="ellipse">
              <a:avLst/>
            </a:prstGeom>
            <a:solidFill>
              <a:srgbClr val="0096AA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-9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Heavy" panose="00000A00000000000000" pitchFamily="2" charset="-127"/>
                  <a:ea typeface="나눔스퀘어 네오 Heavy" panose="00000A00000000000000" pitchFamily="2" charset="-127"/>
                  <a:cs typeface="+mn-cs"/>
                </a:rPr>
                <a:t>01</a:t>
              </a:r>
              <a:endParaRPr kumimoji="0" lang="ko-KR" altLang="en-US" sz="1100" b="0" i="0" u="none" strike="noStrike" kern="0" cap="none" spc="-9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endParaRPr>
            </a:p>
          </p:txBody>
        </p:sp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06C8A8C-AC0C-1DE3-E618-A820FD00C0B3}"/>
              </a:ext>
            </a:extLst>
          </p:cNvPr>
          <p:cNvCxnSpPr>
            <a:cxnSpLocks/>
          </p:cNvCxnSpPr>
          <p:nvPr/>
        </p:nvCxnSpPr>
        <p:spPr>
          <a:xfrm>
            <a:off x="475935" y="3171490"/>
            <a:ext cx="3656703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186BEB6-3BE9-BB50-7636-5338E967F34A}"/>
              </a:ext>
            </a:extLst>
          </p:cNvPr>
          <p:cNvCxnSpPr>
            <a:cxnSpLocks/>
          </p:cNvCxnSpPr>
          <p:nvPr/>
        </p:nvCxnSpPr>
        <p:spPr>
          <a:xfrm>
            <a:off x="4279249" y="3171489"/>
            <a:ext cx="3656704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E6A5748-7945-6385-18B9-00B0DCAEF813}"/>
              </a:ext>
            </a:extLst>
          </p:cNvPr>
          <p:cNvCxnSpPr>
            <a:cxnSpLocks/>
          </p:cNvCxnSpPr>
          <p:nvPr/>
        </p:nvCxnSpPr>
        <p:spPr>
          <a:xfrm>
            <a:off x="8082565" y="3171488"/>
            <a:ext cx="3656704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80418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81E6-2AC9-8AF2-EF45-5AFD6379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5FCBC-6DC2-EA3E-9F91-491E932B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kern="0" dirty="0">
                <a:ln>
                  <a:solidFill>
                    <a:srgbClr val="4F81BD">
                      <a:alpha val="0"/>
                    </a:srgbClr>
                  </a:solidFill>
                </a:ln>
                <a:cs typeface="Calibri" panose="020F0502020204030204" pitchFamily="34" charset="0"/>
                <a:sym typeface="Arial" panose="020B0604020202020204" pitchFamily="34" charset="0"/>
              </a:rPr>
              <a:t>기관 소개</a:t>
            </a:r>
            <a:endParaRPr lang="ko-KR" altLang="en-US" sz="13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912E4D-236B-1E3A-E605-26A39A47B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88704" y="1292656"/>
            <a:ext cx="11341565" cy="734471"/>
          </a:xfrm>
        </p:spPr>
        <p:txBody>
          <a:bodyPr/>
          <a:lstStyle/>
          <a:p>
            <a:r>
              <a:rPr lang="en-US" altLang="ko-KR" dirty="0"/>
              <a:t>DX</a:t>
            </a:r>
            <a:r>
              <a:rPr lang="ko-KR" altLang="en-US" dirty="0"/>
              <a:t>전환 내재화 수준별 수행 레퍼런스는 다음과 같습니다</a:t>
            </a:r>
            <a:r>
              <a:rPr lang="en-US" altLang="ko-KR" dirty="0"/>
              <a:t>. (※ Level 1 </a:t>
            </a:r>
            <a:r>
              <a:rPr lang="ko-KR" altLang="en-US" dirty="0"/>
              <a:t>디지털 마인드셋 및 </a:t>
            </a:r>
            <a:r>
              <a:rPr lang="en-US" altLang="ko-KR" dirty="0"/>
              <a:t>Skill </a:t>
            </a:r>
            <a:r>
              <a:rPr lang="ko-KR" altLang="en-US" dirty="0"/>
              <a:t>이해</a:t>
            </a:r>
            <a:r>
              <a:rPr lang="en-US" altLang="ko-KR" dirty="0"/>
              <a:t>, Level2 </a:t>
            </a:r>
            <a:r>
              <a:rPr lang="ko-KR" altLang="en-US" dirty="0"/>
              <a:t>디지털 </a:t>
            </a:r>
            <a:r>
              <a:rPr lang="en-US" altLang="ko-KR" dirty="0"/>
              <a:t>Skill </a:t>
            </a:r>
            <a:r>
              <a:rPr lang="ko-KR" altLang="en-US" dirty="0"/>
              <a:t>실무적용 능력 함양</a:t>
            </a:r>
            <a:r>
              <a:rPr lang="en-US" altLang="ko-KR" dirty="0"/>
              <a:t>, Level3 </a:t>
            </a:r>
            <a:r>
              <a:rPr lang="ko-KR" altLang="en-US" dirty="0"/>
              <a:t>이상 </a:t>
            </a:r>
            <a:r>
              <a:rPr lang="en-US" altLang="ko-KR" dirty="0"/>
              <a:t>DX</a:t>
            </a:r>
            <a:r>
              <a:rPr lang="ko-KR" altLang="en-US" dirty="0"/>
              <a:t>전문 인력 양성</a:t>
            </a:r>
            <a:r>
              <a:rPr lang="en-US" altLang="ko-KR" dirty="0"/>
              <a:t>).</a:t>
            </a:r>
            <a:r>
              <a:rPr lang="ko-KR" altLang="en-US" dirty="0"/>
              <a:t> 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FB3028-8B9A-1D89-CC8F-32177FFE3B99}"/>
              </a:ext>
            </a:extLst>
          </p:cNvPr>
          <p:cNvSpPr/>
          <p:nvPr/>
        </p:nvSpPr>
        <p:spPr>
          <a:xfrm>
            <a:off x="0" y="85825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1-3.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최근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년 주요 수행실적 및 연수인원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제조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·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공공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5553C9-AB4E-A727-77FD-16090EC07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84052"/>
              </p:ext>
            </p:extLst>
          </p:nvPr>
        </p:nvGraphicFramePr>
        <p:xfrm>
          <a:off x="403712" y="1665287"/>
          <a:ext cx="11240891" cy="4765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498">
                  <a:extLst>
                    <a:ext uri="{9D8B030D-6E8A-4147-A177-3AD203B41FA5}">
                      <a16:colId xmlns:a16="http://schemas.microsoft.com/office/drawing/2014/main" val="1800538771"/>
                    </a:ext>
                  </a:extLst>
                </a:gridCol>
                <a:gridCol w="1237537">
                  <a:extLst>
                    <a:ext uri="{9D8B030D-6E8A-4147-A177-3AD203B41FA5}">
                      <a16:colId xmlns:a16="http://schemas.microsoft.com/office/drawing/2014/main" val="3917029020"/>
                    </a:ext>
                  </a:extLst>
                </a:gridCol>
                <a:gridCol w="1880600">
                  <a:extLst>
                    <a:ext uri="{9D8B030D-6E8A-4147-A177-3AD203B41FA5}">
                      <a16:colId xmlns:a16="http://schemas.microsoft.com/office/drawing/2014/main" val="1477939316"/>
                    </a:ext>
                  </a:extLst>
                </a:gridCol>
                <a:gridCol w="2610503">
                  <a:extLst>
                    <a:ext uri="{9D8B030D-6E8A-4147-A177-3AD203B41FA5}">
                      <a16:colId xmlns:a16="http://schemas.microsoft.com/office/drawing/2014/main" val="4144099516"/>
                    </a:ext>
                  </a:extLst>
                </a:gridCol>
                <a:gridCol w="1185265">
                  <a:extLst>
                    <a:ext uri="{9D8B030D-6E8A-4147-A177-3AD203B41FA5}">
                      <a16:colId xmlns:a16="http://schemas.microsoft.com/office/drawing/2014/main" val="3857017176"/>
                    </a:ext>
                  </a:extLst>
                </a:gridCol>
                <a:gridCol w="525722">
                  <a:extLst>
                    <a:ext uri="{9D8B030D-6E8A-4147-A177-3AD203B41FA5}">
                      <a16:colId xmlns:a16="http://schemas.microsoft.com/office/drawing/2014/main" val="3669907112"/>
                    </a:ext>
                  </a:extLst>
                </a:gridCol>
                <a:gridCol w="755127">
                  <a:extLst>
                    <a:ext uri="{9D8B030D-6E8A-4147-A177-3AD203B41FA5}">
                      <a16:colId xmlns:a16="http://schemas.microsoft.com/office/drawing/2014/main" val="393890028"/>
                    </a:ext>
                  </a:extLst>
                </a:gridCol>
                <a:gridCol w="2389639">
                  <a:extLst>
                    <a:ext uri="{9D8B030D-6E8A-4147-A177-3AD203B41FA5}">
                      <a16:colId xmlns:a16="http://schemas.microsoft.com/office/drawing/2014/main" val="2397320785"/>
                    </a:ext>
                  </a:extLst>
                </a:gridCol>
              </a:tblGrid>
              <a:tr h="3513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학습수준</a:t>
                      </a:r>
                    </a:p>
                  </a:txBody>
                  <a:tcPr marL="0" marR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사업기관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연수명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연수 개요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사업기간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인원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학습대상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운영 노하우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87097"/>
                  </a:ext>
                </a:extLst>
              </a:tr>
              <a:tr h="492850">
                <a:tc rowSpan="3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Level3</a:t>
                      </a: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이상</a:t>
                      </a:r>
                      <a:endParaRPr lang="en-US" altLang="ko-KR" sz="1100" b="1" spc="-100" dirty="0">
                        <a:solidFill>
                          <a:srgbClr val="0000FF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LG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전자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데이터 기반 업무효율화 프로젝트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데이터분석 문제 정의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코칭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</a:t>
                      </a: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</a:t>
                      </a: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(3</a:t>
                      </a: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개월</a:t>
                      </a: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팀장급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데이터 활용 프로젝트 진행 통한 업무효율화 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문제 해결 관련 코칭 통한 실무적용 역량 확보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026526"/>
                  </a:ext>
                </a:extLst>
              </a:tr>
              <a:tr h="492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 err="1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고용노둥부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K-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 선도기업 아카데미</a:t>
                      </a:r>
                      <a:endParaRPr kumimoji="0" lang="en-US" altLang="ko-KR" sz="10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en-US" altLang="ko-KR" sz="10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iM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뱅크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</a:t>
                      </a:r>
                      <a:endParaRPr kumimoji="0" lang="ko-KR" altLang="en-US" sz="10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</a:t>
                      </a: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뱅커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아카데미 데이터분석 과정 연수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2024.01~2026.12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진행 중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취업준비생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적용 프로젝트  중심 교육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|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iM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부서 협업  통한 멘토링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597056"/>
                  </a:ext>
                </a:extLst>
              </a:tr>
              <a:tr h="49285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삼성중공업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DT 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제조혁신 전문가 양성과정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웹개발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파이썬 연수 위탁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2022.08~2022.11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적용 프로젝트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 경진대회 운영 노하우 보유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764"/>
                  </a:ext>
                </a:extLst>
              </a:tr>
              <a:tr h="46420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Level2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LG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디스플레이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제조공정 최적화 및 불량 예측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머신러닝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활용 제조공정 최적화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불량 예측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</a:t>
                      </a:r>
                      <a:b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ChatGPT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활용한 </a:t>
                      </a: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머신러닝의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효율적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</a:t>
                      </a: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69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재직자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실제 공정데이터를 활용한 </a:t>
                      </a: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머신러닝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실습 및 </a:t>
                      </a:r>
                      <a:b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 사례 기반 실습 훈련 통한 실무적용 능력 강화 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317664"/>
                  </a:ext>
                </a:extLst>
              </a:tr>
              <a:tr h="464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경상북도 교육청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2025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년 </a:t>
                      </a:r>
                      <a:r>
                        <a:rPr kumimoji="0" lang="ko-KR" altLang="en-US" sz="10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디지털튜터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.</a:t>
                      </a:r>
                      <a:r>
                        <a:rPr kumimoji="0" lang="ko-KR" altLang="en-US" sz="10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테크센터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운영 </a:t>
                      </a:r>
                      <a:b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사업 용역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</a:t>
                      </a: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튜터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 </a:t>
                      </a: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테크센터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2025.04~2025.12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진행 중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일반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</a:t>
                      </a: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튜터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선발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,/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관리 노하우 보유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16889"/>
                  </a:ext>
                </a:extLst>
              </a:tr>
              <a:tr h="61451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 err="1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한화에어로스페이스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사원급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대상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DX BOOT 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캠프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엑셀 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VBA,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매크로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(GPT)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활용한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 효율화 및 데이터 분석 과정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 04~2025.09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176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신입사원</a:t>
                      </a: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+</a:t>
                      </a:r>
                      <a:b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재직자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사전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사후역량평가를 통한  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      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학습자 별 역량평가 정량 측정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사후과제를 통한 실무 </a:t>
                      </a: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적용력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확보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75524"/>
                  </a:ext>
                </a:extLst>
              </a:tr>
              <a:tr h="46420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경기도교육청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2024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년 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AIDT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적용 </a:t>
                      </a:r>
                      <a:endParaRPr kumimoji="0" lang="en-US" altLang="ko-KR" sz="10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초등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방문형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실행 연수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AIDT-</a:t>
                      </a: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하이러닝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경기도 초등학교 교사 대상 연수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2024.11~2025.03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교사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AIDT(AI Digital Textbook,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인공지능 디지털</a:t>
                      </a:r>
                      <a:b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교과서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연수 설계 를 통해 학생 맞춤형 학습 지원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27007"/>
                  </a:ext>
                </a:extLst>
              </a:tr>
              <a:tr h="464207">
                <a:tc rowSpan="2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Level1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산림조합 중앙회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산림조합 디지털 역량 향상 과정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DT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비즈니스 사례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마인드셋 교육 운영</a:t>
                      </a: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2022.08~2022.11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2,332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알파코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자체 개발 과정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927257"/>
                  </a:ext>
                </a:extLst>
              </a:tr>
              <a:tr h="46420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동국제약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디지털 기초역량 향상 과정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DT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비즈니스 사례교육</a:t>
                      </a: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2022.06~2022.07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418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알파코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자체 개발 과정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과정 완료 후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Level2(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데이터분석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설계 </a:t>
                      </a:r>
                      <a:endParaRPr kumimoji="0" lang="en-US" altLang="ko-KR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316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933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5E13-F365-9523-02BA-CE0031BE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D01AE-8B9D-FE05-CDE9-535F866D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기관 소개</a:t>
            </a:r>
            <a:endParaRPr lang="ko-KR" altLang="en-US" sz="13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7D91E5-FC31-D6A4-C525-20E0D7F8764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88704" y="1292656"/>
            <a:ext cx="11341565" cy="734471"/>
          </a:xfrm>
        </p:spPr>
        <p:txBody>
          <a:bodyPr/>
          <a:lstStyle/>
          <a:p>
            <a:r>
              <a:rPr lang="en-US" altLang="ko-KR" dirty="0"/>
              <a:t>DX</a:t>
            </a:r>
            <a:r>
              <a:rPr lang="ko-KR" altLang="en-US" dirty="0"/>
              <a:t>전환 내재화 수준별 수행 레퍼런스는 다음과 같습니다</a:t>
            </a:r>
            <a:r>
              <a:rPr lang="en-US" altLang="ko-KR" dirty="0"/>
              <a:t>. (※ Level 1 </a:t>
            </a:r>
            <a:r>
              <a:rPr lang="ko-KR" altLang="en-US" dirty="0"/>
              <a:t>디지털 마인드셋 및 </a:t>
            </a:r>
            <a:r>
              <a:rPr lang="en-US" altLang="ko-KR" dirty="0"/>
              <a:t>Skill </a:t>
            </a:r>
            <a:r>
              <a:rPr lang="ko-KR" altLang="en-US" dirty="0"/>
              <a:t>이해</a:t>
            </a:r>
            <a:r>
              <a:rPr lang="en-US" altLang="ko-KR" dirty="0"/>
              <a:t>, Level2 </a:t>
            </a:r>
            <a:r>
              <a:rPr lang="ko-KR" altLang="en-US" dirty="0"/>
              <a:t>디지털 </a:t>
            </a:r>
            <a:r>
              <a:rPr lang="en-US" altLang="ko-KR" dirty="0"/>
              <a:t>Skill </a:t>
            </a:r>
            <a:r>
              <a:rPr lang="ko-KR" altLang="en-US" dirty="0"/>
              <a:t>실무적용 능력 함양</a:t>
            </a:r>
            <a:r>
              <a:rPr lang="en-US" altLang="ko-KR" dirty="0"/>
              <a:t>, Level3 </a:t>
            </a:r>
            <a:r>
              <a:rPr lang="ko-KR" altLang="en-US" dirty="0"/>
              <a:t>이상 </a:t>
            </a:r>
            <a:r>
              <a:rPr lang="en-US" altLang="ko-KR" dirty="0"/>
              <a:t>DX</a:t>
            </a:r>
            <a:r>
              <a:rPr lang="ko-KR" altLang="en-US" dirty="0"/>
              <a:t>전문 인력 양성</a:t>
            </a:r>
            <a:r>
              <a:rPr lang="en-US" altLang="ko-KR" dirty="0"/>
              <a:t>).</a:t>
            </a:r>
            <a:r>
              <a:rPr lang="ko-KR" altLang="en-US" dirty="0"/>
              <a:t> 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431AD8-5F8B-7BC9-E8BF-031AD7BB042B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1-4.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최근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년 주요 수행실적 및 연수인원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금융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0455746-FB87-42A1-728F-0102B63A1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612949"/>
              </p:ext>
            </p:extLst>
          </p:nvPr>
        </p:nvGraphicFramePr>
        <p:xfrm>
          <a:off x="403712" y="1665287"/>
          <a:ext cx="11212900" cy="4670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863">
                  <a:extLst>
                    <a:ext uri="{9D8B030D-6E8A-4147-A177-3AD203B41FA5}">
                      <a16:colId xmlns:a16="http://schemas.microsoft.com/office/drawing/2014/main" val="1800538771"/>
                    </a:ext>
                  </a:extLst>
                </a:gridCol>
                <a:gridCol w="956519">
                  <a:extLst>
                    <a:ext uri="{9D8B030D-6E8A-4147-A177-3AD203B41FA5}">
                      <a16:colId xmlns:a16="http://schemas.microsoft.com/office/drawing/2014/main" val="3917029020"/>
                    </a:ext>
                  </a:extLst>
                </a:gridCol>
                <a:gridCol w="1902141">
                  <a:extLst>
                    <a:ext uri="{9D8B030D-6E8A-4147-A177-3AD203B41FA5}">
                      <a16:colId xmlns:a16="http://schemas.microsoft.com/office/drawing/2014/main" val="1477939316"/>
                    </a:ext>
                  </a:extLst>
                </a:gridCol>
                <a:gridCol w="2855714">
                  <a:extLst>
                    <a:ext uri="{9D8B030D-6E8A-4147-A177-3AD203B41FA5}">
                      <a16:colId xmlns:a16="http://schemas.microsoft.com/office/drawing/2014/main" val="4144099516"/>
                    </a:ext>
                  </a:extLst>
                </a:gridCol>
                <a:gridCol w="1182313">
                  <a:extLst>
                    <a:ext uri="{9D8B030D-6E8A-4147-A177-3AD203B41FA5}">
                      <a16:colId xmlns:a16="http://schemas.microsoft.com/office/drawing/2014/main" val="3857017176"/>
                    </a:ext>
                  </a:extLst>
                </a:gridCol>
                <a:gridCol w="524414">
                  <a:extLst>
                    <a:ext uri="{9D8B030D-6E8A-4147-A177-3AD203B41FA5}">
                      <a16:colId xmlns:a16="http://schemas.microsoft.com/office/drawing/2014/main" val="3669907112"/>
                    </a:ext>
                  </a:extLst>
                </a:gridCol>
                <a:gridCol w="753247">
                  <a:extLst>
                    <a:ext uri="{9D8B030D-6E8A-4147-A177-3AD203B41FA5}">
                      <a16:colId xmlns:a16="http://schemas.microsoft.com/office/drawing/2014/main" val="393890028"/>
                    </a:ext>
                  </a:extLst>
                </a:gridCol>
                <a:gridCol w="2383689">
                  <a:extLst>
                    <a:ext uri="{9D8B030D-6E8A-4147-A177-3AD203B41FA5}">
                      <a16:colId xmlns:a16="http://schemas.microsoft.com/office/drawing/2014/main" val="2397320785"/>
                    </a:ext>
                  </a:extLst>
                </a:gridCol>
              </a:tblGrid>
              <a:tr h="3493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학습수준</a:t>
                      </a:r>
                    </a:p>
                  </a:txBody>
                  <a:tcPr marL="0" marR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사업기관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연수명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연수 개요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사업기간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인원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학습대상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운영 노하우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87097"/>
                  </a:ext>
                </a:extLst>
              </a:tr>
              <a:tr h="480093">
                <a:tc rowSpan="9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Level3</a:t>
                      </a: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이상</a:t>
                      </a:r>
                      <a:endParaRPr lang="en-US" altLang="ko-KR" sz="1100" b="1" spc="-100" dirty="0">
                        <a:solidFill>
                          <a:srgbClr val="0000FF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하나은행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 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School 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서비스기획 과정</a:t>
                      </a:r>
                      <a:endParaRPr kumimoji="0" lang="en-US" altLang="ko-KR" sz="1000" b="1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서비스기획 인력양성 오프라인 교육 위탁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2025.11~2025.12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14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적용 프로젝트  중심 교육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|</a:t>
                      </a:r>
                      <a:b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 </a:t>
                      </a: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미니해커톤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DAY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통한 서비스개선안 도출</a:t>
                      </a:r>
                    </a:p>
                  </a:txBody>
                  <a:tcPr marL="54000" marR="0" marT="36000" marB="3600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452133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KB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국민은행</a:t>
                      </a: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, IBK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기업은행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AIDP 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디지털금융실무 전문가과정</a:t>
                      </a:r>
                      <a:endParaRPr kumimoji="0" lang="en-US" altLang="ko-KR" sz="1000" b="1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데이터 분석 및 기획  인력 양성 오프라인 교육 위탁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2025.09~2025.12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15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AI Agent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도구 활용 데이터분석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마케팅 기반 실전 기획 역량  강화교육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160676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0000FF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하나금융그룹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DxP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데이터전문가과정 위탁 연수</a:t>
                      </a:r>
                      <a:endParaRPr kumimoji="0" lang="en-US" altLang="ko-KR" sz="1000" b="1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Cursor, Claude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활용한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Data•AI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인력양성 오프라인 교육 위탁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2025.09~2025.11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28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Cursor AI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와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Claude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등  최신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도구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         활용 데이터분석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51978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신한은행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퓨처아카데미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Level-Up AI• Data</a:t>
                      </a: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Data•AI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인력양성 오프라인 교육 위탁 운영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2025.03~2025.06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32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AI, DATA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분석 전략 및 베스트 </a:t>
                      </a: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프랙티스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컨퍼런스 통한 서비스 기획력 향상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06657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KB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국민은행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DataXCampus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위탁 연수</a:t>
                      </a:r>
                      <a:endParaRPr kumimoji="0" lang="en-US" altLang="ko-KR" sz="1000" b="1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데이터인력양성 오프라인 교육 위탁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2024.07~2024.11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적용 프로젝트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 역량평가  통한 성취도 측정</a:t>
                      </a:r>
                      <a:endParaRPr kumimoji="0" lang="ko-KR" altLang="en-US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762218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신한은행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퓨처아카데미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Level-Up AI• Data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Data•AI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인력양성 오프라인 교육 위탁 운영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2024.07~2024.11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37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적용 프로젝트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AI, DATA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분석 전략 및 베스트 </a:t>
                      </a: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프랙티스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교육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264050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하나은행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 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School 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서비스기획 과정</a:t>
                      </a:r>
                      <a:endParaRPr kumimoji="0" lang="en-US" altLang="ko-KR" sz="1000" b="1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서비스기획 인력양성 오프라인 교육 위탁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2024.09~2024.11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적용 프로젝트  중심 교육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|</a:t>
                      </a:r>
                      <a:b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 </a:t>
                      </a: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미니해커톤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DAY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통한 서비스개선안 도출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08865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신한투자증권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K-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 선도기업 아카데미</a:t>
                      </a:r>
                      <a:endParaRPr kumimoji="0" lang="en-US" altLang="ko-KR" sz="1000" b="1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클라우드 기반 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ICT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개발자 양성 과정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2024.01~2026.12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64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취업준비생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신한투자증권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부서 협업 통한 기술교육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현장실무 병행 교육 운영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647782"/>
                  </a:ext>
                </a:extLst>
              </a:tr>
              <a:tr h="480093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KB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국민은행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Digi Campus (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개발자 양성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과정</a:t>
                      </a:r>
                      <a:endParaRPr kumimoji="0" lang="en-US" altLang="ko-KR" sz="1000" b="1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개발인력 양성 오프라인 교육 위탁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2022.12~2024.01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24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선발임직원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적용 프로젝트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JOBOFF(6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개월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)+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OJT(6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개월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병행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231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62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0116-E477-65CB-A28B-6DE2B84F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17463-B6F0-296D-B586-1377362C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kern="0" dirty="0">
                <a:ln>
                  <a:solidFill>
                    <a:srgbClr val="4F81BD">
                      <a:alpha val="0"/>
                    </a:srgbClr>
                  </a:solidFill>
                </a:ln>
                <a:cs typeface="Calibri" panose="020F0502020204030204" pitchFamily="34" charset="0"/>
                <a:sym typeface="Arial" panose="020B0604020202020204" pitchFamily="34" charset="0"/>
              </a:rPr>
              <a:t>기관 소개</a:t>
            </a:r>
            <a:endParaRPr lang="ko-KR" altLang="en-US" sz="13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11408C-66EA-14F3-E77D-8313360C2C90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1-4.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최근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년 주요 수행실적 및 연수인원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금융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6736D4-E6B2-7ADD-63F2-643B3622E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057635"/>
              </p:ext>
            </p:extLst>
          </p:nvPr>
        </p:nvGraphicFramePr>
        <p:xfrm>
          <a:off x="403712" y="1665288"/>
          <a:ext cx="11212898" cy="476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863">
                  <a:extLst>
                    <a:ext uri="{9D8B030D-6E8A-4147-A177-3AD203B41FA5}">
                      <a16:colId xmlns:a16="http://schemas.microsoft.com/office/drawing/2014/main" val="1800538771"/>
                    </a:ext>
                  </a:extLst>
                </a:gridCol>
                <a:gridCol w="956519">
                  <a:extLst>
                    <a:ext uri="{9D8B030D-6E8A-4147-A177-3AD203B41FA5}">
                      <a16:colId xmlns:a16="http://schemas.microsoft.com/office/drawing/2014/main" val="3917029020"/>
                    </a:ext>
                  </a:extLst>
                </a:gridCol>
                <a:gridCol w="1997526">
                  <a:extLst>
                    <a:ext uri="{9D8B030D-6E8A-4147-A177-3AD203B41FA5}">
                      <a16:colId xmlns:a16="http://schemas.microsoft.com/office/drawing/2014/main" val="1477939316"/>
                    </a:ext>
                  </a:extLst>
                </a:gridCol>
                <a:gridCol w="2760328">
                  <a:extLst>
                    <a:ext uri="{9D8B030D-6E8A-4147-A177-3AD203B41FA5}">
                      <a16:colId xmlns:a16="http://schemas.microsoft.com/office/drawing/2014/main" val="4144099516"/>
                    </a:ext>
                  </a:extLst>
                </a:gridCol>
                <a:gridCol w="1182313">
                  <a:extLst>
                    <a:ext uri="{9D8B030D-6E8A-4147-A177-3AD203B41FA5}">
                      <a16:colId xmlns:a16="http://schemas.microsoft.com/office/drawing/2014/main" val="3857017176"/>
                    </a:ext>
                  </a:extLst>
                </a:gridCol>
                <a:gridCol w="524413">
                  <a:extLst>
                    <a:ext uri="{9D8B030D-6E8A-4147-A177-3AD203B41FA5}">
                      <a16:colId xmlns:a16="http://schemas.microsoft.com/office/drawing/2014/main" val="3669907112"/>
                    </a:ext>
                  </a:extLst>
                </a:gridCol>
                <a:gridCol w="753247">
                  <a:extLst>
                    <a:ext uri="{9D8B030D-6E8A-4147-A177-3AD203B41FA5}">
                      <a16:colId xmlns:a16="http://schemas.microsoft.com/office/drawing/2014/main" val="393890028"/>
                    </a:ext>
                  </a:extLst>
                </a:gridCol>
                <a:gridCol w="2383689">
                  <a:extLst>
                    <a:ext uri="{9D8B030D-6E8A-4147-A177-3AD203B41FA5}">
                      <a16:colId xmlns:a16="http://schemas.microsoft.com/office/drawing/2014/main" val="2397320785"/>
                    </a:ext>
                  </a:extLst>
                </a:gridCol>
              </a:tblGrid>
              <a:tr h="282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학습수준</a:t>
                      </a:r>
                    </a:p>
                  </a:txBody>
                  <a:tcPr marL="0" marR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사업기관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연수명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연수 개요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사업기간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인원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학습대상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운영 노하우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87097"/>
                  </a:ext>
                </a:extLst>
              </a:tr>
              <a:tr h="411707">
                <a:tc rowSpan="5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Level2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하나은행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엑셀 데이터분석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실무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위탁 연수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 데이터를 활용한 엑셀 데이터 분석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중급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b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오프라인 교육 위탁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2025.05~2025.11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84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본부 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은행 업무 커스터마이징 실습 예제 개발 통한</a:t>
                      </a:r>
                      <a:b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실무적용력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확보 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75524"/>
                  </a:ext>
                </a:extLst>
              </a:tr>
              <a:tr h="424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DB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손해보험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AI School  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위탁 연수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데이터분석 오프라인 교육 운영 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(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전문가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분석가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기초반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2025.04~2025.10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165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본부 임직원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수준 별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활용 데이터 분석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147"/>
                  </a:ext>
                </a:extLst>
              </a:tr>
              <a:tr h="41170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하나은행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엑셀 데이터분석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실무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위탁 연수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 데이터를 활용한 엑셀 데이터 분석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중급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b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오프라인 교육 위탁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2024.04~2024.12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180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본부 기획자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은행 업무 커스터마이징 실습 예제 개발 통한</a:t>
                      </a:r>
                      <a:b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실무적용력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확보 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27007"/>
                  </a:ext>
                </a:extLst>
              </a:tr>
              <a:tr h="411707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하나은행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엑셀 데이터분석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실무</a:t>
                      </a:r>
                      <a:r>
                        <a:rPr kumimoji="0" lang="en-US" altLang="ko-KR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위탁 연수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개발인력 양성 오프라인 교육 위탁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2023.03~2023.12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220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본부 기획자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은행 업무 커스터마이징 실습 예제 개발 통한</a:t>
                      </a:r>
                      <a:b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실무적용력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확보 </a:t>
                      </a: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655774"/>
                  </a:ext>
                </a:extLst>
              </a:tr>
              <a:tr h="424426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 err="1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교보생명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데이터분석 사내자격인증과정 연수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엑셀데이터분석 및 업무자동화  사내자격과정 교육 </a:t>
                      </a:r>
                      <a:b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위탁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2024.02~2024.07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286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전사희망자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고객관리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영업사원관리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위한 실무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사내자격과정  인증 위한 테스트 개발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487234"/>
                  </a:ext>
                </a:extLst>
              </a:tr>
              <a:tr h="314753">
                <a:tc rowSpan="6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100" b="1" spc="-100" dirty="0">
                          <a:solidFill>
                            <a:srgbClr val="0000FF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Level1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 dirty="0" err="1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신협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디지털 온라인 연수 교육 </a:t>
                      </a: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온라인 실습형 교육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프롬프트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2025.09~2025.12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95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전사희망자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프롬프트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 플랫폼 활용 교육</a:t>
                      </a:r>
                      <a:endParaRPr kumimoji="0" lang="en-US" altLang="ko-KR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750656"/>
                  </a:ext>
                </a:extLst>
              </a:tr>
              <a:tr h="42442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BNK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금융그룹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디지털 연수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통합교육 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1,2</a:t>
                      </a: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Chat </a:t>
                      </a:r>
                      <a:r>
                        <a:rPr lang="en-US" altLang="ko-KR" sz="9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gpt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, Copilot, DT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비즈니스 사례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   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마인드셋 등 온라인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교육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2025.03~2025.04</a:t>
                      </a:r>
                      <a:b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2025.08~2025.09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1,046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 희망자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알파코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자체 개발 과정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파이썬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HTML/CSS)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 플랫폼 활용 교육</a:t>
                      </a:r>
                      <a:endParaRPr kumimoji="0" lang="en-US" altLang="ko-KR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927257"/>
                  </a:ext>
                </a:extLst>
              </a:tr>
              <a:tr h="42442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BNK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금융그룹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디지털 연수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통합교육 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1,2</a:t>
                      </a: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Chat </a:t>
                      </a:r>
                      <a:r>
                        <a:rPr lang="en-US" altLang="ko-KR" sz="9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gpt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, Chat </a:t>
                      </a:r>
                      <a:r>
                        <a:rPr lang="en-US" altLang="ko-KR" sz="9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gpt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활용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, DT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비즈니스 </a:t>
                      </a:r>
                      <a:b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</a:b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사례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,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마인드셋 등 온라인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교육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2024.03~2024.04</a:t>
                      </a:r>
                      <a:b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2024.08~2024.09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1,438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 희망자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알파코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자체 개발 과정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파이썬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HTML/CSS)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 플랫폼 활용 교육</a:t>
                      </a:r>
                      <a:endParaRPr kumimoji="0" lang="en-US" altLang="ko-KR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316706"/>
                  </a:ext>
                </a:extLst>
              </a:tr>
              <a:tr h="411707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KB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국민은행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 분야 위탁 연수</a:t>
                      </a: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DT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기획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/DT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(AI, Block-Chain, Cloud, </a:t>
                      </a:r>
                      <a:b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Data, DT, JAVA, NFT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등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온라인 교육 운영 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2023.03~2023.10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853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 희망자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KB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국민은행  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DT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/DT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 분야</a:t>
                      </a:r>
                      <a:b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맞춤화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과정 운영</a:t>
                      </a:r>
                      <a:endParaRPr kumimoji="0" lang="en-US" altLang="ko-KR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823135"/>
                  </a:ext>
                </a:extLst>
              </a:tr>
              <a:tr h="411707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00" b="1" spc="-10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신한은행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엑셀 데이터분석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</a:t>
                      </a: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전처리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파워쿼리</a:t>
                      </a:r>
                      <a: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분석 및 시각화</a:t>
                      </a:r>
                      <a:br>
                        <a:rPr lang="en-US" altLang="ko-KR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9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온라인 교육 운영</a:t>
                      </a:r>
                      <a:endParaRPr lang="en-US" altLang="ko-KR" sz="9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2024.06~2024.07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213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 희망자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알파코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자체 개발 과정  교육</a:t>
                      </a:r>
                      <a:endParaRPr kumimoji="0" lang="en-US" altLang="ko-KR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59819"/>
                  </a:ext>
                </a:extLst>
              </a:tr>
              <a:tr h="411707">
                <a:tc v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altLang="ko-KR" sz="1100" b="1" spc="-100" dirty="0">
                        <a:solidFill>
                          <a:srgbClr val="0000FF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BNK</a:t>
                      </a:r>
                      <a:r>
                        <a:rPr lang="ko-KR" altLang="en-US" sz="1000" b="1" spc="-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금융그룹</a:t>
                      </a:r>
                      <a:endParaRPr lang="en-US" altLang="ko-KR" sz="1000" b="1" spc="-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디지털 연수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통합교육 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1,2</a:t>
                      </a:r>
                      <a:r>
                        <a:rPr lang="ko-KR" altLang="en-US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</a:t>
                      </a:r>
                      <a:r>
                        <a:rPr lang="en-US" altLang="ko-KR" sz="10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ChatGPT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활용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, DT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비즈니스 사례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, </a:t>
                      </a:r>
                      <a:b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</a:b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마인드셋 등 온라인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</a:rPr>
                        <a:t>교육 운영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2023.03~2023.04</a:t>
                      </a:r>
                      <a:b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2023.07~2023.08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1,387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전사희망자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알파코 자체 개발 과정  중심 교육</a:t>
                      </a:r>
                      <a:endParaRPr kumimoji="0" lang="en-US" altLang="ko-KR" sz="900" b="1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파이썬</a:t>
                      </a:r>
                      <a:r>
                        <a:rPr kumimoji="0" lang="en-US" altLang="ko-KR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HTML/CSS)</a:t>
                      </a:r>
                      <a:r>
                        <a:rPr kumimoji="0" lang="ko-KR" altLang="en-US" sz="900" b="1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 플랫폼 활용 교육</a:t>
                      </a:r>
                      <a:endParaRPr kumimoji="0" lang="en-US" altLang="ko-KR" sz="9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6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6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635579"/>
                  </a:ext>
                </a:extLst>
              </a:tr>
            </a:tbl>
          </a:graphicData>
        </a:graphic>
      </p:graphicFrame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9BFF0569-4097-756A-140F-0BD12BAD48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88704" y="1292656"/>
            <a:ext cx="11341565" cy="734471"/>
          </a:xfrm>
        </p:spPr>
        <p:txBody>
          <a:bodyPr/>
          <a:lstStyle/>
          <a:p>
            <a:r>
              <a:rPr lang="en-US" altLang="ko-KR" dirty="0"/>
              <a:t>DX</a:t>
            </a:r>
            <a:r>
              <a:rPr lang="ko-KR" altLang="en-US" dirty="0"/>
              <a:t>전환 내재화 수준별 수행 레퍼런스는 다음과 같습니다</a:t>
            </a:r>
            <a:r>
              <a:rPr lang="en-US" altLang="ko-KR" dirty="0"/>
              <a:t>. (※ Level 1 </a:t>
            </a:r>
            <a:r>
              <a:rPr lang="ko-KR" altLang="en-US" dirty="0"/>
              <a:t>디지털 마인드셋 및 </a:t>
            </a:r>
            <a:r>
              <a:rPr lang="en-US" altLang="ko-KR" dirty="0"/>
              <a:t>Skill </a:t>
            </a:r>
            <a:r>
              <a:rPr lang="ko-KR" altLang="en-US" dirty="0"/>
              <a:t>이해</a:t>
            </a:r>
            <a:r>
              <a:rPr lang="en-US" altLang="ko-KR" dirty="0"/>
              <a:t>, Level2 </a:t>
            </a:r>
            <a:r>
              <a:rPr lang="ko-KR" altLang="en-US" dirty="0"/>
              <a:t>디지털 </a:t>
            </a:r>
            <a:r>
              <a:rPr lang="en-US" altLang="ko-KR" dirty="0"/>
              <a:t>Skill </a:t>
            </a:r>
            <a:r>
              <a:rPr lang="ko-KR" altLang="en-US" dirty="0"/>
              <a:t>실무적용 능력 함양</a:t>
            </a:r>
            <a:r>
              <a:rPr lang="en-US" altLang="ko-KR" dirty="0"/>
              <a:t>, Level3 </a:t>
            </a:r>
            <a:r>
              <a:rPr lang="ko-KR" altLang="en-US" dirty="0"/>
              <a:t>이상 </a:t>
            </a:r>
            <a:r>
              <a:rPr lang="en-US" altLang="ko-KR" dirty="0"/>
              <a:t>DX</a:t>
            </a:r>
            <a:r>
              <a:rPr lang="ko-KR" altLang="en-US" dirty="0"/>
              <a:t>전문 인력 양성</a:t>
            </a:r>
            <a:r>
              <a:rPr lang="en-US" altLang="ko-KR" dirty="0"/>
              <a:t>).</a:t>
            </a:r>
            <a:r>
              <a:rPr lang="ko-KR" altLang="en-US" dirty="0"/>
              <a:t> 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410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D5CC-4F5E-3EF0-4C81-295C17E2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2666EF3-78FD-6CDC-3954-2C4D54F9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kern="0" dirty="0">
                <a:ln>
                  <a:solidFill>
                    <a:srgbClr val="4F81BD">
                      <a:alpha val="0"/>
                    </a:srgbClr>
                  </a:solidFill>
                </a:ln>
                <a:cs typeface="Calibri" panose="020F0502020204030204" pitchFamily="34" charset="0"/>
                <a:sym typeface="Arial" panose="020B0604020202020204" pitchFamily="34" charset="0"/>
              </a:rPr>
              <a:t>기관 소개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DF6C3D-E42E-4D9D-DD57-49B015E09442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1-5. </a:t>
            </a:r>
            <a:r>
              <a:rPr lang="ko-KR" altLang="en-US" sz="12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알파코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특장점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52F942-BC12-328F-963C-42161BDAA4F6}"/>
              </a:ext>
            </a:extLst>
          </p:cNvPr>
          <p:cNvSpPr/>
          <p:nvPr/>
        </p:nvSpPr>
        <p:spPr>
          <a:xfrm>
            <a:off x="421727" y="1449390"/>
            <a:ext cx="11348545" cy="9213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ECF97DE-9BCD-D71A-480A-8C8954EEBD2F}"/>
              </a:ext>
            </a:extLst>
          </p:cNvPr>
          <p:cNvSpPr/>
          <p:nvPr/>
        </p:nvSpPr>
        <p:spPr>
          <a:xfrm>
            <a:off x="421728" y="2304168"/>
            <a:ext cx="11348545" cy="40109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43057A-628F-5C83-9D7B-707CCDB82B19}"/>
              </a:ext>
            </a:extLst>
          </p:cNvPr>
          <p:cNvSpPr txBox="1"/>
          <p:nvPr/>
        </p:nvSpPr>
        <p:spPr>
          <a:xfrm>
            <a:off x="599464" y="1837656"/>
            <a:ext cx="5055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제조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산업 전반에 걸친 교육 수행 경험 및 전문성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72D8E1E-3309-A417-7BA3-2C9746CE43AC}"/>
              </a:ext>
            </a:extLst>
          </p:cNvPr>
          <p:cNvGrpSpPr/>
          <p:nvPr/>
        </p:nvGrpSpPr>
        <p:grpSpPr>
          <a:xfrm>
            <a:off x="502875" y="2403889"/>
            <a:ext cx="11120366" cy="3743201"/>
            <a:chOff x="475514" y="2010013"/>
            <a:chExt cx="11147727" cy="4137077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1BFC0CC-D770-1978-7770-64B27A4DAD0E}"/>
                </a:ext>
              </a:extLst>
            </p:cNvPr>
            <p:cNvSpPr/>
            <p:nvPr/>
          </p:nvSpPr>
          <p:spPr>
            <a:xfrm>
              <a:off x="475514" y="2010013"/>
              <a:ext cx="11147727" cy="4137077"/>
            </a:xfrm>
            <a:prstGeom prst="roundRect">
              <a:avLst>
                <a:gd name="adj" fmla="val 30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altLang="ko-KR" sz="3733" b="0" i="0" u="none" strike="noStrike" kern="0" cap="none" spc="0" normalizeH="0" baseline="0" noProof="0" dirty="0">
                <a:ln>
                  <a:noFill/>
                </a:ln>
                <a:solidFill>
                  <a:srgbClr val="3598FE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8E7F985-4442-CDAF-1273-9D6873A08B75}"/>
                </a:ext>
              </a:extLst>
            </p:cNvPr>
            <p:cNvSpPr txBox="1"/>
            <p:nvPr/>
          </p:nvSpPr>
          <p:spPr>
            <a:xfrm>
              <a:off x="736679" y="2520782"/>
              <a:ext cx="921792" cy="975067"/>
            </a:xfrm>
            <a:prstGeom prst="roundRect">
              <a:avLst/>
            </a:prstGeom>
            <a:solidFill>
              <a:srgbClr val="224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교육</a:t>
              </a:r>
              <a:br>
                <a:rPr lang="en-US" altLang="ko-KR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프로그램명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89DCD1A-193E-7CF9-7FB4-9CA657D3B2B3}"/>
                </a:ext>
              </a:extLst>
            </p:cNvPr>
            <p:cNvSpPr txBox="1"/>
            <p:nvPr/>
          </p:nvSpPr>
          <p:spPr>
            <a:xfrm>
              <a:off x="736679" y="5061945"/>
              <a:ext cx="921792" cy="975067"/>
            </a:xfrm>
            <a:prstGeom prst="roundRect">
              <a:avLst/>
            </a:prstGeom>
            <a:solidFill>
              <a:srgbClr val="224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>
              <a:defPPr>
                <a:defRPr lang="ko-KR"/>
              </a:defPPr>
              <a:lvl1pPr algn="ctr">
                <a:defRPr sz="1100">
                  <a:solidFill>
                    <a:schemeClr val="bg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00" spc="-1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교육</a:t>
              </a:r>
              <a:br>
                <a:rPr lang="en-US" altLang="ko-KR" sz="1400" spc="-1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400" spc="-1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인사이트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87E8F3E-EA51-C805-EB05-55BB096B9A87}"/>
                </a:ext>
              </a:extLst>
            </p:cNvPr>
            <p:cNvSpPr txBox="1"/>
            <p:nvPr/>
          </p:nvSpPr>
          <p:spPr>
            <a:xfrm>
              <a:off x="1823584" y="3060205"/>
              <a:ext cx="2240056" cy="615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0000"/>
                </a:lnSpc>
              </a:pP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제조공정 최적화 및 </a:t>
              </a:r>
              <a:br>
                <a:rPr lang="en-US" altLang="ko-KR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</a:b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불량 예측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8E365C1-AC34-A6F9-5A9D-887B3C6B38FE}"/>
                </a:ext>
              </a:extLst>
            </p:cNvPr>
            <p:cNvSpPr txBox="1"/>
            <p:nvPr/>
          </p:nvSpPr>
          <p:spPr>
            <a:xfrm>
              <a:off x="4092616" y="3037230"/>
              <a:ext cx="2240056" cy="615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데이터 기반 업무효율화 </a:t>
              </a:r>
              <a:br>
                <a:rPr lang="en-US" altLang="ko-KR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</a:b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프로젝트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E3ACD6B-0C9B-5B76-3368-A87DBEA5DBD1}"/>
                </a:ext>
              </a:extLst>
            </p:cNvPr>
            <p:cNvSpPr txBox="1"/>
            <p:nvPr/>
          </p:nvSpPr>
          <p:spPr>
            <a:xfrm>
              <a:off x="6332103" y="3078053"/>
              <a:ext cx="2485181" cy="353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DX BOOT </a:t>
              </a: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캠프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7E3AEC-3CF8-B38A-375A-15034BEBF84A}"/>
                </a:ext>
              </a:extLst>
            </p:cNvPr>
            <p:cNvSpPr txBox="1"/>
            <p:nvPr/>
          </p:nvSpPr>
          <p:spPr>
            <a:xfrm>
              <a:off x="1142999" y="3791365"/>
              <a:ext cx="10323959" cy="1051259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37000">
                  <a:srgbClr val="F3F8FE"/>
                </a:gs>
              </a:gsLst>
              <a:lin ang="0" scaled="0"/>
            </a:gradFill>
            <a:ln w="12700">
              <a:gradFill>
                <a:gsLst>
                  <a:gs pos="61000">
                    <a:srgbClr val="107EED"/>
                  </a:gs>
                  <a:gs pos="0">
                    <a:schemeClr val="bg1"/>
                  </a:gs>
                </a:gsLst>
                <a:lin ang="0" scaled="0"/>
              </a:gra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 dirty="0">
                <a:solidFill>
                  <a:srgbClr val="107EED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8EE797B-9958-31EB-44E3-D113D8A6BEAA}"/>
                </a:ext>
              </a:extLst>
            </p:cNvPr>
            <p:cNvSpPr txBox="1"/>
            <p:nvPr/>
          </p:nvSpPr>
          <p:spPr>
            <a:xfrm>
              <a:off x="736679" y="3791365"/>
              <a:ext cx="921792" cy="975067"/>
            </a:xfrm>
            <a:prstGeom prst="roundRect">
              <a:avLst/>
            </a:prstGeom>
            <a:solidFill>
              <a:srgbClr val="107EED"/>
            </a:solidFill>
            <a:ln>
              <a:solidFill>
                <a:srgbClr val="107EED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ko-KR"/>
              </a:defPPr>
              <a:lvl1pPr algn="ctr">
                <a:defRPr sz="1200">
                  <a:solidFill>
                    <a:srgbClr val="107EED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defRPr>
              </a:lvl1pPr>
            </a:lstStyle>
            <a:p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교육</a:t>
              </a:r>
              <a:br>
                <a:rPr lang="en-US" altLang="ko-KR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지향점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C5CA6DE-8C80-13FF-C3FD-9CC55A9A7DBC}"/>
                </a:ext>
              </a:extLst>
            </p:cNvPr>
            <p:cNvSpPr txBox="1"/>
            <p:nvPr/>
          </p:nvSpPr>
          <p:spPr>
            <a:xfrm>
              <a:off x="4057773" y="4027052"/>
              <a:ext cx="2240056" cy="6633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데이터분석 프로세스를 통한</a:t>
              </a:r>
              <a:b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</a:b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현업 자율 실행력 확보 및</a:t>
              </a:r>
              <a:b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</a:b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현장 과제 발굴 역량 강화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E3FE800-9B65-AF88-268E-084FAE5ED5F3}"/>
                </a:ext>
              </a:extLst>
            </p:cNvPr>
            <p:cNvSpPr txBox="1"/>
            <p:nvPr/>
          </p:nvSpPr>
          <p:spPr>
            <a:xfrm>
              <a:off x="6500989" y="4087712"/>
              <a:ext cx="2400265" cy="4762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업무효율화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, 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엑셀 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VBA(AI 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활용 교육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을 </a:t>
              </a:r>
              <a:b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</a:b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통해 실무 역량 강화 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042AF1F-15E2-66A5-24E3-33B56AFC2164}"/>
                </a:ext>
              </a:extLst>
            </p:cNvPr>
            <p:cNvSpPr txBox="1"/>
            <p:nvPr/>
          </p:nvSpPr>
          <p:spPr>
            <a:xfrm>
              <a:off x="8610706" y="3992121"/>
              <a:ext cx="2827319" cy="726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C, 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자바를  이해하고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실무 프로젝트를 수행할 수 있는 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개발 전문가 육성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8B9A81-4A9D-7B96-BE92-7DBDBDC14346}"/>
                </a:ext>
              </a:extLst>
            </p:cNvPr>
            <p:cNvSpPr txBox="1"/>
            <p:nvPr/>
          </p:nvSpPr>
          <p:spPr>
            <a:xfrm>
              <a:off x="1790926" y="4027052"/>
              <a:ext cx="2240056" cy="6633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현장 엔지니어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/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관리자의 </a:t>
              </a:r>
              <a:b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</a:b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데이터분석 역량 강화를</a:t>
              </a:r>
              <a:b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</a:b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통해 문제해결형 인재 육성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D6C30E7-39EE-C897-B1CD-88BE8FD0CA41}"/>
                </a:ext>
              </a:extLst>
            </p:cNvPr>
            <p:cNvSpPr txBox="1"/>
            <p:nvPr/>
          </p:nvSpPr>
          <p:spPr>
            <a:xfrm>
              <a:off x="8971922" y="3046412"/>
              <a:ext cx="2240056" cy="353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사내도메인 인력 양성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E1DBF90-191D-42F5-BE49-1BE117B8447C}"/>
                </a:ext>
              </a:extLst>
            </p:cNvPr>
            <p:cNvSpPr txBox="1"/>
            <p:nvPr/>
          </p:nvSpPr>
          <p:spPr>
            <a:xfrm>
              <a:off x="1801812" y="5173517"/>
              <a:ext cx="2240056" cy="766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ko-KR" altLang="en-US" sz="1200" dirty="0">
                  <a:solidFill>
                    <a:schemeClr val="accent4"/>
                  </a:solidFill>
                </a:rPr>
                <a:t>실제 공정데이터를 활용</a:t>
              </a:r>
              <a:r>
                <a:rPr lang="ko-KR" altLang="en-US" sz="1200" dirty="0"/>
                <a:t>한 </a:t>
              </a:r>
              <a:br>
                <a:rPr lang="en-US" altLang="ko-KR" sz="1200" dirty="0">
                  <a:solidFill>
                    <a:schemeClr val="accent4"/>
                  </a:solidFill>
                </a:rPr>
              </a:br>
              <a:r>
                <a:rPr lang="ko-KR" altLang="en-US" sz="1200" dirty="0" err="1"/>
                <a:t>머신러닝</a:t>
              </a:r>
              <a:r>
                <a:rPr lang="ko-KR" altLang="en-US" sz="1200" dirty="0"/>
                <a:t> 실습 및 실 사례 기반 </a:t>
              </a:r>
              <a:br>
                <a:rPr lang="en-US" altLang="ko-KR" sz="1200" dirty="0"/>
              </a:br>
              <a:r>
                <a:rPr lang="ko-KR" altLang="en-US" sz="1200" dirty="0"/>
                <a:t>실습 훈련 통한 실무적용 능력 강화 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6409454-0FB7-24E1-ED2B-E486F472B716}"/>
                </a:ext>
              </a:extLst>
            </p:cNvPr>
            <p:cNvSpPr txBox="1"/>
            <p:nvPr/>
          </p:nvSpPr>
          <p:spPr>
            <a:xfrm>
              <a:off x="4065371" y="5173517"/>
              <a:ext cx="2240056" cy="766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ko-KR" altLang="en-US" sz="1200" dirty="0">
                  <a:solidFill>
                    <a:schemeClr val="accent4"/>
                  </a:solidFill>
                </a:rPr>
                <a:t>데이터를 지속적으로 모니터링</a:t>
              </a:r>
              <a:br>
                <a:rPr lang="en-US" altLang="ko-KR" sz="1200" dirty="0">
                  <a:solidFill>
                    <a:schemeClr val="accent4"/>
                  </a:solidFill>
                </a:rPr>
              </a:br>
              <a:r>
                <a:rPr lang="ko-KR" altLang="en-US" sz="1200" dirty="0">
                  <a:solidFill>
                    <a:schemeClr val="accent4"/>
                  </a:solidFill>
                </a:rPr>
                <a:t>하고 개선하는 루프</a:t>
              </a:r>
              <a:r>
                <a:rPr lang="en-US" altLang="ko-KR" sz="1200" dirty="0">
                  <a:solidFill>
                    <a:schemeClr val="accent4"/>
                  </a:solidFill>
                </a:rPr>
                <a:t>(loop)</a:t>
              </a:r>
              <a:r>
                <a:rPr lang="ko-KR" altLang="en-US" sz="1200" dirty="0">
                  <a:solidFill>
                    <a:srgbClr val="002060"/>
                  </a:solidFill>
                </a:rPr>
                <a:t>가</a:t>
              </a:r>
              <a:br>
                <a:rPr lang="en-US" altLang="ko-KR" sz="1200" dirty="0">
                  <a:solidFill>
                    <a:srgbClr val="002060"/>
                  </a:solidFill>
                </a:rPr>
              </a:br>
              <a:r>
                <a:rPr lang="ko-KR" altLang="en-US" sz="1200" dirty="0">
                  <a:solidFill>
                    <a:srgbClr val="002060"/>
                  </a:solidFill>
                </a:rPr>
                <a:t>조직 문화로 자리잡아야 함</a:t>
              </a:r>
              <a:endParaRPr lang="en-US" altLang="ko-KR" sz="1200" dirty="0">
                <a:solidFill>
                  <a:srgbClr val="002060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2FA418A-6963-8F15-5B78-2D8B4477861C}"/>
                </a:ext>
              </a:extLst>
            </p:cNvPr>
            <p:cNvSpPr txBox="1"/>
            <p:nvPr/>
          </p:nvSpPr>
          <p:spPr>
            <a:xfrm>
              <a:off x="6522371" y="5173517"/>
              <a:ext cx="2378882" cy="766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ko-KR" altLang="en-US" sz="1200" dirty="0">
                  <a:solidFill>
                    <a:srgbClr val="002060"/>
                  </a:solidFill>
                </a:rPr>
                <a:t>데이터를 이해하고 분석하는 </a:t>
              </a:r>
              <a:br>
                <a:rPr lang="en-US" altLang="ko-KR" sz="1200" dirty="0">
                  <a:solidFill>
                    <a:srgbClr val="002060"/>
                  </a:solidFill>
                </a:rPr>
              </a:br>
              <a:r>
                <a:rPr lang="ko-KR" altLang="en-US" sz="1200" dirty="0">
                  <a:solidFill>
                    <a:srgbClr val="002060"/>
                  </a:solidFill>
                </a:rPr>
                <a:t>기본 능력 습득을 위해 </a:t>
              </a:r>
              <a:r>
                <a:rPr lang="en-US" altLang="ko-KR" sz="1200" dirty="0">
                  <a:solidFill>
                    <a:schemeClr val="accent4"/>
                  </a:solidFill>
                </a:rPr>
                <a:t>(AI </a:t>
              </a:r>
              <a:r>
                <a:rPr lang="ko-KR" altLang="en-US" sz="1200" dirty="0">
                  <a:solidFill>
                    <a:schemeClr val="accent4"/>
                  </a:solidFill>
                </a:rPr>
                <a:t>포함</a:t>
              </a:r>
              <a:r>
                <a:rPr lang="en-US" altLang="ko-KR" sz="1200" dirty="0">
                  <a:solidFill>
                    <a:schemeClr val="accent4"/>
                  </a:solidFill>
                </a:rPr>
                <a:t>)</a:t>
              </a:r>
              <a:br>
                <a:rPr lang="en-US" altLang="ko-KR" sz="1200" dirty="0">
                  <a:solidFill>
                    <a:schemeClr val="accent4"/>
                  </a:solidFill>
                </a:rPr>
              </a:br>
              <a:r>
                <a:rPr lang="ko-KR" altLang="en-US" sz="1200" dirty="0">
                  <a:solidFill>
                    <a:schemeClr val="accent4"/>
                  </a:solidFill>
                </a:rPr>
                <a:t>다양한 업무효율화 </a:t>
              </a:r>
              <a:r>
                <a:rPr lang="en-US" altLang="ko-KR" sz="1200" dirty="0">
                  <a:solidFill>
                    <a:schemeClr val="accent4"/>
                  </a:solidFill>
                </a:rPr>
                <a:t>Tool  </a:t>
              </a:r>
              <a:r>
                <a:rPr lang="ko-KR" altLang="en-US" sz="1200" dirty="0">
                  <a:solidFill>
                    <a:schemeClr val="accent4"/>
                  </a:solidFill>
                </a:rPr>
                <a:t>체화 </a:t>
              </a:r>
              <a:r>
                <a:rPr lang="ko-KR" altLang="en-US" sz="1200" dirty="0">
                  <a:solidFill>
                    <a:srgbClr val="002060"/>
                  </a:solidFill>
                </a:rPr>
                <a:t>필요</a:t>
              </a:r>
              <a:endParaRPr lang="en-US" altLang="ko-KR" sz="1200" dirty="0">
                <a:solidFill>
                  <a:srgbClr val="002060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358860D-FC2E-A57D-6AFA-AECC92BF8280}"/>
                </a:ext>
              </a:extLst>
            </p:cNvPr>
            <p:cNvSpPr txBox="1"/>
            <p:nvPr/>
          </p:nvSpPr>
          <p:spPr>
            <a:xfrm>
              <a:off x="8952590" y="5173517"/>
              <a:ext cx="2415173" cy="766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ko-KR" altLang="en-US" sz="1200" dirty="0">
                  <a:solidFill>
                    <a:srgbClr val="002060"/>
                  </a:solidFill>
                </a:rPr>
                <a:t>실무 프로젝트를 통해</a:t>
              </a:r>
              <a:br>
                <a:rPr lang="en-US" altLang="ko-KR" sz="1200" dirty="0">
                  <a:solidFill>
                    <a:schemeClr val="accent4"/>
                  </a:solidFill>
                </a:rPr>
              </a:br>
              <a:r>
                <a:rPr lang="ko-KR" altLang="en-US" sz="1200" dirty="0">
                  <a:solidFill>
                    <a:schemeClr val="accent4"/>
                  </a:solidFill>
                </a:rPr>
                <a:t>언어 간 개념 연결 능력과 </a:t>
              </a:r>
              <a:br>
                <a:rPr lang="en-US" altLang="ko-KR" sz="1200" dirty="0">
                  <a:solidFill>
                    <a:schemeClr val="accent4"/>
                  </a:solidFill>
                </a:rPr>
              </a:br>
              <a:r>
                <a:rPr lang="ko-KR" altLang="en-US" sz="1200" dirty="0">
                  <a:solidFill>
                    <a:schemeClr val="accent4"/>
                  </a:solidFill>
                </a:rPr>
                <a:t>개발 적용 역량 강화</a:t>
              </a:r>
              <a:endParaRPr lang="en-US" altLang="ko-KR" sz="12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E8191EA3-612F-CA3D-1D8A-8378C11E460F}"/>
                </a:ext>
              </a:extLst>
            </p:cNvPr>
            <p:cNvSpPr/>
            <p:nvPr/>
          </p:nvSpPr>
          <p:spPr>
            <a:xfrm>
              <a:off x="2188031" y="2231911"/>
              <a:ext cx="4027714" cy="20568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데이터분석</a:t>
              </a:r>
              <a:endPara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69D0A20-AB9F-E34B-9215-C5DA0555FE21}"/>
              </a:ext>
            </a:extLst>
          </p:cNvPr>
          <p:cNvSpPr/>
          <p:nvPr/>
        </p:nvSpPr>
        <p:spPr>
          <a:xfrm>
            <a:off x="640560" y="1584630"/>
            <a:ext cx="771525" cy="2199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제조</a:t>
            </a:r>
            <a:endParaRPr lang="en-US" altLang="ko-KR" sz="11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8F1AF3B-576A-941C-4581-36D98BB0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27" y="2866030"/>
            <a:ext cx="1600339" cy="495343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2E871D-2247-A312-5EDC-BAF8AAC24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512" y="2919774"/>
            <a:ext cx="1337684" cy="392346"/>
          </a:xfrm>
          <a:prstGeom prst="rect">
            <a:avLst/>
          </a:prstGeom>
        </p:spPr>
      </p:pic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8AB8B494-62F3-0066-D361-22A8F25BC104}"/>
              </a:ext>
            </a:extLst>
          </p:cNvPr>
          <p:cNvSpPr/>
          <p:nvPr/>
        </p:nvSpPr>
        <p:spPr>
          <a:xfrm>
            <a:off x="8978429" y="2609578"/>
            <a:ext cx="1896344" cy="193353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DT</a:t>
            </a:r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개발</a:t>
            </a:r>
            <a:endParaRPr lang="en-US" altLang="ko-KR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2" name="그림 61" descr="폰트, 텍스트, 그래픽, 로고이(가) 표시된 사진&#10;&#10;자동 생성된 설명">
            <a:extLst>
              <a:ext uri="{FF2B5EF4-FFF2-40B4-BE49-F238E27FC236}">
                <a16:creationId xmlns:a16="http://schemas.microsoft.com/office/drawing/2014/main" id="{194D242D-3FF2-A4CB-B951-28B8F598DC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106" y="3001372"/>
            <a:ext cx="1758556" cy="28932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972DD9A-5455-FC29-CED7-C0C6824B8BF8}"/>
              </a:ext>
            </a:extLst>
          </p:cNvPr>
          <p:cNvSpPr/>
          <p:nvPr/>
        </p:nvSpPr>
        <p:spPr>
          <a:xfrm>
            <a:off x="6639551" y="2603356"/>
            <a:ext cx="1896344" cy="193353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업무효율화</a:t>
            </a:r>
            <a:endParaRPr lang="en-US" altLang="ko-KR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8" name="그림 7" descr="폰트, 텍스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B46EA4-0B13-C7B2-AC49-C81A588C3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551" y="2893356"/>
            <a:ext cx="1944365" cy="46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11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6000-2D3E-4BEC-B30B-ACBEC276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865327-3849-C067-8DE8-1A39FE2FC2B5}"/>
              </a:ext>
            </a:extLst>
          </p:cNvPr>
          <p:cNvSpPr/>
          <p:nvPr/>
        </p:nvSpPr>
        <p:spPr>
          <a:xfrm>
            <a:off x="421727" y="1449390"/>
            <a:ext cx="11348545" cy="9213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0BD48B-250A-2932-BE35-01C154EBD34F}"/>
              </a:ext>
            </a:extLst>
          </p:cNvPr>
          <p:cNvSpPr/>
          <p:nvPr/>
        </p:nvSpPr>
        <p:spPr>
          <a:xfrm>
            <a:off x="421728" y="2304168"/>
            <a:ext cx="11348545" cy="40109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A11AB4F-3B49-B85D-FA94-2DA691C3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kern="0" dirty="0">
                <a:ln>
                  <a:solidFill>
                    <a:srgbClr val="4F81BD">
                      <a:alpha val="0"/>
                    </a:srgbClr>
                  </a:solidFill>
                </a:ln>
                <a:cs typeface="Calibri" panose="020F0502020204030204" pitchFamily="34" charset="0"/>
                <a:sym typeface="Arial" panose="020B0604020202020204" pitchFamily="34" charset="0"/>
              </a:rPr>
              <a:t>기관 소개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FF74037-1A54-225C-30C3-1DD5B27F5623}"/>
              </a:ext>
            </a:extLst>
          </p:cNvPr>
          <p:cNvSpPr/>
          <p:nvPr/>
        </p:nvSpPr>
        <p:spPr>
          <a:xfrm>
            <a:off x="640560" y="1584630"/>
            <a:ext cx="771525" cy="2199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</a:t>
            </a:r>
            <a:endParaRPr lang="en-US" altLang="ko-KR" sz="11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640669-6999-1C5C-9B65-4C172D3EC9FE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1-5. </a:t>
            </a:r>
            <a:r>
              <a:rPr lang="ko-KR" altLang="en-US" sz="12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알파코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특장점</a:t>
            </a:r>
            <a:endParaRPr lang="en-US" altLang="ko-KR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DFC5F-18A1-C229-9300-EEAB92E796EA}"/>
              </a:ext>
            </a:extLst>
          </p:cNvPr>
          <p:cNvSpPr txBox="1"/>
          <p:nvPr/>
        </p:nvSpPr>
        <p:spPr>
          <a:xfrm>
            <a:off x="599464" y="1837656"/>
            <a:ext cx="5055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금융 산업 전반에 걸친 교육 수행 경험 및 전문성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0D52FE6-47A5-043E-C4F5-66BE91EE15A2}"/>
              </a:ext>
            </a:extLst>
          </p:cNvPr>
          <p:cNvGrpSpPr/>
          <p:nvPr/>
        </p:nvGrpSpPr>
        <p:grpSpPr>
          <a:xfrm>
            <a:off x="502875" y="2403889"/>
            <a:ext cx="11120366" cy="3743201"/>
            <a:chOff x="475514" y="2010013"/>
            <a:chExt cx="11147727" cy="413707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C2A71201-90E7-E735-0150-7D5983F8A267}"/>
                </a:ext>
              </a:extLst>
            </p:cNvPr>
            <p:cNvSpPr/>
            <p:nvPr/>
          </p:nvSpPr>
          <p:spPr>
            <a:xfrm>
              <a:off x="475514" y="2010013"/>
              <a:ext cx="11147727" cy="4137077"/>
            </a:xfrm>
            <a:prstGeom prst="roundRect">
              <a:avLst>
                <a:gd name="adj" fmla="val 30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altLang="ko-KR" sz="3733" b="0" i="0" u="none" strike="noStrike" kern="0" cap="none" spc="0" normalizeH="0" baseline="0" noProof="0" dirty="0">
                <a:ln>
                  <a:noFill/>
                </a:ln>
                <a:solidFill>
                  <a:srgbClr val="3598FE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C746B2-E286-D504-B5E2-930C7D6C1054}"/>
                </a:ext>
              </a:extLst>
            </p:cNvPr>
            <p:cNvSpPr txBox="1"/>
            <p:nvPr/>
          </p:nvSpPr>
          <p:spPr>
            <a:xfrm>
              <a:off x="736679" y="2520782"/>
              <a:ext cx="921792" cy="975067"/>
            </a:xfrm>
            <a:prstGeom prst="roundRect">
              <a:avLst/>
            </a:prstGeom>
            <a:solidFill>
              <a:srgbClr val="224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>
              <a:defPPr>
                <a:defRPr lang="ko-KR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교육</a:t>
              </a:r>
              <a:br>
                <a:rPr lang="en-US" altLang="ko-KR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프로그램명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B8F284-1B11-7428-C38C-728932C223CC}"/>
                </a:ext>
              </a:extLst>
            </p:cNvPr>
            <p:cNvSpPr txBox="1"/>
            <p:nvPr/>
          </p:nvSpPr>
          <p:spPr>
            <a:xfrm>
              <a:off x="736679" y="5061945"/>
              <a:ext cx="921792" cy="975067"/>
            </a:xfrm>
            <a:prstGeom prst="roundRect">
              <a:avLst/>
            </a:prstGeom>
            <a:solidFill>
              <a:srgbClr val="224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>
              <a:defPPr>
                <a:defRPr lang="ko-KR"/>
              </a:defPPr>
              <a:lvl1pPr algn="ctr">
                <a:defRPr sz="1100">
                  <a:solidFill>
                    <a:schemeClr val="bg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400" spc="-1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교육</a:t>
              </a:r>
              <a:br>
                <a:rPr lang="en-US" altLang="ko-KR" sz="1400" spc="-1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400" spc="-1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인사이트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148B44-C225-E229-ABAF-E500460F17D6}"/>
                </a:ext>
              </a:extLst>
            </p:cNvPr>
            <p:cNvSpPr txBox="1"/>
            <p:nvPr/>
          </p:nvSpPr>
          <p:spPr>
            <a:xfrm>
              <a:off x="1823584" y="3060205"/>
              <a:ext cx="2240056" cy="31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0000"/>
                </a:lnSpc>
              </a:pPr>
              <a:r>
                <a:rPr lang="en-US" altLang="ko-KR" sz="1400" spc="-70" dirty="0" err="1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DxP</a:t>
              </a:r>
              <a:r>
                <a:rPr lang="en-US" altLang="ko-KR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 </a:t>
              </a: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데이터전문가과정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69061C8-03EA-2785-F599-E2BD5ABEB6A6}"/>
                </a:ext>
              </a:extLst>
            </p:cNvPr>
            <p:cNvSpPr txBox="1"/>
            <p:nvPr/>
          </p:nvSpPr>
          <p:spPr>
            <a:xfrm>
              <a:off x="4092616" y="3037230"/>
              <a:ext cx="2240056" cy="55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AIDP </a:t>
              </a: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디지털금융실무 </a:t>
              </a:r>
            </a:p>
            <a:p>
              <a:pPr algn="ctr">
                <a:lnSpc>
                  <a:spcPct val="110000"/>
                </a:lnSpc>
              </a:pP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전문가과정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2FED06-2C9B-9059-2A2F-A6D04ADA0C25}"/>
                </a:ext>
              </a:extLst>
            </p:cNvPr>
            <p:cNvSpPr txBox="1"/>
            <p:nvPr/>
          </p:nvSpPr>
          <p:spPr>
            <a:xfrm>
              <a:off x="6444351" y="3057427"/>
              <a:ext cx="2485181" cy="31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디지털 </a:t>
              </a:r>
              <a:r>
                <a:rPr lang="en-US" altLang="ko-KR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School </a:t>
              </a:r>
              <a:r>
                <a:rPr lang="ko-KR" altLang="en-US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서비스기획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B953A8-930D-1CF2-2897-DA2A9BFB514B}"/>
                </a:ext>
              </a:extLst>
            </p:cNvPr>
            <p:cNvSpPr txBox="1"/>
            <p:nvPr/>
          </p:nvSpPr>
          <p:spPr>
            <a:xfrm>
              <a:off x="1142999" y="3791365"/>
              <a:ext cx="10323959" cy="1051259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37000">
                  <a:srgbClr val="F3F8FE"/>
                </a:gs>
              </a:gsLst>
              <a:lin ang="0" scaled="0"/>
            </a:gradFill>
            <a:ln w="12700">
              <a:gradFill>
                <a:gsLst>
                  <a:gs pos="61000">
                    <a:srgbClr val="107EED"/>
                  </a:gs>
                  <a:gs pos="0">
                    <a:schemeClr val="bg1"/>
                  </a:gs>
                </a:gsLst>
                <a:lin ang="0" scaled="0"/>
              </a:gra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 dirty="0">
                <a:solidFill>
                  <a:srgbClr val="107EED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D5A7AE-0A12-E759-846A-5284BBB7B8F3}"/>
                </a:ext>
              </a:extLst>
            </p:cNvPr>
            <p:cNvSpPr txBox="1"/>
            <p:nvPr/>
          </p:nvSpPr>
          <p:spPr>
            <a:xfrm>
              <a:off x="736679" y="3791365"/>
              <a:ext cx="921792" cy="975067"/>
            </a:xfrm>
            <a:prstGeom prst="roundRect">
              <a:avLst/>
            </a:prstGeom>
            <a:solidFill>
              <a:srgbClr val="107EED"/>
            </a:solidFill>
            <a:ln>
              <a:solidFill>
                <a:srgbClr val="107EED"/>
              </a:solidFill>
            </a:ln>
          </p:spPr>
          <p:txBody>
            <a:bodyPr wrap="square" lIns="0" rIns="0" rtlCol="0" anchor="ctr">
              <a:noAutofit/>
            </a:bodyPr>
            <a:lstStyle>
              <a:defPPr>
                <a:defRPr lang="ko-KR"/>
              </a:defPPr>
              <a:lvl1pPr algn="ctr">
                <a:defRPr sz="1200">
                  <a:solidFill>
                    <a:srgbClr val="107EED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defRPr>
              </a:lvl1pPr>
            </a:lstStyle>
            <a:p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교육</a:t>
              </a:r>
              <a:br>
                <a:rPr lang="en-US" altLang="ko-KR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400" spc="-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지향점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1DCF01-B039-E281-FA66-C31BB70222C9}"/>
                </a:ext>
              </a:extLst>
            </p:cNvPr>
            <p:cNvSpPr txBox="1"/>
            <p:nvPr/>
          </p:nvSpPr>
          <p:spPr>
            <a:xfrm>
              <a:off x="4035563" y="3997108"/>
              <a:ext cx="2240056" cy="657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AI 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기반 데이터 분석 및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마케팅 관점의 기획역량을 강화하여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디지털금융 실무 전문가 육성 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3F6E8F-C95F-0873-A137-FB1271A4B456}"/>
                </a:ext>
              </a:extLst>
            </p:cNvPr>
            <p:cNvSpPr txBox="1"/>
            <p:nvPr/>
          </p:nvSpPr>
          <p:spPr>
            <a:xfrm>
              <a:off x="6444351" y="3988154"/>
              <a:ext cx="2400265" cy="657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애자일 프로세스 기반 문제해결 역량으로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,</a:t>
              </a: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비즈니스 임팩트를 창출하는 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실무형 인재 육성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90BA62-C417-F340-818E-168287789E74}"/>
                </a:ext>
              </a:extLst>
            </p:cNvPr>
            <p:cNvSpPr txBox="1"/>
            <p:nvPr/>
          </p:nvSpPr>
          <p:spPr>
            <a:xfrm>
              <a:off x="8693433" y="3958803"/>
              <a:ext cx="2827319" cy="726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디지털 사업에 필요한 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IT 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기술을 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이해하고 실무 프로젝트를 수행할 수 있는 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역량을 갖춘 개발 전문가를 육성</a:t>
              </a:r>
            </a:p>
          </p:txBody>
        </p:sp>
        <p:pic>
          <p:nvPicPr>
            <p:cNvPr id="20" name="그림 19" descr="그래픽, 그래픽 디자인, 클립아트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D64AC8D7-60DA-3D7D-BBA3-3CFCC83CA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699" y="2688410"/>
              <a:ext cx="1001859" cy="256151"/>
            </a:xfrm>
            <a:prstGeom prst="rect">
              <a:avLst/>
            </a:prstGeom>
          </p:spPr>
        </p:pic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07F6677-DA48-1E13-1F58-2B7FB0A4F8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2536" y="2688410"/>
              <a:ext cx="1249045" cy="231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D0CC2165-2741-F8AE-6A13-4D04CB727F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72" t="42845" r="22450" b="46074"/>
            <a:stretch>
              <a:fillRect/>
            </a:stretch>
          </p:blipFill>
          <p:spPr bwMode="auto">
            <a:xfrm>
              <a:off x="5096027" y="2666140"/>
              <a:ext cx="1213139" cy="291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KB국민은행 - 나무위키">
              <a:extLst>
                <a:ext uri="{FF2B5EF4-FFF2-40B4-BE49-F238E27FC236}">
                  <a16:creationId xmlns:a16="http://schemas.microsoft.com/office/drawing/2014/main" id="{2864B802-8FD0-7C82-6825-7DE840C514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3599" y="2705332"/>
              <a:ext cx="1085678" cy="209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E37D80-951F-166A-E163-CD18C9330A5F}"/>
                </a:ext>
              </a:extLst>
            </p:cNvPr>
            <p:cNvSpPr txBox="1"/>
            <p:nvPr/>
          </p:nvSpPr>
          <p:spPr>
            <a:xfrm>
              <a:off x="1790926" y="3997108"/>
              <a:ext cx="2240056" cy="657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Cursor AI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와 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Claude 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등 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최신 </a:t>
              </a:r>
              <a:r>
                <a:rPr lang="en-US" altLang="ko-KR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AI </a:t>
              </a: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도구를 활용하여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lvl="0" algn="ctr">
                <a:lnSpc>
                  <a:spcPct val="80000"/>
                </a:lnSpc>
                <a:spcAft>
                  <a:spcPts val="600"/>
                </a:spcAft>
              </a:pPr>
              <a:r>
                <a:rPr lang="ko-KR" altLang="en-US" sz="1100" spc="-7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실무형 데이터 기획 인재 육성</a:t>
              </a:r>
              <a:endParaRPr lang="en-US" altLang="ko-KR" sz="1100" spc="-7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B60229-CABF-9E21-65D0-3BB9257C6AE2}"/>
                </a:ext>
              </a:extLst>
            </p:cNvPr>
            <p:cNvSpPr txBox="1"/>
            <p:nvPr/>
          </p:nvSpPr>
          <p:spPr>
            <a:xfrm>
              <a:off x="8971922" y="3046412"/>
              <a:ext cx="2240056" cy="31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400" spc="-70" dirty="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DIGI Campus</a:t>
              </a:r>
              <a:endParaRPr lang="ko-KR" altLang="en-US" sz="1400" spc="-70" dirty="0">
                <a:solidFill>
                  <a:srgbClr val="0F2E84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pic>
          <p:nvPicPr>
            <p:cNvPr id="26" name="Picture 2" descr="KB국민은행 - 나무위키">
              <a:extLst>
                <a:ext uri="{FF2B5EF4-FFF2-40B4-BE49-F238E27FC236}">
                  <a16:creationId xmlns:a16="http://schemas.microsoft.com/office/drawing/2014/main" id="{0F3F20AF-0082-DC5E-9CC4-6819DDF604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0459" y="2705332"/>
              <a:ext cx="1085678" cy="1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A17980A-BB2A-73C3-075A-460B33B28AC6}"/>
                </a:ext>
              </a:extLst>
            </p:cNvPr>
            <p:cNvSpPr txBox="1"/>
            <p:nvPr/>
          </p:nvSpPr>
          <p:spPr>
            <a:xfrm>
              <a:off x="1801812" y="5315668"/>
              <a:ext cx="2240056" cy="4549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ko-KR" altLang="en-US" sz="1200" dirty="0" err="1">
                  <a:solidFill>
                    <a:schemeClr val="accent4"/>
                  </a:solidFill>
                </a:rPr>
                <a:t>바이브</a:t>
              </a:r>
              <a:r>
                <a:rPr lang="ko-KR" altLang="en-US" sz="1200" dirty="0">
                  <a:solidFill>
                    <a:schemeClr val="accent4"/>
                  </a:solidFill>
                </a:rPr>
                <a:t> 코딩 기반</a:t>
              </a:r>
              <a:r>
                <a:rPr lang="ko-KR" altLang="en-US" sz="1200" dirty="0"/>
                <a:t>의 교육으로</a:t>
              </a:r>
              <a:r>
                <a:rPr lang="en-US" altLang="ko-KR" sz="1200" dirty="0"/>
                <a:t>,</a:t>
              </a:r>
            </a:p>
            <a:p>
              <a:r>
                <a:rPr lang="ko-KR" altLang="en-US" sz="1200" dirty="0"/>
                <a:t>데이터 분석 진입장벽  완화</a:t>
              </a:r>
              <a:endParaRPr lang="en-US" altLang="ko-KR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9D6591-9CC6-39A7-023B-D580C3ADA77E}"/>
                </a:ext>
              </a:extLst>
            </p:cNvPr>
            <p:cNvSpPr txBox="1"/>
            <p:nvPr/>
          </p:nvSpPr>
          <p:spPr>
            <a:xfrm>
              <a:off x="4065371" y="5213714"/>
              <a:ext cx="2240056" cy="6433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en-US" altLang="ko-KR" sz="1200" dirty="0">
                  <a:solidFill>
                    <a:schemeClr val="accent4"/>
                  </a:solidFill>
                </a:rPr>
                <a:t>AI Agent </a:t>
              </a:r>
              <a:r>
                <a:rPr lang="ko-KR" altLang="en-US" sz="1200" dirty="0">
                  <a:solidFill>
                    <a:schemeClr val="accent4"/>
                  </a:solidFill>
                </a:rPr>
                <a:t>기반</a:t>
              </a:r>
              <a:r>
                <a:rPr lang="ko-KR" altLang="en-US" sz="1200" dirty="0"/>
                <a:t>의 교육으로</a:t>
              </a:r>
              <a:r>
                <a:rPr lang="en-US" altLang="ko-KR" sz="1200" dirty="0"/>
                <a:t>,</a:t>
              </a:r>
            </a:p>
            <a:p>
              <a:r>
                <a:rPr lang="ko-KR" altLang="en-US" sz="1200" dirty="0"/>
                <a:t>데이터 분석 </a:t>
              </a:r>
              <a:r>
                <a:rPr lang="en-US" altLang="ko-KR" sz="1200" dirty="0"/>
                <a:t>– </a:t>
              </a:r>
              <a:r>
                <a:rPr lang="ko-KR" altLang="en-US" sz="1200" dirty="0"/>
                <a:t>기획 </a:t>
              </a:r>
              <a:r>
                <a:rPr lang="en-US" altLang="ko-KR" sz="1200" dirty="0"/>
                <a:t>– </a:t>
              </a:r>
            </a:p>
            <a:p>
              <a:r>
                <a:rPr lang="ko-KR" altLang="en-US" sz="1200" dirty="0"/>
                <a:t>프로젝트 간 실무 연계성 강화</a:t>
              </a:r>
              <a:endParaRPr lang="en-US" altLang="ko-KR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5570E0-A623-67F1-73EE-ACB1E3C040E8}"/>
                </a:ext>
              </a:extLst>
            </p:cNvPr>
            <p:cNvSpPr txBox="1"/>
            <p:nvPr/>
          </p:nvSpPr>
          <p:spPr>
            <a:xfrm>
              <a:off x="6522372" y="5315668"/>
              <a:ext cx="2240056" cy="4549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ko-KR" altLang="en-US" sz="1200" dirty="0">
                  <a:solidFill>
                    <a:schemeClr val="accent4"/>
                  </a:solidFill>
                </a:rPr>
                <a:t>주차별 </a:t>
              </a:r>
              <a:r>
                <a:rPr lang="en-US" altLang="ko-KR" sz="1200" dirty="0">
                  <a:solidFill>
                    <a:schemeClr val="accent4"/>
                  </a:solidFill>
                </a:rPr>
                <a:t>AI</a:t>
              </a:r>
              <a:r>
                <a:rPr lang="ko-KR" altLang="en-US" sz="1200" dirty="0">
                  <a:solidFill>
                    <a:schemeClr val="accent4"/>
                  </a:solidFill>
                </a:rPr>
                <a:t> 실습시간</a:t>
              </a:r>
              <a:r>
                <a:rPr lang="ko-KR" altLang="en-US" sz="1200" dirty="0"/>
                <a:t>을 통한</a:t>
              </a:r>
              <a:r>
                <a:rPr lang="en-US" altLang="ko-KR" sz="1200" dirty="0"/>
                <a:t>, </a:t>
              </a:r>
            </a:p>
            <a:p>
              <a:r>
                <a:rPr lang="ko-KR" altLang="en-US" sz="1200" dirty="0"/>
                <a:t>디지털 금융 기획 실행력 강화</a:t>
              </a:r>
              <a:endParaRPr lang="en-US" altLang="ko-KR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FCE6A7-FB19-4BE1-8705-6C4BFCBEA26C}"/>
                </a:ext>
              </a:extLst>
            </p:cNvPr>
            <p:cNvSpPr txBox="1"/>
            <p:nvPr/>
          </p:nvSpPr>
          <p:spPr>
            <a:xfrm>
              <a:off x="8952590" y="5316893"/>
              <a:ext cx="2415173" cy="4549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lvl="0" algn="ctr">
                <a:lnSpc>
                  <a:spcPct val="110000"/>
                </a:lnSpc>
                <a:defRPr sz="1400" spc="-70">
                  <a:solidFill>
                    <a:srgbClr val="0F2E84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defRPr>
              </a:lvl1pPr>
            </a:lstStyle>
            <a:p>
              <a:r>
                <a:rPr lang="ko-KR" altLang="en-US" sz="1200" dirty="0">
                  <a:solidFill>
                    <a:schemeClr val="accent4"/>
                  </a:solidFill>
                </a:rPr>
                <a:t>이론 </a:t>
              </a:r>
              <a:r>
                <a:rPr lang="en-US" altLang="ko-KR" sz="1200" dirty="0">
                  <a:solidFill>
                    <a:schemeClr val="accent4"/>
                  </a:solidFill>
                </a:rPr>
                <a:t>· </a:t>
              </a:r>
              <a:r>
                <a:rPr lang="ko-KR" altLang="en-US" sz="1200" dirty="0">
                  <a:solidFill>
                    <a:schemeClr val="accent4"/>
                  </a:solidFill>
                </a:rPr>
                <a:t>프로젝트 병행 기반 </a:t>
              </a:r>
              <a:r>
                <a:rPr lang="ko-KR" altLang="en-US" sz="1200" dirty="0"/>
                <a:t>교육으로</a:t>
              </a:r>
              <a:r>
                <a:rPr lang="en-US" altLang="ko-KR" sz="1200" dirty="0"/>
                <a:t>,</a:t>
              </a:r>
            </a:p>
            <a:p>
              <a:r>
                <a:rPr lang="ko-KR" altLang="en-US" sz="1200" dirty="0"/>
                <a:t>개발 역량 체계적 강화</a:t>
              </a:r>
              <a:endParaRPr lang="en-US" altLang="ko-KR" sz="12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80B45B5C-6F6A-ADAE-BD00-C0C4388B779C}"/>
                </a:ext>
              </a:extLst>
            </p:cNvPr>
            <p:cNvSpPr/>
            <p:nvPr/>
          </p:nvSpPr>
          <p:spPr>
            <a:xfrm>
              <a:off x="2188031" y="2231911"/>
              <a:ext cx="4027714" cy="20568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 데이터분석</a:t>
              </a:r>
              <a:endPara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A8DA3C23-D0A6-43F5-44B4-332C4973C838}"/>
                </a:ext>
              </a:extLst>
            </p:cNvPr>
            <p:cNvSpPr/>
            <p:nvPr/>
          </p:nvSpPr>
          <p:spPr>
            <a:xfrm>
              <a:off x="6734647" y="2231911"/>
              <a:ext cx="1904992" cy="20568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DT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기획</a:t>
              </a:r>
              <a:endPara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D52FD7A-B58D-28C9-94F2-BEF530EA3A35}"/>
                </a:ext>
              </a:extLst>
            </p:cNvPr>
            <p:cNvSpPr/>
            <p:nvPr/>
          </p:nvSpPr>
          <p:spPr>
            <a:xfrm>
              <a:off x="9139454" y="2231911"/>
              <a:ext cx="1904992" cy="20568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DT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개발</a:t>
              </a:r>
              <a:endPara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719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F0BFB7-7EFD-7ECB-07DB-CA1B94F59C8A}"/>
              </a:ext>
            </a:extLst>
          </p:cNvPr>
          <p:cNvSpPr txBox="1"/>
          <p:nvPr/>
        </p:nvSpPr>
        <p:spPr>
          <a:xfrm>
            <a:off x="3047665" y="3180890"/>
            <a:ext cx="6096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-90" normalizeH="0" baseline="0" noProof="0">
                <a:ln>
                  <a:noFill/>
                </a:ln>
                <a:solidFill>
                  <a:srgbClr val="003A8C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THANK YOU</a:t>
            </a:r>
            <a:endParaRPr kumimoji="0" lang="ko-KR" altLang="en-US" sz="4800" b="0" i="0" u="none" strike="noStrike" kern="1200" cap="none" spc="-90" normalizeH="0" baseline="0" noProof="0" dirty="0">
              <a:ln>
                <a:noFill/>
              </a:ln>
              <a:solidFill>
                <a:srgbClr val="003A8C"/>
              </a:soli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79DC7C0-513B-93FA-1D8F-A7E087933F1E}"/>
              </a:ext>
            </a:extLst>
          </p:cNvPr>
          <p:cNvGrpSpPr/>
          <p:nvPr/>
        </p:nvGrpSpPr>
        <p:grpSpPr>
          <a:xfrm>
            <a:off x="6933559" y="2503515"/>
            <a:ext cx="1192955" cy="602931"/>
            <a:chOff x="436649" y="5742701"/>
            <a:chExt cx="1413817" cy="7145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BE6E40-9E78-C285-8C10-E57471BB29D2}"/>
                </a:ext>
              </a:extLst>
            </p:cNvPr>
            <p:cNvSpPr txBox="1"/>
            <p:nvPr/>
          </p:nvSpPr>
          <p:spPr>
            <a:xfrm>
              <a:off x="436649" y="5742701"/>
              <a:ext cx="1413817" cy="273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A8C"/>
                  </a:solidFill>
                  <a:effectLst/>
                  <a:uLnTx/>
                  <a:uFillTx/>
                  <a:latin typeface="나눔스퀘어 네오 Regular"/>
                  <a:ea typeface="나눔스퀘어 네오 Regular"/>
                  <a:cs typeface="+mn-cs"/>
                </a:rPr>
                <a:t>고용노동부 인증기관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3A8C"/>
                </a:solidFill>
                <a:effectLst/>
                <a:uLnTx/>
                <a:uFillTx/>
                <a:latin typeface="나눔스퀘어 네오 Regular"/>
                <a:ea typeface="나눔스퀘어 네오 Regular"/>
                <a:cs typeface="+mn-cs"/>
              </a:endParaRPr>
            </a:p>
          </p:txBody>
        </p:sp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455AC8B1-CA10-E3AC-8486-562E62DE5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0793" y="5988922"/>
              <a:ext cx="1135964" cy="4683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47415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 w="6350">
          <a:solidFill>
            <a:schemeClr val="bg1">
              <a:lumMod val="65000"/>
            </a:schemeClr>
          </a:solidFill>
        </a:ln>
      </a:spPr>
      <a:bodyPr wrap="none" lIns="0" tIns="36000" rIns="0" rtlCol="0" anchor="ctr" anchorCtr="0"/>
      <a:lstStyle>
        <a:defPPr marL="0" marR="0" indent="0" algn="ctr" defTabSz="914400" rtl="0" eaLnBrk="1" fontAlgn="auto" latinLnBrk="0" hangingPunct="1">
          <a:lnSpc>
            <a:spcPts val="1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sz="1000" b="0" kern="1200" spc="0" noProof="0" dirty="0">
            <a:solidFill>
              <a:schemeClr val="tx1"/>
            </a:solidFill>
            <a:latin typeface="나눔스퀘어 네오 Bold" panose="00000800000000000000" pitchFamily="2" charset="-127"/>
            <a:ea typeface="나눔스퀘어 네오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4992</TotalTime>
  <Words>2006</Words>
  <Application>Microsoft Office PowerPoint</Application>
  <PresentationFormat>와이드스크린</PresentationFormat>
  <Paragraphs>456</Paragraphs>
  <Slides>9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KoPub돋움체 Light</vt:lpstr>
      <vt:lpstr>나눔스퀘어 네오 Bold</vt:lpstr>
      <vt:lpstr>나눔스퀘어 네오 Heavy</vt:lpstr>
      <vt:lpstr>나눔스퀘어 네오 Regular</vt:lpstr>
      <vt:lpstr>Arial</vt:lpstr>
      <vt:lpstr>Calibri</vt:lpstr>
      <vt:lpstr>나눔스퀘어 네오 ExtraBold</vt:lpstr>
      <vt:lpstr>맑은 고딕</vt:lpstr>
      <vt:lpstr>Office 테마</vt:lpstr>
      <vt:lpstr>think-cell Slide</vt:lpstr>
      <vt:lpstr>PowerPoint 프레젠테이션</vt:lpstr>
      <vt:lpstr>1. 기관 소개</vt:lpstr>
      <vt:lpstr>1. 기관 소개</vt:lpstr>
      <vt:lpstr>1. 기관 소개</vt:lpstr>
      <vt:lpstr>1. 기관 소개</vt:lpstr>
      <vt:lpstr>1. 기관 소개</vt:lpstr>
      <vt:lpstr>1. 기관 소개</vt:lpstr>
      <vt:lpstr>1. 기관 소개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허선희</dc:creator>
  <cp:lastModifiedBy>이소정</cp:lastModifiedBy>
  <cp:revision>544</cp:revision>
  <dcterms:created xsi:type="dcterms:W3CDTF">2025-11-20T07:11:11Z</dcterms:created>
  <dcterms:modified xsi:type="dcterms:W3CDTF">2025-12-09T09:15:24Z</dcterms:modified>
</cp:coreProperties>
</file>