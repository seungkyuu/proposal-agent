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134806963" r:id="rId2"/>
    <p:sldId id="2134806978" r:id="rId3"/>
    <p:sldId id="2134806979" r:id="rId4"/>
    <p:sldId id="2134806990" r:id="rId5"/>
    <p:sldId id="2134806995" r:id="rId6"/>
    <p:sldId id="2134806996" r:id="rId7"/>
    <p:sldId id="2134806999" r:id="rId8"/>
    <p:sldId id="2134807001" r:id="rId9"/>
    <p:sldId id="2134807010" r:id="rId10"/>
    <p:sldId id="2134807011" r:id="rId11"/>
    <p:sldId id="2134807013" r:id="rId12"/>
    <p:sldId id="2134807014" r:id="rId13"/>
    <p:sldId id="2134807015" r:id="rId14"/>
    <p:sldId id="2134807018" r:id="rId15"/>
    <p:sldId id="2134807019" r:id="rId16"/>
    <p:sldId id="2134807020" r:id="rId17"/>
    <p:sldId id="2134807021" r:id="rId18"/>
    <p:sldId id="2134807022" r:id="rId19"/>
    <p:sldId id="2134807025" r:id="rId20"/>
    <p:sldId id="2134807026" r:id="rId21"/>
    <p:sldId id="2134807027" r:id="rId22"/>
    <p:sldId id="2134807028" r:id="rId23"/>
    <p:sldId id="2134807029" r:id="rId24"/>
    <p:sldId id="2134807002" r:id="rId25"/>
    <p:sldId id="2134806950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3884" userDrawn="1">
          <p15:clr>
            <a:srgbClr val="A4A3A4"/>
          </p15:clr>
        </p15:guide>
        <p15:guide id="5" pos="279" userDrawn="1">
          <p15:clr>
            <a:srgbClr val="A4A3A4"/>
          </p15:clr>
        </p15:guide>
        <p15:guide id="7" pos="2252" userDrawn="1">
          <p15:clr>
            <a:srgbClr val="A4A3A4"/>
          </p15:clr>
        </p15:guide>
        <p15:guide id="9" orient="horz" pos="3952" userDrawn="1">
          <p15:clr>
            <a:srgbClr val="A4A3A4"/>
          </p15:clr>
        </p15:guide>
        <p15:guide id="10" pos="742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5FDBCBA-A7AC-1879-3402-43141050D246}" name="허선희" initials="선허" userId="S::shheo@alpacohq.onmicrosoft.com::c4e9853a-1165-4b41-9e5f-81e93a4ca51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AB81"/>
    <a:srgbClr val="C2CA2B"/>
    <a:srgbClr val="2484C6"/>
    <a:srgbClr val="456DE8"/>
    <a:srgbClr val="E4007F"/>
    <a:srgbClr val="1E9F43"/>
    <a:srgbClr val="11693A"/>
    <a:srgbClr val="F6FAF0"/>
    <a:srgbClr val="26A24A"/>
    <a:srgbClr val="26A2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64" autoAdjust="0"/>
    <p:restoredTop sz="79241" autoAdjust="0"/>
  </p:normalViewPr>
  <p:slideViewPr>
    <p:cSldViewPr snapToGrid="0">
      <p:cViewPr varScale="1">
        <p:scale>
          <a:sx n="107" d="100"/>
          <a:sy n="107" d="100"/>
        </p:scale>
        <p:origin x="846" y="114"/>
      </p:cViewPr>
      <p:guideLst>
        <p:guide orient="horz" pos="3884"/>
        <p:guide pos="279"/>
        <p:guide pos="2252"/>
        <p:guide orient="horz" pos="3952"/>
        <p:guide pos="7423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3624"/>
    </p:cViewPr>
  </p:sorterViewPr>
  <p:notesViewPr>
    <p:cSldViewPr snapToGrid="0" showGuides="1">
      <p:cViewPr varScale="1">
        <p:scale>
          <a:sx n="78" d="100"/>
          <a:sy n="78" d="100"/>
        </p:scale>
        <p:origin x="396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49C4B981-6444-AD8D-591A-D2F7EA9AC0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E8FF8C9-7F90-ADC9-D9D6-8097BCCB996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A61469-5116-4AA3-84E2-7557003214AD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DFEE640-7A55-785C-6547-8883E4D592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66DE9C-1E97-EA1A-7820-F9BACBE8470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32704D-C65F-4A4E-A36E-024F8F1B4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65093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EC462-72A7-4B77-9EC8-FE07B068CB84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E9AFB-D72A-4918-9833-75E573AF68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011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3A493-BAA9-D517-4BDE-2F9E33882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9E86063-38C6-CC8B-ED10-B3B3381298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1AED18-3618-CC3E-20A9-D2501F6CAC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E7AE40-864F-4E01-C611-FE20A02F8A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E9AFB-D72A-4918-9833-75E573AF68D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4809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8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1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8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1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8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1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8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6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1.bin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DA33BEB-F0BB-E9B5-A9C1-1060F7452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492BC-3D70-4570-B37B-04BA20311834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2D44F0D-42EE-734E-83B2-E54DA6AEC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FEFF6C-8498-C8C4-F592-A5AD2D645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A95FC-6922-4C7D-9604-2AC7CF9899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166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0B7B84-6C4F-54CF-D9FC-6CF6612D6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DFB4F18-8D63-2A75-40D3-410C5D52A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492BC-3D70-4570-B37B-04BA20311834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E31BDA3-2616-B5D3-2815-40D75FFDF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F11D52-F1B0-7B09-DE88-4BB2EF291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A95FC-6922-4C7D-9604-2AC7CF9899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5600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패턴활용-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48E7F1A-EA42-85D3-62EC-1D3319F3426D}"/>
              </a:ext>
            </a:extLst>
          </p:cNvPr>
          <p:cNvSpPr/>
          <p:nvPr userDrawn="1"/>
        </p:nvSpPr>
        <p:spPr>
          <a:xfrm>
            <a:off x="8605520" y="2"/>
            <a:ext cx="3586480" cy="6857998"/>
          </a:xfrm>
          <a:prstGeom prst="rect">
            <a:avLst/>
          </a:prstGeom>
          <a:solidFill>
            <a:srgbClr val="26A2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3" name="그림 2" descr="폰트, 그린, 디자인이(가) 표시된 사진&#10;&#10;자동 생성된 설명">
            <a:extLst>
              <a:ext uri="{FF2B5EF4-FFF2-40B4-BE49-F238E27FC236}">
                <a16:creationId xmlns:a16="http://schemas.microsoft.com/office/drawing/2014/main" id="{7A205315-7D23-D399-34B9-75A62B7715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70273" t="11044" r="13118" b="55156"/>
          <a:stretch/>
        </p:blipFill>
        <p:spPr>
          <a:xfrm>
            <a:off x="-1828800" y="0"/>
            <a:ext cx="1669143" cy="239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277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-m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20C3E9B-CF62-FE7B-73FC-39DE7D931E87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12192001" cy="6857998"/>
          </a:xfrm>
          <a:prstGeom prst="rect">
            <a:avLst/>
          </a:prstGeom>
          <a:solidFill>
            <a:srgbClr val="26A2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0531BD8C-9DE4-25CB-7742-97E0FC2152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5237" y="130080"/>
            <a:ext cx="3045161" cy="1561822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2790CD9C-E98E-3412-9EDE-17E13D8DB58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19083" y="4479209"/>
            <a:ext cx="2525317" cy="2246548"/>
          </a:xfrm>
          <a:prstGeom prst="rect">
            <a:avLst/>
          </a:prstGeom>
        </p:spPr>
      </p:pic>
      <p:sp>
        <p:nvSpPr>
          <p:cNvPr id="7" name="내용 개체 틀 17">
            <a:extLst>
              <a:ext uri="{FF2B5EF4-FFF2-40B4-BE49-F238E27FC236}">
                <a16:creationId xmlns:a16="http://schemas.microsoft.com/office/drawing/2014/main" id="{6E9A6F80-43E5-1538-CA52-0F3457A644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46985" y="1774199"/>
            <a:ext cx="8896350" cy="6231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00">
                <a:solidFill>
                  <a:schemeClr val="bg1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defRPr>
            </a:lvl1pPr>
          </a:lstStyle>
          <a:p>
            <a:pPr lvl="0"/>
            <a:r>
              <a:rPr lang="en-US" altLang="ko-KR" dirty="0"/>
              <a:t>1. </a:t>
            </a:r>
            <a:r>
              <a:rPr lang="ko-KR" altLang="en-US" dirty="0"/>
              <a:t>제안 개요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489D4F7-9D2E-7B86-2034-A78518246D51}"/>
              </a:ext>
            </a:extLst>
          </p:cNvPr>
          <p:cNvCxnSpPr>
            <a:cxnSpLocks/>
          </p:cNvCxnSpPr>
          <p:nvPr userDrawn="1"/>
        </p:nvCxnSpPr>
        <p:spPr>
          <a:xfrm>
            <a:off x="1168786" y="2390862"/>
            <a:ext cx="9974510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6532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-m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3F0016A-94DF-CE5C-4526-20ED13B9BF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2" y="1"/>
            <a:ext cx="12192001" cy="6858000"/>
          </a:xfrm>
          <a:prstGeom prst="rect">
            <a:avLst/>
          </a:prstGeom>
          <a:solidFill>
            <a:srgbClr val="F6FA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DBD95E6-7EBE-88A5-139F-DAC83EC93B0A}"/>
              </a:ext>
            </a:extLst>
          </p:cNvPr>
          <p:cNvSpPr/>
          <p:nvPr userDrawn="1"/>
        </p:nvSpPr>
        <p:spPr>
          <a:xfrm>
            <a:off x="6485641" y="999241"/>
            <a:ext cx="4715760" cy="5415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11693A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</p:txBody>
      </p:sp>
      <p:sp>
        <p:nvSpPr>
          <p:cNvPr id="10" name="내용 개체 틀 17">
            <a:extLst>
              <a:ext uri="{FF2B5EF4-FFF2-40B4-BE49-F238E27FC236}">
                <a16:creationId xmlns:a16="http://schemas.microsoft.com/office/drawing/2014/main" id="{D3839E6D-AA55-D78C-E9F7-5820A6EE648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90599" y="999241"/>
            <a:ext cx="8896350" cy="6231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00">
                <a:solidFill>
                  <a:srgbClr val="11693A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defRPr>
            </a:lvl1pPr>
          </a:lstStyle>
          <a:p>
            <a:pPr lvl="0"/>
            <a:r>
              <a:rPr lang="en-US" altLang="ko-KR" dirty="0"/>
              <a:t>CONTENTS</a:t>
            </a:r>
            <a:endParaRPr lang="ko-KR" altLang="en-US" dirty="0"/>
          </a:p>
        </p:txBody>
      </p:sp>
      <p:pic>
        <p:nvPicPr>
          <p:cNvPr id="4" name="그림 3" descr="폰트, 그린, 디자인이(가) 표시된 사진&#10;&#10;자동 생성된 설명">
            <a:extLst>
              <a:ext uri="{FF2B5EF4-FFF2-40B4-BE49-F238E27FC236}">
                <a16:creationId xmlns:a16="http://schemas.microsoft.com/office/drawing/2014/main" id="{178910AB-2CA4-AFA8-36E3-0674274C99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70273" t="11044" r="13118" b="55156"/>
          <a:stretch/>
        </p:blipFill>
        <p:spPr>
          <a:xfrm>
            <a:off x="-1828800" y="0"/>
            <a:ext cx="1669143" cy="2391158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8698BA-EAD2-4467-9007-C1932AD700A0}"/>
              </a:ext>
            </a:extLst>
          </p:cNvPr>
          <p:cNvSpPr txBox="1">
            <a:spLocks/>
          </p:cNvSpPr>
          <p:nvPr userDrawn="1"/>
        </p:nvSpPr>
        <p:spPr>
          <a:xfrm>
            <a:off x="11629137" y="6521033"/>
            <a:ext cx="451134" cy="230276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altLang="ko-KR" sz="813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fld id="{3E69C318-79EE-4D33-9269-CA8477FBA421}" type="slidenum">
              <a:rPr lang="ko-KR" altLang="en-US" sz="813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pPr algn="r">
                <a:defRPr/>
              </a:pPr>
              <a:t>‹#›</a:t>
            </a:fld>
            <a:endParaRPr lang="ko-KR" altLang="en-US" sz="813" b="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7" name="그림 6" descr="스크린샷, 블랙, 그래픽, 폰트이(가) 표시된 사진&#10;&#10;자동 생성된 설명">
            <a:extLst>
              <a:ext uri="{FF2B5EF4-FFF2-40B4-BE49-F238E27FC236}">
                <a16:creationId xmlns:a16="http://schemas.microsoft.com/office/drawing/2014/main" id="{FA2AD7B9-92BA-CE03-A4E2-82488C2083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1" y="6571370"/>
            <a:ext cx="559545" cy="16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032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m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63740B48-1341-6A6B-938E-1D1A7D87B0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2" y="1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B5D26433-42C3-7AC4-6662-56FDDFF4384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04266" y="289725"/>
            <a:ext cx="6529388" cy="485778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000">
                <a:solidFill>
                  <a:srgbClr val="11693A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pPr lvl="0"/>
            <a:r>
              <a:rPr lang="ko-KR" altLang="en-US" dirty="0"/>
              <a:t>소제목</a:t>
            </a:r>
          </a:p>
        </p:txBody>
      </p:sp>
      <p:pic>
        <p:nvPicPr>
          <p:cNvPr id="3" name="그림 2" descr="폰트, 그린, 디자인이(가) 표시된 사진&#10;&#10;자동 생성된 설명">
            <a:extLst>
              <a:ext uri="{FF2B5EF4-FFF2-40B4-BE49-F238E27FC236}">
                <a16:creationId xmlns:a16="http://schemas.microsoft.com/office/drawing/2014/main" id="{22CF1960-FE29-5D60-4992-4F139E7BFA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70273" t="11044" r="13118" b="55156"/>
          <a:stretch/>
        </p:blipFill>
        <p:spPr>
          <a:xfrm>
            <a:off x="-1828800" y="0"/>
            <a:ext cx="1669143" cy="2391158"/>
          </a:xfrm>
          <a:prstGeom prst="rect">
            <a:avLst/>
          </a:prstGeom>
        </p:spPr>
      </p:pic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9535BBA6-A395-144D-A98F-27D779A9AF40}"/>
              </a:ext>
            </a:extLst>
          </p:cNvPr>
          <p:cNvSpPr txBox="1">
            <a:spLocks/>
          </p:cNvSpPr>
          <p:nvPr userDrawn="1"/>
        </p:nvSpPr>
        <p:spPr>
          <a:xfrm>
            <a:off x="11629137" y="6521033"/>
            <a:ext cx="451134" cy="230276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altLang="ko-KR" sz="813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fld id="{3E69C318-79EE-4D33-9269-CA8477FBA421}" type="slidenum">
              <a:rPr lang="ko-KR" altLang="en-US" sz="813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pPr algn="r">
                <a:defRPr/>
              </a:pPr>
              <a:t>‹#›</a:t>
            </a:fld>
            <a:endParaRPr lang="ko-KR" altLang="en-US" sz="813" b="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6" name="그림 5" descr="스크린샷, 블랙, 그래픽, 폰트이(가) 표시된 사진&#10;&#10;자동 생성된 설명">
            <a:extLst>
              <a:ext uri="{FF2B5EF4-FFF2-40B4-BE49-F238E27FC236}">
                <a16:creationId xmlns:a16="http://schemas.microsoft.com/office/drawing/2014/main" id="{73AE1CEB-5CFD-B4E6-A673-1344D672F87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1" y="6571370"/>
            <a:ext cx="559545" cy="16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9610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-m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B5D26433-42C3-7AC4-6662-56FDDFF4384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04266" y="439017"/>
            <a:ext cx="6529388" cy="485778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pPr lvl="0"/>
            <a:r>
              <a:rPr lang="ko-KR" altLang="en-US" dirty="0"/>
              <a:t>소제목</a:t>
            </a:r>
          </a:p>
        </p:txBody>
      </p:sp>
      <p:sp>
        <p:nvSpPr>
          <p:cNvPr id="3" name="내용 개체 틀 13">
            <a:extLst>
              <a:ext uri="{FF2B5EF4-FFF2-40B4-BE49-F238E27FC236}">
                <a16:creationId xmlns:a16="http://schemas.microsoft.com/office/drawing/2014/main" id="{4C1A8C88-E69D-7A6D-59D1-578D5F33E7D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04266" y="1088566"/>
            <a:ext cx="11332014" cy="48577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pPr lvl="0"/>
            <a:r>
              <a:rPr lang="ko-KR" altLang="en-US" dirty="0"/>
              <a:t>소제목</a:t>
            </a:r>
          </a:p>
        </p:txBody>
      </p:sp>
      <p:pic>
        <p:nvPicPr>
          <p:cNvPr id="4" name="그림 3" descr="폰트, 그린, 디자인이(가) 표시된 사진&#10;&#10;자동 생성된 설명">
            <a:extLst>
              <a:ext uri="{FF2B5EF4-FFF2-40B4-BE49-F238E27FC236}">
                <a16:creationId xmlns:a16="http://schemas.microsoft.com/office/drawing/2014/main" id="{434A3EEE-6AF3-A153-4E9A-A9A29F4C26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70273" t="11044" r="13118" b="55156"/>
          <a:stretch/>
        </p:blipFill>
        <p:spPr>
          <a:xfrm>
            <a:off x="-1828800" y="0"/>
            <a:ext cx="1669143" cy="2391158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A4F713-E9FA-C27B-60C0-61000BAE2CBC}"/>
              </a:ext>
            </a:extLst>
          </p:cNvPr>
          <p:cNvSpPr txBox="1">
            <a:spLocks/>
          </p:cNvSpPr>
          <p:nvPr userDrawn="1"/>
        </p:nvSpPr>
        <p:spPr>
          <a:xfrm>
            <a:off x="11629137" y="6435308"/>
            <a:ext cx="451134" cy="230276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altLang="ko-KR" sz="813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fld id="{3E69C318-79EE-4D33-9269-CA8477FBA421}" type="slidenum">
              <a:rPr lang="ko-KR" altLang="en-US" sz="813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pPr algn="r">
                <a:defRPr/>
              </a:pPr>
              <a:t>‹#›</a:t>
            </a:fld>
            <a:endParaRPr lang="ko-KR" altLang="en-US" sz="813" b="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7" name="그림 6" descr="스크린샷, 블랙, 그래픽, 폰트이(가) 표시된 사진&#10;&#10;자동 생성된 설명">
            <a:extLst>
              <a:ext uri="{FF2B5EF4-FFF2-40B4-BE49-F238E27FC236}">
                <a16:creationId xmlns:a16="http://schemas.microsoft.com/office/drawing/2014/main" id="{058BEB30-DAA4-A4F3-5CE3-9E19B4BB9FCD}"/>
              </a:ext>
            </a:extLst>
          </p:cNvPr>
          <p:cNvPicPr preferRelativeResize="0"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5701" y="6485645"/>
            <a:ext cx="504000" cy="16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468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>
            <a:extLst>
              <a:ext uri="{FF2B5EF4-FFF2-40B4-BE49-F238E27FC236}">
                <a16:creationId xmlns:a16="http://schemas.microsoft.com/office/drawing/2014/main" id="{21B64908-B9DC-4F3A-B9DD-B7B513ABEF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634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4" name="개체 3" hidden="1">
                        <a:extLst>
                          <a:ext uri="{FF2B5EF4-FFF2-40B4-BE49-F238E27FC236}">
                            <a16:creationId xmlns:a16="http://schemas.microsoft.com/office/drawing/2014/main" id="{21B64908-B9DC-4F3A-B9DD-B7B513ABEF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 hidden="1">
            <a:extLst>
              <a:ext uri="{FF2B5EF4-FFF2-40B4-BE49-F238E27FC236}">
                <a16:creationId xmlns:a16="http://schemas.microsoft.com/office/drawing/2014/main" id="{44ACC6AD-18F0-4074-AB93-0012D72CA08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GB" altLang="ko-KR" sz="3088" b="1" i="0" baseline="0" dirty="0">
              <a:solidFill>
                <a:schemeClr val="tx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855B6642-0A55-4068-B403-FF36CF1D7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875" y="374582"/>
            <a:ext cx="9163639" cy="431006"/>
          </a:xfrm>
          <a:prstGeom prst="rect">
            <a:avLst/>
          </a:prstGeom>
        </p:spPr>
        <p:txBody>
          <a:bodyPr wrap="none" lIns="36000" tIns="36000" rIns="36000" bIns="36000" anchor="ctr"/>
          <a:lstStyle>
            <a:lvl1pPr>
              <a:lnSpc>
                <a:spcPct val="100000"/>
              </a:lnSpc>
              <a:defRPr sz="20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5F68A4CE-4D04-33A7-6AFC-2F7ADF760CF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0560" y="1197485"/>
            <a:ext cx="11147727" cy="7344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latinLnBrk="0">
              <a:lnSpc>
                <a:spcPct val="120000"/>
              </a:lnSpc>
              <a:spcBef>
                <a:spcPts val="200"/>
              </a:spcBef>
              <a:buNone/>
              <a:defRPr sz="1200" b="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  <a:lvl6pPr marL="2286000" indent="0">
              <a:buNone/>
              <a:defRPr/>
            </a:lvl6pPr>
            <a:lvl7pPr marL="2743200" indent="0">
              <a:buNone/>
              <a:defRPr/>
            </a:lvl7pPr>
            <a:lvl8pPr marL="3200400" indent="0">
              <a:buNone/>
              <a:defRPr/>
            </a:lvl8pPr>
            <a:lvl9pPr marL="3657600" indent="0">
              <a:buNone/>
              <a:defRPr/>
            </a:lvl9pPr>
          </a:lstStyle>
          <a:p>
            <a:pPr lvl="0"/>
            <a:r>
              <a:rPr lang="en-US" altLang="ko-KR" dirty="0"/>
              <a:t>Sub-heading: Add supporting detail.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99690E-4BAA-5C11-AB70-C4268D7BA687}"/>
              </a:ext>
            </a:extLst>
          </p:cNvPr>
          <p:cNvSpPr txBox="1">
            <a:spLocks/>
          </p:cNvSpPr>
          <p:nvPr userDrawn="1"/>
        </p:nvSpPr>
        <p:spPr>
          <a:xfrm>
            <a:off x="11629137" y="6435308"/>
            <a:ext cx="451134" cy="230276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altLang="ko-KR" sz="813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fld id="{3E69C318-79EE-4D33-9269-CA8477FBA421}" type="slidenum">
              <a:rPr lang="ko-KR" altLang="en-US" sz="813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pPr algn="r">
                <a:defRPr/>
              </a:pPr>
              <a:t>‹#›</a:t>
            </a:fld>
            <a:endParaRPr lang="ko-KR" altLang="en-US" sz="813" b="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9" name="그림 8" descr="스크린샷, 블랙, 그래픽, 폰트이(가) 표시된 사진&#10;&#10;자동 생성된 설명">
            <a:extLst>
              <a:ext uri="{FF2B5EF4-FFF2-40B4-BE49-F238E27FC236}">
                <a16:creationId xmlns:a16="http://schemas.microsoft.com/office/drawing/2014/main" id="{2E41E458-5435-D1DC-DD63-471DA8F4808C}"/>
              </a:ext>
            </a:extLst>
          </p:cNvPr>
          <p:cNvPicPr preferRelativeResize="0">
            <a:picLocks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5701" y="6485645"/>
            <a:ext cx="504000" cy="16674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79755FA-DC85-6778-4F3D-5897E239D8D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69272" y="496011"/>
            <a:ext cx="1218620" cy="25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7686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>
            <a:extLst>
              <a:ext uri="{FF2B5EF4-FFF2-40B4-BE49-F238E27FC236}">
                <a16:creationId xmlns:a16="http://schemas.microsoft.com/office/drawing/2014/main" id="{21B64908-B9DC-4F3A-B9DD-B7B513ABEF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634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4" name="개체 3" hidden="1">
                        <a:extLst>
                          <a:ext uri="{FF2B5EF4-FFF2-40B4-BE49-F238E27FC236}">
                            <a16:creationId xmlns:a16="http://schemas.microsoft.com/office/drawing/2014/main" id="{21B64908-B9DC-4F3A-B9DD-B7B513ABEF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 hidden="1">
            <a:extLst>
              <a:ext uri="{FF2B5EF4-FFF2-40B4-BE49-F238E27FC236}">
                <a16:creationId xmlns:a16="http://schemas.microsoft.com/office/drawing/2014/main" id="{44ACC6AD-18F0-4074-AB93-0012D72CA08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GB" altLang="ko-KR" sz="3088" b="1" i="0" baseline="0" dirty="0">
              <a:solidFill>
                <a:schemeClr val="tx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5F68A4CE-4D04-33A7-6AFC-2F7ADF760CF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0560" y="1197485"/>
            <a:ext cx="11147727" cy="7344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latinLnBrk="0">
              <a:lnSpc>
                <a:spcPct val="120000"/>
              </a:lnSpc>
              <a:spcBef>
                <a:spcPts val="200"/>
              </a:spcBef>
              <a:buNone/>
              <a:defRPr sz="1100" b="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  <a:lvl6pPr marL="2286000" indent="0">
              <a:buNone/>
              <a:defRPr/>
            </a:lvl6pPr>
            <a:lvl7pPr marL="2743200" indent="0">
              <a:buNone/>
              <a:defRPr/>
            </a:lvl7pPr>
            <a:lvl8pPr marL="3200400" indent="0">
              <a:buNone/>
              <a:defRPr/>
            </a:lvl8pPr>
            <a:lvl9pPr marL="3657600" indent="0">
              <a:buNone/>
              <a:defRPr/>
            </a:lvl9pPr>
          </a:lstStyle>
          <a:p>
            <a:pPr lvl="0"/>
            <a:r>
              <a:rPr lang="en-US" altLang="ko-KR" dirty="0"/>
              <a:t>Sub-heading: Add supporting detail.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99690E-4BAA-5C11-AB70-C4268D7BA687}"/>
              </a:ext>
            </a:extLst>
          </p:cNvPr>
          <p:cNvSpPr txBox="1">
            <a:spLocks/>
          </p:cNvSpPr>
          <p:nvPr userDrawn="1"/>
        </p:nvSpPr>
        <p:spPr>
          <a:xfrm>
            <a:off x="11629137" y="6435308"/>
            <a:ext cx="451134" cy="230276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altLang="ko-KR" sz="813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fld id="{3E69C318-79EE-4D33-9269-CA8477FBA421}" type="slidenum">
              <a:rPr lang="ko-KR" altLang="en-US" sz="813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pPr algn="r">
                <a:defRPr/>
              </a:pPr>
              <a:t>‹#›</a:t>
            </a:fld>
            <a:endParaRPr lang="ko-KR" altLang="en-US" sz="813" b="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9" name="그림 8" descr="스크린샷, 블랙, 그래픽, 폰트이(가) 표시된 사진&#10;&#10;자동 생성된 설명">
            <a:extLst>
              <a:ext uri="{FF2B5EF4-FFF2-40B4-BE49-F238E27FC236}">
                <a16:creationId xmlns:a16="http://schemas.microsoft.com/office/drawing/2014/main" id="{2E41E458-5435-D1DC-DD63-471DA8F4808C}"/>
              </a:ext>
            </a:extLst>
          </p:cNvPr>
          <p:cNvPicPr preferRelativeResize="0">
            <a:picLocks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5701" y="6485645"/>
            <a:ext cx="504000" cy="16674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79755FA-DC85-6778-4F3D-5897E239D8D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69272" y="496011"/>
            <a:ext cx="1218620" cy="25158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5793947-509F-3895-CFE2-79632EF8A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875" y="449227"/>
            <a:ext cx="9163639" cy="431006"/>
          </a:xfrm>
          <a:prstGeom prst="rect">
            <a:avLst/>
          </a:prstGeom>
        </p:spPr>
        <p:txBody>
          <a:bodyPr wrap="none" lIns="36000" tIns="36000" rIns="36000" bIns="36000" anchor="ctr"/>
          <a:lstStyle>
            <a:lvl1pPr>
              <a:lnSpc>
                <a:spcPct val="100000"/>
              </a:lnSpc>
              <a:defRPr sz="20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5083988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>
            <a:extLst>
              <a:ext uri="{FF2B5EF4-FFF2-40B4-BE49-F238E27FC236}">
                <a16:creationId xmlns:a16="http://schemas.microsoft.com/office/drawing/2014/main" id="{21B64908-B9DC-4F3A-B9DD-B7B513ABEF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634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4" name="개체 3" hidden="1">
                        <a:extLst>
                          <a:ext uri="{FF2B5EF4-FFF2-40B4-BE49-F238E27FC236}">
                            <a16:creationId xmlns:a16="http://schemas.microsoft.com/office/drawing/2014/main" id="{21B64908-B9DC-4F3A-B9DD-B7B513ABEF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 hidden="1">
            <a:extLst>
              <a:ext uri="{FF2B5EF4-FFF2-40B4-BE49-F238E27FC236}">
                <a16:creationId xmlns:a16="http://schemas.microsoft.com/office/drawing/2014/main" id="{44ACC6AD-18F0-4074-AB93-0012D72CA08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GB" altLang="ko-KR" sz="3088" b="1" i="0" baseline="0" dirty="0">
              <a:solidFill>
                <a:schemeClr val="tx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855B6642-0A55-4068-B403-FF36CF1D7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875" y="449227"/>
            <a:ext cx="9163639" cy="431006"/>
          </a:xfrm>
          <a:prstGeom prst="rect">
            <a:avLst/>
          </a:prstGeom>
        </p:spPr>
        <p:txBody>
          <a:bodyPr wrap="none" lIns="36000" tIns="36000" rIns="36000" bIns="36000" anchor="ctr"/>
          <a:lstStyle>
            <a:lvl1pPr>
              <a:lnSpc>
                <a:spcPct val="100000"/>
              </a:lnSpc>
              <a:defRPr sz="20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5F68A4CE-4D04-33A7-6AFC-2F7ADF760CF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0560" y="1020206"/>
            <a:ext cx="11147727" cy="734471"/>
          </a:xfrm>
          <a:prstGeom prst="rect">
            <a:avLst/>
          </a:prstGeom>
        </p:spPr>
        <p:txBody>
          <a:bodyPr lIns="0" tIns="0" rIns="0" bIns="0"/>
          <a:lstStyle>
            <a:lvl1pPr marL="0" indent="0" algn="l" latinLnBrk="0">
              <a:lnSpc>
                <a:spcPct val="120000"/>
              </a:lnSpc>
              <a:spcBef>
                <a:spcPts val="200"/>
              </a:spcBef>
              <a:buNone/>
              <a:defRPr sz="1200" b="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  <a:lvl6pPr marL="2286000" indent="0">
              <a:buNone/>
              <a:defRPr/>
            </a:lvl6pPr>
            <a:lvl7pPr marL="2743200" indent="0">
              <a:buNone/>
              <a:defRPr/>
            </a:lvl7pPr>
            <a:lvl8pPr marL="3200400" indent="0">
              <a:buNone/>
              <a:defRPr/>
            </a:lvl8pPr>
            <a:lvl9pPr marL="3657600" indent="0">
              <a:buNone/>
              <a:defRPr/>
            </a:lvl9pPr>
          </a:lstStyle>
          <a:p>
            <a:pPr lvl="0"/>
            <a:r>
              <a:rPr lang="en-US" altLang="ko-KR" dirty="0"/>
              <a:t>Sub-heading: Add supporting detail.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99690E-4BAA-5C11-AB70-C4268D7BA687}"/>
              </a:ext>
            </a:extLst>
          </p:cNvPr>
          <p:cNvSpPr txBox="1">
            <a:spLocks/>
          </p:cNvSpPr>
          <p:nvPr userDrawn="1"/>
        </p:nvSpPr>
        <p:spPr>
          <a:xfrm>
            <a:off x="11629137" y="6435308"/>
            <a:ext cx="451134" cy="230276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altLang="ko-KR" sz="813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fld id="{3E69C318-79EE-4D33-9269-CA8477FBA421}" type="slidenum">
              <a:rPr lang="ko-KR" altLang="en-US" sz="813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pPr algn="r">
                <a:defRPr/>
              </a:pPr>
              <a:t>‹#›</a:t>
            </a:fld>
            <a:endParaRPr lang="ko-KR" altLang="en-US" sz="813" b="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9" name="그림 8" descr="스크린샷, 블랙, 그래픽, 폰트이(가) 표시된 사진&#10;&#10;자동 생성된 설명">
            <a:extLst>
              <a:ext uri="{FF2B5EF4-FFF2-40B4-BE49-F238E27FC236}">
                <a16:creationId xmlns:a16="http://schemas.microsoft.com/office/drawing/2014/main" id="{2E41E458-5435-D1DC-DD63-471DA8F4808C}"/>
              </a:ext>
            </a:extLst>
          </p:cNvPr>
          <p:cNvPicPr preferRelativeResize="0">
            <a:picLocks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5701" y="6485645"/>
            <a:ext cx="504000" cy="16674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79755FA-DC85-6778-4F3D-5897E239D8D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69272" y="496011"/>
            <a:ext cx="1218620" cy="25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6305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>
            <a:extLst>
              <a:ext uri="{FF2B5EF4-FFF2-40B4-BE49-F238E27FC236}">
                <a16:creationId xmlns:a16="http://schemas.microsoft.com/office/drawing/2014/main" id="{21B64908-B9DC-4F3A-B9DD-B7B513ABEF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634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4" name="개체 3" hidden="1">
                        <a:extLst>
                          <a:ext uri="{FF2B5EF4-FFF2-40B4-BE49-F238E27FC236}">
                            <a16:creationId xmlns:a16="http://schemas.microsoft.com/office/drawing/2014/main" id="{21B64908-B9DC-4F3A-B9DD-B7B513ABEF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 hidden="1">
            <a:extLst>
              <a:ext uri="{FF2B5EF4-FFF2-40B4-BE49-F238E27FC236}">
                <a16:creationId xmlns:a16="http://schemas.microsoft.com/office/drawing/2014/main" id="{44ACC6AD-18F0-4074-AB93-0012D72CA08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GB" altLang="ko-KR" sz="3088" b="1" i="0" baseline="0" dirty="0">
              <a:solidFill>
                <a:schemeClr val="tx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855B6642-0A55-4068-B403-FF36CF1D7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875" y="449227"/>
            <a:ext cx="9163639" cy="431006"/>
          </a:xfrm>
          <a:prstGeom prst="rect">
            <a:avLst/>
          </a:prstGeom>
        </p:spPr>
        <p:txBody>
          <a:bodyPr wrap="none" lIns="36000" tIns="36000" rIns="36000" bIns="36000" anchor="ctr"/>
          <a:lstStyle>
            <a:lvl1pPr>
              <a:lnSpc>
                <a:spcPct val="100000"/>
              </a:lnSpc>
              <a:defRPr sz="20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5F68A4CE-4D04-33A7-6AFC-2F7ADF760CF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0560" y="1020206"/>
            <a:ext cx="11147727" cy="734471"/>
          </a:xfrm>
          <a:prstGeom prst="rect">
            <a:avLst/>
          </a:prstGeom>
        </p:spPr>
        <p:txBody>
          <a:bodyPr lIns="0" tIns="0" rIns="0" bIns="0"/>
          <a:lstStyle>
            <a:lvl1pPr marL="0" indent="0" algn="l" latinLnBrk="0">
              <a:lnSpc>
                <a:spcPct val="120000"/>
              </a:lnSpc>
              <a:spcBef>
                <a:spcPts val="200"/>
              </a:spcBef>
              <a:buNone/>
              <a:defRPr sz="1200" b="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  <a:lvl6pPr marL="2286000" indent="0">
              <a:buNone/>
              <a:defRPr/>
            </a:lvl6pPr>
            <a:lvl7pPr marL="2743200" indent="0">
              <a:buNone/>
              <a:defRPr/>
            </a:lvl7pPr>
            <a:lvl8pPr marL="3200400" indent="0">
              <a:buNone/>
              <a:defRPr/>
            </a:lvl8pPr>
            <a:lvl9pPr marL="3657600" indent="0">
              <a:buNone/>
              <a:defRPr/>
            </a:lvl9pPr>
          </a:lstStyle>
          <a:p>
            <a:pPr lvl="0"/>
            <a:r>
              <a:rPr lang="en-US" altLang="ko-KR" dirty="0"/>
              <a:t>Sub-heading: Add supporting detail.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99690E-4BAA-5C11-AB70-C4268D7BA687}"/>
              </a:ext>
            </a:extLst>
          </p:cNvPr>
          <p:cNvSpPr txBox="1">
            <a:spLocks/>
          </p:cNvSpPr>
          <p:nvPr userDrawn="1"/>
        </p:nvSpPr>
        <p:spPr>
          <a:xfrm>
            <a:off x="11629137" y="6435308"/>
            <a:ext cx="451134" cy="230276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altLang="ko-KR" sz="813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fld id="{3E69C318-79EE-4D33-9269-CA8477FBA421}" type="slidenum">
              <a:rPr lang="ko-KR" altLang="en-US" sz="813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pPr algn="r">
                <a:defRPr/>
              </a:pPr>
              <a:t>‹#›</a:t>
            </a:fld>
            <a:endParaRPr lang="ko-KR" altLang="en-US" sz="813" b="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9" name="그림 8" descr="스크린샷, 블랙, 그래픽, 폰트이(가) 표시된 사진&#10;&#10;자동 생성된 설명">
            <a:extLst>
              <a:ext uri="{FF2B5EF4-FFF2-40B4-BE49-F238E27FC236}">
                <a16:creationId xmlns:a16="http://schemas.microsoft.com/office/drawing/2014/main" id="{2E41E458-5435-D1DC-DD63-471DA8F4808C}"/>
              </a:ext>
            </a:extLst>
          </p:cNvPr>
          <p:cNvPicPr preferRelativeResize="0">
            <a:picLocks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5701" y="6485645"/>
            <a:ext cx="504000" cy="16674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79755FA-DC85-6778-4F3D-5897E239D8D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69272" y="496011"/>
            <a:ext cx="1218620" cy="25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6076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4917EC4-1A97-407A-00E4-998A6FE29AC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456DE8"/>
          </a:solidFill>
          <a:ln w="12700"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1489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0161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727343-3229-C0A6-CBA8-668A697DB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E2A27D8-0154-A539-90F6-4421ACE53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492BC-3D70-4570-B37B-04BA20311834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35AC349-8173-EFEE-18B3-0D678F565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7C41BB-0F8C-43A8-BB49-5CC87975B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A95FC-6922-4C7D-9604-2AC7CF9899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37225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D4DEC90-CA8F-239D-5A4F-3CFFAC33C3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9272" y="496011"/>
            <a:ext cx="1218620" cy="251586"/>
          </a:xfrm>
          <a:prstGeom prst="rect">
            <a:avLst/>
          </a:prstGeom>
        </p:spPr>
      </p:pic>
      <p:pic>
        <p:nvPicPr>
          <p:cNvPr id="2" name="그림 1" descr="스크린샷, 블랙, 그래픽, 폰트이(가) 표시된 사진&#10;&#10;자동 생성된 설명">
            <a:extLst>
              <a:ext uri="{FF2B5EF4-FFF2-40B4-BE49-F238E27FC236}">
                <a16:creationId xmlns:a16="http://schemas.microsoft.com/office/drawing/2014/main" id="{C2368804-597F-8028-2863-5DDC43129E7E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935" y="6221720"/>
            <a:ext cx="760457" cy="25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5178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D4DEC90-CA8F-239D-5A4F-3CFFAC33C3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34589" y="496011"/>
            <a:ext cx="1218620" cy="251586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AEEA545-1515-3F83-ED6A-712337389089}"/>
              </a:ext>
            </a:extLst>
          </p:cNvPr>
          <p:cNvSpPr/>
          <p:nvPr userDrawn="1"/>
        </p:nvSpPr>
        <p:spPr>
          <a:xfrm>
            <a:off x="0" y="0"/>
            <a:ext cx="4076700" cy="6858000"/>
          </a:xfrm>
          <a:prstGeom prst="roundRect">
            <a:avLst>
              <a:gd name="adj" fmla="val 0"/>
            </a:avLst>
          </a:prstGeom>
          <a:solidFill>
            <a:srgbClr val="456DE8"/>
          </a:solidFill>
          <a:ln w="12700"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pic>
        <p:nvPicPr>
          <p:cNvPr id="2" name="그림 1" descr="스크린샷, 블랙, 그래픽, 폰트이(가) 표시된 사진&#10;&#10;자동 생성된 설명">
            <a:extLst>
              <a:ext uri="{FF2B5EF4-FFF2-40B4-BE49-F238E27FC236}">
                <a16:creationId xmlns:a16="http://schemas.microsoft.com/office/drawing/2014/main" id="{C2368804-597F-8028-2863-5DDC43129E7E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935" y="6221720"/>
            <a:ext cx="760457" cy="25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081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2337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A06F9B0-25D6-1E6C-E2D2-B6E7D041A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2106AD-3026-46C6-E5D7-9B8E1B532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13A8DB-9945-1E2B-D800-B08B155BA6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F492BC-3D70-4570-B37B-04BA20311834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C8104F-C137-4D2F-AF12-61DBD26038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3B66B3-7C3F-5C03-955D-B7A659DCE0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5A95FC-6922-4C7D-9604-2AC7CF9899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3990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87" r:id="rId2"/>
    <p:sldLayoutId id="2147483689" r:id="rId3"/>
    <p:sldLayoutId id="2147483690" r:id="rId4"/>
    <p:sldLayoutId id="2147483688" r:id="rId5"/>
    <p:sldLayoutId id="2147483685" r:id="rId6"/>
    <p:sldLayoutId id="2147483693" r:id="rId7"/>
    <p:sldLayoutId id="2147483692" r:id="rId8"/>
    <p:sldLayoutId id="2147483702" r:id="rId9"/>
    <p:sldLayoutId id="2147483700" r:id="rId10"/>
    <p:sldLayoutId id="2147483701" r:id="rId11"/>
    <p:sldLayoutId id="2147483694" r:id="rId12"/>
    <p:sldLayoutId id="2147483698" r:id="rId13"/>
    <p:sldLayoutId id="2147483696" r:id="rId14"/>
    <p:sldLayoutId id="2147483697" r:id="rId15"/>
    <p:sldLayoutId id="2147483699" r:id="rId16"/>
    <p:sldLayoutId id="2147483695" r:id="rId1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7A7B8-75A0-CB77-4D7D-19EA4365F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B765FAE6-63D2-3106-E37A-9B47AFEED674}"/>
              </a:ext>
            </a:extLst>
          </p:cNvPr>
          <p:cNvSpPr/>
          <p:nvPr/>
        </p:nvSpPr>
        <p:spPr>
          <a:xfrm>
            <a:off x="0" y="0"/>
            <a:ext cx="7840494" cy="68579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5615BEF-69B9-10E1-6ED8-546FE1D2B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99" y="-52955"/>
            <a:ext cx="4453875" cy="2722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6677A8-B3ED-2A86-5C90-D266E2DA5844}"/>
              </a:ext>
            </a:extLst>
          </p:cNvPr>
          <p:cNvSpPr txBox="1"/>
          <p:nvPr/>
        </p:nvSpPr>
        <p:spPr>
          <a:xfrm>
            <a:off x="570885" y="2506160"/>
            <a:ext cx="5816139" cy="338554"/>
          </a:xfrm>
          <a:prstGeom prst="rect">
            <a:avLst/>
          </a:prstGeom>
          <a:noFill/>
        </p:spPr>
        <p:txBody>
          <a:bodyPr wrap="none" lIns="36000" anchor="ctr" anchorCtr="0">
            <a:spAutoFit/>
          </a:bodyPr>
          <a:lstStyle/>
          <a:p>
            <a:r>
              <a:rPr lang="ko-KR" altLang="en-US" sz="16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다우기술 미래성장 견인의 중심</a:t>
            </a:r>
            <a:r>
              <a:rPr lang="en-US" altLang="ko-KR" sz="16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, </a:t>
            </a:r>
            <a:r>
              <a:rPr lang="ko-KR" altLang="en-US" sz="16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비전공자 금융 </a:t>
            </a:r>
            <a:r>
              <a:rPr lang="en-US" altLang="ko-KR" sz="16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IT </a:t>
            </a:r>
            <a:r>
              <a:rPr lang="ko-KR" altLang="en-US" sz="16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개발자 육성과정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496876-AB1D-DD47-EDEF-B753F004159C}"/>
              </a:ext>
            </a:extLst>
          </p:cNvPr>
          <p:cNvSpPr txBox="1"/>
          <p:nvPr/>
        </p:nvSpPr>
        <p:spPr>
          <a:xfrm>
            <a:off x="591992" y="1114520"/>
            <a:ext cx="710575" cy="338554"/>
          </a:xfrm>
          <a:prstGeom prst="rect">
            <a:avLst/>
          </a:prstGeom>
          <a:noFill/>
        </p:spPr>
        <p:txBody>
          <a:bodyPr wrap="none" lIns="36000" anchor="ctr" anchorCtr="0">
            <a:spAutoFit/>
          </a:bodyPr>
          <a:lstStyle/>
          <a:p>
            <a:r>
              <a:rPr lang="ko-KR" altLang="en-US" sz="16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제안서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11493C8-ACCC-594F-F014-3576E99C7BF7}"/>
              </a:ext>
            </a:extLst>
          </p:cNvPr>
          <p:cNvCxnSpPr>
            <a:cxnSpLocks/>
          </p:cNvCxnSpPr>
          <p:nvPr/>
        </p:nvCxnSpPr>
        <p:spPr>
          <a:xfrm>
            <a:off x="640229" y="1093169"/>
            <a:ext cx="540000" cy="0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44BC835-D28F-CD8F-6AE3-D9DABF28F4F9}"/>
              </a:ext>
            </a:extLst>
          </p:cNvPr>
          <p:cNvSpPr txBox="1"/>
          <p:nvPr/>
        </p:nvSpPr>
        <p:spPr>
          <a:xfrm>
            <a:off x="570885" y="2850522"/>
            <a:ext cx="3333088" cy="553998"/>
          </a:xfrm>
          <a:prstGeom prst="rect">
            <a:avLst/>
          </a:prstGeom>
          <a:noFill/>
        </p:spPr>
        <p:txBody>
          <a:bodyPr wrap="none" lIns="36000" anchor="ctr" anchorCtr="0">
            <a:spAutoFit/>
          </a:bodyPr>
          <a:lstStyle/>
          <a:p>
            <a:r>
              <a:rPr lang="en-US" altLang="ko-KR" sz="30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2025 DTMP </a:t>
            </a:r>
            <a:r>
              <a:rPr lang="ko-KR" altLang="en-US" sz="30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제안</a:t>
            </a:r>
            <a:endParaRPr lang="en-US" altLang="ko-KR" sz="3000" b="1" kern="0" dirty="0">
              <a:ln>
                <a:solidFill>
                  <a:srgbClr val="4F81BD">
                    <a:alpha val="0"/>
                  </a:srgbClr>
                </a:solidFill>
              </a:ln>
              <a:latin typeface="나눔스퀘어 네오 Bold" panose="00000800000000000000" pitchFamily="2" charset="-127"/>
              <a:ea typeface="나눔스퀘어 네오 Bold" panose="000008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60BE415-4C0D-E4F4-EE07-87A87DE416B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0885" y="749397"/>
            <a:ext cx="1304903" cy="26939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1C092EF-2C2E-C0B6-6F30-A078803E0657}"/>
              </a:ext>
            </a:extLst>
          </p:cNvPr>
          <p:cNvSpPr txBox="1"/>
          <p:nvPr/>
        </p:nvSpPr>
        <p:spPr>
          <a:xfrm>
            <a:off x="591991" y="5975049"/>
            <a:ext cx="2161169" cy="276999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lrTx/>
              <a:buSzTx/>
              <a:tabLst/>
              <a:defRPr/>
            </a:pP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제안일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l  2024.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11. 12. Tues.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6C0C590C-473A-D13C-2624-FCD92D35BDEB}"/>
              </a:ext>
            </a:extLst>
          </p:cNvPr>
          <p:cNvGrpSpPr/>
          <p:nvPr/>
        </p:nvGrpSpPr>
        <p:grpSpPr>
          <a:xfrm>
            <a:off x="5584126" y="-3"/>
            <a:ext cx="6607874" cy="6857998"/>
            <a:chOff x="5584126" y="-3"/>
            <a:chExt cx="6607874" cy="6857998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73DECAA-FC2A-76EF-FCD6-11AF58A0C554}"/>
                </a:ext>
              </a:extLst>
            </p:cNvPr>
            <p:cNvSpPr/>
            <p:nvPr/>
          </p:nvSpPr>
          <p:spPr>
            <a:xfrm rot="16200000">
              <a:off x="7153278" y="1819272"/>
              <a:ext cx="6857998" cy="3219447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2" name="그림 11" descr="폰트, 그래픽, 로고, 상징이(가) 표시된 사진&#10;&#10;자동 생성된 설명">
              <a:extLst>
                <a:ext uri="{FF2B5EF4-FFF2-40B4-BE49-F238E27FC236}">
                  <a16:creationId xmlns:a16="http://schemas.microsoft.com/office/drawing/2014/main" id="{39DB4DDB-3512-D57C-D778-CBC69D7AF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80406" y="6171511"/>
              <a:ext cx="811657" cy="297260"/>
            </a:xfrm>
            <a:prstGeom prst="rect">
              <a:avLst/>
            </a:prstGeom>
          </p:spPr>
        </p:pic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D605CBBF-8D2D-2908-1DE2-CD91ADFCB057}"/>
                </a:ext>
              </a:extLst>
            </p:cNvPr>
            <p:cNvGrpSpPr/>
            <p:nvPr/>
          </p:nvGrpSpPr>
          <p:grpSpPr>
            <a:xfrm>
              <a:off x="5584126" y="0"/>
              <a:ext cx="6607874" cy="6857995"/>
              <a:chOff x="5584126" y="0"/>
              <a:chExt cx="6607874" cy="6857995"/>
            </a:xfrm>
          </p:grpSpPr>
          <p:pic>
            <p:nvPicPr>
              <p:cNvPr id="41" name="그림 40">
                <a:extLst>
                  <a:ext uri="{FF2B5EF4-FFF2-40B4-BE49-F238E27FC236}">
                    <a16:creationId xmlns:a16="http://schemas.microsoft.com/office/drawing/2014/main" id="{0B03C12C-1BD1-61E1-14EA-A9D5089F35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6128" t="81596" r="79536" b="4858"/>
              <a:stretch/>
            </p:blipFill>
            <p:spPr>
              <a:xfrm>
                <a:off x="5584126" y="0"/>
                <a:ext cx="6607874" cy="6857995"/>
              </a:xfrm>
              <a:custGeom>
                <a:avLst/>
                <a:gdLst>
                  <a:gd name="connsiteX0" fmla="*/ 2006520 w 6607874"/>
                  <a:gd name="connsiteY0" fmla="*/ 0 h 6857995"/>
                  <a:gd name="connsiteX1" fmla="*/ 6607874 w 6607874"/>
                  <a:gd name="connsiteY1" fmla="*/ 0 h 6857995"/>
                  <a:gd name="connsiteX2" fmla="*/ 4650152 w 6607874"/>
                  <a:gd name="connsiteY2" fmla="*/ 6857995 h 6857995"/>
                  <a:gd name="connsiteX3" fmla="*/ 0 w 6607874"/>
                  <a:gd name="connsiteY3" fmla="*/ 6857995 h 6857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07874" h="6857995">
                    <a:moveTo>
                      <a:pt x="2006520" y="0"/>
                    </a:moveTo>
                    <a:lnTo>
                      <a:pt x="6607874" y="0"/>
                    </a:lnTo>
                    <a:lnTo>
                      <a:pt x="4650152" y="6857995"/>
                    </a:lnTo>
                    <a:lnTo>
                      <a:pt x="0" y="6857995"/>
                    </a:lnTo>
                    <a:close/>
                  </a:path>
                </a:pathLst>
              </a:custGeom>
            </p:spPr>
          </p:pic>
          <p:pic>
            <p:nvPicPr>
              <p:cNvPr id="34" name="그림 33">
                <a:extLst>
                  <a:ext uri="{FF2B5EF4-FFF2-40B4-BE49-F238E27FC236}">
                    <a16:creationId xmlns:a16="http://schemas.microsoft.com/office/drawing/2014/main" id="{47992035-9B48-C92F-D063-50FF0DE6C5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6028" r="9024" b="4858"/>
              <a:stretch/>
            </p:blipFill>
            <p:spPr>
              <a:xfrm>
                <a:off x="6284485" y="1289445"/>
                <a:ext cx="5539266" cy="5342963"/>
              </a:xfrm>
              <a:custGeom>
                <a:avLst/>
                <a:gdLst>
                  <a:gd name="connsiteX0" fmla="*/ 2006523 w 7109969"/>
                  <a:gd name="connsiteY0" fmla="*/ 0 h 6857999"/>
                  <a:gd name="connsiteX1" fmla="*/ 7109969 w 7109969"/>
                  <a:gd name="connsiteY1" fmla="*/ 0 h 6857999"/>
                  <a:gd name="connsiteX2" fmla="*/ 5152245 w 7109969"/>
                  <a:gd name="connsiteY2" fmla="*/ 6857999 h 6857999"/>
                  <a:gd name="connsiteX3" fmla="*/ 0 w 7109969"/>
                  <a:gd name="connsiteY3" fmla="*/ 6857999 h 6857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09969" h="6857999">
                    <a:moveTo>
                      <a:pt x="2006523" y="0"/>
                    </a:moveTo>
                    <a:lnTo>
                      <a:pt x="7109969" y="0"/>
                    </a:lnTo>
                    <a:lnTo>
                      <a:pt x="5152245" y="6857999"/>
                    </a:lnTo>
                    <a:lnTo>
                      <a:pt x="0" y="6857999"/>
                    </a:lnTo>
                    <a:close/>
                  </a:path>
                </a:pathLst>
              </a:custGeom>
            </p:spPr>
          </p:pic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D2275C8E-D4C4-466F-7DE7-536CC2A855EE}"/>
              </a:ext>
            </a:extLst>
          </p:cNvPr>
          <p:cNvSpPr txBox="1"/>
          <p:nvPr/>
        </p:nvSpPr>
        <p:spPr>
          <a:xfrm>
            <a:off x="3761974" y="2897669"/>
            <a:ext cx="2719014" cy="261610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r>
              <a:rPr lang="en-US" altLang="ko-KR" sz="11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DAOU Talent Management Program</a:t>
            </a:r>
            <a:endParaRPr lang="ko-KR" altLang="en-US" sz="1100" dirty="0">
              <a:solidFill>
                <a:schemeClr val="tx1">
                  <a:lumMod val="95000"/>
                  <a:lumOff val="5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6292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866F9-2FB0-CECC-6517-71E71B11C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E4C5E9-2D29-7306-13BF-23F41F1F9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프로그램 개요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479F2D-CBA9-3B37-B58B-F9C766754A2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40560" y="1020207"/>
            <a:ext cx="11147727" cy="431006"/>
          </a:xfrm>
        </p:spPr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알파코가 다우기술의 금융 </a:t>
            </a:r>
            <a:r>
              <a:rPr lang="en-US" altLang="ko-KR" dirty="0">
                <a:solidFill>
                  <a:schemeClr val="tx1"/>
                </a:solidFill>
              </a:rPr>
              <a:t>IT </a:t>
            </a:r>
            <a:r>
              <a:rPr lang="ko-KR" altLang="en-US" dirty="0">
                <a:solidFill>
                  <a:schemeClr val="tx1"/>
                </a:solidFill>
              </a:rPr>
              <a:t>개발자료 성장을 견인하는 인재 육성을 위해 제안하는 이번 프로그램은 다음과 같습니다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AEE9F58-5FDE-B03D-0590-C1CB360DAB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44362"/>
              </p:ext>
            </p:extLst>
          </p:nvPr>
        </p:nvGraphicFramePr>
        <p:xfrm>
          <a:off x="587375" y="1592263"/>
          <a:ext cx="11017250" cy="47119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3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4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533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1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glow rad="88900">
                              <a:schemeClr val="bg1"/>
                            </a:glow>
                          </a:effectLst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프로그램명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다우기술 미래성장 견인의 중심</a:t>
                      </a: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비전공자 금융 </a:t>
                      </a: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IT </a:t>
                      </a:r>
                      <a:r>
                        <a:rPr lang="ko-KR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개발자 육성과정</a:t>
                      </a: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, 2025 DTMP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367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1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glow rad="88900">
                              <a:schemeClr val="bg1"/>
                            </a:glow>
                          </a:effectLst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참여 대상 및 인원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20000"/>
                        </a:lnSpc>
                        <a:spcAft>
                          <a:spcPts val="600"/>
                        </a:spcAft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비전공자 금융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IT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개발 신규채용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15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명</a:t>
                      </a: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412046"/>
                  </a:ext>
                </a:extLst>
              </a:tr>
              <a:tr h="1048915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1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glow rad="88900">
                              <a:schemeClr val="bg1"/>
                            </a:glow>
                          </a:effectLst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육성  지향점</a:t>
                      </a:r>
                      <a:endParaRPr lang="ko-KR" altLang="en-US" sz="1100" b="0" spc="0" dirty="0">
                        <a:ln w="3175">
                          <a:noFill/>
                        </a:ln>
                        <a:solidFill>
                          <a:schemeClr val="tx1"/>
                        </a:solidFill>
                        <a:effectLst>
                          <a:glow rad="88900">
                            <a:schemeClr val="bg1"/>
                          </a:glow>
                        </a:effectLst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4625" indent="-174625" algn="l" defTabSz="914400" rtl="0" eaLnBrk="1" latinLnBrk="1" hangingPunct="1">
                        <a:lnSpc>
                          <a:spcPct val="12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전문성과 실행력을 겸비한 금융 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IT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개발자로의 성공적 전환을 위한 기초역량 내재화</a:t>
                      </a:r>
                      <a:b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 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체계적인 금융 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IT 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기초 실무 역량 내재화를 통한 </a:t>
                      </a:r>
                      <a:r>
                        <a:rPr lang="ko-KR" altLang="en-US" sz="1100" b="0" kern="1200" spc="0" baseline="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개발자로서의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성장 견인</a:t>
                      </a:r>
                      <a:br>
                        <a:rPr lang="en-US" altLang="ko-KR" sz="1100" b="0" kern="1200" spc="0" baseline="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 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비전공자에서 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IT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전문가로서 커리어 전환을 위한 기초체력 증진</a:t>
                      </a:r>
                      <a:br>
                        <a:rPr lang="en-US" altLang="ko-KR" sz="1100" b="0" kern="1200" spc="0" baseline="0" dirty="0">
                          <a:solidFill>
                            <a:srgbClr val="FF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 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금융산업의 관심을 가지고 있던 주변인에서 조직의 중심인으로 발돋움</a:t>
                      </a:r>
                      <a:endParaRPr lang="ko-KR" altLang="en-US" sz="1100" b="0" kern="1200" spc="0" baseline="0" dirty="0">
                        <a:solidFill>
                          <a:srgbClr val="FF0000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056000"/>
                  </a:ext>
                </a:extLst>
              </a:tr>
              <a:tr h="381527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1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glow rad="88900">
                              <a:schemeClr val="bg1"/>
                            </a:glow>
                          </a:effectLst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교육 주제 및 내용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4625" indent="-174625" algn="l" defTabSz="914400" rtl="0" eaLnBrk="1" latinLnBrk="1" hangingPunct="1">
                        <a:lnSpc>
                          <a:spcPct val="12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금융 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IT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개발자 전환 기초역량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Computer Science, SQL,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JAVA, C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언어</a:t>
                      </a: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764289"/>
                  </a:ext>
                </a:extLst>
              </a:tr>
              <a:tr h="869949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1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glow rad="88900">
                              <a:schemeClr val="bg1"/>
                            </a:glow>
                          </a:effectLst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설계</a:t>
                      </a:r>
                      <a:r>
                        <a:rPr lang="en-US" altLang="ko-KR" sz="1100" b="1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glow rad="88900">
                              <a:schemeClr val="bg1"/>
                            </a:glow>
                          </a:effectLst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·</a:t>
                      </a:r>
                      <a:r>
                        <a:rPr lang="ko-KR" altLang="en-US" sz="1100" b="1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glow rad="88900">
                              <a:schemeClr val="bg1"/>
                            </a:glow>
                          </a:effectLst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운영 초점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4625" indent="-174625" algn="l" defTabSz="914400" rtl="0" eaLnBrk="1" latinLnBrk="1" hangingPunct="1">
                        <a:lnSpc>
                          <a:spcPct val="12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교육 효과성 극대화를 위해 </a:t>
                      </a:r>
                      <a:r>
                        <a:rPr lang="ko-KR" altLang="en-US" sz="1100" b="1" u="sng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세 가지 주안점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을 바탕으로 프로그램을 설계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운영</a:t>
                      </a:r>
                      <a:b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1)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입체적 학습 여정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이론학습과 실습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프로젝트의 유기적 연계를 통해 점진적 학습의 고도화가 가능한 학습 여정 설계</a:t>
                      </a:r>
                      <a:b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2)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실질적 아웃풋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이해도 제고를 고려한 프로젝트 과제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전문가에 의한 실행 </a:t>
                      </a:r>
                      <a:b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3)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반복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누적 육성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학습이력 누적 관리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학습 루틴기반 </a:t>
                      </a:r>
                      <a:endParaRPr lang="en-US" altLang="ko-KR" sz="110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590317"/>
                  </a:ext>
                </a:extLst>
              </a:tr>
              <a:tr h="672089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1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glow rad="88900">
                              <a:schemeClr val="bg1"/>
                            </a:glow>
                          </a:effectLst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학습 시간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4625" indent="-174625" algn="l" defTabSz="914400" rtl="0" eaLnBrk="1" latinLnBrk="1" hangingPunct="1">
                        <a:lnSpc>
                          <a:spcPct val="12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약 </a:t>
                      </a:r>
                      <a:r>
                        <a:rPr lang="en-US" altLang="ko-KR" sz="1100" b="1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12</a:t>
                      </a:r>
                      <a:r>
                        <a:rPr lang="ko-KR" altLang="en-US" sz="1100" b="1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주간</a:t>
                      </a:r>
                      <a:b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교육측면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교육 총 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480H, 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과목별 실습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종합 프로젝트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총 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3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회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 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등 그룹 전담 코칭 지원</a:t>
                      </a:r>
                      <a:b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 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운영측면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Half Day(1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회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), 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성수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CX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투어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(1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회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), 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금융특강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(2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회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등</a:t>
                      </a:r>
                      <a:endParaRPr lang="en-US" altLang="ko-KR" sz="1100" b="0" kern="1200" spc="0" baseline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58312"/>
                  </a:ext>
                </a:extLst>
              </a:tr>
              <a:tr h="1117358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1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glow rad="88900">
                              <a:schemeClr val="bg1"/>
                            </a:glow>
                          </a:effectLst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진행 범위 및 일정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4625" marR="0" lvl="0" indent="-174625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교육을 포함한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전체 프로젝트는 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’25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년 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3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월까지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운영 예정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단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구체적 사항은 협의에 따라 조정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변경 가능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180000" marT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9" name="그룹 8">
            <a:extLst>
              <a:ext uri="{FF2B5EF4-FFF2-40B4-BE49-F238E27FC236}">
                <a16:creationId xmlns:a16="http://schemas.microsoft.com/office/drawing/2014/main" id="{FCF3C301-6727-93C4-58B0-05D07CB6AE99}"/>
              </a:ext>
            </a:extLst>
          </p:cNvPr>
          <p:cNvGrpSpPr/>
          <p:nvPr/>
        </p:nvGrpSpPr>
        <p:grpSpPr>
          <a:xfrm>
            <a:off x="3302508" y="5494161"/>
            <a:ext cx="7453476" cy="699169"/>
            <a:chOff x="2934863" y="5594129"/>
            <a:chExt cx="6764650" cy="69916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9D7DB2F-6CD5-4CAA-A661-A3BD9B839449}"/>
                </a:ext>
              </a:extLst>
            </p:cNvPr>
            <p:cNvSpPr/>
            <p:nvPr/>
          </p:nvSpPr>
          <p:spPr>
            <a:xfrm>
              <a:off x="2934863" y="5594129"/>
              <a:ext cx="1502488" cy="29905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사전 분석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D36E379-B370-FA40-817E-6E3124B52E7D}"/>
                </a:ext>
              </a:extLst>
            </p:cNvPr>
            <p:cNvSpPr/>
            <p:nvPr/>
          </p:nvSpPr>
          <p:spPr>
            <a:xfrm>
              <a:off x="4688917" y="5594129"/>
              <a:ext cx="1502488" cy="29905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프로그램 세팅</a:t>
              </a:r>
              <a:endParaRPr lang="en-US" altLang="ko-KR" sz="10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F5E9E02-2B8C-5723-3B36-367793689E07}"/>
                </a:ext>
              </a:extLst>
            </p:cNvPr>
            <p:cNvSpPr/>
            <p:nvPr/>
          </p:nvSpPr>
          <p:spPr>
            <a:xfrm>
              <a:off x="8197025" y="5594129"/>
              <a:ext cx="1502488" cy="29905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사후관리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E7C206C4-F151-4C75-7CF0-7AD295FA89CF}"/>
                </a:ext>
              </a:extLst>
            </p:cNvPr>
            <p:cNvSpPr>
              <a:spLocks/>
            </p:cNvSpPr>
            <p:nvPr/>
          </p:nvSpPr>
          <p:spPr>
            <a:xfrm>
              <a:off x="6442971" y="5594129"/>
              <a:ext cx="1502488" cy="29905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프로그램 운영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2264544-99B0-803E-110B-E278D74A8F0B}"/>
                </a:ext>
              </a:extLst>
            </p:cNvPr>
            <p:cNvSpPr txBox="1"/>
            <p:nvPr/>
          </p:nvSpPr>
          <p:spPr>
            <a:xfrm>
              <a:off x="3144260" y="5893188"/>
              <a:ext cx="1056701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약 </a:t>
              </a:r>
              <a:r>
                <a:rPr lang="en-US" altLang="ko-KR" sz="10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1.5</a:t>
              </a:r>
              <a:r>
                <a:rPr lang="ko-KR" altLang="en-US" sz="10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주</a:t>
              </a:r>
              <a:endParaRPr lang="en-US" altLang="ko-KR" sz="10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algn="ctr"/>
              <a:r>
                <a:rPr lang="en-US" altLang="ko-KR" sz="10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’24</a:t>
              </a:r>
              <a:r>
                <a:rPr lang="ko-KR" altLang="en-US" sz="10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년 </a:t>
              </a:r>
              <a:r>
                <a:rPr lang="en-US" altLang="ko-KR" sz="10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11</a:t>
              </a:r>
              <a:r>
                <a:rPr lang="ko-KR" altLang="en-US" sz="10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월 중순</a:t>
              </a:r>
              <a:endParaRPr lang="ko-KR" altLang="en-US" sz="10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089A5E4-6379-47A9-8D63-E16D09191516}"/>
                </a:ext>
              </a:extLst>
            </p:cNvPr>
            <p:cNvSpPr txBox="1"/>
            <p:nvPr/>
          </p:nvSpPr>
          <p:spPr>
            <a:xfrm>
              <a:off x="4691398" y="5893188"/>
              <a:ext cx="1497526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약 </a:t>
              </a:r>
              <a:r>
                <a:rPr lang="en-US" altLang="ko-KR" sz="10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5</a:t>
              </a:r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주</a:t>
              </a:r>
              <a:endPara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algn="ctr"/>
              <a:r>
                <a:rPr lang="en-US" altLang="ko-KR" sz="10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‘</a:t>
              </a: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24</a:t>
              </a:r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년 </a:t>
              </a: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1</a:t>
              </a:r>
              <a:r>
                <a:rPr lang="en-US" altLang="ko-KR" sz="10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1</a:t>
              </a:r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월 </a:t>
              </a:r>
              <a:r>
                <a:rPr lang="ko-KR" altLang="en-US" sz="10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말</a:t>
              </a:r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 </a:t>
              </a: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~ 12</a:t>
              </a:r>
              <a:r>
                <a:rPr lang="ko-KR" altLang="en-US" sz="10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월 말</a:t>
              </a:r>
              <a:endParaRPr lang="ko-KR" altLang="en-US" sz="10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5ADE9C5-A8B0-7F63-6326-2A6979519B6E}"/>
                </a:ext>
              </a:extLst>
            </p:cNvPr>
            <p:cNvSpPr txBox="1"/>
            <p:nvPr/>
          </p:nvSpPr>
          <p:spPr>
            <a:xfrm>
              <a:off x="6639249" y="5893188"/>
              <a:ext cx="1104790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약 </a:t>
              </a:r>
              <a:r>
                <a:rPr lang="en-US" altLang="ko-KR" sz="10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12</a:t>
              </a:r>
              <a:r>
                <a:rPr lang="ko-KR" altLang="en-US" sz="10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주</a:t>
              </a:r>
              <a:endParaRPr lang="en-US" altLang="ko-KR" sz="10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algn="ctr"/>
              <a:r>
                <a:rPr lang="en-US" altLang="ko-KR" sz="10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‘</a:t>
              </a: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25</a:t>
              </a:r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년 </a:t>
              </a:r>
              <a:r>
                <a:rPr lang="en-US" altLang="ko-KR" sz="10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1</a:t>
              </a:r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월  </a:t>
              </a: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~</a:t>
              </a:r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 </a:t>
              </a:r>
              <a:r>
                <a:rPr lang="en-US" altLang="ko-KR" sz="10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4</a:t>
              </a:r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월</a:t>
              </a:r>
              <a:endParaRPr lang="ko-KR" altLang="en-US" sz="10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1B12FE2-5F92-9A1B-AA06-8A25BAAE29CD}"/>
                </a:ext>
              </a:extLst>
            </p:cNvPr>
            <p:cNvSpPr txBox="1"/>
            <p:nvPr/>
          </p:nvSpPr>
          <p:spPr>
            <a:xfrm>
              <a:off x="8573005" y="5893188"/>
              <a:ext cx="750525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약 </a:t>
              </a:r>
              <a:r>
                <a:rPr lang="en-US" altLang="ko-KR" sz="10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2</a:t>
              </a:r>
              <a:r>
                <a:rPr lang="ko-KR" altLang="en-US" sz="10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주</a:t>
              </a:r>
              <a:endParaRPr lang="en-US" altLang="ko-KR" sz="10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algn="ctr"/>
              <a:r>
                <a:rPr lang="en-US" altLang="ko-KR" sz="10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’</a:t>
              </a: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25</a:t>
              </a:r>
              <a:r>
                <a:rPr lang="ko-KR" altLang="en-US" sz="10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년 </a:t>
              </a:r>
              <a:r>
                <a:rPr lang="en-US" altLang="ko-KR" sz="10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4</a:t>
              </a:r>
              <a:r>
                <a:rPr lang="ko-KR" altLang="en-US" sz="10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월</a:t>
              </a:r>
              <a:endParaRPr lang="ko-KR" altLang="en-US" sz="10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</p:txBody>
        </p: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7215EC2C-F88E-92BA-6769-0C51127C8B89}"/>
                </a:ext>
              </a:extLst>
            </p:cNvPr>
            <p:cNvCxnSpPr>
              <a:cxnSpLocks/>
            </p:cNvCxnSpPr>
            <p:nvPr/>
          </p:nvCxnSpPr>
          <p:spPr>
            <a:xfrm>
              <a:off x="4473134" y="5743658"/>
              <a:ext cx="180000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C56D13C4-FA09-F0F0-7495-0C252373291A}"/>
                </a:ext>
              </a:extLst>
            </p:cNvPr>
            <p:cNvCxnSpPr>
              <a:cxnSpLocks/>
            </p:cNvCxnSpPr>
            <p:nvPr/>
          </p:nvCxnSpPr>
          <p:spPr>
            <a:xfrm>
              <a:off x="6227188" y="5743658"/>
              <a:ext cx="180000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화살표 연결선 44">
              <a:extLst>
                <a:ext uri="{FF2B5EF4-FFF2-40B4-BE49-F238E27FC236}">
                  <a16:creationId xmlns:a16="http://schemas.microsoft.com/office/drawing/2014/main" id="{D9531B21-D0DE-0F45-DEF9-A74A6E367D2D}"/>
                </a:ext>
              </a:extLst>
            </p:cNvPr>
            <p:cNvCxnSpPr>
              <a:cxnSpLocks/>
            </p:cNvCxnSpPr>
            <p:nvPr/>
          </p:nvCxnSpPr>
          <p:spPr>
            <a:xfrm>
              <a:off x="7981242" y="5743658"/>
              <a:ext cx="180000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31791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14EB12-0D81-36DD-7F59-1BED884B8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프로그램 추진단계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C5B1B0-A962-1806-8D1F-E3BCDA5DF81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40560" y="1020207"/>
            <a:ext cx="11147727" cy="211074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’25</a:t>
            </a:r>
            <a:r>
              <a:rPr lang="ko-KR" altLang="en-US" dirty="0"/>
              <a:t>년 </a:t>
            </a:r>
            <a:r>
              <a:rPr lang="en-US" altLang="ko-KR" dirty="0"/>
              <a:t>1</a:t>
            </a:r>
            <a:r>
              <a:rPr lang="ko-KR" altLang="en-US" dirty="0"/>
              <a:t>월 부터 </a:t>
            </a:r>
            <a:r>
              <a:rPr lang="en-US" altLang="ko-KR" dirty="0"/>
              <a:t>3</a:t>
            </a:r>
            <a:r>
              <a:rPr lang="ko-KR" altLang="en-US" dirty="0"/>
              <a:t>월까지 아래와 같은 </a:t>
            </a:r>
            <a:r>
              <a:rPr lang="en-US" altLang="ko-KR" dirty="0"/>
              <a:t>4</a:t>
            </a:r>
            <a:r>
              <a:rPr lang="ko-KR" altLang="en-US" dirty="0"/>
              <a:t>단계를 통해 프로젝트를 진행합니다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E1BB37-B24E-6BF0-697A-FADA04113E58}"/>
              </a:ext>
            </a:extLst>
          </p:cNvPr>
          <p:cNvSpPr txBox="1"/>
          <p:nvPr/>
        </p:nvSpPr>
        <p:spPr>
          <a:xfrm>
            <a:off x="587591" y="1395167"/>
            <a:ext cx="660058" cy="2687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i="1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Step 1</a:t>
            </a:r>
            <a:endParaRPr lang="ko-KR" altLang="en-US" sz="1000" i="1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50" name="아래쪽 화살표 47">
            <a:extLst>
              <a:ext uri="{FF2B5EF4-FFF2-40B4-BE49-F238E27FC236}">
                <a16:creationId xmlns:a16="http://schemas.microsoft.com/office/drawing/2014/main" id="{8B3EAB8A-C109-70B1-53FB-74E53BE191A9}"/>
              </a:ext>
            </a:extLst>
          </p:cNvPr>
          <p:cNvSpPr/>
          <p:nvPr/>
        </p:nvSpPr>
        <p:spPr>
          <a:xfrm>
            <a:off x="780230" y="2240648"/>
            <a:ext cx="2147372" cy="3273468"/>
          </a:xfrm>
          <a:prstGeom prst="downArrow">
            <a:avLst>
              <a:gd name="adj1" fmla="val 61267"/>
              <a:gd name="adj2" fmla="val 10413"/>
            </a:avLst>
          </a:prstGeom>
          <a:solidFill>
            <a:srgbClr val="BFBFBF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5347EF8-46B4-4534-77C7-934960C5AB5A}"/>
              </a:ext>
            </a:extLst>
          </p:cNvPr>
          <p:cNvSpPr/>
          <p:nvPr/>
        </p:nvSpPr>
        <p:spPr>
          <a:xfrm>
            <a:off x="587591" y="1641185"/>
            <a:ext cx="2532651" cy="6272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사전 분석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A0BB8F2-0720-9F82-0AD4-CD9EA694CFCA}"/>
              </a:ext>
            </a:extLst>
          </p:cNvPr>
          <p:cNvSpPr/>
          <p:nvPr/>
        </p:nvSpPr>
        <p:spPr>
          <a:xfrm>
            <a:off x="587591" y="2268431"/>
            <a:ext cx="2532651" cy="2947370"/>
          </a:xfrm>
          <a:prstGeom prst="rect">
            <a:avLst/>
          </a:prstGeom>
          <a:solidFill>
            <a:srgbClr val="FFFFFF">
              <a:alpha val="72000"/>
            </a:srgb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 sz="11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88268F03-ABCC-FCD1-97A5-5BEBE20EDFDF}"/>
              </a:ext>
            </a:extLst>
          </p:cNvPr>
          <p:cNvSpPr/>
          <p:nvPr/>
        </p:nvSpPr>
        <p:spPr>
          <a:xfrm>
            <a:off x="587591" y="5566848"/>
            <a:ext cx="2532651" cy="706952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4625" indent="-174625" latinLnBrk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05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프로젝트 방향성 구체화</a:t>
            </a:r>
            <a:endParaRPr lang="en-US" altLang="ko-KR" sz="1050" dirty="0">
              <a:ln w="3175">
                <a:solidFill>
                  <a:schemeClr val="bg1"/>
                </a:solidFill>
              </a:ln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174625" indent="-174625" latinLnBrk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05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학습자 이해도 수준 결과</a:t>
            </a: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0A9B382A-097D-39A6-5D69-E279605D5750}"/>
              </a:ext>
            </a:extLst>
          </p:cNvPr>
          <p:cNvGrpSpPr/>
          <p:nvPr/>
        </p:nvGrpSpPr>
        <p:grpSpPr>
          <a:xfrm>
            <a:off x="780230" y="2446747"/>
            <a:ext cx="2147372" cy="1882125"/>
            <a:chOff x="720312" y="2689162"/>
            <a:chExt cx="2295348" cy="1762906"/>
          </a:xfrm>
        </p:grpSpPr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658839CF-8662-3CED-8BE0-BC2ED136F5F6}"/>
                </a:ext>
              </a:extLst>
            </p:cNvPr>
            <p:cNvSpPr/>
            <p:nvPr/>
          </p:nvSpPr>
          <p:spPr>
            <a:xfrm>
              <a:off x="720312" y="2689162"/>
              <a:ext cx="2295348" cy="44165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latinLnBrk="0"/>
              <a:r>
                <a:rPr lang="ko-KR" altLang="en-US" sz="1100" spc="-15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킥오프 미팅</a:t>
              </a: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03B5AF67-C47D-AD03-6E3A-8F9542DE8BCF}"/>
                </a:ext>
              </a:extLst>
            </p:cNvPr>
            <p:cNvSpPr/>
            <p:nvPr/>
          </p:nvSpPr>
          <p:spPr>
            <a:xfrm>
              <a:off x="720312" y="3349788"/>
              <a:ext cx="2295348" cy="44165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latinLnBrk="0"/>
              <a:r>
                <a:rPr lang="ko-KR" altLang="en-US" sz="1100" spc="-15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퀵</a:t>
              </a:r>
              <a:r>
                <a:rPr lang="ko-KR" altLang="en-US" sz="1100" spc="-15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 문헌리뷰 및 </a:t>
              </a:r>
              <a:r>
                <a:rPr lang="ko-KR" altLang="en-US" sz="1100" spc="-15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키맨</a:t>
              </a:r>
              <a:r>
                <a:rPr lang="ko-KR" altLang="en-US" sz="1100" spc="-15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 인터뷰</a:t>
              </a: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86A46B09-14C7-4E4F-1853-1C91379BDA06}"/>
                </a:ext>
              </a:extLst>
            </p:cNvPr>
            <p:cNvSpPr/>
            <p:nvPr/>
          </p:nvSpPr>
          <p:spPr>
            <a:xfrm>
              <a:off x="720312" y="4010415"/>
              <a:ext cx="2295348" cy="44165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latinLnBrk="0"/>
              <a:r>
                <a:rPr lang="ko-KR" altLang="en-US" sz="1100" spc="-15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사전 이해도 진단</a:t>
              </a:r>
              <a:endParaRPr lang="en-US" altLang="ko-KR" sz="1100" spc="-1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algn="ctr" latinLnBrk="0"/>
              <a:r>
                <a:rPr lang="en-US" altLang="ko-KR" sz="1100" spc="-15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(Optional)</a:t>
              </a:r>
            </a:p>
          </p:txBody>
        </p:sp>
      </p:grpSp>
      <p:sp>
        <p:nvSpPr>
          <p:cNvPr id="51" name="아래쪽 화살표 47">
            <a:extLst>
              <a:ext uri="{FF2B5EF4-FFF2-40B4-BE49-F238E27FC236}">
                <a16:creationId xmlns:a16="http://schemas.microsoft.com/office/drawing/2014/main" id="{B0D06FBD-1AF4-F0E8-B1A4-627C34B4473F}"/>
              </a:ext>
            </a:extLst>
          </p:cNvPr>
          <p:cNvSpPr/>
          <p:nvPr/>
        </p:nvSpPr>
        <p:spPr>
          <a:xfrm>
            <a:off x="3660281" y="2240648"/>
            <a:ext cx="2147372" cy="3273468"/>
          </a:xfrm>
          <a:prstGeom prst="downArrow">
            <a:avLst>
              <a:gd name="adj1" fmla="val 61267"/>
              <a:gd name="adj2" fmla="val 10413"/>
            </a:avLst>
          </a:prstGeom>
          <a:solidFill>
            <a:srgbClr val="BFBFBF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92EEAB4-9601-106B-CB55-DA19D8469399}"/>
              </a:ext>
            </a:extLst>
          </p:cNvPr>
          <p:cNvSpPr txBox="1"/>
          <p:nvPr/>
        </p:nvSpPr>
        <p:spPr>
          <a:xfrm>
            <a:off x="3446204" y="1395167"/>
            <a:ext cx="691297" cy="2687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i="1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Step 2</a:t>
            </a:r>
            <a:endParaRPr lang="ko-KR" altLang="en-US" sz="1000" i="1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7FB5DE0-1983-B11B-AF83-F37A50E34D33}"/>
              </a:ext>
            </a:extLst>
          </p:cNvPr>
          <p:cNvSpPr/>
          <p:nvPr/>
        </p:nvSpPr>
        <p:spPr>
          <a:xfrm>
            <a:off x="3467642" y="1641185"/>
            <a:ext cx="2532651" cy="6272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프로그램 세팅</a:t>
            </a:r>
            <a:endParaRPr lang="en-US" altLang="ko-KR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D760F01B-2CE9-814F-A2C3-5C47DA093FA7}"/>
              </a:ext>
            </a:extLst>
          </p:cNvPr>
          <p:cNvSpPr/>
          <p:nvPr/>
        </p:nvSpPr>
        <p:spPr>
          <a:xfrm>
            <a:off x="3467642" y="2268431"/>
            <a:ext cx="2532651" cy="2947370"/>
          </a:xfrm>
          <a:prstGeom prst="rect">
            <a:avLst/>
          </a:prstGeom>
          <a:solidFill>
            <a:srgbClr val="FFFFFF">
              <a:alpha val="72000"/>
            </a:srgb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 sz="11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BC4E1FF3-8698-0019-4DE7-E6476BA4BA11}"/>
              </a:ext>
            </a:extLst>
          </p:cNvPr>
          <p:cNvSpPr/>
          <p:nvPr/>
        </p:nvSpPr>
        <p:spPr>
          <a:xfrm>
            <a:off x="3467642" y="5566848"/>
            <a:ext cx="2532651" cy="706952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4625" indent="-174625" latinLnBrk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05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맞춤형 교육 설계 및 운영 방안</a:t>
            </a:r>
            <a:endParaRPr lang="en-US" altLang="ko-KR" sz="1050" dirty="0">
              <a:ln w="3175">
                <a:solidFill>
                  <a:schemeClr val="bg1"/>
                </a:solidFill>
              </a:ln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174625" indent="-174625" latinLnBrk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05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강의 </a:t>
            </a:r>
            <a:r>
              <a:rPr lang="ko-KR" altLang="en-US" sz="1050" dirty="0" err="1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머티리얼</a:t>
            </a:r>
            <a:r>
              <a:rPr lang="ko-KR" altLang="en-US" sz="105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일체</a:t>
            </a:r>
            <a:endParaRPr lang="en-US" altLang="ko-KR" sz="1050" dirty="0">
              <a:ln w="3175">
                <a:solidFill>
                  <a:schemeClr val="bg1"/>
                </a:solidFill>
              </a:ln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2F1CD40F-3879-1260-9190-20B3493A40C8}"/>
              </a:ext>
            </a:extLst>
          </p:cNvPr>
          <p:cNvGrpSpPr/>
          <p:nvPr/>
        </p:nvGrpSpPr>
        <p:grpSpPr>
          <a:xfrm>
            <a:off x="3660281" y="2446747"/>
            <a:ext cx="2147372" cy="2587426"/>
            <a:chOff x="2949633" y="2689162"/>
            <a:chExt cx="1821978" cy="2423532"/>
          </a:xfrm>
        </p:grpSpPr>
        <p:sp>
          <p:nvSpPr>
            <p:cNvPr id="76" name="사각형: 둥근 모서리 75">
              <a:extLst>
                <a:ext uri="{FF2B5EF4-FFF2-40B4-BE49-F238E27FC236}">
                  <a16:creationId xmlns:a16="http://schemas.microsoft.com/office/drawing/2014/main" id="{0960679F-844B-4FD1-9FB0-1EC76B1E4AD6}"/>
                </a:ext>
              </a:extLst>
            </p:cNvPr>
            <p:cNvSpPr/>
            <p:nvPr/>
          </p:nvSpPr>
          <p:spPr>
            <a:xfrm>
              <a:off x="2949633" y="2689162"/>
              <a:ext cx="1821978" cy="44165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latinLnBrk="0"/>
              <a:r>
                <a:rPr lang="ko-KR" altLang="en-US" sz="1100" spc="-15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초기 설계 가설 재조정</a:t>
              </a:r>
              <a:br>
                <a:rPr lang="en-US" altLang="ko-KR" sz="1100" spc="-15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</a:br>
              <a:r>
                <a:rPr lang="en-US" altLang="ko-KR" sz="1100" spc="-15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(w. </a:t>
              </a:r>
              <a:r>
                <a:rPr lang="ko-KR" altLang="en-US" sz="1100" spc="-15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담당부서</a:t>
              </a:r>
              <a:r>
                <a:rPr lang="en-US" altLang="ko-KR" sz="1100" spc="-15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)</a:t>
              </a:r>
              <a:endParaRPr lang="ko-KR" altLang="en-US" sz="1100" spc="-1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AECACDD0-A01E-D026-3F5F-E3215F4C1CB8}"/>
                </a:ext>
              </a:extLst>
            </p:cNvPr>
            <p:cNvSpPr/>
            <p:nvPr/>
          </p:nvSpPr>
          <p:spPr>
            <a:xfrm>
              <a:off x="2949633" y="3349788"/>
              <a:ext cx="1821978" cy="44165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latinLnBrk="0"/>
              <a:r>
                <a:rPr lang="ko-KR" altLang="en-US" sz="1100" spc="-15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세부 </a:t>
              </a:r>
              <a:r>
                <a:rPr lang="ko-KR" altLang="en-US" sz="1100" spc="-15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맞춤화</a:t>
              </a:r>
              <a:r>
                <a:rPr lang="ko-KR" altLang="en-US" sz="1100" spc="-15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 방향성 논의</a:t>
              </a:r>
              <a:br>
                <a:rPr lang="en-US" altLang="ko-KR" sz="1100" spc="-15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</a:br>
              <a:r>
                <a:rPr lang="en-US" altLang="ko-KR" sz="1100" spc="-15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(w. </a:t>
              </a:r>
              <a:r>
                <a:rPr lang="ko-KR" altLang="en-US" sz="1100" spc="-15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담당부서</a:t>
              </a:r>
              <a:r>
                <a:rPr lang="en-US" altLang="ko-KR" sz="1100" spc="-15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)</a:t>
              </a:r>
              <a:endParaRPr lang="ko-KR" altLang="en-US" sz="1100" spc="-1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</p:txBody>
        </p:sp>
        <p:sp>
          <p:nvSpPr>
            <p:cNvPr id="78" name="사각형: 둥근 모서리 77">
              <a:extLst>
                <a:ext uri="{FF2B5EF4-FFF2-40B4-BE49-F238E27FC236}">
                  <a16:creationId xmlns:a16="http://schemas.microsoft.com/office/drawing/2014/main" id="{8AE5D80C-0D11-6182-C462-E59FCE13D7DC}"/>
                </a:ext>
              </a:extLst>
            </p:cNvPr>
            <p:cNvSpPr/>
            <p:nvPr/>
          </p:nvSpPr>
          <p:spPr>
            <a:xfrm>
              <a:off x="2949633" y="4010415"/>
              <a:ext cx="1821978" cy="44165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latinLnBrk="0"/>
              <a:r>
                <a:rPr lang="ko-KR" altLang="en-US" sz="1100" spc="-15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강의머티리얼</a:t>
              </a:r>
              <a:r>
                <a:rPr lang="ko-KR" altLang="en-US" sz="1100" spc="-15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  </a:t>
              </a:r>
              <a:r>
                <a:rPr lang="ko-KR" altLang="en-US" sz="1100" spc="-15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맞춤화</a:t>
              </a:r>
              <a:endParaRPr lang="ko-KR" altLang="en-US" sz="1100" spc="-1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</p:txBody>
        </p:sp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7B757911-5B85-97F1-D639-BA4EC98EB1E8}"/>
                </a:ext>
              </a:extLst>
            </p:cNvPr>
            <p:cNvSpPr/>
            <p:nvPr/>
          </p:nvSpPr>
          <p:spPr>
            <a:xfrm>
              <a:off x="2949633" y="4671041"/>
              <a:ext cx="1821978" cy="44165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latinLnBrk="0"/>
              <a:r>
                <a:rPr lang="ko-KR" altLang="en-US" sz="1100" spc="-15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과목별 강사진 최적화</a:t>
              </a:r>
            </a:p>
          </p:txBody>
        </p:sp>
      </p:grpSp>
      <p:sp>
        <p:nvSpPr>
          <p:cNvPr id="52" name="아래쪽 화살표 47">
            <a:extLst>
              <a:ext uri="{FF2B5EF4-FFF2-40B4-BE49-F238E27FC236}">
                <a16:creationId xmlns:a16="http://schemas.microsoft.com/office/drawing/2014/main" id="{E87CA4DB-3233-8FDD-5B61-9EC5C04EA2E7}"/>
              </a:ext>
            </a:extLst>
          </p:cNvPr>
          <p:cNvSpPr/>
          <p:nvPr/>
        </p:nvSpPr>
        <p:spPr>
          <a:xfrm>
            <a:off x="6518894" y="2240648"/>
            <a:ext cx="2147372" cy="3273468"/>
          </a:xfrm>
          <a:prstGeom prst="downArrow">
            <a:avLst>
              <a:gd name="adj1" fmla="val 61267"/>
              <a:gd name="adj2" fmla="val 10413"/>
            </a:avLst>
          </a:prstGeom>
          <a:solidFill>
            <a:srgbClr val="BFBFBF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EBCF018-C723-D411-2C13-C2335C8BABAA}"/>
              </a:ext>
            </a:extLst>
          </p:cNvPr>
          <p:cNvSpPr txBox="1"/>
          <p:nvPr/>
        </p:nvSpPr>
        <p:spPr>
          <a:xfrm>
            <a:off x="6326255" y="1395167"/>
            <a:ext cx="753251" cy="2628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i="1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Step 3</a:t>
            </a:r>
            <a:endParaRPr lang="ko-KR" altLang="en-US" sz="1000" i="1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F2922F8-4125-716D-A090-ADBF5DD0DD1E}"/>
              </a:ext>
            </a:extLst>
          </p:cNvPr>
          <p:cNvSpPr/>
          <p:nvPr/>
        </p:nvSpPr>
        <p:spPr>
          <a:xfrm>
            <a:off x="6326255" y="1641185"/>
            <a:ext cx="2532651" cy="6272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프로그램 운영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60C70800-F681-43BD-FA42-C5FFE6F194A0}"/>
              </a:ext>
            </a:extLst>
          </p:cNvPr>
          <p:cNvSpPr/>
          <p:nvPr/>
        </p:nvSpPr>
        <p:spPr>
          <a:xfrm>
            <a:off x="6326255" y="2268431"/>
            <a:ext cx="2532651" cy="2947370"/>
          </a:xfrm>
          <a:prstGeom prst="rect">
            <a:avLst/>
          </a:prstGeom>
          <a:solidFill>
            <a:srgbClr val="FFFFFF">
              <a:alpha val="72000"/>
            </a:srgb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 sz="11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DDD307CF-AB94-2868-855E-4C2B98947F80}"/>
              </a:ext>
            </a:extLst>
          </p:cNvPr>
          <p:cNvSpPr/>
          <p:nvPr/>
        </p:nvSpPr>
        <p:spPr>
          <a:xfrm>
            <a:off x="6326255" y="5566848"/>
            <a:ext cx="2532651" cy="706952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4625" indent="-174625" latinLnBrk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05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학습 결과물</a:t>
            </a:r>
            <a:r>
              <a:rPr lang="en-US" altLang="ko-KR" sz="105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(Raw Data)</a:t>
            </a:r>
          </a:p>
          <a:p>
            <a:pPr marL="174625" indent="-174625" latinLnBrk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05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프로그램 평가 결과</a:t>
            </a:r>
            <a:endParaRPr lang="ko-KR" altLang="en-US" sz="105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E8E22098-BE8C-B774-7778-71596ACF4999}"/>
              </a:ext>
            </a:extLst>
          </p:cNvPr>
          <p:cNvGrpSpPr/>
          <p:nvPr/>
        </p:nvGrpSpPr>
        <p:grpSpPr>
          <a:xfrm>
            <a:off x="6518894" y="2446747"/>
            <a:ext cx="2147372" cy="1882125"/>
            <a:chOff x="7424749" y="2689162"/>
            <a:chExt cx="1821978" cy="1762906"/>
          </a:xfrm>
        </p:grpSpPr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A01776EB-4A03-1023-8252-68D940A11590}"/>
                </a:ext>
              </a:extLst>
            </p:cNvPr>
            <p:cNvSpPr/>
            <p:nvPr/>
          </p:nvSpPr>
          <p:spPr>
            <a:xfrm>
              <a:off x="7424749" y="2689162"/>
              <a:ext cx="1821978" cy="44165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latinLnBrk="0"/>
              <a:r>
                <a:rPr lang="ko-KR" altLang="en-US" sz="1100" spc="-15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교육 프로그램 안내</a:t>
              </a:r>
              <a:endParaRPr lang="en-US" altLang="ko-KR" sz="1100" spc="-1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</p:txBody>
        </p:sp>
        <p:sp>
          <p:nvSpPr>
            <p:cNvPr id="74" name="사각형: 둥근 모서리 73">
              <a:extLst>
                <a:ext uri="{FF2B5EF4-FFF2-40B4-BE49-F238E27FC236}">
                  <a16:creationId xmlns:a16="http://schemas.microsoft.com/office/drawing/2014/main" id="{8A3B706B-9AB5-06D5-7AC6-1F207AC64723}"/>
                </a:ext>
              </a:extLst>
            </p:cNvPr>
            <p:cNvSpPr/>
            <p:nvPr/>
          </p:nvSpPr>
          <p:spPr>
            <a:xfrm>
              <a:off x="7424749" y="3349788"/>
              <a:ext cx="1821978" cy="44165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latinLnBrk="0"/>
              <a:r>
                <a:rPr lang="ko-KR" altLang="en-US" sz="1100" spc="-15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교육 프로그램  실시</a:t>
              </a:r>
              <a:endParaRPr lang="en-US" altLang="ko-KR" sz="1100" spc="-1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algn="ctr" latinLnBrk="0"/>
              <a:r>
                <a:rPr lang="en-US" altLang="ko-KR" sz="1100" spc="-15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(12</a:t>
              </a:r>
              <a:r>
                <a:rPr lang="ko-KR" altLang="en-US" sz="1100" spc="-15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주</a:t>
              </a:r>
              <a:r>
                <a:rPr lang="en-US" altLang="ko-KR" sz="1100" spc="-15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)</a:t>
              </a:r>
              <a:endParaRPr lang="ko-KR" altLang="en-US" sz="1100" spc="-1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</p:txBody>
        </p:sp>
        <p:sp>
          <p:nvSpPr>
            <p:cNvPr id="75" name="사각형: 둥근 모서리 74">
              <a:extLst>
                <a:ext uri="{FF2B5EF4-FFF2-40B4-BE49-F238E27FC236}">
                  <a16:creationId xmlns:a16="http://schemas.microsoft.com/office/drawing/2014/main" id="{FCE40842-AE83-CFF8-7FC7-78A0568392AB}"/>
                </a:ext>
              </a:extLst>
            </p:cNvPr>
            <p:cNvSpPr/>
            <p:nvPr/>
          </p:nvSpPr>
          <p:spPr>
            <a:xfrm>
              <a:off x="7424749" y="4010415"/>
              <a:ext cx="1821978" cy="44165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latinLnBrk="0"/>
              <a:r>
                <a:rPr lang="ko-KR" altLang="en-US" sz="1100" spc="-15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효과성 측정</a:t>
              </a:r>
              <a:r>
                <a:rPr lang="en-US" altLang="ko-KR" sz="1100" spc="-15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(CIPP)</a:t>
              </a:r>
              <a:endParaRPr lang="ko-KR" altLang="en-US" sz="1100" spc="-1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</p:txBody>
        </p:sp>
      </p:grpSp>
      <p:sp>
        <p:nvSpPr>
          <p:cNvPr id="115" name="아래쪽 화살표 47">
            <a:extLst>
              <a:ext uri="{FF2B5EF4-FFF2-40B4-BE49-F238E27FC236}">
                <a16:creationId xmlns:a16="http://schemas.microsoft.com/office/drawing/2014/main" id="{ECFBB9A1-1C13-8C84-FACD-C7D687307C4D}"/>
              </a:ext>
            </a:extLst>
          </p:cNvPr>
          <p:cNvSpPr/>
          <p:nvPr/>
        </p:nvSpPr>
        <p:spPr>
          <a:xfrm>
            <a:off x="9377508" y="2240648"/>
            <a:ext cx="2147372" cy="3273468"/>
          </a:xfrm>
          <a:prstGeom prst="downArrow">
            <a:avLst>
              <a:gd name="adj1" fmla="val 61267"/>
              <a:gd name="adj2" fmla="val 10413"/>
            </a:avLst>
          </a:prstGeom>
          <a:solidFill>
            <a:srgbClr val="BFBFBF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15D08C5-A85C-0356-4DA8-BE910D1D880B}"/>
              </a:ext>
            </a:extLst>
          </p:cNvPr>
          <p:cNvSpPr txBox="1"/>
          <p:nvPr/>
        </p:nvSpPr>
        <p:spPr>
          <a:xfrm>
            <a:off x="9184869" y="1395167"/>
            <a:ext cx="757245" cy="2628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i="1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Step 4</a:t>
            </a:r>
            <a:endParaRPr lang="ko-KR" altLang="en-US" sz="1000" i="1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E39A9ADB-3B13-1F52-E197-4633237140F5}"/>
              </a:ext>
            </a:extLst>
          </p:cNvPr>
          <p:cNvSpPr/>
          <p:nvPr/>
        </p:nvSpPr>
        <p:spPr>
          <a:xfrm>
            <a:off x="9184869" y="1641185"/>
            <a:ext cx="2532651" cy="6272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사후관리</a:t>
            </a: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DE3E0B52-F8DF-A146-65A3-EF1874367EC2}"/>
              </a:ext>
            </a:extLst>
          </p:cNvPr>
          <p:cNvSpPr/>
          <p:nvPr/>
        </p:nvSpPr>
        <p:spPr>
          <a:xfrm>
            <a:off x="9184869" y="2268431"/>
            <a:ext cx="2532651" cy="2947370"/>
          </a:xfrm>
          <a:prstGeom prst="rect">
            <a:avLst/>
          </a:prstGeom>
          <a:solidFill>
            <a:srgbClr val="FFFFFF">
              <a:alpha val="72000"/>
            </a:srgb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 sz="11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4970A308-4C9A-40C4-9F5C-6AD334E5F5E0}"/>
              </a:ext>
            </a:extLst>
          </p:cNvPr>
          <p:cNvSpPr/>
          <p:nvPr/>
        </p:nvSpPr>
        <p:spPr>
          <a:xfrm>
            <a:off x="9184869" y="5566848"/>
            <a:ext cx="2532651" cy="706952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4625" indent="-174625" latinLnBrk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05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학습 결과물 </a:t>
            </a:r>
            <a:r>
              <a:rPr lang="ko-KR" altLang="en-US" sz="1050" dirty="0" err="1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취합본</a:t>
            </a:r>
            <a:endParaRPr lang="en-US" altLang="ko-KR" sz="1050" dirty="0">
              <a:ln w="3175">
                <a:solidFill>
                  <a:schemeClr val="bg1"/>
                </a:solidFill>
              </a:ln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174625" indent="-174625" latinLnBrk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05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최종 결과 보고서</a:t>
            </a:r>
            <a:endParaRPr lang="ko-KR" altLang="en-US" sz="105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DB6D7EFD-C67E-8C62-3014-80C3C66966B2}"/>
              </a:ext>
            </a:extLst>
          </p:cNvPr>
          <p:cNvGrpSpPr/>
          <p:nvPr/>
        </p:nvGrpSpPr>
        <p:grpSpPr>
          <a:xfrm>
            <a:off x="9377508" y="2446747"/>
            <a:ext cx="2147372" cy="1176822"/>
            <a:chOff x="9664060" y="2689162"/>
            <a:chExt cx="1821978" cy="1102279"/>
          </a:xfrm>
        </p:grpSpPr>
        <p:sp>
          <p:nvSpPr>
            <p:cNvPr id="120" name="사각형: 둥근 모서리 119">
              <a:extLst>
                <a:ext uri="{FF2B5EF4-FFF2-40B4-BE49-F238E27FC236}">
                  <a16:creationId xmlns:a16="http://schemas.microsoft.com/office/drawing/2014/main" id="{307140F0-DFF0-BE37-52D7-B8BE7384E591}"/>
                </a:ext>
              </a:extLst>
            </p:cNvPr>
            <p:cNvSpPr/>
            <p:nvPr/>
          </p:nvSpPr>
          <p:spPr>
            <a:xfrm>
              <a:off x="9664060" y="2689162"/>
              <a:ext cx="1821978" cy="44165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spc="-15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개인별 학습 결과물 정리</a:t>
              </a:r>
              <a:endParaRPr lang="en-US" altLang="ko-KR" sz="1100" spc="-1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</p:txBody>
        </p:sp>
        <p:sp>
          <p:nvSpPr>
            <p:cNvPr id="121" name="사각형: 둥근 모서리 120">
              <a:extLst>
                <a:ext uri="{FF2B5EF4-FFF2-40B4-BE49-F238E27FC236}">
                  <a16:creationId xmlns:a16="http://schemas.microsoft.com/office/drawing/2014/main" id="{45312E70-51AF-2656-4CC3-D22D3D142790}"/>
                </a:ext>
              </a:extLst>
            </p:cNvPr>
            <p:cNvSpPr/>
            <p:nvPr/>
          </p:nvSpPr>
          <p:spPr>
            <a:xfrm>
              <a:off x="9664060" y="3349788"/>
              <a:ext cx="1821978" cy="44165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latinLnBrk="0"/>
              <a:r>
                <a:rPr lang="ko-KR" altLang="en-US" sz="1100" spc="-15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프로젝트 결과 보고</a:t>
              </a:r>
              <a:r>
                <a:rPr lang="en-US" altLang="ko-KR" sz="1100" spc="-15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/</a:t>
              </a:r>
              <a:r>
                <a:rPr lang="ko-KR" altLang="en-US" sz="1100" spc="-15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제언</a:t>
              </a:r>
            </a:p>
          </p:txBody>
        </p:sp>
      </p:grpSp>
      <p:sp>
        <p:nvSpPr>
          <p:cNvPr id="142" name="TextBox 141">
            <a:extLst>
              <a:ext uri="{FF2B5EF4-FFF2-40B4-BE49-F238E27FC236}">
                <a16:creationId xmlns:a16="http://schemas.microsoft.com/office/drawing/2014/main" id="{48196A3A-AED4-9D54-BE6A-7BF0E6D1A028}"/>
              </a:ext>
            </a:extLst>
          </p:cNvPr>
          <p:cNvSpPr txBox="1"/>
          <p:nvPr/>
        </p:nvSpPr>
        <p:spPr>
          <a:xfrm>
            <a:off x="587375" y="6311548"/>
            <a:ext cx="356540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* </a:t>
            </a:r>
            <a:r>
              <a:rPr lang="ko-KR" altLang="en-US" sz="1000" spc="-15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사전 이해도 </a:t>
            </a:r>
            <a:r>
              <a:rPr kumimoji="0" lang="ko-KR" altLang="en-US" sz="1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진단의 경우</a:t>
            </a:r>
            <a:r>
              <a:rPr kumimoji="0" lang="en-US" altLang="ko-KR" sz="1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,  </a:t>
            </a:r>
            <a:r>
              <a:rPr kumimoji="0" lang="ko-KR" altLang="en-US" sz="1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신입직원 선발이 완료된 시점 이후로 이동하여 실시</a:t>
            </a:r>
            <a:endParaRPr kumimoji="0" lang="en-US" altLang="ko-KR" sz="1000" b="0" i="0" u="none" strike="noStrike" kern="120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1145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DAC36-0C34-810B-7C0E-3E1598CE3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4DFB1D-267B-C8FB-08A2-2D5F20525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단계별 주요 활동 및 예시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9943186-3851-8DF5-B8B0-4827AABAC94F}"/>
              </a:ext>
            </a:extLst>
          </p:cNvPr>
          <p:cNvSpPr/>
          <p:nvPr/>
        </p:nvSpPr>
        <p:spPr>
          <a:xfrm>
            <a:off x="0" y="867581"/>
            <a:ext cx="12192000" cy="3179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marL="1730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3-1. 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사전분석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0B986F2-1F6A-2547-D710-9CC5D82348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674001"/>
              </p:ext>
            </p:extLst>
          </p:nvPr>
        </p:nvGraphicFramePr>
        <p:xfrm>
          <a:off x="474367" y="1628775"/>
          <a:ext cx="11238207" cy="4645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6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6069">
                  <a:extLst>
                    <a:ext uri="{9D8B030D-6E8A-4147-A177-3AD203B41FA5}">
                      <a16:colId xmlns:a16="http://schemas.microsoft.com/office/drawing/2014/main" val="2305888179"/>
                    </a:ext>
                  </a:extLst>
                </a:gridCol>
                <a:gridCol w="3746069">
                  <a:extLst>
                    <a:ext uri="{9D8B030D-6E8A-4147-A177-3AD203B41FA5}">
                      <a16:colId xmlns:a16="http://schemas.microsoft.com/office/drawing/2014/main" val="3853092397"/>
                    </a:ext>
                  </a:extLst>
                </a:gridCol>
              </a:tblGrid>
              <a:tr h="371143">
                <a:tc>
                  <a:txBody>
                    <a:bodyPr/>
                    <a:lstStyle/>
                    <a:p>
                      <a:pPr marL="0" indent="0" algn="ctr" latinLnBrk="1">
                        <a:buFont typeface="Arial" pitchFamily="34" charset="0"/>
                        <a:buNone/>
                      </a:pP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퀵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 문헌 리뷰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itchFamily="34" charset="0"/>
                        <a:buNone/>
                      </a:pP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키맨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 인터뷰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itchFamily="34" charset="0"/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사전 이해도 진단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(Optional)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3882">
                <a:tc>
                  <a:txBody>
                    <a:bodyPr/>
                    <a:lstStyle/>
                    <a:p>
                      <a:pPr marL="92075" indent="-92075" algn="l" latinLnBrk="1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문헌조사 자료</a:t>
                      </a:r>
                      <a:b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기존 프로젝트 수행 결과보고서 및 관련자료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외부 자료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논문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연구원 보고서 등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</a:p>
                    <a:p>
                      <a:pPr marL="92075" indent="-92075" algn="l" latinLnBrk="1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문헌조사 목적</a:t>
                      </a:r>
                      <a:b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다우기술현황 이해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이슈 후보군 도출</a:t>
                      </a: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92075" indent="-92075" algn="l" latinLnBrk="1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문헌조사 기간</a:t>
                      </a:r>
                      <a:b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약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1.5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주</a:t>
                      </a: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T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algn="l" latinLnBrk="1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인터뷰 방법</a:t>
                      </a:r>
                      <a:b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- 1:1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심층 인터뷰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반 구조화 인터뷰</a:t>
                      </a: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92075" indent="-92075" algn="l" defTabSz="914400" rtl="0" eaLnBrk="1" latinLnBrk="1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인터뷰 목적</a:t>
                      </a:r>
                      <a:b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교육 요구 파악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이슈 후보군 도출</a:t>
                      </a: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92075" indent="-92075" algn="l" latinLnBrk="1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인터뷰 대상 및 인원</a:t>
                      </a:r>
                      <a:b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프로젝트 핵심 관련자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10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명 이내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 CEO,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경영진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HR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임원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학습자 등</a:t>
                      </a: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92075" indent="-92075" algn="l" latinLnBrk="1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수행 기간</a:t>
                      </a:r>
                      <a:b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약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1.5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주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앞선 단계와 병렬 실시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endParaRPr lang="ko-KR" altLang="en-US" sz="1000" b="0" kern="1200" baseline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T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algn="l" latinLnBrk="1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진단 방법</a:t>
                      </a:r>
                      <a:b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 Web – based Survey</a:t>
                      </a:r>
                    </a:p>
                    <a:p>
                      <a:pPr marL="92075" indent="-92075" algn="l" latinLnBrk="1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진단 대상 및 인원</a:t>
                      </a:r>
                      <a:b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학습대상자 전원</a:t>
                      </a: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92075" indent="-92075" algn="l" latinLnBrk="1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수행 기간</a:t>
                      </a:r>
                      <a:b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응답에 약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1.5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주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정리 및 분석 약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1.5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주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앞선 단계와 병렬 실시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endParaRPr lang="ko-KR" altLang="en-US" sz="1000" b="0" kern="1200" baseline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T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8" name="그림 87">
            <a:extLst>
              <a:ext uri="{FF2B5EF4-FFF2-40B4-BE49-F238E27FC236}">
                <a16:creationId xmlns:a16="http://schemas.microsoft.com/office/drawing/2014/main" id="{6B8D6A4A-34A3-6527-4574-D08A5549B22D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00573" y="3978616"/>
            <a:ext cx="2739552" cy="2181488"/>
          </a:xfrm>
          <a:prstGeom prst="rect">
            <a:avLst/>
          </a:prstGeom>
        </p:spPr>
      </p:pic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6B3E8390-7C51-2676-F26D-02BA638C5529}"/>
              </a:ext>
            </a:extLst>
          </p:cNvPr>
          <p:cNvGrpSpPr>
            <a:grpSpLocks/>
          </p:cNvGrpSpPr>
          <p:nvPr/>
        </p:nvGrpSpPr>
        <p:grpSpPr>
          <a:xfrm>
            <a:off x="8589553" y="3978616"/>
            <a:ext cx="2739600" cy="2181600"/>
            <a:chOff x="7543178" y="4614809"/>
            <a:chExt cx="1988903" cy="1626333"/>
          </a:xfrm>
        </p:grpSpPr>
        <p:pic>
          <p:nvPicPr>
            <p:cNvPr id="107" name="그림 106">
              <a:extLst>
                <a:ext uri="{FF2B5EF4-FFF2-40B4-BE49-F238E27FC236}">
                  <a16:creationId xmlns:a16="http://schemas.microsoft.com/office/drawing/2014/main" id="{171DF80C-48AE-AE80-23DD-B93D77EB6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3178" y="4614809"/>
              <a:ext cx="1614285" cy="1082048"/>
            </a:xfrm>
            <a:prstGeom prst="rect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108" name="그림 107">
              <a:extLst>
                <a:ext uri="{FF2B5EF4-FFF2-40B4-BE49-F238E27FC236}">
                  <a16:creationId xmlns:a16="http://schemas.microsoft.com/office/drawing/2014/main" id="{5BCC3020-3EF8-22F5-EB57-8C7CC3CD9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43456" y="5246619"/>
              <a:ext cx="788625" cy="994523"/>
            </a:xfrm>
            <a:prstGeom prst="rect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</p:pic>
      </p:grpSp>
      <p:pic>
        <p:nvPicPr>
          <p:cNvPr id="134" name="그림 133">
            <a:extLst>
              <a:ext uri="{FF2B5EF4-FFF2-40B4-BE49-F238E27FC236}">
                <a16:creationId xmlns:a16="http://schemas.microsoft.com/office/drawing/2014/main" id="{ABCB3677-3AD4-9CDD-2809-4D2C4714DD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5427" y="3977547"/>
            <a:ext cx="2743438" cy="2182557"/>
          </a:xfrm>
          <a:prstGeom prst="rect">
            <a:avLst/>
          </a:prstGeom>
        </p:spPr>
      </p:pic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F39324B-9B3C-34FC-4C5A-F8A9CB94DF69}"/>
              </a:ext>
            </a:extLst>
          </p:cNvPr>
          <p:cNvSpPr/>
          <p:nvPr/>
        </p:nvSpPr>
        <p:spPr>
          <a:xfrm>
            <a:off x="366640" y="6288098"/>
            <a:ext cx="199413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spc="-70" dirty="0">
                <a:latin typeface="+mn-ea"/>
              </a:rPr>
              <a:t>* </a:t>
            </a:r>
            <a:r>
              <a:rPr lang="ko-KR" altLang="en-US" sz="800" spc="-70" dirty="0">
                <a:latin typeface="+mn-ea"/>
              </a:rPr>
              <a:t>일부 일정은 일정에 따라 조율될 수 있음</a:t>
            </a:r>
            <a:r>
              <a:rPr lang="en-US" altLang="ko-KR" sz="800" spc="-70" dirty="0">
                <a:latin typeface="+mn-ea"/>
              </a:rPr>
              <a:t>.</a:t>
            </a:r>
            <a:endParaRPr lang="ko-KR" altLang="en-US" sz="800" spc="-70" dirty="0"/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5FADD8E9-EAF1-B6BF-1FC2-09593890B0B2}"/>
              </a:ext>
            </a:extLst>
          </p:cNvPr>
          <p:cNvSpPr/>
          <p:nvPr/>
        </p:nvSpPr>
        <p:spPr>
          <a:xfrm rot="20487511">
            <a:off x="2256700" y="5081198"/>
            <a:ext cx="1376313" cy="317991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200" dirty="0">
                <a:solidFill>
                  <a:srgbClr val="C000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Illustrative</a:t>
            </a:r>
            <a:endParaRPr lang="ko-KR" altLang="en-US" sz="1200" dirty="0">
              <a:solidFill>
                <a:srgbClr val="C00000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4A47B607-074A-F932-9F64-1192D9F2CFDB}"/>
              </a:ext>
            </a:extLst>
          </p:cNvPr>
          <p:cNvSpPr/>
          <p:nvPr/>
        </p:nvSpPr>
        <p:spPr>
          <a:xfrm rot="20487511">
            <a:off x="5952113" y="5081198"/>
            <a:ext cx="1376313" cy="317991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200" dirty="0">
                <a:solidFill>
                  <a:srgbClr val="C000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Illustrative</a:t>
            </a:r>
            <a:endParaRPr lang="ko-KR" altLang="en-US" sz="1200" dirty="0">
              <a:solidFill>
                <a:srgbClr val="C00000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63279A01-0614-81C1-A04F-DF2185FD2264}"/>
              </a:ext>
            </a:extLst>
          </p:cNvPr>
          <p:cNvSpPr/>
          <p:nvPr/>
        </p:nvSpPr>
        <p:spPr>
          <a:xfrm rot="20487511">
            <a:off x="9647526" y="5081198"/>
            <a:ext cx="1376313" cy="317991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200" dirty="0">
                <a:solidFill>
                  <a:srgbClr val="C000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Illustrative</a:t>
            </a:r>
            <a:endParaRPr lang="ko-KR" altLang="en-US" sz="1200" dirty="0">
              <a:solidFill>
                <a:srgbClr val="C00000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67F2473C-EDAF-7B7C-BDE6-A43E093DB09B}"/>
              </a:ext>
            </a:extLst>
          </p:cNvPr>
          <p:cNvGrpSpPr/>
          <p:nvPr/>
        </p:nvGrpSpPr>
        <p:grpSpPr>
          <a:xfrm>
            <a:off x="9977914" y="933459"/>
            <a:ext cx="1734660" cy="186234"/>
            <a:chOff x="8540878" y="892089"/>
            <a:chExt cx="2356522" cy="186234"/>
          </a:xfrm>
        </p:grpSpPr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DD8F476E-70FA-6577-F728-088308CD79C3}"/>
                </a:ext>
              </a:extLst>
            </p:cNvPr>
            <p:cNvSpPr/>
            <p:nvPr/>
          </p:nvSpPr>
          <p:spPr>
            <a:xfrm>
              <a:off x="8540878" y="892089"/>
              <a:ext cx="540000" cy="186234"/>
            </a:xfrm>
            <a:prstGeom prst="rect">
              <a:avLst/>
            </a:prstGeom>
            <a:solidFill>
              <a:schemeClr val="accent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900" dirty="0">
                  <a:ln w="3175">
                    <a:solidFill>
                      <a:schemeClr val="bg1"/>
                    </a:solidFill>
                  </a:ln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분석</a:t>
              </a:r>
            </a:p>
          </p:txBody>
        </p:sp>
        <p:sp>
          <p:nvSpPr>
            <p:cNvPr id="149" name="직사각형 148">
              <a:extLst>
                <a:ext uri="{FF2B5EF4-FFF2-40B4-BE49-F238E27FC236}">
                  <a16:creationId xmlns:a16="http://schemas.microsoft.com/office/drawing/2014/main" id="{93C7CA24-0BC5-D63A-DFD7-84CB79DAC2B2}"/>
                </a:ext>
              </a:extLst>
            </p:cNvPr>
            <p:cNvSpPr/>
            <p:nvPr/>
          </p:nvSpPr>
          <p:spPr>
            <a:xfrm>
              <a:off x="9146385" y="892089"/>
              <a:ext cx="540000" cy="18623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세팅</a:t>
              </a:r>
            </a:p>
          </p:txBody>
        </p:sp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CD3C7D72-9554-6851-A2BF-E6A96F08D96F}"/>
                </a:ext>
              </a:extLst>
            </p:cNvPr>
            <p:cNvSpPr/>
            <p:nvPr/>
          </p:nvSpPr>
          <p:spPr>
            <a:xfrm>
              <a:off x="9751892" y="892089"/>
              <a:ext cx="540000" cy="18623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운영</a:t>
              </a:r>
            </a:p>
          </p:txBody>
        </p:sp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AF349145-6C11-A25D-5795-85C51497BDF9}"/>
                </a:ext>
              </a:extLst>
            </p:cNvPr>
            <p:cNvSpPr/>
            <p:nvPr/>
          </p:nvSpPr>
          <p:spPr>
            <a:xfrm>
              <a:off x="10357400" y="892089"/>
              <a:ext cx="540000" cy="18623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사후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9205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F9CA8-6869-A05E-9CD4-6E6F48C10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710C4E-3379-8217-1F55-69591A620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단계별 주요 활동 및 예시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3073ACA-97D1-DD81-9624-E6CB23AB21F7}"/>
              </a:ext>
            </a:extLst>
          </p:cNvPr>
          <p:cNvSpPr/>
          <p:nvPr/>
        </p:nvSpPr>
        <p:spPr>
          <a:xfrm>
            <a:off x="0" y="867581"/>
            <a:ext cx="12192000" cy="3179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marL="1730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3-3. </a:t>
            </a:r>
            <a:r>
              <a:rPr lang="ko-KR" altLang="en-US" sz="1200" spc="-100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프로그램 운영</a:t>
            </a:r>
            <a:endParaRPr kumimoji="0" lang="ko-KR" altLang="en-US" sz="1200" b="0" i="0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123D496-0EA4-FC17-20F7-D4A66F4EB08A}"/>
              </a:ext>
            </a:extLst>
          </p:cNvPr>
          <p:cNvSpPr/>
          <p:nvPr/>
        </p:nvSpPr>
        <p:spPr>
          <a:xfrm>
            <a:off x="997791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분석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12C17E-2B21-9E45-D2BD-EC0DFFD0554C}"/>
              </a:ext>
            </a:extLst>
          </p:cNvPr>
          <p:cNvSpPr/>
          <p:nvPr/>
        </p:nvSpPr>
        <p:spPr>
          <a:xfrm>
            <a:off x="1042363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세팅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813271C-5328-BAEC-CDDC-1F914B593E4E}"/>
              </a:ext>
            </a:extLst>
          </p:cNvPr>
          <p:cNvSpPr/>
          <p:nvPr/>
        </p:nvSpPr>
        <p:spPr>
          <a:xfrm>
            <a:off x="10869354" y="933459"/>
            <a:ext cx="397500" cy="186234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운영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EC6C571-27E3-AE6E-AE42-49629C4A9D3E}"/>
              </a:ext>
            </a:extLst>
          </p:cNvPr>
          <p:cNvSpPr/>
          <p:nvPr/>
        </p:nvSpPr>
        <p:spPr>
          <a:xfrm>
            <a:off x="1131507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사후</a:t>
            </a:r>
          </a:p>
        </p:txBody>
      </p:sp>
      <p:graphicFrame>
        <p:nvGraphicFramePr>
          <p:cNvPr id="94" name="표 7">
            <a:extLst>
              <a:ext uri="{FF2B5EF4-FFF2-40B4-BE49-F238E27FC236}">
                <a16:creationId xmlns:a16="http://schemas.microsoft.com/office/drawing/2014/main" id="{F10CBC3E-92A8-76AD-3012-1A52880F08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117531"/>
              </p:ext>
            </p:extLst>
          </p:nvPr>
        </p:nvGraphicFramePr>
        <p:xfrm>
          <a:off x="193565" y="1922251"/>
          <a:ext cx="11594427" cy="4506001"/>
        </p:xfrm>
        <a:graphic>
          <a:graphicData uri="http://schemas.openxmlformats.org/drawingml/2006/table">
            <a:tbl>
              <a:tblPr firstRow="1" bandRow="1"/>
              <a:tblGrid>
                <a:gridCol w="440931">
                  <a:extLst>
                    <a:ext uri="{9D8B030D-6E8A-4147-A177-3AD203B41FA5}">
                      <a16:colId xmlns:a16="http://schemas.microsoft.com/office/drawing/2014/main" val="4116546130"/>
                    </a:ext>
                  </a:extLst>
                </a:gridCol>
                <a:gridCol w="929458">
                  <a:extLst>
                    <a:ext uri="{9D8B030D-6E8A-4147-A177-3AD203B41FA5}">
                      <a16:colId xmlns:a16="http://schemas.microsoft.com/office/drawing/2014/main" val="3687088006"/>
                    </a:ext>
                  </a:extLst>
                </a:gridCol>
                <a:gridCol w="929458">
                  <a:extLst>
                    <a:ext uri="{9D8B030D-6E8A-4147-A177-3AD203B41FA5}">
                      <a16:colId xmlns:a16="http://schemas.microsoft.com/office/drawing/2014/main" val="218651845"/>
                    </a:ext>
                  </a:extLst>
                </a:gridCol>
                <a:gridCol w="929458">
                  <a:extLst>
                    <a:ext uri="{9D8B030D-6E8A-4147-A177-3AD203B41FA5}">
                      <a16:colId xmlns:a16="http://schemas.microsoft.com/office/drawing/2014/main" val="1590946483"/>
                    </a:ext>
                  </a:extLst>
                </a:gridCol>
                <a:gridCol w="929458">
                  <a:extLst>
                    <a:ext uri="{9D8B030D-6E8A-4147-A177-3AD203B41FA5}">
                      <a16:colId xmlns:a16="http://schemas.microsoft.com/office/drawing/2014/main" val="1755228720"/>
                    </a:ext>
                  </a:extLst>
                </a:gridCol>
                <a:gridCol w="929458">
                  <a:extLst>
                    <a:ext uri="{9D8B030D-6E8A-4147-A177-3AD203B41FA5}">
                      <a16:colId xmlns:a16="http://schemas.microsoft.com/office/drawing/2014/main" val="4054936023"/>
                    </a:ext>
                  </a:extLst>
                </a:gridCol>
                <a:gridCol w="929458">
                  <a:extLst>
                    <a:ext uri="{9D8B030D-6E8A-4147-A177-3AD203B41FA5}">
                      <a16:colId xmlns:a16="http://schemas.microsoft.com/office/drawing/2014/main" val="2268152067"/>
                    </a:ext>
                  </a:extLst>
                </a:gridCol>
                <a:gridCol w="929458">
                  <a:extLst>
                    <a:ext uri="{9D8B030D-6E8A-4147-A177-3AD203B41FA5}">
                      <a16:colId xmlns:a16="http://schemas.microsoft.com/office/drawing/2014/main" val="3711828980"/>
                    </a:ext>
                  </a:extLst>
                </a:gridCol>
                <a:gridCol w="929458">
                  <a:extLst>
                    <a:ext uri="{9D8B030D-6E8A-4147-A177-3AD203B41FA5}">
                      <a16:colId xmlns:a16="http://schemas.microsoft.com/office/drawing/2014/main" val="1435351270"/>
                    </a:ext>
                  </a:extLst>
                </a:gridCol>
                <a:gridCol w="929458">
                  <a:extLst>
                    <a:ext uri="{9D8B030D-6E8A-4147-A177-3AD203B41FA5}">
                      <a16:colId xmlns:a16="http://schemas.microsoft.com/office/drawing/2014/main" val="2922096440"/>
                    </a:ext>
                  </a:extLst>
                </a:gridCol>
                <a:gridCol w="929458">
                  <a:extLst>
                    <a:ext uri="{9D8B030D-6E8A-4147-A177-3AD203B41FA5}">
                      <a16:colId xmlns:a16="http://schemas.microsoft.com/office/drawing/2014/main" val="2370847184"/>
                    </a:ext>
                  </a:extLst>
                </a:gridCol>
                <a:gridCol w="929458">
                  <a:extLst>
                    <a:ext uri="{9D8B030D-6E8A-4147-A177-3AD203B41FA5}">
                      <a16:colId xmlns:a16="http://schemas.microsoft.com/office/drawing/2014/main" val="1563807665"/>
                    </a:ext>
                  </a:extLst>
                </a:gridCol>
                <a:gridCol w="929458">
                  <a:extLst>
                    <a:ext uri="{9D8B030D-6E8A-4147-A177-3AD203B41FA5}">
                      <a16:colId xmlns:a16="http://schemas.microsoft.com/office/drawing/2014/main" val="1612821534"/>
                    </a:ext>
                  </a:extLst>
                </a:gridCol>
              </a:tblGrid>
              <a:tr h="47025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algn="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[Track</a:t>
                      </a:r>
                      <a:r>
                        <a:rPr lang="ko-KR" altLang="en-US"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 </a:t>
                      </a:r>
                      <a:r>
                        <a:rPr lang="en-US" altLang="ko-KR"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A]</a:t>
                      </a:r>
                    </a:p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컴퓨터</a:t>
                      </a:r>
                      <a:r>
                        <a:rPr lang="en-US" altLang="ko-KR"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·</a:t>
                      </a:r>
                      <a:r>
                        <a:rPr lang="ko-KR" altLang="en-US"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프로그래밍 일반 개론</a:t>
                      </a: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algn="ctr" latinLnBrk="1"/>
                      <a:endParaRPr lang="ko-KR" altLang="en-US" sz="1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[Track</a:t>
                      </a:r>
                      <a:r>
                        <a:rPr lang="ko-KR" altLang="en-US"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 </a:t>
                      </a:r>
                      <a:r>
                        <a:rPr lang="en-US" altLang="ko-KR"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B]</a:t>
                      </a:r>
                      <a:endParaRPr lang="en-US" altLang="ko-KR" sz="10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데이터베이스 개론</a:t>
                      </a:r>
                      <a:r>
                        <a:rPr lang="en-US" altLang="ko-KR" sz="10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/SQL</a:t>
                      </a: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algn="ctr" latinLnBrk="1"/>
                      <a:endParaRPr lang="ko-KR" altLang="en-US" sz="10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[Track</a:t>
                      </a:r>
                      <a:r>
                        <a:rPr lang="ko-KR" altLang="en-US"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 </a:t>
                      </a:r>
                      <a:r>
                        <a:rPr lang="en-US" altLang="ko-KR"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C]</a:t>
                      </a:r>
                      <a:endParaRPr lang="en-US" altLang="ko-KR" sz="10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JAVA </a:t>
                      </a:r>
                      <a:r>
                        <a:rPr lang="ko-KR" altLang="en-US" sz="10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입문과정</a:t>
                      </a: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algn="ctr" latinLnBrk="1"/>
                      <a:endParaRPr lang="ko-KR" altLang="en-US" sz="1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algn="ctr" latinLnBrk="1"/>
                      <a:endParaRPr lang="ko-KR" altLang="en-US" sz="10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algn="ctr" latinLnBrk="1"/>
                      <a:endParaRPr lang="ko-KR" altLang="en-US" sz="1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[Track</a:t>
                      </a:r>
                      <a:r>
                        <a:rPr lang="ko-KR" altLang="en-US"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 </a:t>
                      </a:r>
                      <a:r>
                        <a:rPr lang="en-US" altLang="ko-KR"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D]</a:t>
                      </a:r>
                      <a:endParaRPr lang="en-US" altLang="ko-KR" sz="10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C </a:t>
                      </a:r>
                      <a:r>
                        <a:rPr lang="ko-KR" altLang="en-US" sz="10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언어 입문과정</a:t>
                      </a: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484C6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algn="ctr" latinLnBrk="1"/>
                      <a:endParaRPr lang="ko-KR" altLang="en-US" sz="1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algn="ctr" latinLnBrk="1"/>
                      <a:endParaRPr lang="ko-KR" altLang="en-US" sz="1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algn="ctr" latinLnBrk="1"/>
                      <a:endParaRPr lang="ko-KR" altLang="en-US" sz="1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964775"/>
                  </a:ext>
                </a:extLst>
              </a:tr>
              <a:tr h="21135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algn="r" latinLnBrk="1"/>
                      <a:r>
                        <a:rPr lang="ko-KR" altLang="en-US" sz="900" b="0" u="sng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주</a:t>
                      </a:r>
                    </a:p>
                  </a:txBody>
                  <a:tcPr marL="74295" marR="18000" marT="37148" marB="3714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W1</a:t>
                      </a:r>
                      <a:endParaRPr lang="ko-KR" altLang="en-US" sz="10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W2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W3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W4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W5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W6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W7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W8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W9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W10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W11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W12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6662382"/>
                  </a:ext>
                </a:extLst>
              </a:tr>
              <a:tr h="29660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algn="r" latinLnBrk="1"/>
                      <a:r>
                        <a:rPr lang="ko-KR" altLang="en-US" sz="900" b="0" u="sng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일정</a:t>
                      </a:r>
                      <a:endParaRPr lang="en-US" altLang="ko-KR" sz="900" b="0" u="sng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algn="r" latinLnBrk="1"/>
                      <a:r>
                        <a:rPr lang="en-US" altLang="ko-KR" sz="700" b="0" u="sng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700" b="0" u="sng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연</a:t>
                      </a:r>
                      <a:r>
                        <a:rPr lang="en-US" altLang="ko-KR" sz="700" b="0" u="sng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/</a:t>
                      </a:r>
                      <a:r>
                        <a:rPr lang="ko-KR" altLang="en-US" sz="700" b="0" u="sng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월</a:t>
                      </a:r>
                      <a:r>
                        <a:rPr lang="en-US" altLang="ko-KR" sz="700" b="0" u="sng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/</a:t>
                      </a:r>
                      <a:r>
                        <a:rPr lang="ko-KR" altLang="en-US" sz="700" b="0" u="sng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주</a:t>
                      </a:r>
                      <a:r>
                        <a:rPr lang="en-US" altLang="ko-KR" sz="700" b="0" u="sng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endParaRPr lang="en-US" altLang="ko-KR" sz="900" b="0" u="sng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18000" marT="37148" marB="3714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25/01/1st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25/01/2nd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25/01/3rd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25/01/4th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25/02/1st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25/02/2nd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25/02/3rd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25/02/4th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25/03/1st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25/03/2nd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25/03/3rd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25/03/4th</a:t>
                      </a: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956117"/>
                  </a:ext>
                </a:extLst>
              </a:tr>
              <a:tr h="33144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algn="r" latinLnBrk="1"/>
                      <a:r>
                        <a:rPr lang="ko-KR" altLang="en-US" sz="900" b="0" u="sng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진행방식</a:t>
                      </a: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1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대면연수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알파코 성수 캠퍼스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대면</a:t>
                      </a:r>
                    </a:p>
                  </a:txBody>
                  <a:tcPr marL="0" marR="0" marT="37148" marB="3714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algn="ctr"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algn="ctr" latinLnBrk="1"/>
                      <a:endParaRPr lang="en-US" altLang="ko-KR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422043"/>
                  </a:ext>
                </a:extLst>
              </a:tr>
              <a:tr h="33144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algn="r" latinLnBrk="1"/>
                      <a:endParaRPr lang="en-US" altLang="ko-KR" sz="900" b="0" u="sng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18000" marT="37148" marB="3714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Daily Success Routine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Daily Success Routine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Daily Success Routine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Daily Success Routine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Daily Success Routine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Daily Success Routine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Daily Success Routine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Daily Success Routine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Daily Success Routine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Daily Success Routine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Daily Success Routine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Daily Success Routine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4066408"/>
                  </a:ext>
                </a:extLst>
              </a:tr>
              <a:tr h="56560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Day 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스퀘어"/>
                          <a:ea typeface="나눔스퀘어"/>
                        </a:defRPr>
                      </a:lvl9pPr>
                    </a:lstStyle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569505"/>
                  </a:ext>
                </a:extLst>
              </a:tr>
              <a:tr h="5656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Day 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335805"/>
                  </a:ext>
                </a:extLst>
              </a:tr>
              <a:tr h="5656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Day 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962245"/>
                  </a:ext>
                </a:extLst>
              </a:tr>
              <a:tr h="5656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Day 4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493349"/>
                  </a:ext>
                </a:extLst>
              </a:tr>
              <a:tr h="5656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Day 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811228"/>
                  </a:ext>
                </a:extLst>
              </a:tr>
            </a:tbl>
          </a:graphicData>
        </a:graphic>
      </p:graphicFrame>
      <p:sp>
        <p:nvSpPr>
          <p:cNvPr id="136" name="TextBox 135">
            <a:extLst>
              <a:ext uri="{FF2B5EF4-FFF2-40B4-BE49-F238E27FC236}">
                <a16:creationId xmlns:a16="http://schemas.microsoft.com/office/drawing/2014/main" id="{070ADF93-6C2F-BFCC-B52C-AB50993F1C1E}"/>
              </a:ext>
            </a:extLst>
          </p:cNvPr>
          <p:cNvSpPr txBox="1"/>
          <p:nvPr/>
        </p:nvSpPr>
        <p:spPr>
          <a:xfrm>
            <a:off x="561319" y="1641300"/>
            <a:ext cx="17668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■ 프로그램 운영 시간표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9E66ECA-40B1-AA54-1DD2-9DFADA91D7BC}"/>
              </a:ext>
            </a:extLst>
          </p:cNvPr>
          <p:cNvSpPr/>
          <p:nvPr/>
        </p:nvSpPr>
        <p:spPr>
          <a:xfrm>
            <a:off x="665017" y="3657602"/>
            <a:ext cx="864000" cy="157620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58507" tIns="58507" rIns="58507" bIns="58507" rtlCol="0" anchor="ctr" anchorCtr="0"/>
          <a:lstStyle/>
          <a:p>
            <a:pPr algn="ctr">
              <a:lnSpc>
                <a:spcPct val="110000"/>
              </a:lnSpc>
              <a:defRPr/>
            </a:pPr>
            <a:r>
              <a:rPr lang="en-US" altLang="ko-KR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CS </a:t>
            </a:r>
          </a:p>
          <a:p>
            <a:pPr algn="ctr">
              <a:lnSpc>
                <a:spcPct val="110000"/>
              </a:lnSpc>
              <a:defRPr/>
            </a:pPr>
            <a:r>
              <a:rPr lang="ko-KR" altLang="en-US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기반지식</a:t>
            </a:r>
            <a:endParaRPr lang="en-US" altLang="ko-KR" sz="900" spc="-19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56BB0D7-4672-1DDF-1B16-2303E77A6665}"/>
              </a:ext>
            </a:extLst>
          </p:cNvPr>
          <p:cNvSpPr/>
          <p:nvPr/>
        </p:nvSpPr>
        <p:spPr>
          <a:xfrm>
            <a:off x="665017" y="5318969"/>
            <a:ext cx="864000" cy="1017965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58507" tIns="58507" rIns="58507" bIns="58507" rtlCol="0" anchor="ctr" anchorCtr="0"/>
          <a:lstStyle/>
          <a:p>
            <a:pPr algn="ctr">
              <a:lnSpc>
                <a:spcPct val="110000"/>
              </a:lnSpc>
              <a:defRPr/>
            </a:pPr>
            <a:r>
              <a:rPr lang="en-US" altLang="ko-KR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CS </a:t>
            </a:r>
          </a:p>
          <a:p>
            <a:pPr algn="ctr">
              <a:lnSpc>
                <a:spcPct val="110000"/>
              </a:lnSpc>
              <a:defRPr/>
            </a:pPr>
            <a:r>
              <a:rPr lang="ko-KR" altLang="en-US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자료처리</a:t>
            </a:r>
            <a:endParaRPr lang="en-US" altLang="ko-KR" sz="900" spc="-19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233F62B-603C-8330-8E40-6E1FE5E59498}"/>
              </a:ext>
            </a:extLst>
          </p:cNvPr>
          <p:cNvSpPr/>
          <p:nvPr/>
        </p:nvSpPr>
        <p:spPr>
          <a:xfrm>
            <a:off x="1596750" y="3657602"/>
            <a:ext cx="864000" cy="1017965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58507" tIns="58507" rIns="58507" bIns="58507" rtlCol="0" anchor="ctr" anchorCtr="0"/>
          <a:lstStyle/>
          <a:p>
            <a:pPr algn="ctr">
              <a:lnSpc>
                <a:spcPct val="110000"/>
              </a:lnSpc>
              <a:defRPr/>
            </a:pPr>
            <a:r>
              <a:rPr lang="en-US" altLang="ko-KR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CS </a:t>
            </a:r>
          </a:p>
          <a:p>
            <a:pPr algn="ctr">
              <a:lnSpc>
                <a:spcPct val="110000"/>
              </a:lnSpc>
              <a:defRPr/>
            </a:pPr>
            <a:r>
              <a:rPr lang="ko-KR" altLang="en-US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자료처리</a:t>
            </a:r>
            <a:endParaRPr lang="en-US" altLang="ko-KR" sz="900" spc="-19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altLang="ko-KR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(</a:t>
            </a:r>
            <a:r>
              <a:rPr lang="ko-KR" altLang="en-US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계속</a:t>
            </a:r>
            <a:r>
              <a:rPr lang="en-US" altLang="ko-KR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EFD7337-7B90-6BC6-ADBE-C2641C9D576B}"/>
              </a:ext>
            </a:extLst>
          </p:cNvPr>
          <p:cNvSpPr/>
          <p:nvPr/>
        </p:nvSpPr>
        <p:spPr>
          <a:xfrm>
            <a:off x="1596750" y="4760730"/>
            <a:ext cx="864000" cy="1576203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58507" tIns="58507" rIns="58507" bIns="58507" rtlCol="0" anchor="ctr" anchorCtr="0"/>
          <a:lstStyle/>
          <a:p>
            <a:pPr algn="ctr">
              <a:lnSpc>
                <a:spcPct val="110000"/>
              </a:lnSpc>
              <a:defRPr/>
            </a:pPr>
            <a:r>
              <a:rPr lang="en-US" altLang="ko-KR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IT</a:t>
            </a:r>
          </a:p>
          <a:p>
            <a:pPr algn="ctr">
              <a:lnSpc>
                <a:spcPct val="110000"/>
              </a:lnSpc>
              <a:defRPr/>
            </a:pPr>
            <a:r>
              <a:rPr lang="ko-KR" altLang="en-US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서비스 이해</a:t>
            </a:r>
            <a:endParaRPr lang="en-US" altLang="ko-KR" sz="900" spc="-19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E6643E9-7CE7-F6D0-1D06-D7D0759BF12F}"/>
              </a:ext>
            </a:extLst>
          </p:cNvPr>
          <p:cNvSpPr/>
          <p:nvPr/>
        </p:nvSpPr>
        <p:spPr>
          <a:xfrm>
            <a:off x="2528483" y="3657601"/>
            <a:ext cx="864000" cy="476145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58507" tIns="58507" rIns="58507" bIns="58507" rtlCol="0" anchor="ctr" anchorCtr="0"/>
          <a:lstStyle/>
          <a:p>
            <a:pPr algn="ctr">
              <a:lnSpc>
                <a:spcPct val="110000"/>
              </a:lnSpc>
              <a:defRPr/>
            </a:pPr>
            <a:r>
              <a:rPr lang="en-US" altLang="ko-KR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OT/</a:t>
            </a:r>
          </a:p>
          <a:p>
            <a:pPr algn="ctr">
              <a:lnSpc>
                <a:spcPct val="110000"/>
              </a:lnSpc>
              <a:defRPr/>
            </a:pPr>
            <a:r>
              <a:rPr lang="ko-KR" altLang="en-US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교육환경 구축</a:t>
            </a:r>
            <a:endParaRPr lang="en-US" altLang="ko-KR" sz="900" spc="-19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5EBC6E1-6F3A-3502-81F9-669B51B7803F}"/>
              </a:ext>
            </a:extLst>
          </p:cNvPr>
          <p:cNvSpPr/>
          <p:nvPr/>
        </p:nvSpPr>
        <p:spPr>
          <a:xfrm>
            <a:off x="2528483" y="4212714"/>
            <a:ext cx="864000" cy="1017965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58507" tIns="58507" rIns="58507" bIns="58507" rtlCol="0" anchor="ctr" anchorCtr="0"/>
          <a:lstStyle/>
          <a:p>
            <a:pPr algn="ctr">
              <a:lnSpc>
                <a:spcPct val="110000"/>
              </a:lnSpc>
              <a:defRPr/>
            </a:pPr>
            <a:r>
              <a:rPr lang="en-US" altLang="ko-KR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SQL </a:t>
            </a:r>
            <a:r>
              <a:rPr lang="ko-KR" altLang="en-US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기본</a:t>
            </a:r>
            <a:endParaRPr lang="en-US" altLang="ko-KR" sz="900" spc="-19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89BE5AB-2B56-D54A-9AA7-43C0B1E7E206}"/>
              </a:ext>
            </a:extLst>
          </p:cNvPr>
          <p:cNvSpPr/>
          <p:nvPr/>
        </p:nvSpPr>
        <p:spPr>
          <a:xfrm>
            <a:off x="2528483" y="5318969"/>
            <a:ext cx="864000" cy="1017965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58507" tIns="58507" rIns="58507" bIns="58507" rtlCol="0" anchor="ctr" anchorCtr="0"/>
          <a:lstStyle/>
          <a:p>
            <a:pPr algn="ctr" defTabSz="603647">
              <a:lnSpc>
                <a:spcPct val="110000"/>
              </a:lnSpc>
              <a:defRPr/>
            </a:pPr>
            <a:r>
              <a:rPr lang="en-US" altLang="ko-KR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SQL  </a:t>
            </a:r>
            <a:r>
              <a:rPr lang="ko-KR" altLang="en-US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고급</a:t>
            </a:r>
            <a:endParaRPr lang="en-US" altLang="ko-KR" sz="900" spc="-19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80342E4-5184-F387-CFCC-44B37440D23B}"/>
              </a:ext>
            </a:extLst>
          </p:cNvPr>
          <p:cNvSpPr/>
          <p:nvPr/>
        </p:nvSpPr>
        <p:spPr>
          <a:xfrm>
            <a:off x="3452533" y="3657601"/>
            <a:ext cx="864000" cy="1017965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58507" tIns="58507" rIns="58507" bIns="58507" rtlCol="0" anchor="ctr" anchorCtr="0"/>
          <a:lstStyle/>
          <a:p>
            <a:pPr algn="ctr" defTabSz="603647">
              <a:lnSpc>
                <a:spcPct val="110000"/>
              </a:lnSpc>
              <a:defRPr/>
            </a:pPr>
            <a:r>
              <a:rPr lang="en-US" altLang="ko-KR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SQL </a:t>
            </a:r>
            <a:r>
              <a:rPr lang="ko-KR" altLang="en-US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고급</a:t>
            </a:r>
            <a:endParaRPr lang="en-US" altLang="ko-KR" sz="900" spc="-19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algn="ctr" defTabSz="603647">
              <a:lnSpc>
                <a:spcPct val="110000"/>
              </a:lnSpc>
              <a:defRPr/>
            </a:pPr>
            <a:r>
              <a:rPr lang="en-US" altLang="ko-KR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(</a:t>
            </a:r>
            <a:r>
              <a:rPr lang="ko-KR" altLang="en-US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계속</a:t>
            </a:r>
            <a:r>
              <a:rPr lang="en-US" altLang="ko-KR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)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686665B-E73B-CDC7-40A1-268D6207AFAA}"/>
              </a:ext>
            </a:extLst>
          </p:cNvPr>
          <p:cNvSpPr/>
          <p:nvPr/>
        </p:nvSpPr>
        <p:spPr>
          <a:xfrm>
            <a:off x="3452533" y="5318969"/>
            <a:ext cx="864000" cy="1017965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635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wrap="none" lIns="58507" tIns="58507" rIns="58507" bIns="58507" rtlCol="0" anchor="ctr" anchorCtr="0"/>
          <a:lstStyle/>
          <a:p>
            <a:pPr algn="ctr" defTabSz="603647">
              <a:lnSpc>
                <a:spcPct val="110000"/>
              </a:lnSpc>
              <a:defRPr/>
            </a:pPr>
            <a:r>
              <a:rPr lang="en-US" altLang="ko-KR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Team</a:t>
            </a:r>
          </a:p>
          <a:p>
            <a:pPr algn="ctr" defTabSz="603647">
              <a:lnSpc>
                <a:spcPct val="110000"/>
              </a:lnSpc>
              <a:defRPr/>
            </a:pPr>
            <a:r>
              <a:rPr lang="en-US" altLang="ko-KR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PJT.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050B567-29DC-4D4F-5B2F-6FF04E8CCD93}"/>
              </a:ext>
            </a:extLst>
          </p:cNvPr>
          <p:cNvSpPr/>
          <p:nvPr/>
        </p:nvSpPr>
        <p:spPr>
          <a:xfrm>
            <a:off x="3452533" y="4754534"/>
            <a:ext cx="864000" cy="476145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58507" tIns="58507" rIns="58507" bIns="58507" rtlCol="0" anchor="ctr" anchorCtr="0"/>
          <a:lstStyle/>
          <a:p>
            <a:pPr algn="ctr" defTabSz="603647">
              <a:lnSpc>
                <a:spcPct val="110000"/>
              </a:lnSpc>
              <a:defRPr/>
            </a:pPr>
            <a:r>
              <a:rPr lang="en-US" altLang="ko-KR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DB</a:t>
            </a:r>
            <a:r>
              <a:rPr lang="ko-KR" altLang="en-US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모델링</a:t>
            </a:r>
            <a:endParaRPr lang="en-US" altLang="ko-KR" sz="900" spc="-19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5E4D107-FDC7-29E8-9DDF-4926DE53265D}"/>
              </a:ext>
            </a:extLst>
          </p:cNvPr>
          <p:cNvSpPr/>
          <p:nvPr/>
        </p:nvSpPr>
        <p:spPr>
          <a:xfrm>
            <a:off x="4395437" y="3657600"/>
            <a:ext cx="864000" cy="2144278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58507" tIns="58507" rIns="58507" bIns="58507" rtlCol="0" anchor="ctr" anchorCtr="0"/>
          <a:lstStyle/>
          <a:p>
            <a:pPr algn="ctr" defTabSz="603647">
              <a:lnSpc>
                <a:spcPct val="110000"/>
              </a:lnSpc>
              <a:defRPr/>
            </a:pPr>
            <a:r>
              <a:rPr lang="en-US" altLang="ko-KR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JAVA </a:t>
            </a:r>
            <a:r>
              <a:rPr lang="ko-KR" altLang="en-US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기본</a:t>
            </a:r>
            <a:endParaRPr lang="en-US" altLang="ko-KR" sz="900" spc="-19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81CB48A-10FD-217C-331B-4A60A6940FBD}"/>
              </a:ext>
            </a:extLst>
          </p:cNvPr>
          <p:cNvSpPr/>
          <p:nvPr/>
        </p:nvSpPr>
        <p:spPr>
          <a:xfrm>
            <a:off x="4395437" y="5860789"/>
            <a:ext cx="864000" cy="476145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58507" tIns="72000" rIns="58507" bIns="58507" rtlCol="0" anchor="t" anchorCtr="0"/>
          <a:lstStyle/>
          <a:p>
            <a:pPr algn="ctr" defTabSz="603647">
              <a:lnSpc>
                <a:spcPct val="110000"/>
              </a:lnSpc>
              <a:defRPr/>
            </a:pPr>
            <a:r>
              <a:rPr lang="en-US" altLang="ko-KR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JAVA OOP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DA7FF91-1845-33AB-D869-EFE01CA1A33C}"/>
              </a:ext>
            </a:extLst>
          </p:cNvPr>
          <p:cNvSpPr/>
          <p:nvPr/>
        </p:nvSpPr>
        <p:spPr>
          <a:xfrm>
            <a:off x="5321231" y="3657600"/>
            <a:ext cx="864000" cy="157620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58507" tIns="58507" rIns="58507" bIns="58507" rtlCol="0" anchor="ctr" anchorCtr="0"/>
          <a:lstStyle/>
          <a:p>
            <a:pPr algn="ctr" defTabSz="603647">
              <a:lnSpc>
                <a:spcPct val="110000"/>
              </a:lnSpc>
              <a:defRPr/>
            </a:pPr>
            <a:r>
              <a:rPr lang="en-US" altLang="ko-KR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JAVA OOP</a:t>
            </a:r>
          </a:p>
          <a:p>
            <a:pPr algn="ctr" defTabSz="603647">
              <a:lnSpc>
                <a:spcPct val="110000"/>
              </a:lnSpc>
              <a:defRPr/>
            </a:pPr>
            <a:r>
              <a:rPr lang="en-US" altLang="ko-KR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(</a:t>
            </a:r>
            <a:r>
              <a:rPr lang="ko-KR" altLang="en-US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계속</a:t>
            </a:r>
            <a:r>
              <a:rPr lang="en-US" altLang="ko-KR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)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77D265F-7A15-9646-D3B6-39424B2CB24E}"/>
              </a:ext>
            </a:extLst>
          </p:cNvPr>
          <p:cNvSpPr/>
          <p:nvPr/>
        </p:nvSpPr>
        <p:spPr>
          <a:xfrm>
            <a:off x="5321231" y="5318969"/>
            <a:ext cx="864000" cy="1017965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58507" tIns="58507" rIns="58507" bIns="58507" rtlCol="0" anchor="ctr" anchorCtr="0"/>
          <a:lstStyle/>
          <a:p>
            <a:pPr algn="ctr" defTabSz="603647">
              <a:lnSpc>
                <a:spcPct val="110000"/>
              </a:lnSpc>
              <a:defRPr/>
            </a:pPr>
            <a:r>
              <a:rPr lang="en-US" altLang="ko-KR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JAVA </a:t>
            </a:r>
            <a:r>
              <a:rPr lang="ko-KR" altLang="en-US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고급</a:t>
            </a:r>
            <a:endParaRPr lang="en-US" altLang="ko-KR" sz="900" spc="-19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BD57504-D322-8913-4B65-4B7193F26EC5}"/>
              </a:ext>
            </a:extLst>
          </p:cNvPr>
          <p:cNvSpPr/>
          <p:nvPr/>
        </p:nvSpPr>
        <p:spPr>
          <a:xfrm>
            <a:off x="6244486" y="3657601"/>
            <a:ext cx="864000" cy="1017965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58507" tIns="58507" rIns="58507" bIns="58507" rtlCol="0" anchor="ctr" anchorCtr="0"/>
          <a:lstStyle/>
          <a:p>
            <a:pPr algn="ctr" defTabSz="603647">
              <a:lnSpc>
                <a:spcPct val="110000"/>
              </a:lnSpc>
              <a:defRPr/>
            </a:pPr>
            <a:r>
              <a:rPr lang="en-US" altLang="ko-KR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JAVA </a:t>
            </a:r>
            <a:r>
              <a:rPr lang="ko-KR" altLang="en-US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고급</a:t>
            </a:r>
            <a:endParaRPr lang="en-US" altLang="ko-KR" sz="900" spc="-19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algn="ctr" defTabSz="603647">
              <a:lnSpc>
                <a:spcPct val="110000"/>
              </a:lnSpc>
              <a:defRPr/>
            </a:pPr>
            <a:r>
              <a:rPr lang="en-US" altLang="ko-KR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(</a:t>
            </a:r>
            <a:r>
              <a:rPr lang="ko-KR" altLang="en-US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계속</a:t>
            </a:r>
            <a:r>
              <a:rPr lang="en-US" altLang="ko-KR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)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B02FC23-7F57-7D9D-0AD7-5A36F4500FAA}"/>
              </a:ext>
            </a:extLst>
          </p:cNvPr>
          <p:cNvSpPr/>
          <p:nvPr/>
        </p:nvSpPr>
        <p:spPr>
          <a:xfrm>
            <a:off x="6244486" y="4783913"/>
            <a:ext cx="864000" cy="1017965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58507" tIns="58507" rIns="58507" bIns="58507" rtlCol="0" anchor="ctr" anchorCtr="0"/>
          <a:lstStyle/>
          <a:p>
            <a:pPr algn="ctr" defTabSz="603647">
              <a:lnSpc>
                <a:spcPct val="110000"/>
              </a:lnSpc>
              <a:defRPr/>
            </a:pPr>
            <a:r>
              <a:rPr lang="en-US" altLang="ko-KR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JDBC</a:t>
            </a:r>
          </a:p>
          <a:p>
            <a:pPr algn="ctr" defTabSz="603647">
              <a:lnSpc>
                <a:spcPct val="110000"/>
              </a:lnSpc>
              <a:defRPr/>
            </a:pPr>
            <a:r>
              <a:rPr lang="en-US" altLang="ko-KR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</a:t>
            </a:r>
            <a:r>
              <a:rPr lang="ko-KR" altLang="en-US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프로그래밍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CADCF6F-08F4-83F5-8683-45D02C5910BB}"/>
              </a:ext>
            </a:extLst>
          </p:cNvPr>
          <p:cNvSpPr/>
          <p:nvPr/>
        </p:nvSpPr>
        <p:spPr>
          <a:xfrm>
            <a:off x="6244486" y="5860789"/>
            <a:ext cx="864000" cy="476145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58507" tIns="72000" rIns="58507" bIns="58507" rtlCol="0" anchor="t" anchorCtr="0"/>
          <a:lstStyle/>
          <a:p>
            <a:pPr algn="ctr" defTabSz="603647">
              <a:lnSpc>
                <a:spcPct val="110000"/>
              </a:lnSpc>
              <a:defRPr/>
            </a:pPr>
            <a:r>
              <a:rPr lang="en-US" altLang="ko-KR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MVC</a:t>
            </a:r>
            <a:endParaRPr lang="ko-KR" altLang="en-US" sz="900" spc="-19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BDA47C8-4D0D-45B7-EAD5-52E12509B7D3}"/>
              </a:ext>
            </a:extLst>
          </p:cNvPr>
          <p:cNvSpPr/>
          <p:nvPr/>
        </p:nvSpPr>
        <p:spPr>
          <a:xfrm>
            <a:off x="7176617" y="3657601"/>
            <a:ext cx="864000" cy="476145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58507" tIns="58507" rIns="58507" bIns="58507" rtlCol="0" anchor="ctr" anchorCtr="0"/>
          <a:lstStyle/>
          <a:p>
            <a:pPr algn="ctr" defTabSz="603647">
              <a:lnSpc>
                <a:spcPct val="110000"/>
              </a:lnSpc>
              <a:defRPr/>
            </a:pPr>
            <a:r>
              <a:rPr lang="en-US" altLang="ko-KR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MVC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B3F244C-73BF-8249-3FB1-DEBFAE25EB0B}"/>
              </a:ext>
            </a:extLst>
          </p:cNvPr>
          <p:cNvSpPr/>
          <p:nvPr/>
        </p:nvSpPr>
        <p:spPr>
          <a:xfrm>
            <a:off x="7176617" y="4192656"/>
            <a:ext cx="864000" cy="2144278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635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wrap="none" lIns="58507" tIns="58507" rIns="58507" bIns="58507" rtlCol="0" anchor="ctr" anchorCtr="0"/>
          <a:lstStyle/>
          <a:p>
            <a:pPr algn="ctr" defTabSz="603647">
              <a:lnSpc>
                <a:spcPct val="110000"/>
              </a:lnSpc>
              <a:defRPr/>
            </a:pPr>
            <a:r>
              <a:rPr lang="en-US" altLang="ko-KR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Team</a:t>
            </a:r>
          </a:p>
          <a:p>
            <a:pPr algn="ctr" defTabSz="603647">
              <a:lnSpc>
                <a:spcPct val="110000"/>
              </a:lnSpc>
              <a:defRPr/>
            </a:pPr>
            <a:r>
              <a:rPr lang="en-US" altLang="ko-KR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PJT.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F71AA83-59DF-5EDE-0C20-D62EBB3E1F47}"/>
              </a:ext>
            </a:extLst>
          </p:cNvPr>
          <p:cNvSpPr/>
          <p:nvPr/>
        </p:nvSpPr>
        <p:spPr>
          <a:xfrm>
            <a:off x="8104336" y="3657601"/>
            <a:ext cx="864000" cy="2679333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58507" tIns="58507" rIns="58507" bIns="58507" rtlCol="0" anchor="ctr" anchorCtr="0"/>
          <a:lstStyle/>
          <a:p>
            <a:pPr algn="ctr">
              <a:lnSpc>
                <a:spcPct val="110000"/>
              </a:lnSpc>
              <a:defRPr/>
            </a:pPr>
            <a:r>
              <a:rPr lang="en-US" altLang="ko-KR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C</a:t>
            </a:r>
            <a:r>
              <a:rPr lang="ko-KR" altLang="en-US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언어 </a:t>
            </a:r>
            <a:endParaRPr lang="en-US" altLang="ko-KR" sz="900" spc="-19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algn="ctr">
              <a:lnSpc>
                <a:spcPct val="110000"/>
              </a:lnSpc>
              <a:defRPr/>
            </a:pPr>
            <a:r>
              <a:rPr lang="ko-KR" altLang="en-US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기본</a:t>
            </a:r>
            <a:endParaRPr lang="en-US" altLang="ko-KR" sz="900" spc="-19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4ABBC1D-2AA5-BF58-BC45-22381ECBFDDA}"/>
              </a:ext>
            </a:extLst>
          </p:cNvPr>
          <p:cNvSpPr/>
          <p:nvPr/>
        </p:nvSpPr>
        <p:spPr>
          <a:xfrm>
            <a:off x="9962325" y="3657601"/>
            <a:ext cx="864000" cy="157620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58507" tIns="58507" rIns="58507" bIns="58507" rtlCol="0" anchor="ctr" anchorCtr="0"/>
          <a:lstStyle/>
          <a:p>
            <a:pPr algn="ctr" latinLnBrk="1"/>
            <a:r>
              <a:rPr lang="ko-KR" altLang="en-US" sz="900" spc="-190" baseline="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구조체 및 </a:t>
            </a:r>
            <a:r>
              <a:rPr lang="ko-KR" altLang="en-US" sz="900" spc="-190" baseline="0" dirty="0" err="1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공용체</a:t>
            </a:r>
            <a:endParaRPr lang="en-US" altLang="ko-KR" sz="900" spc="-190" baseline="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algn="ctr" latinLnBrk="1"/>
            <a:r>
              <a:rPr lang="en-US" altLang="ko-KR" sz="900" spc="-190" baseline="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/ </a:t>
            </a:r>
            <a:r>
              <a:rPr lang="ko-KR" altLang="en-US" sz="900" spc="-190" baseline="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메모리 할당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F285B5B-FD5F-F3ED-9729-F836F4B6AC6B}"/>
              </a:ext>
            </a:extLst>
          </p:cNvPr>
          <p:cNvSpPr/>
          <p:nvPr/>
        </p:nvSpPr>
        <p:spPr>
          <a:xfrm>
            <a:off x="9962325" y="5318968"/>
            <a:ext cx="864000" cy="1017965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58507" tIns="58507" rIns="58507" bIns="58507" rtlCol="0" anchor="ctr" anchorCtr="0"/>
          <a:lstStyle/>
          <a:p>
            <a:pPr algn="ctr" latinLnBrk="1"/>
            <a:r>
              <a:rPr lang="ko-KR" altLang="en-US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파일 입출력</a:t>
            </a:r>
            <a:endParaRPr lang="en-US" altLang="ko-KR" sz="9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algn="ctr" latinLnBrk="1"/>
            <a:r>
              <a:rPr lang="ko-KR" altLang="en-US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및 모듈화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F1EF4D8-6AA8-BDA9-3505-5BB09998C115}"/>
              </a:ext>
            </a:extLst>
          </p:cNvPr>
          <p:cNvSpPr/>
          <p:nvPr/>
        </p:nvSpPr>
        <p:spPr>
          <a:xfrm>
            <a:off x="10883505" y="3657601"/>
            <a:ext cx="864000" cy="476145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58507" tIns="58507" rIns="58507" bIns="58507" rtlCol="0" anchor="ctr" anchorCtr="0"/>
          <a:lstStyle/>
          <a:p>
            <a:pPr algn="ctr" latinLnBrk="1"/>
            <a:r>
              <a:rPr lang="ko-KR" altLang="en-US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파일 입출력</a:t>
            </a:r>
            <a:endParaRPr lang="en-US" altLang="ko-KR" sz="9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algn="ctr" latinLnBrk="1"/>
            <a:r>
              <a:rPr lang="ko-KR" altLang="en-US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및 모듈화</a:t>
            </a:r>
            <a:r>
              <a:rPr lang="en-US" altLang="ko-KR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(</a:t>
            </a:r>
            <a:r>
              <a:rPr lang="ko-KR" altLang="en-US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계속</a:t>
            </a:r>
            <a:r>
              <a:rPr lang="en-US" altLang="ko-KR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9EE1C61-A689-3839-2665-0B7BDEE3A231}"/>
              </a:ext>
            </a:extLst>
          </p:cNvPr>
          <p:cNvSpPr/>
          <p:nvPr/>
        </p:nvSpPr>
        <p:spPr>
          <a:xfrm>
            <a:off x="10883505" y="4192656"/>
            <a:ext cx="864000" cy="2144278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635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wrap="none" lIns="58507" tIns="58507" rIns="58507" bIns="58507" rtlCol="0" anchor="ctr" anchorCtr="0"/>
          <a:lstStyle/>
          <a:p>
            <a:pPr algn="ctr" defTabSz="603647">
              <a:lnSpc>
                <a:spcPct val="110000"/>
              </a:lnSpc>
              <a:defRPr/>
            </a:pPr>
            <a:r>
              <a:rPr lang="en-US" altLang="ko-KR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Team</a:t>
            </a:r>
          </a:p>
          <a:p>
            <a:pPr algn="ctr" defTabSz="603647">
              <a:lnSpc>
                <a:spcPct val="110000"/>
              </a:lnSpc>
              <a:defRPr/>
            </a:pPr>
            <a:r>
              <a:rPr lang="en-US" altLang="ko-KR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PJT.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6C31818-54B7-4895-F2A9-033107A7610B}"/>
              </a:ext>
            </a:extLst>
          </p:cNvPr>
          <p:cNvSpPr/>
          <p:nvPr/>
        </p:nvSpPr>
        <p:spPr>
          <a:xfrm>
            <a:off x="9033330" y="3657601"/>
            <a:ext cx="864000" cy="157620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58507" tIns="58507" rIns="58507" bIns="58507" rtlCol="0" anchor="ctr" anchorCtr="0"/>
          <a:lstStyle/>
          <a:p>
            <a:pPr algn="ctr"/>
            <a:r>
              <a:rPr lang="en-US" altLang="ko-KR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C </a:t>
            </a:r>
            <a:r>
              <a:rPr lang="ko-KR" altLang="en-US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언어</a:t>
            </a:r>
            <a:endParaRPr lang="en-US" altLang="ko-KR" sz="900" spc="-19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algn="ctr">
              <a:lnSpc>
                <a:spcPct val="110000"/>
              </a:lnSpc>
              <a:defRPr/>
            </a:pPr>
            <a:r>
              <a:rPr lang="ko-KR" altLang="en-US" sz="900" spc="-19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함수배열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A77D00A-D330-57DE-5717-51577632E66D}"/>
              </a:ext>
            </a:extLst>
          </p:cNvPr>
          <p:cNvSpPr/>
          <p:nvPr/>
        </p:nvSpPr>
        <p:spPr>
          <a:xfrm>
            <a:off x="9033330" y="5318968"/>
            <a:ext cx="864000" cy="1017965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58507" tIns="58507" rIns="58507" bIns="58507" rtlCol="0" anchor="ctr" anchorCtr="0"/>
          <a:lstStyle/>
          <a:p>
            <a:pPr algn="ctr" latinLnBrk="1"/>
            <a:r>
              <a:rPr lang="en-US" altLang="ko-KR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C</a:t>
            </a:r>
            <a:r>
              <a:rPr lang="ko-KR" altLang="en-US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언어</a:t>
            </a:r>
            <a:endParaRPr lang="en-US" altLang="ko-KR" sz="9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algn="ctr" latinLnBrk="1"/>
            <a:r>
              <a:rPr lang="ko-KR" altLang="en-US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포인터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C985B6E4-6037-B9EB-6404-7F85F328203F}"/>
              </a:ext>
            </a:extLst>
          </p:cNvPr>
          <p:cNvSpPr/>
          <p:nvPr/>
        </p:nvSpPr>
        <p:spPr>
          <a:xfrm>
            <a:off x="3524533" y="6120030"/>
            <a:ext cx="720000" cy="137579"/>
          </a:xfrm>
          <a:prstGeom prst="roundRect">
            <a:avLst>
              <a:gd name="adj" fmla="val 50000"/>
            </a:avLst>
          </a:prstGeom>
          <a:solidFill>
            <a:srgbClr val="C2CA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Half day</a:t>
            </a:r>
            <a:endParaRPr lang="ko-KR" altLang="en-US" sz="9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A63ABBC6-ABD1-8A19-C1AB-DD37191E1643}"/>
              </a:ext>
            </a:extLst>
          </p:cNvPr>
          <p:cNvSpPr/>
          <p:nvPr/>
        </p:nvSpPr>
        <p:spPr>
          <a:xfrm>
            <a:off x="7248617" y="6099141"/>
            <a:ext cx="720000" cy="150829"/>
          </a:xfrm>
          <a:prstGeom prst="roundRect">
            <a:avLst>
              <a:gd name="adj" fmla="val 50000"/>
            </a:avLst>
          </a:prstGeom>
          <a:solidFill>
            <a:srgbClr val="C2CA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Half day</a:t>
            </a:r>
            <a:endParaRPr lang="ko-KR" altLang="en-US" sz="9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5423D541-3E09-B3D8-3857-61C80B9BF91E}"/>
              </a:ext>
            </a:extLst>
          </p:cNvPr>
          <p:cNvSpPr/>
          <p:nvPr/>
        </p:nvSpPr>
        <p:spPr>
          <a:xfrm>
            <a:off x="10034325" y="6095355"/>
            <a:ext cx="720000" cy="150829"/>
          </a:xfrm>
          <a:prstGeom prst="roundRect">
            <a:avLst>
              <a:gd name="adj" fmla="val 50000"/>
            </a:avLst>
          </a:prstGeom>
          <a:solidFill>
            <a:srgbClr val="C2CA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Half day</a:t>
            </a:r>
            <a:endParaRPr lang="ko-KR" altLang="en-US" sz="9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8C6D1F3F-E9FF-AE55-7A88-2B2AE180CB67}"/>
              </a:ext>
            </a:extLst>
          </p:cNvPr>
          <p:cNvSpPr/>
          <p:nvPr/>
        </p:nvSpPr>
        <p:spPr>
          <a:xfrm>
            <a:off x="190723" y="6514337"/>
            <a:ext cx="252000" cy="72000"/>
          </a:xfrm>
          <a:prstGeom prst="roundRect">
            <a:avLst>
              <a:gd name="adj" fmla="val 50000"/>
            </a:avLst>
          </a:prstGeom>
          <a:solidFill>
            <a:srgbClr val="C2CA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AF9A32C-39CF-DB53-3A19-666538BD9A2B}"/>
              </a:ext>
            </a:extLst>
          </p:cNvPr>
          <p:cNvSpPr txBox="1"/>
          <p:nvPr/>
        </p:nvSpPr>
        <p:spPr>
          <a:xfrm>
            <a:off x="422636" y="6431074"/>
            <a:ext cx="3469219" cy="238527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Half day: </a:t>
            </a:r>
            <a:r>
              <a:rPr lang="ko-KR" altLang="en-US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매월 반나절 근무하는 날로 학습기간 중 </a:t>
            </a:r>
            <a:r>
              <a:rPr lang="en-US" altLang="ko-KR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Refresh</a:t>
            </a:r>
            <a:r>
              <a:rPr lang="ko-KR" altLang="en-US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로 활용</a:t>
            </a:r>
            <a:r>
              <a:rPr lang="en-US" altLang="ko-KR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C45CB05F-794D-FF49-3B0F-8F91FD76B916}"/>
              </a:ext>
            </a:extLst>
          </p:cNvPr>
          <p:cNvSpPr/>
          <p:nvPr/>
        </p:nvSpPr>
        <p:spPr>
          <a:xfrm>
            <a:off x="1668750" y="6120030"/>
            <a:ext cx="720000" cy="137579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성수 </a:t>
            </a:r>
            <a:r>
              <a:rPr lang="en-US" altLang="ko-KR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CX </a:t>
            </a:r>
            <a:r>
              <a:rPr lang="ko-KR" altLang="en-US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투어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92B1E69B-AB26-FE3C-215E-CF3EC0DF463B}"/>
              </a:ext>
            </a:extLst>
          </p:cNvPr>
          <p:cNvSpPr/>
          <p:nvPr/>
        </p:nvSpPr>
        <p:spPr>
          <a:xfrm>
            <a:off x="4467437" y="6120030"/>
            <a:ext cx="720000" cy="137579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전체 회식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B63C72FD-6A25-735D-84B1-8CDBE091E170}"/>
              </a:ext>
            </a:extLst>
          </p:cNvPr>
          <p:cNvSpPr/>
          <p:nvPr/>
        </p:nvSpPr>
        <p:spPr>
          <a:xfrm>
            <a:off x="10955505" y="6095355"/>
            <a:ext cx="720000" cy="137579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전체 회식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F1D1F313-CA00-A073-BFEB-F7146D5F0829}"/>
              </a:ext>
            </a:extLst>
          </p:cNvPr>
          <p:cNvSpPr/>
          <p:nvPr/>
        </p:nvSpPr>
        <p:spPr>
          <a:xfrm>
            <a:off x="3907485" y="6514337"/>
            <a:ext cx="252000" cy="72000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0A5527A-049F-FDCF-1C15-A56714FEEB58}"/>
              </a:ext>
            </a:extLst>
          </p:cNvPr>
          <p:cNvSpPr txBox="1"/>
          <p:nvPr/>
        </p:nvSpPr>
        <p:spPr>
          <a:xfrm>
            <a:off x="4120544" y="6431074"/>
            <a:ext cx="3709670" cy="238527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성수 </a:t>
            </a:r>
            <a:r>
              <a:rPr lang="en-US" altLang="ko-KR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CX </a:t>
            </a:r>
            <a:r>
              <a:rPr lang="ko-KR" altLang="en-US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투어</a:t>
            </a:r>
            <a:r>
              <a:rPr lang="en-US" altLang="ko-KR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: </a:t>
            </a:r>
            <a:r>
              <a:rPr lang="ko-KR" altLang="en-US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트렌드를 주도하는 다양한 요소를 통한 새로운 문화를 경험</a:t>
            </a:r>
            <a:endParaRPr lang="en-US" altLang="ko-KR" sz="9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4049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79A78-ED9C-D5DD-0501-6D0A88955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B9EFBA-95C0-E602-1C16-026C34DC1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단계별 주요 활동 및 예시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C2375F4-116A-001B-F491-1217C714D471}"/>
              </a:ext>
            </a:extLst>
          </p:cNvPr>
          <p:cNvSpPr/>
          <p:nvPr/>
        </p:nvSpPr>
        <p:spPr>
          <a:xfrm>
            <a:off x="0" y="867581"/>
            <a:ext cx="12192000" cy="3179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marL="1730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3-3. </a:t>
            </a:r>
            <a:r>
              <a:rPr lang="ko-KR" altLang="en-US" sz="1200" spc="-100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프로그램 운영</a:t>
            </a:r>
            <a:endParaRPr kumimoji="0" lang="ko-KR" altLang="en-US" sz="1200" b="0" i="0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88A822-9C78-6657-7773-02E1FA12BC2B}"/>
              </a:ext>
            </a:extLst>
          </p:cNvPr>
          <p:cNvSpPr/>
          <p:nvPr/>
        </p:nvSpPr>
        <p:spPr>
          <a:xfrm>
            <a:off x="997791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분석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F6143D8-A045-1BF4-A4D8-E0DEF17782A2}"/>
              </a:ext>
            </a:extLst>
          </p:cNvPr>
          <p:cNvSpPr/>
          <p:nvPr/>
        </p:nvSpPr>
        <p:spPr>
          <a:xfrm>
            <a:off x="1042363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세팅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A6CB4FC-C82A-3146-3E30-EA60EB542EB9}"/>
              </a:ext>
            </a:extLst>
          </p:cNvPr>
          <p:cNvSpPr/>
          <p:nvPr/>
        </p:nvSpPr>
        <p:spPr>
          <a:xfrm>
            <a:off x="10869354" y="933459"/>
            <a:ext cx="397500" cy="186234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운영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7D13AAD-7884-E624-DFF1-0BA7A8173364}"/>
              </a:ext>
            </a:extLst>
          </p:cNvPr>
          <p:cNvSpPr/>
          <p:nvPr/>
        </p:nvSpPr>
        <p:spPr>
          <a:xfrm>
            <a:off x="1131507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사후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D67CBA30-BF9A-79F3-63D0-9D9EE125A016}"/>
              </a:ext>
            </a:extLst>
          </p:cNvPr>
          <p:cNvSpPr>
            <a:spLocks noChangeAspect="1"/>
          </p:cNvSpPr>
          <p:nvPr/>
        </p:nvSpPr>
        <p:spPr>
          <a:xfrm>
            <a:off x="1224611" y="3210296"/>
            <a:ext cx="2192642" cy="315944"/>
          </a:xfrm>
          <a:prstGeom prst="roundRect">
            <a:avLst>
              <a:gd name="adj" fmla="val 50000"/>
            </a:avLst>
          </a:prstGeom>
          <a:solidFill>
            <a:srgbClr val="003366">
              <a:lumMod val="20000"/>
              <a:lumOff val="80000"/>
            </a:srgbClr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wrap="none" tIns="468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dirty="0">
                <a:solidFill>
                  <a:srgbClr val="1E1E1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2025 DTMP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rPr>
              <a:t>강사 협력체계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n-cs"/>
            </a:endParaRPr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A6319F51-3AF0-3F6A-2F63-2D263193B8EC}"/>
              </a:ext>
            </a:extLst>
          </p:cNvPr>
          <p:cNvSpPr>
            <a:spLocks noChangeAspect="1"/>
          </p:cNvSpPr>
          <p:nvPr/>
        </p:nvSpPr>
        <p:spPr>
          <a:xfrm>
            <a:off x="1785779" y="3631900"/>
            <a:ext cx="1058937" cy="1059394"/>
          </a:xfrm>
          <a:prstGeom prst="ellipse">
            <a:avLst/>
          </a:prstGeom>
          <a:noFill/>
          <a:ln w="12700" cap="flat" cmpd="sng" algn="ctr">
            <a:solidFill>
              <a:srgbClr val="003366">
                <a:lumMod val="60000"/>
                <a:lumOff val="40000"/>
              </a:srgbClr>
            </a:solidFill>
            <a:prstDash val="dash"/>
            <a:miter lim="800000"/>
          </a:ln>
          <a:effectLst/>
        </p:spPr>
        <p:txBody>
          <a:bodyPr wrap="none" tIns="468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n-cs"/>
            </a:endParaRPr>
          </a:p>
        </p:txBody>
      </p:sp>
      <p:pic>
        <p:nvPicPr>
          <p:cNvPr id="106" name="Picture 6" descr="User Circles Multiple Styles">
            <a:extLst>
              <a:ext uri="{FF2B5EF4-FFF2-40B4-BE49-F238E27FC236}">
                <a16:creationId xmlns:a16="http://schemas.microsoft.com/office/drawing/2014/main" id="{22CEAE4A-A805-8A26-2941-02FE1CC0CC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2" t="50591" r="50000" b="7828"/>
          <a:stretch/>
        </p:blipFill>
        <p:spPr bwMode="auto">
          <a:xfrm>
            <a:off x="1599344" y="3684983"/>
            <a:ext cx="453862" cy="444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" name="Picture 4" descr="User Circles Multiple Styles">
            <a:extLst>
              <a:ext uri="{FF2B5EF4-FFF2-40B4-BE49-F238E27FC236}">
                <a16:creationId xmlns:a16="http://schemas.microsoft.com/office/drawing/2014/main" id="{2FD9ECE3-6270-695E-1DA0-E9C01FEF3A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30" t="7733" r="6690" b="50591"/>
          <a:stretch/>
        </p:blipFill>
        <p:spPr bwMode="auto">
          <a:xfrm>
            <a:off x="2583835" y="3684983"/>
            <a:ext cx="458686" cy="44580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" name="Picture 4" descr="User Circles Multiple Styles">
            <a:extLst>
              <a:ext uri="{FF2B5EF4-FFF2-40B4-BE49-F238E27FC236}">
                <a16:creationId xmlns:a16="http://schemas.microsoft.com/office/drawing/2014/main" id="{7ECB232F-BF66-300D-A7DD-1C37E170BB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8" t="8574" r="48933" b="50591"/>
          <a:stretch/>
        </p:blipFill>
        <p:spPr bwMode="auto">
          <a:xfrm>
            <a:off x="2091589" y="4436064"/>
            <a:ext cx="458686" cy="436811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" name="이등변 삼각형 108">
            <a:extLst>
              <a:ext uri="{FF2B5EF4-FFF2-40B4-BE49-F238E27FC236}">
                <a16:creationId xmlns:a16="http://schemas.microsoft.com/office/drawing/2014/main" id="{C2364190-8DF2-2D10-A0C4-93F24BD255EC}"/>
              </a:ext>
            </a:extLst>
          </p:cNvPr>
          <p:cNvSpPr/>
          <p:nvPr/>
        </p:nvSpPr>
        <p:spPr>
          <a:xfrm rot="4361990">
            <a:off x="2072686" y="3623161"/>
            <a:ext cx="108000" cy="94176"/>
          </a:xfrm>
          <a:prstGeom prst="triangl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나눔스퀘어"/>
              <a:cs typeface="+mn-cs"/>
            </a:endParaRPr>
          </a:p>
        </p:txBody>
      </p:sp>
      <p:sp>
        <p:nvSpPr>
          <p:cNvPr id="110" name="이등변 삼각형 109">
            <a:extLst>
              <a:ext uri="{FF2B5EF4-FFF2-40B4-BE49-F238E27FC236}">
                <a16:creationId xmlns:a16="http://schemas.microsoft.com/office/drawing/2014/main" id="{D2958820-6B21-6B43-0937-FC31BFAAC89E}"/>
              </a:ext>
            </a:extLst>
          </p:cNvPr>
          <p:cNvSpPr/>
          <p:nvPr/>
        </p:nvSpPr>
        <p:spPr>
          <a:xfrm rot="8111731">
            <a:off x="1940873" y="4534501"/>
            <a:ext cx="108000" cy="94176"/>
          </a:xfrm>
          <a:prstGeom prst="triangl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나눔스퀘어"/>
              <a:cs typeface="+mn-cs"/>
            </a:endParaRPr>
          </a:p>
        </p:txBody>
      </p:sp>
      <p:sp>
        <p:nvSpPr>
          <p:cNvPr id="111" name="이등변 삼각형 110">
            <a:extLst>
              <a:ext uri="{FF2B5EF4-FFF2-40B4-BE49-F238E27FC236}">
                <a16:creationId xmlns:a16="http://schemas.microsoft.com/office/drawing/2014/main" id="{40181E94-4E74-1F39-1C72-06280D17A620}"/>
              </a:ext>
            </a:extLst>
          </p:cNvPr>
          <p:cNvSpPr/>
          <p:nvPr/>
        </p:nvSpPr>
        <p:spPr>
          <a:xfrm rot="12512241">
            <a:off x="2767603" y="4264042"/>
            <a:ext cx="108000" cy="94176"/>
          </a:xfrm>
          <a:prstGeom prst="triangl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나눔스퀘어"/>
              <a:cs typeface="+mn-cs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E4A9E926-0098-30C5-0971-7DCEE063CA17}"/>
              </a:ext>
            </a:extLst>
          </p:cNvPr>
          <p:cNvSpPr txBox="1"/>
          <p:nvPr/>
        </p:nvSpPr>
        <p:spPr>
          <a:xfrm>
            <a:off x="1782088" y="4038487"/>
            <a:ext cx="1066318" cy="246221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Collaboration</a:t>
            </a:r>
            <a:endParaRPr kumimoji="0" lang="ko-KR" altLang="en-US" sz="1000" b="0" i="1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ea typeface="나눔스퀘어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ED13238D-38BD-08B9-A735-6A1EC73F433A}"/>
              </a:ext>
            </a:extLst>
          </p:cNvPr>
          <p:cNvSpPr/>
          <p:nvPr/>
        </p:nvSpPr>
        <p:spPr>
          <a:xfrm>
            <a:off x="527312" y="4936792"/>
            <a:ext cx="3587239" cy="1381388"/>
          </a:xfrm>
          <a:prstGeom prst="rect">
            <a:avLst/>
          </a:prstGeom>
          <a:solidFill>
            <a:srgbClr val="FFFFFF">
              <a:lumMod val="85000"/>
              <a:alpha val="68000"/>
            </a:srgbClr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wrap="none" tIns="72000" rtlCol="0" anchor="t" anchorCtr="0"/>
          <a:lstStyle/>
          <a:p>
            <a:pPr marL="85725" marR="0" lvl="0" indent="-85725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rPr>
              <a:t> 2025 DTMP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rPr>
              <a:t>전담강사진과 코치진과의 밀접한 </a:t>
            </a:r>
            <a:b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rPr>
            </a:br>
            <a:r>
              <a:rPr lang="ko-KR" altLang="en-US" sz="1100" kern="0" dirty="0">
                <a:solidFill>
                  <a:srgbClr val="1E1E1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협력체계 구축으로 이해 </a:t>
            </a:r>
            <a:r>
              <a:rPr lang="en-US" altLang="ko-KR" sz="1100" kern="0" dirty="0">
                <a:solidFill>
                  <a:srgbClr val="1E1E1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&amp; </a:t>
            </a:r>
            <a:r>
              <a:rPr lang="ko-KR" altLang="en-US" sz="1100" kern="0" dirty="0">
                <a:solidFill>
                  <a:srgbClr val="1E1E1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적용능력 강화 동시 접근</a:t>
            </a:r>
            <a:endParaRPr kumimoji="0" lang="en-US" altLang="ko-KR" sz="1100" b="0" i="0" u="sng" strike="noStrike" kern="0" cap="none" spc="0" normalizeH="0" baseline="0" noProof="0" dirty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n-cs"/>
            </a:endParaRPr>
          </a:p>
          <a:p>
            <a:pPr marL="85725" marR="0" lvl="0" indent="-85725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100" kern="0" dirty="0">
                <a:solidFill>
                  <a:srgbClr val="1E1E1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1100" kern="0" dirty="0">
                <a:solidFill>
                  <a:srgbClr val="1E1E1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이후 다우기술과의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rPr>
              <a:t> 의견을 적극 수용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rPr>
              <a:t>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rPr>
              <a:t>하여 최종</a:t>
            </a:r>
            <a:b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rPr>
            </a:b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rPr>
              <a:t>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rPr>
              <a:t>우수강사진 선정완료</a:t>
            </a: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n-cs"/>
            </a:endParaRPr>
          </a:p>
          <a:p>
            <a:pPr marL="85725" marR="0" lvl="0" indent="-85725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rPr>
              <a:t> 강사진간 협력체계 조성을 위한 노력 지속</a:t>
            </a: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n-cs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B58B2BD8-7FB4-089B-8520-F3BBE1AF78F9}"/>
              </a:ext>
            </a:extLst>
          </p:cNvPr>
          <p:cNvSpPr/>
          <p:nvPr/>
        </p:nvSpPr>
        <p:spPr>
          <a:xfrm>
            <a:off x="8077448" y="2940358"/>
            <a:ext cx="3587240" cy="3377823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miter lim="800000"/>
          </a:ln>
          <a:effectLst/>
        </p:spPr>
        <p:txBody>
          <a:bodyPr wrap="none" tIns="72000" rtlCol="0" anchor="t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n-cs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73A56401-5C59-F54C-9F23-5DD0619CF8B3}"/>
              </a:ext>
            </a:extLst>
          </p:cNvPr>
          <p:cNvSpPr/>
          <p:nvPr/>
        </p:nvSpPr>
        <p:spPr>
          <a:xfrm>
            <a:off x="527312" y="2940358"/>
            <a:ext cx="3587240" cy="3377823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miter lim="800000"/>
          </a:ln>
          <a:effectLst/>
        </p:spPr>
        <p:txBody>
          <a:bodyPr wrap="none" tIns="72000" rtlCol="0" anchor="t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n-cs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66840EFF-0EAC-BDE8-F484-6D8E8DB9DBF8}"/>
              </a:ext>
            </a:extLst>
          </p:cNvPr>
          <p:cNvSpPr/>
          <p:nvPr/>
        </p:nvSpPr>
        <p:spPr>
          <a:xfrm>
            <a:off x="4302380" y="2940358"/>
            <a:ext cx="3587240" cy="3377823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miter lim="800000"/>
          </a:ln>
          <a:effectLst/>
        </p:spPr>
        <p:txBody>
          <a:bodyPr wrap="none" tIns="72000" rtlCol="0" anchor="t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n-cs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BCE9F6B-218C-6B63-E56B-E72C26B927E2}"/>
              </a:ext>
            </a:extLst>
          </p:cNvPr>
          <p:cNvSpPr/>
          <p:nvPr/>
        </p:nvSpPr>
        <p:spPr>
          <a:xfrm>
            <a:off x="527312" y="2007909"/>
            <a:ext cx="3587240" cy="932449"/>
          </a:xfrm>
          <a:prstGeom prst="rect">
            <a:avLst/>
          </a:prstGeom>
          <a:solidFill>
            <a:srgbClr val="003894"/>
          </a:solidFill>
          <a:ln w="19050" cap="flat" cmpd="sng" algn="ctr">
            <a:solidFill>
              <a:srgbClr val="002A8D"/>
            </a:solidFill>
            <a:prstDash val="solid"/>
            <a:miter lim="800000"/>
          </a:ln>
          <a:effectLst/>
        </p:spPr>
        <p:txBody>
          <a:bodyPr wrap="none" tIns="72000" rtlCol="0" anchor="t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n-cs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9978F57-9365-1DA3-61BB-F0018865C9C9}"/>
              </a:ext>
            </a:extLst>
          </p:cNvPr>
          <p:cNvSpPr txBox="1"/>
          <p:nvPr/>
        </p:nvSpPr>
        <p:spPr>
          <a:xfrm>
            <a:off x="596516" y="2348448"/>
            <a:ext cx="197842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전담강사진 </a:t>
            </a: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&amp; </a:t>
            </a:r>
            <a:r>
              <a:rPr kumimoji="0" lang="ko-KR" alt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코치진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간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협력체계</a:t>
            </a:r>
            <a:r>
              <a:rPr lang="ko-KR" altLang="en-US" sz="1400" kern="0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구축</a:t>
            </a: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F43820B-62AD-5407-0BE6-43F10313D0F0}"/>
              </a:ext>
            </a:extLst>
          </p:cNvPr>
          <p:cNvSpPr txBox="1"/>
          <p:nvPr/>
        </p:nvSpPr>
        <p:spPr>
          <a:xfrm>
            <a:off x="610236" y="2040191"/>
            <a:ext cx="694421" cy="289519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Action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04F1F275-1582-2152-3FF6-1A680A0A5E15}"/>
              </a:ext>
            </a:extLst>
          </p:cNvPr>
          <p:cNvSpPr txBox="1"/>
          <p:nvPr/>
        </p:nvSpPr>
        <p:spPr>
          <a:xfrm>
            <a:off x="1082351" y="2051524"/>
            <a:ext cx="456974" cy="289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01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18A169FF-F4F0-3AD6-774B-299B376B28E2}"/>
              </a:ext>
            </a:extLst>
          </p:cNvPr>
          <p:cNvCxnSpPr/>
          <p:nvPr/>
        </p:nvCxnSpPr>
        <p:spPr>
          <a:xfrm>
            <a:off x="666321" y="2327890"/>
            <a:ext cx="944417" cy="0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95000"/>
              </a:schemeClr>
            </a:solidFill>
            <a:prstDash val="solid"/>
            <a:miter lim="800000"/>
          </a:ln>
          <a:effectLst/>
        </p:spPr>
      </p:cxn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CD4365C5-EE48-7B0B-FDAE-5AFAE5FAE049}"/>
              </a:ext>
            </a:extLst>
          </p:cNvPr>
          <p:cNvSpPr/>
          <p:nvPr/>
        </p:nvSpPr>
        <p:spPr>
          <a:xfrm>
            <a:off x="4302380" y="2007909"/>
            <a:ext cx="3587240" cy="932449"/>
          </a:xfrm>
          <a:prstGeom prst="rect">
            <a:avLst/>
          </a:prstGeom>
          <a:solidFill>
            <a:srgbClr val="003894"/>
          </a:solidFill>
          <a:ln w="19050" cap="flat" cmpd="sng" algn="ctr">
            <a:solidFill>
              <a:srgbClr val="002A8D"/>
            </a:solidFill>
            <a:prstDash val="solid"/>
            <a:miter lim="800000"/>
          </a:ln>
          <a:effectLst/>
        </p:spPr>
        <p:txBody>
          <a:bodyPr wrap="none" tIns="72000" rtlCol="0" anchor="t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n-cs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DA1A181-EBC6-52D4-184E-A5720A1E5F6F}"/>
              </a:ext>
            </a:extLst>
          </p:cNvPr>
          <p:cNvSpPr txBox="1"/>
          <p:nvPr/>
        </p:nvSpPr>
        <p:spPr>
          <a:xfrm>
            <a:off x="4359810" y="2348448"/>
            <a:ext cx="187262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kern="0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학습몰입 구현을 위한</a:t>
            </a:r>
            <a:b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전 </a:t>
            </a: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– 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중  </a:t>
            </a: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- 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후 밀착 지원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234C3902-77A3-E154-11EB-98B2AA0A7C8C}"/>
              </a:ext>
            </a:extLst>
          </p:cNvPr>
          <p:cNvSpPr txBox="1"/>
          <p:nvPr/>
        </p:nvSpPr>
        <p:spPr>
          <a:xfrm>
            <a:off x="4373530" y="2040191"/>
            <a:ext cx="694422" cy="289519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Action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B250171-011B-427F-E3B5-5D4E12EFA413}"/>
              </a:ext>
            </a:extLst>
          </p:cNvPr>
          <p:cNvSpPr txBox="1"/>
          <p:nvPr/>
        </p:nvSpPr>
        <p:spPr>
          <a:xfrm>
            <a:off x="5050690" y="2051524"/>
            <a:ext cx="397866" cy="289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02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7E6C2279-A965-6427-A56A-9A000F0CD849}"/>
              </a:ext>
            </a:extLst>
          </p:cNvPr>
          <p:cNvCxnSpPr/>
          <p:nvPr/>
        </p:nvCxnSpPr>
        <p:spPr>
          <a:xfrm>
            <a:off x="4448469" y="2327890"/>
            <a:ext cx="944417" cy="0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95000"/>
              </a:schemeClr>
            </a:solidFill>
            <a:prstDash val="solid"/>
            <a:miter lim="800000"/>
          </a:ln>
          <a:effectLst/>
        </p:spPr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EC617246-7D45-E143-8C2B-558EA22F8716}"/>
              </a:ext>
            </a:extLst>
          </p:cNvPr>
          <p:cNvCxnSpPr>
            <a:cxnSpLocks/>
          </p:cNvCxnSpPr>
          <p:nvPr/>
        </p:nvCxnSpPr>
        <p:spPr>
          <a:xfrm>
            <a:off x="4725684" y="3277583"/>
            <a:ext cx="0" cy="646448"/>
          </a:xfrm>
          <a:prstGeom prst="straightConnector1">
            <a:avLst/>
          </a:prstGeom>
          <a:noFill/>
          <a:ln w="3175" cap="flat" cmpd="sng" algn="ctr">
            <a:solidFill>
              <a:srgbClr val="0070C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0077AD7A-EB32-48F5-E21B-CFE9133BE289}"/>
              </a:ext>
            </a:extLst>
          </p:cNvPr>
          <p:cNvCxnSpPr>
            <a:cxnSpLocks/>
          </p:cNvCxnSpPr>
          <p:nvPr/>
        </p:nvCxnSpPr>
        <p:spPr>
          <a:xfrm>
            <a:off x="4725684" y="4233312"/>
            <a:ext cx="0" cy="790170"/>
          </a:xfrm>
          <a:prstGeom prst="straightConnector1">
            <a:avLst/>
          </a:prstGeom>
          <a:noFill/>
          <a:ln w="3175" cap="flat" cmpd="sng" algn="ctr">
            <a:solidFill>
              <a:srgbClr val="0070C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0" name="자유형: 도형 99">
            <a:extLst>
              <a:ext uri="{FF2B5EF4-FFF2-40B4-BE49-F238E27FC236}">
                <a16:creationId xmlns:a16="http://schemas.microsoft.com/office/drawing/2014/main" id="{565B268F-5CC4-B0D8-114C-F9192A520942}"/>
              </a:ext>
            </a:extLst>
          </p:cNvPr>
          <p:cNvSpPr>
            <a:spLocks noChangeAspect="1"/>
          </p:cNvSpPr>
          <p:nvPr/>
        </p:nvSpPr>
        <p:spPr>
          <a:xfrm>
            <a:off x="4538934" y="3069826"/>
            <a:ext cx="1165816" cy="265484"/>
          </a:xfrm>
          <a:custGeom>
            <a:avLst/>
            <a:gdLst>
              <a:gd name="connsiteX0" fmla="*/ 0 w 933228"/>
              <a:gd name="connsiteY0" fmla="*/ 0 h 254004"/>
              <a:gd name="connsiteX1" fmla="*/ 933228 w 933228"/>
              <a:gd name="connsiteY1" fmla="*/ 0 h 254004"/>
              <a:gd name="connsiteX2" fmla="*/ 757170 w 933228"/>
              <a:gd name="connsiteY2" fmla="*/ 254004 h 254004"/>
              <a:gd name="connsiteX3" fmla="*/ 0 w 933228"/>
              <a:gd name="connsiteY3" fmla="*/ 254004 h 254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3228" h="254004">
                <a:moveTo>
                  <a:pt x="0" y="0"/>
                </a:moveTo>
                <a:lnTo>
                  <a:pt x="933228" y="0"/>
                </a:lnTo>
                <a:lnTo>
                  <a:pt x="757170" y="254004"/>
                </a:lnTo>
                <a:lnTo>
                  <a:pt x="0" y="254004"/>
                </a:lnTo>
                <a:close/>
              </a:path>
            </a:pathLst>
          </a:custGeom>
          <a:solidFill>
            <a:srgbClr val="FFFFFF">
              <a:lumMod val="85000"/>
            </a:srgbClr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wrap="square" tIns="46800" rtlCol="0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rPr>
              <a:t>연수 전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n-cs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3B542ED-DDF7-DCCD-7D5D-C2820DDF13EA}"/>
              </a:ext>
            </a:extLst>
          </p:cNvPr>
          <p:cNvSpPr txBox="1"/>
          <p:nvPr/>
        </p:nvSpPr>
        <p:spPr>
          <a:xfrm>
            <a:off x="4727626" y="3372787"/>
            <a:ext cx="2996333" cy="4572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marR="0" lvl="0" indent="-17145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연수자 대상 문자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/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메일 </a:t>
            </a:r>
            <a:r>
              <a:rPr lang="ko-KR" altLang="en-US" sz="1100" kern="0" dirty="0">
                <a:solidFill>
                  <a:srgbClr val="1E1E1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등을 활용한 사전안내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171450" marR="0" lvl="0" indent="-17145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연수생 사전 수준 조사 실시</a:t>
            </a:r>
          </a:p>
        </p:txBody>
      </p:sp>
      <p:sp>
        <p:nvSpPr>
          <p:cNvPr id="102" name="자유형: 도형 101">
            <a:extLst>
              <a:ext uri="{FF2B5EF4-FFF2-40B4-BE49-F238E27FC236}">
                <a16:creationId xmlns:a16="http://schemas.microsoft.com/office/drawing/2014/main" id="{47FAFDCD-933D-1DB3-E308-06C1F94F275E}"/>
              </a:ext>
            </a:extLst>
          </p:cNvPr>
          <p:cNvSpPr>
            <a:spLocks noChangeAspect="1"/>
          </p:cNvSpPr>
          <p:nvPr/>
        </p:nvSpPr>
        <p:spPr>
          <a:xfrm>
            <a:off x="4538934" y="4035612"/>
            <a:ext cx="1165816" cy="265484"/>
          </a:xfrm>
          <a:custGeom>
            <a:avLst/>
            <a:gdLst>
              <a:gd name="connsiteX0" fmla="*/ 0 w 933228"/>
              <a:gd name="connsiteY0" fmla="*/ 0 h 254004"/>
              <a:gd name="connsiteX1" fmla="*/ 933228 w 933228"/>
              <a:gd name="connsiteY1" fmla="*/ 0 h 254004"/>
              <a:gd name="connsiteX2" fmla="*/ 757170 w 933228"/>
              <a:gd name="connsiteY2" fmla="*/ 254004 h 254004"/>
              <a:gd name="connsiteX3" fmla="*/ 0 w 933228"/>
              <a:gd name="connsiteY3" fmla="*/ 254004 h 254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3228" h="254004">
                <a:moveTo>
                  <a:pt x="0" y="0"/>
                </a:moveTo>
                <a:lnTo>
                  <a:pt x="933228" y="0"/>
                </a:lnTo>
                <a:lnTo>
                  <a:pt x="757170" y="254004"/>
                </a:lnTo>
                <a:lnTo>
                  <a:pt x="0" y="254004"/>
                </a:lnTo>
                <a:close/>
              </a:path>
            </a:pathLst>
          </a:custGeom>
          <a:solidFill>
            <a:srgbClr val="FFFFFF">
              <a:lumMod val="85000"/>
            </a:srgbClr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wrap="square" tIns="46800" rtlCol="0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rPr>
              <a:t>연수 중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n-cs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7B97FD9-C79F-6665-E825-03B1743D0466}"/>
              </a:ext>
            </a:extLst>
          </p:cNvPr>
          <p:cNvSpPr txBox="1"/>
          <p:nvPr/>
        </p:nvSpPr>
        <p:spPr>
          <a:xfrm>
            <a:off x="4727625" y="4283090"/>
            <a:ext cx="2996333" cy="101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과제 해결 촉진 활동</a:t>
            </a: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171450" indent="-171450" latinLnBrk="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연수 결과물 전용 아카이브 관리 </a:t>
            </a:r>
            <a:endParaRPr lang="en-US" altLang="ko-KR" sz="1100" kern="0" dirty="0">
              <a:solidFill>
                <a:srgbClr val="1E1E1E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171450" marR="0" lvl="0" indent="-17145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온라인 소통채널을 활용한 연수생 </a:t>
            </a:r>
            <a:r>
              <a:rPr lang="ko-KR" altLang="en-US" sz="1100" kern="0" dirty="0">
                <a:solidFill>
                  <a:srgbClr val="1E1E1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문의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대응</a:t>
            </a: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171450" marR="0" lvl="0" indent="-17145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100" kern="0" dirty="0">
                <a:solidFill>
                  <a:srgbClr val="1E1E1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연수생 생활관리</a:t>
            </a:r>
            <a:r>
              <a:rPr lang="en-US" altLang="ko-KR" sz="1100" kern="0" dirty="0">
                <a:solidFill>
                  <a:srgbClr val="1E1E1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1100" kern="0" dirty="0">
                <a:solidFill>
                  <a:srgbClr val="1E1E1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건강 및 안전 관리</a:t>
            </a:r>
            <a:r>
              <a:rPr lang="en-US" altLang="ko-KR" sz="1100" kern="0" dirty="0">
                <a:solidFill>
                  <a:srgbClr val="1E1E1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</a:p>
          <a:p>
            <a:pPr marL="171450" marR="0" lvl="0" indent="-17145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100" kern="0" dirty="0">
                <a:solidFill>
                  <a:srgbClr val="1E1E1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연수생 학습 관리</a:t>
            </a:r>
            <a:r>
              <a:rPr lang="en-US" altLang="ko-KR" sz="1100" kern="0" dirty="0">
                <a:solidFill>
                  <a:srgbClr val="1E1E1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1100" kern="0" dirty="0">
                <a:solidFill>
                  <a:srgbClr val="1E1E1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출결 등</a:t>
            </a:r>
            <a:r>
              <a:rPr lang="en-US" altLang="ko-KR" sz="1100" kern="0" dirty="0">
                <a:solidFill>
                  <a:srgbClr val="1E1E1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endParaRPr lang="ko-KR" altLang="en-US" sz="1100" kern="0" dirty="0">
              <a:solidFill>
                <a:srgbClr val="1E1E1E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36" name="자유형: 도형 135">
            <a:extLst>
              <a:ext uri="{FF2B5EF4-FFF2-40B4-BE49-F238E27FC236}">
                <a16:creationId xmlns:a16="http://schemas.microsoft.com/office/drawing/2014/main" id="{BC2FFDDB-770C-1B07-416E-477D38F1CED7}"/>
              </a:ext>
            </a:extLst>
          </p:cNvPr>
          <p:cNvSpPr>
            <a:spLocks noChangeAspect="1"/>
          </p:cNvSpPr>
          <p:nvPr/>
        </p:nvSpPr>
        <p:spPr>
          <a:xfrm>
            <a:off x="4503237" y="5320443"/>
            <a:ext cx="1165816" cy="265484"/>
          </a:xfrm>
          <a:custGeom>
            <a:avLst/>
            <a:gdLst>
              <a:gd name="connsiteX0" fmla="*/ 0 w 933228"/>
              <a:gd name="connsiteY0" fmla="*/ 0 h 254004"/>
              <a:gd name="connsiteX1" fmla="*/ 933228 w 933228"/>
              <a:gd name="connsiteY1" fmla="*/ 0 h 254004"/>
              <a:gd name="connsiteX2" fmla="*/ 757170 w 933228"/>
              <a:gd name="connsiteY2" fmla="*/ 254004 h 254004"/>
              <a:gd name="connsiteX3" fmla="*/ 0 w 933228"/>
              <a:gd name="connsiteY3" fmla="*/ 254004 h 254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3228" h="254004">
                <a:moveTo>
                  <a:pt x="0" y="0"/>
                </a:moveTo>
                <a:lnTo>
                  <a:pt x="933228" y="0"/>
                </a:lnTo>
                <a:lnTo>
                  <a:pt x="757170" y="254004"/>
                </a:lnTo>
                <a:lnTo>
                  <a:pt x="0" y="254004"/>
                </a:lnTo>
                <a:close/>
              </a:path>
            </a:pathLst>
          </a:custGeom>
          <a:solidFill>
            <a:srgbClr val="FFFFFF">
              <a:lumMod val="85000"/>
            </a:srgbClr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wrap="square" tIns="46800" rtlCol="0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rPr>
              <a:t>연수 후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n-cs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49AD2707-3B62-CB3B-8296-F7FC6668A33B}"/>
              </a:ext>
            </a:extLst>
          </p:cNvPr>
          <p:cNvSpPr txBox="1"/>
          <p:nvPr/>
        </p:nvSpPr>
        <p:spPr>
          <a:xfrm>
            <a:off x="4727626" y="5605037"/>
            <a:ext cx="2432076" cy="4554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marR="0" lvl="0" indent="-17145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결과물 편집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수정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추가자료 업로드</a:t>
            </a:r>
          </a:p>
          <a:p>
            <a:pPr marL="171450" marR="0" lvl="0" indent="-17145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전체 차수 종료 후 학습자 공유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1E1E1E"/>
              </a:solidFill>
              <a:effectLst/>
              <a:uLnTx/>
              <a:uFillTx/>
              <a:ea typeface="나눔스퀘어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171D91C4-9E74-7A88-076E-F09EA969AC04}"/>
              </a:ext>
            </a:extLst>
          </p:cNvPr>
          <p:cNvSpPr/>
          <p:nvPr/>
        </p:nvSpPr>
        <p:spPr>
          <a:xfrm>
            <a:off x="8077448" y="2007909"/>
            <a:ext cx="3587240" cy="932449"/>
          </a:xfrm>
          <a:prstGeom prst="rect">
            <a:avLst/>
          </a:prstGeom>
          <a:solidFill>
            <a:srgbClr val="003894"/>
          </a:solidFill>
          <a:ln w="19050" cap="flat" cmpd="sng" algn="ctr">
            <a:solidFill>
              <a:srgbClr val="002A8D"/>
            </a:solidFill>
            <a:prstDash val="solid"/>
            <a:miter lim="800000"/>
          </a:ln>
          <a:effectLst/>
        </p:spPr>
        <p:txBody>
          <a:bodyPr wrap="none" tIns="72000" rtlCol="0" anchor="t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n-cs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741D84F-9533-DAD5-B37B-EB7F5D02D79E}"/>
              </a:ext>
            </a:extLst>
          </p:cNvPr>
          <p:cNvSpPr txBox="1"/>
          <p:nvPr/>
        </p:nvSpPr>
        <p:spPr>
          <a:xfrm>
            <a:off x="8154878" y="2348448"/>
            <a:ext cx="205697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전용 아카이브를 활용한</a:t>
            </a:r>
            <a:b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자발적 </a:t>
            </a:r>
            <a:r>
              <a:rPr lang="ko-KR" altLang="en-US" sz="1400" kern="0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학습 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분위기 형성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8C07B0A-18E3-FC0E-37D8-7A51C3E283EE}"/>
              </a:ext>
            </a:extLst>
          </p:cNvPr>
          <p:cNvSpPr txBox="1"/>
          <p:nvPr/>
        </p:nvSpPr>
        <p:spPr>
          <a:xfrm>
            <a:off x="8168598" y="2040191"/>
            <a:ext cx="694421" cy="289519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Action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1F42D19-ABE1-96B7-E051-B24EBBB3DFCA}"/>
              </a:ext>
            </a:extLst>
          </p:cNvPr>
          <p:cNvSpPr txBox="1"/>
          <p:nvPr/>
        </p:nvSpPr>
        <p:spPr>
          <a:xfrm>
            <a:off x="8598659" y="2051524"/>
            <a:ext cx="499028" cy="289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03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E16B71BC-B055-D44F-2A91-4C96B03E762F}"/>
              </a:ext>
            </a:extLst>
          </p:cNvPr>
          <p:cNvCxnSpPr/>
          <p:nvPr/>
        </p:nvCxnSpPr>
        <p:spPr>
          <a:xfrm>
            <a:off x="8252964" y="2327890"/>
            <a:ext cx="944417" cy="0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95000"/>
              </a:schemeClr>
            </a:solidFill>
            <a:prstDash val="solid"/>
            <a:miter lim="800000"/>
          </a:ln>
          <a:effectLst/>
        </p:spPr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DD2A9E23-F87E-319F-DF3D-C018A5AB945D}"/>
              </a:ext>
            </a:extLst>
          </p:cNvPr>
          <p:cNvSpPr txBox="1"/>
          <p:nvPr/>
        </p:nvSpPr>
        <p:spPr>
          <a:xfrm>
            <a:off x="8826552" y="3089623"/>
            <a:ext cx="2089033" cy="461665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본 과정 산출물 아카이브 구축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전체 자료 중앙화 구현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62079EC3-603D-3CD1-3E29-A7DE412BA3D3}"/>
              </a:ext>
            </a:extLst>
          </p:cNvPr>
          <p:cNvGrpSpPr/>
          <p:nvPr/>
        </p:nvGrpSpPr>
        <p:grpSpPr>
          <a:xfrm>
            <a:off x="8698573" y="3801565"/>
            <a:ext cx="2344991" cy="2197861"/>
            <a:chOff x="6802423" y="3716722"/>
            <a:chExt cx="2344991" cy="2197861"/>
          </a:xfrm>
        </p:grpSpPr>
        <p:pic>
          <p:nvPicPr>
            <p:cNvPr id="87" name="Picture 2" descr="Graph">
              <a:extLst>
                <a:ext uri="{FF2B5EF4-FFF2-40B4-BE49-F238E27FC236}">
                  <a16:creationId xmlns:a16="http://schemas.microsoft.com/office/drawing/2014/main" id="{9DB9844D-28AB-92DC-B886-6CCFC8EFDE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24553" y="3866601"/>
              <a:ext cx="900732" cy="9007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81AF31B0-D2CD-1FCE-D43C-08233ECFAC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00847" y="3716722"/>
              <a:ext cx="1148143" cy="1148638"/>
            </a:xfrm>
            <a:prstGeom prst="ellipse">
              <a:avLst/>
            </a:prstGeom>
            <a:noFill/>
            <a:ln w="12700" cap="flat" cmpd="sng" algn="ctr">
              <a:solidFill>
                <a:srgbClr val="003366">
                  <a:lumMod val="60000"/>
                  <a:lumOff val="40000"/>
                </a:srgbClr>
              </a:solidFill>
              <a:prstDash val="dash"/>
              <a:miter lim="800000"/>
            </a:ln>
            <a:effectLst/>
          </p:spPr>
          <p:txBody>
            <a:bodyPr wrap="none" tIns="46800"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endParaRPr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654CEB88-58EF-C07F-E08D-7453051FB8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02423" y="5308182"/>
              <a:ext cx="606140" cy="606401"/>
            </a:xfrm>
            <a:prstGeom prst="ellipse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solidFill>
                <a:srgbClr val="003366">
                  <a:lumMod val="60000"/>
                  <a:lumOff val="40000"/>
                </a:srgbClr>
              </a:solidFill>
              <a:prstDash val="dash"/>
              <a:miter lim="800000"/>
            </a:ln>
            <a:effectLst/>
          </p:spPr>
          <p:txBody>
            <a:bodyPr wrap="none" tIns="46800"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1E1E1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보충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1E1E1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자료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endParaRPr>
            </a:p>
          </p:txBody>
        </p:sp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4C1B0331-B35D-5BFA-A49C-FEDCBC6B5D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71849" y="5308182"/>
              <a:ext cx="606140" cy="606401"/>
            </a:xfrm>
            <a:prstGeom prst="ellipse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solidFill>
                <a:srgbClr val="003366">
                  <a:lumMod val="60000"/>
                  <a:lumOff val="40000"/>
                </a:srgbClr>
              </a:solidFill>
              <a:prstDash val="dash"/>
              <a:miter lim="800000"/>
            </a:ln>
            <a:effectLst/>
          </p:spPr>
          <p:txBody>
            <a:bodyPr wrap="none" tIns="46800"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1E1E1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팀활동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1E1E1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결과물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endParaRPr>
            </a:p>
          </p:txBody>
        </p:sp>
        <p:sp>
          <p:nvSpPr>
            <p:cNvPr id="116" name="타원 115">
              <a:extLst>
                <a:ext uri="{FF2B5EF4-FFF2-40B4-BE49-F238E27FC236}">
                  <a16:creationId xmlns:a16="http://schemas.microsoft.com/office/drawing/2014/main" id="{F1B34FD9-4E86-1918-52A8-E8098CBE0C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41274" y="5308182"/>
              <a:ext cx="606140" cy="606401"/>
            </a:xfrm>
            <a:prstGeom prst="ellipse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solidFill>
                <a:srgbClr val="003366">
                  <a:lumMod val="60000"/>
                  <a:lumOff val="40000"/>
                </a:srgbClr>
              </a:solidFill>
              <a:prstDash val="dash"/>
              <a:miter lim="800000"/>
            </a:ln>
            <a:effectLst/>
          </p:spPr>
          <p:txBody>
            <a:bodyPr wrap="none" tIns="46800"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1E1E1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지속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1E1E1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업데이트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endParaRPr>
            </a:p>
          </p:txBody>
        </p: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A04AF64F-36F8-309A-8F06-0D95C4AA50E4}"/>
                </a:ext>
              </a:extLst>
            </p:cNvPr>
            <p:cNvCxnSpPr>
              <a:stCxn id="88" idx="3"/>
              <a:endCxn id="114" idx="0"/>
            </p:cNvCxnSpPr>
            <p:nvPr/>
          </p:nvCxnSpPr>
          <p:spPr>
            <a:xfrm flipH="1">
              <a:off x="7105493" y="4697146"/>
              <a:ext cx="463496" cy="611036"/>
            </a:xfrm>
            <a:prstGeom prst="line">
              <a:avLst/>
            </a:prstGeom>
            <a:noFill/>
            <a:ln w="3175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A79A5CA8-E640-51C3-8310-4BE67E2921B1}"/>
                </a:ext>
              </a:extLst>
            </p:cNvPr>
            <p:cNvCxnSpPr>
              <a:cxnSpLocks/>
              <a:stCxn id="88" idx="5"/>
              <a:endCxn id="116" idx="0"/>
            </p:cNvCxnSpPr>
            <p:nvPr/>
          </p:nvCxnSpPr>
          <p:spPr>
            <a:xfrm>
              <a:off x="8380848" y="4697146"/>
              <a:ext cx="463496" cy="611036"/>
            </a:xfrm>
            <a:prstGeom prst="line">
              <a:avLst/>
            </a:prstGeom>
            <a:noFill/>
            <a:ln w="3175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B03382C2-A8AB-463F-7ED9-3A71F0A1E459}"/>
                </a:ext>
              </a:extLst>
            </p:cNvPr>
            <p:cNvCxnSpPr>
              <a:cxnSpLocks/>
            </p:cNvCxnSpPr>
            <p:nvPr/>
          </p:nvCxnSpPr>
          <p:spPr>
            <a:xfrm>
              <a:off x="7974919" y="4865359"/>
              <a:ext cx="0" cy="432000"/>
            </a:xfrm>
            <a:prstGeom prst="line">
              <a:avLst/>
            </a:prstGeom>
            <a:noFill/>
            <a:ln w="3175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</p:cxn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75CFAEB5-9D23-A2C2-A04D-C6F2D8352C89}"/>
                </a:ext>
              </a:extLst>
            </p:cNvPr>
            <p:cNvGrpSpPr/>
            <p:nvPr/>
          </p:nvGrpSpPr>
          <p:grpSpPr>
            <a:xfrm>
              <a:off x="7152197" y="4753335"/>
              <a:ext cx="392671" cy="409881"/>
              <a:chOff x="7152197" y="4753335"/>
              <a:chExt cx="392671" cy="409881"/>
            </a:xfrm>
          </p:grpSpPr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EF969AC2-CDFF-8952-90FD-8437ACFC29AF}"/>
                  </a:ext>
                </a:extLst>
              </p:cNvPr>
              <p:cNvSpPr txBox="1"/>
              <p:nvPr/>
            </p:nvSpPr>
            <p:spPr>
              <a:xfrm rot="18553714">
                <a:off x="7152678" y="4886697"/>
                <a:ext cx="276038" cy="276999"/>
              </a:xfrm>
              <a:prstGeom prst="rect">
                <a:avLst/>
              </a:prstGeom>
              <a:noFill/>
            </p:spPr>
            <p:txBody>
              <a:bodyPr wrap="none" anchor="ctr" anchorCtr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9966">
                        <a:lumMod val="75000"/>
                      </a:srgbClr>
                    </a:solidFill>
                    <a:effectLst/>
                    <a:uLnTx/>
                    <a:uFillTx/>
                    <a:latin typeface="나눔스퀘어 네오 Bold" panose="00000800000000000000" pitchFamily="2" charset="-127"/>
                    <a:ea typeface="나눔스퀘어 네오 Bold" panose="00000800000000000000" pitchFamily="2" charset="-127"/>
                  </a:rPr>
                  <a:t>&gt;</a:t>
                </a: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9966">
                      <a:lumMod val="75000"/>
                    </a:srgbClr>
                  </a:solidFill>
                  <a:effectLst/>
                  <a:uLnTx/>
                  <a:uFillTx/>
                  <a:ea typeface="나눔스퀘어"/>
                </a:endParaRPr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23C2AAE6-F101-75CA-CF2A-1BD3CF37494E}"/>
                  </a:ext>
                </a:extLst>
              </p:cNvPr>
              <p:cNvSpPr txBox="1"/>
              <p:nvPr/>
            </p:nvSpPr>
            <p:spPr>
              <a:xfrm rot="7921448">
                <a:off x="7268350" y="4752854"/>
                <a:ext cx="276038" cy="276999"/>
              </a:xfrm>
              <a:prstGeom prst="rect">
                <a:avLst/>
              </a:prstGeom>
              <a:noFill/>
            </p:spPr>
            <p:txBody>
              <a:bodyPr wrap="none" anchor="ctr" anchorCtr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8DD9B5">
                        <a:lumMod val="50000"/>
                      </a:srgbClr>
                    </a:solidFill>
                    <a:effectLst/>
                    <a:uLnTx/>
                    <a:uFillTx/>
                    <a:latin typeface="나눔스퀘어 네오 Bold" panose="00000800000000000000" pitchFamily="2" charset="-127"/>
                    <a:ea typeface="나눔스퀘어 네오 Bold" panose="00000800000000000000" pitchFamily="2" charset="-127"/>
                  </a:rPr>
                  <a:t>&gt;</a:t>
                </a: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8DD9B5">
                      <a:lumMod val="50000"/>
                    </a:srgbClr>
                  </a:solidFill>
                  <a:effectLst/>
                  <a:uLnTx/>
                  <a:uFillTx/>
                  <a:ea typeface="나눔스퀘어"/>
                </a:endParaRPr>
              </a:p>
            </p:txBody>
          </p:sp>
        </p:grp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400F8085-FFDA-E646-A415-9A841303EE2C}"/>
                </a:ext>
              </a:extLst>
            </p:cNvPr>
            <p:cNvSpPr txBox="1"/>
            <p:nvPr/>
          </p:nvSpPr>
          <p:spPr>
            <a:xfrm rot="16142200">
              <a:off x="7843250" y="4955845"/>
              <a:ext cx="276038" cy="276999"/>
            </a:xfrm>
            <a:prstGeom prst="rect">
              <a:avLst/>
            </a:prstGeom>
            <a:noFill/>
          </p:spPr>
          <p:txBody>
            <a:bodyPr wrap="none" anchor="ctr" anchorCtr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9966">
                      <a:lumMod val="75000"/>
                    </a:srgbClr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&gt;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9966">
                    <a:lumMod val="75000"/>
                  </a:srgbClr>
                </a:solidFill>
                <a:effectLst/>
                <a:uLnTx/>
                <a:uFillTx/>
                <a:ea typeface="나눔스퀘어"/>
              </a:endParaRP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B66147EA-156D-4368-1C4A-FD1116E21013}"/>
                </a:ext>
              </a:extLst>
            </p:cNvPr>
            <p:cNvSpPr txBox="1"/>
            <p:nvPr/>
          </p:nvSpPr>
          <p:spPr>
            <a:xfrm rot="5509934">
              <a:off x="7843250" y="4826580"/>
              <a:ext cx="276038" cy="276999"/>
            </a:xfrm>
            <a:prstGeom prst="rect">
              <a:avLst/>
            </a:prstGeom>
            <a:noFill/>
          </p:spPr>
          <p:txBody>
            <a:bodyPr wrap="none" anchor="ctr" anchorCtr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8DD9B5">
                      <a:lumMod val="50000"/>
                    </a:srgbClr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&gt;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8DD9B5">
                    <a:lumMod val="50000"/>
                  </a:srgbClr>
                </a:solidFill>
                <a:effectLst/>
                <a:uLnTx/>
                <a:uFillTx/>
                <a:ea typeface="나눔스퀘어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06BD237C-EBE1-0259-8213-AB4C8C28D5A9}"/>
                </a:ext>
              </a:extLst>
            </p:cNvPr>
            <p:cNvSpPr txBox="1"/>
            <p:nvPr/>
          </p:nvSpPr>
          <p:spPr>
            <a:xfrm rot="13643623">
              <a:off x="8516883" y="4868018"/>
              <a:ext cx="276038" cy="276999"/>
            </a:xfrm>
            <a:prstGeom prst="rect">
              <a:avLst/>
            </a:prstGeom>
            <a:noFill/>
          </p:spPr>
          <p:txBody>
            <a:bodyPr wrap="none" anchor="ctr" anchorCtr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9966">
                      <a:lumMod val="75000"/>
                    </a:srgbClr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&gt;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9966">
                    <a:lumMod val="75000"/>
                  </a:srgbClr>
                </a:solidFill>
                <a:effectLst/>
                <a:uLnTx/>
                <a:uFillTx/>
                <a:ea typeface="나눔스퀘어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FC976A05-5AB4-576B-2985-5E8F32F78BB6}"/>
                </a:ext>
              </a:extLst>
            </p:cNvPr>
            <p:cNvSpPr txBox="1"/>
            <p:nvPr/>
          </p:nvSpPr>
          <p:spPr>
            <a:xfrm rot="3011357">
              <a:off x="8407175" y="4734509"/>
              <a:ext cx="276038" cy="276999"/>
            </a:xfrm>
            <a:prstGeom prst="rect">
              <a:avLst/>
            </a:prstGeom>
            <a:noFill/>
          </p:spPr>
          <p:txBody>
            <a:bodyPr wrap="none" anchor="ctr" anchorCtr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8DD9B5">
                      <a:lumMod val="50000"/>
                    </a:srgbClr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&gt;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8DD9B5">
                    <a:lumMod val="50000"/>
                  </a:srgbClr>
                </a:solidFill>
                <a:effectLst/>
                <a:uLnTx/>
                <a:uFillTx/>
                <a:ea typeface="나눔스퀘어"/>
              </a:endParaRPr>
            </a:p>
          </p:txBody>
        </p:sp>
        <p:grpSp>
          <p:nvGrpSpPr>
            <p:cNvPr id="125" name="그룹 124">
              <a:extLst>
                <a:ext uri="{FF2B5EF4-FFF2-40B4-BE49-F238E27FC236}">
                  <a16:creationId xmlns:a16="http://schemas.microsoft.com/office/drawing/2014/main" id="{0606145B-564F-8F4A-BEBF-648AF87DF738}"/>
                </a:ext>
              </a:extLst>
            </p:cNvPr>
            <p:cNvGrpSpPr/>
            <p:nvPr/>
          </p:nvGrpSpPr>
          <p:grpSpPr>
            <a:xfrm>
              <a:off x="7154193" y="4633732"/>
              <a:ext cx="392368" cy="672895"/>
              <a:chOff x="7154193" y="4633732"/>
              <a:chExt cx="392368" cy="672895"/>
            </a:xfrm>
          </p:grpSpPr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4575A969-2A93-D54E-4067-73A1EC1C8EFF}"/>
                  </a:ext>
                </a:extLst>
              </p:cNvPr>
              <p:cNvSpPr txBox="1"/>
              <p:nvPr/>
            </p:nvSpPr>
            <p:spPr>
              <a:xfrm rot="18660118">
                <a:off x="7016335" y="4771590"/>
                <a:ext cx="460382" cy="184666"/>
              </a:xfrm>
              <a:prstGeom prst="rect">
                <a:avLst/>
              </a:prstGeom>
              <a:noFill/>
            </p:spPr>
            <p:txBody>
              <a:bodyPr wrap="none" anchor="ctr" anchorCtr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E1E1E"/>
                    </a:solidFill>
                    <a:effectLst/>
                    <a:uLnTx/>
                    <a:uFillTx/>
                    <a:latin typeface="나눔스퀘어 네오 Bold" panose="00000800000000000000" pitchFamily="2" charset="-127"/>
                    <a:ea typeface="나눔스퀘어 네오 Bold" panose="00000800000000000000" pitchFamily="2" charset="-127"/>
                  </a:rPr>
                  <a:t>Upload</a:t>
                </a:r>
                <a:endPara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1E1E1E"/>
                  </a:solidFill>
                  <a:effectLst/>
                  <a:uLnTx/>
                  <a:uFillTx/>
                  <a:ea typeface="나눔스퀘어"/>
                </a:endParaRPr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3F704234-5E16-CFC9-38DD-9BCA2DC6CF98}"/>
                  </a:ext>
                </a:extLst>
              </p:cNvPr>
              <p:cNvSpPr txBox="1"/>
              <p:nvPr/>
            </p:nvSpPr>
            <p:spPr>
              <a:xfrm rot="7908521">
                <a:off x="7163924" y="4923990"/>
                <a:ext cx="580608" cy="184666"/>
              </a:xfrm>
              <a:prstGeom prst="rect">
                <a:avLst/>
              </a:prstGeom>
              <a:noFill/>
            </p:spPr>
            <p:txBody>
              <a:bodyPr wrap="none" anchor="ctr" anchorCtr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E1E1E"/>
                    </a:solidFill>
                    <a:effectLst/>
                    <a:uLnTx/>
                    <a:uFillTx/>
                    <a:latin typeface="나눔스퀘어 네오 Bold" panose="00000800000000000000" pitchFamily="2" charset="-127"/>
                    <a:ea typeface="나눔스퀘어 네오 Bold" panose="00000800000000000000" pitchFamily="2" charset="-127"/>
                  </a:rPr>
                  <a:t>Download</a:t>
                </a:r>
                <a:endPara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1E1E1E"/>
                  </a:solidFill>
                  <a:effectLst/>
                  <a:uLnTx/>
                  <a:uFillTx/>
                  <a:ea typeface="나눔스퀘어"/>
                </a:endParaRPr>
              </a:p>
            </p:txBody>
          </p:sp>
        </p:grpSp>
        <p:grpSp>
          <p:nvGrpSpPr>
            <p:cNvPr id="126" name="그룹 125">
              <a:extLst>
                <a:ext uri="{FF2B5EF4-FFF2-40B4-BE49-F238E27FC236}">
                  <a16:creationId xmlns:a16="http://schemas.microsoft.com/office/drawing/2014/main" id="{76CEDC91-E74B-4F44-DE0E-06A084CE6A19}"/>
                </a:ext>
              </a:extLst>
            </p:cNvPr>
            <p:cNvGrpSpPr/>
            <p:nvPr/>
          </p:nvGrpSpPr>
          <p:grpSpPr>
            <a:xfrm rot="16576284">
              <a:off x="8437200" y="4597582"/>
              <a:ext cx="392368" cy="672895"/>
              <a:chOff x="7154193" y="4633732"/>
              <a:chExt cx="392368" cy="672895"/>
            </a:xfrm>
          </p:grpSpPr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BB1B962A-F61A-3C10-60E7-2703C02653FC}"/>
                  </a:ext>
                </a:extLst>
              </p:cNvPr>
              <p:cNvSpPr txBox="1"/>
              <p:nvPr/>
            </p:nvSpPr>
            <p:spPr>
              <a:xfrm rot="18660118">
                <a:off x="7016335" y="4771590"/>
                <a:ext cx="460382" cy="184666"/>
              </a:xfrm>
              <a:prstGeom prst="rect">
                <a:avLst/>
              </a:prstGeom>
              <a:noFill/>
            </p:spPr>
            <p:txBody>
              <a:bodyPr wrap="none" anchor="ctr" anchorCtr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E1E1E"/>
                    </a:solidFill>
                    <a:effectLst/>
                    <a:uLnTx/>
                    <a:uFillTx/>
                    <a:latin typeface="나눔스퀘어 네오 Bold" panose="00000800000000000000" pitchFamily="2" charset="-127"/>
                    <a:ea typeface="나눔스퀘어 네오 Bold" panose="00000800000000000000" pitchFamily="2" charset="-127"/>
                  </a:rPr>
                  <a:t>Upload</a:t>
                </a:r>
                <a:endPara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1E1E1E"/>
                  </a:solidFill>
                  <a:effectLst/>
                  <a:uLnTx/>
                  <a:uFillTx/>
                  <a:ea typeface="나눔스퀘어"/>
                </a:endParaRPr>
              </a:p>
            </p:txBody>
          </p: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DC38C1EB-7E6E-8D91-94DF-23B1A0392599}"/>
                  </a:ext>
                </a:extLst>
              </p:cNvPr>
              <p:cNvSpPr txBox="1"/>
              <p:nvPr/>
            </p:nvSpPr>
            <p:spPr>
              <a:xfrm rot="7908521">
                <a:off x="7163924" y="4923990"/>
                <a:ext cx="580608" cy="184666"/>
              </a:xfrm>
              <a:prstGeom prst="rect">
                <a:avLst/>
              </a:prstGeom>
              <a:noFill/>
            </p:spPr>
            <p:txBody>
              <a:bodyPr wrap="none" anchor="ctr" anchorCtr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E1E1E"/>
                    </a:solidFill>
                    <a:effectLst/>
                    <a:uLnTx/>
                    <a:uFillTx/>
                    <a:latin typeface="나눔스퀘어 네오 Bold" panose="00000800000000000000" pitchFamily="2" charset="-127"/>
                    <a:ea typeface="나눔스퀘어 네오 Bold" panose="00000800000000000000" pitchFamily="2" charset="-127"/>
                  </a:rPr>
                  <a:t>Download</a:t>
                </a:r>
                <a:endPara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1E1E1E"/>
                  </a:solidFill>
                  <a:effectLst/>
                  <a:uLnTx/>
                  <a:uFillTx/>
                  <a:ea typeface="나눔스퀘어"/>
                </a:endParaRPr>
              </a:p>
            </p:txBody>
          </p:sp>
        </p:grp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D5A0593A-6274-865D-6D5C-214F54C5133A}"/>
                </a:ext>
              </a:extLst>
            </p:cNvPr>
            <p:cNvSpPr txBox="1"/>
            <p:nvPr/>
          </p:nvSpPr>
          <p:spPr>
            <a:xfrm rot="16169624">
              <a:off x="7634247" y="5019498"/>
              <a:ext cx="460382" cy="184666"/>
            </a:xfrm>
            <a:prstGeom prst="rect">
              <a:avLst/>
            </a:prstGeom>
            <a:noFill/>
          </p:spPr>
          <p:txBody>
            <a:bodyPr wrap="none" anchor="ctr" anchorCtr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1E1E1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Upload</a:t>
              </a: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ea typeface="나눔스퀘어"/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780BFA39-9F91-E30A-1C32-F8E878E9D2A6}"/>
                </a:ext>
              </a:extLst>
            </p:cNvPr>
            <p:cNvSpPr txBox="1"/>
            <p:nvPr/>
          </p:nvSpPr>
          <p:spPr>
            <a:xfrm rot="5418027">
              <a:off x="7792966" y="4995976"/>
              <a:ext cx="580608" cy="184666"/>
            </a:xfrm>
            <a:prstGeom prst="rect">
              <a:avLst/>
            </a:prstGeom>
            <a:noFill/>
          </p:spPr>
          <p:txBody>
            <a:bodyPr wrap="none" anchor="ctr" anchorCtr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1E1E1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Download</a:t>
              </a: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ea typeface="나눔스퀘어"/>
              </a:endParaRPr>
            </a:p>
          </p:txBody>
        </p:sp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26640A00-1A59-9847-6E4D-7678931DC7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59855" y="4154159"/>
              <a:ext cx="1630126" cy="286128"/>
            </a:xfrm>
            <a:prstGeom prst="roundRect">
              <a:avLst>
                <a:gd name="adj" fmla="val 50000"/>
              </a:avLst>
            </a:prstGeom>
            <a:solidFill>
              <a:srgbClr val="FF9966">
                <a:lumMod val="40000"/>
                <a:lumOff val="60000"/>
                <a:alpha val="76000"/>
              </a:srgbClr>
            </a:solidFill>
            <a:ln w="12700" cap="flat" cmpd="sng" algn="ctr">
              <a:noFill/>
              <a:prstDash val="dash"/>
              <a:miter lim="800000"/>
            </a:ln>
            <a:effectLst/>
          </p:spPr>
          <p:txBody>
            <a:bodyPr wrap="none" tIns="46800"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1E1E1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  <a:sym typeface="Wingdings" panose="05000000000000000000" pitchFamily="2" charset="2"/>
                </a:rPr>
                <a:t>#</a:t>
              </a: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1E1E1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  <a:sym typeface="Wingdings" panose="05000000000000000000" pitchFamily="2" charset="2"/>
                </a:rPr>
                <a:t>축적 </a:t>
              </a: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1E1E1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  <a:sym typeface="Wingdings" panose="05000000000000000000" pitchFamily="2" charset="2"/>
                </a:rPr>
                <a:t>#</a:t>
              </a: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1E1E1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  <a:sym typeface="Wingdings" panose="05000000000000000000" pitchFamily="2" charset="2"/>
                </a:rPr>
                <a:t>선순환 </a:t>
              </a: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1E1E1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  <a:sym typeface="Wingdings" panose="05000000000000000000" pitchFamily="2" charset="2"/>
                </a:rPr>
                <a:t>#</a:t>
              </a: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1E1E1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  <a:sym typeface="Wingdings" panose="05000000000000000000" pitchFamily="2" charset="2"/>
                </a:rPr>
                <a:t>재가공</a:t>
              </a:r>
              <a:endPara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나눔스퀘어"/>
                <a:cs typeface="+mn-cs"/>
              </a:endParaRPr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6B16AB02-AB40-6DD2-191A-AAD56299476D}"/>
              </a:ext>
            </a:extLst>
          </p:cNvPr>
          <p:cNvSpPr txBox="1"/>
          <p:nvPr/>
        </p:nvSpPr>
        <p:spPr>
          <a:xfrm>
            <a:off x="425041" y="1668865"/>
            <a:ext cx="35253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■ 학습이해도 증진을 위한 다양한 측면의 지원 방안</a:t>
            </a:r>
          </a:p>
        </p:txBody>
      </p:sp>
    </p:spTree>
    <p:extLst>
      <p:ext uri="{BB962C8B-B14F-4D97-AF65-F5344CB8AC3E}">
        <p14:creationId xmlns:p14="http://schemas.microsoft.com/office/powerpoint/2010/main" val="1695611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6ED8A-AA26-09B8-0903-802A94E2E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FAF370-C097-A006-5E0E-1ED62BF2B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단계별 주요 활동 및 예시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CD5C59D-03DE-F01C-2CD0-C8A9F946D9C1}"/>
              </a:ext>
            </a:extLst>
          </p:cNvPr>
          <p:cNvSpPr/>
          <p:nvPr/>
        </p:nvSpPr>
        <p:spPr>
          <a:xfrm>
            <a:off x="0" y="867581"/>
            <a:ext cx="12192000" cy="3179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marL="1730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3-3. </a:t>
            </a:r>
            <a:r>
              <a:rPr lang="ko-KR" altLang="en-US" sz="1200" spc="-100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프로그램 운영</a:t>
            </a:r>
            <a:endParaRPr kumimoji="0" lang="ko-KR" altLang="en-US" sz="1200" b="0" i="0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5EA10ED-7D0E-167A-633E-8517551829F9}"/>
              </a:ext>
            </a:extLst>
          </p:cNvPr>
          <p:cNvSpPr/>
          <p:nvPr/>
        </p:nvSpPr>
        <p:spPr>
          <a:xfrm>
            <a:off x="997791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분석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FFCBA8-E02C-6E5A-5202-861635C61747}"/>
              </a:ext>
            </a:extLst>
          </p:cNvPr>
          <p:cNvSpPr/>
          <p:nvPr/>
        </p:nvSpPr>
        <p:spPr>
          <a:xfrm>
            <a:off x="1042363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세팅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57C2D71-AFBF-8C78-EEBA-F9C4E015E5A8}"/>
              </a:ext>
            </a:extLst>
          </p:cNvPr>
          <p:cNvSpPr/>
          <p:nvPr/>
        </p:nvSpPr>
        <p:spPr>
          <a:xfrm>
            <a:off x="10869354" y="933459"/>
            <a:ext cx="397500" cy="186234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운영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4A646C3-DD21-361B-5A0F-27B27E582B7B}"/>
              </a:ext>
            </a:extLst>
          </p:cNvPr>
          <p:cNvSpPr/>
          <p:nvPr/>
        </p:nvSpPr>
        <p:spPr>
          <a:xfrm>
            <a:off x="1131507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사후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CA3FF54F-6B1A-610A-B4E0-9653C639EC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427778"/>
              </p:ext>
            </p:extLst>
          </p:nvPr>
        </p:nvGraphicFramePr>
        <p:xfrm>
          <a:off x="525364" y="2328421"/>
          <a:ext cx="5347534" cy="39404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6479">
                  <a:extLst>
                    <a:ext uri="{9D8B030D-6E8A-4147-A177-3AD203B41FA5}">
                      <a16:colId xmlns:a16="http://schemas.microsoft.com/office/drawing/2014/main" val="2794977136"/>
                    </a:ext>
                  </a:extLst>
                </a:gridCol>
                <a:gridCol w="520017">
                  <a:extLst>
                    <a:ext uri="{9D8B030D-6E8A-4147-A177-3AD203B41FA5}">
                      <a16:colId xmlns:a16="http://schemas.microsoft.com/office/drawing/2014/main" val="914115648"/>
                    </a:ext>
                  </a:extLst>
                </a:gridCol>
                <a:gridCol w="925609">
                  <a:extLst>
                    <a:ext uri="{9D8B030D-6E8A-4147-A177-3AD203B41FA5}">
                      <a16:colId xmlns:a16="http://schemas.microsoft.com/office/drawing/2014/main" val="4195954833"/>
                    </a:ext>
                  </a:extLst>
                </a:gridCol>
                <a:gridCol w="925609">
                  <a:extLst>
                    <a:ext uri="{9D8B030D-6E8A-4147-A177-3AD203B41FA5}">
                      <a16:colId xmlns:a16="http://schemas.microsoft.com/office/drawing/2014/main" val="3496538577"/>
                    </a:ext>
                  </a:extLst>
                </a:gridCol>
                <a:gridCol w="925609">
                  <a:extLst>
                    <a:ext uri="{9D8B030D-6E8A-4147-A177-3AD203B41FA5}">
                      <a16:colId xmlns:a16="http://schemas.microsoft.com/office/drawing/2014/main" val="206936657"/>
                    </a:ext>
                  </a:extLst>
                </a:gridCol>
                <a:gridCol w="824211">
                  <a:extLst>
                    <a:ext uri="{9D8B030D-6E8A-4147-A177-3AD203B41FA5}">
                      <a16:colId xmlns:a16="http://schemas.microsoft.com/office/drawing/2014/main" val="1349043904"/>
                    </a:ext>
                  </a:extLst>
                </a:gridCol>
              </a:tblGrid>
              <a:tr h="363945"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05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과목</a:t>
                      </a:r>
                      <a:endParaRPr lang="en-US" sz="105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출석</a:t>
                      </a:r>
                    </a:p>
                  </a:txBody>
                  <a:tcPr marL="11201" marR="11201" marT="1120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개별</a:t>
                      </a:r>
                    </a:p>
                  </a:txBody>
                  <a:tcPr marL="11201" marR="11201" marT="1120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11201" marR="11201" marT="1120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11201" marR="11201" marT="1120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학습조별</a:t>
                      </a:r>
                    </a:p>
                  </a:txBody>
                  <a:tcPr marL="11201" marR="11201" marT="1120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087032"/>
                  </a:ext>
                </a:extLst>
              </a:tr>
              <a:tr h="5126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Recap Test</a:t>
                      </a:r>
                    </a:p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퀴즈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11201" marR="11201" marT="1120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실습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11201" marR="11201" marT="1120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TIL</a:t>
                      </a:r>
                    </a:p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복습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11201" marR="11201" marT="1120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팀프로젝트</a:t>
                      </a:r>
                    </a:p>
                  </a:txBody>
                  <a:tcPr marL="11201" marR="11201" marT="1120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67211"/>
                  </a:ext>
                </a:extLst>
              </a:tr>
              <a:tr h="5106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spc="-15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컴퓨터</a:t>
                      </a:r>
                      <a:r>
                        <a:rPr lang="en-US" altLang="ko-KR" sz="1000" spc="-15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/</a:t>
                      </a:r>
                      <a:r>
                        <a:rPr lang="ko-KR" altLang="en-US" sz="1000" spc="-15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프로그램  개론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11201" marR="11201" marT="112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◯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11201" marR="11201" marT="1120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10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11201" marR="11201" marT="1120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27</a:t>
                      </a:r>
                    </a:p>
                  </a:txBody>
                  <a:tcPr marL="11201" marR="11201" marT="1120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10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11201" marR="11201" marT="1120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11201" marR="11201" marT="1120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75115"/>
                  </a:ext>
                </a:extLst>
              </a:tr>
              <a:tr h="5106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데이터베이스 개론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/SQL</a:t>
                      </a:r>
                    </a:p>
                  </a:txBody>
                  <a:tcPr marL="11201" marR="11201" marT="112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◯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11201" marR="11201" marT="1120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8</a:t>
                      </a:r>
                    </a:p>
                  </a:txBody>
                  <a:tcPr marL="11201" marR="11201" marT="1120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24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11201" marR="11201" marT="1120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10</a:t>
                      </a:r>
                    </a:p>
                  </a:txBody>
                  <a:tcPr marL="11201" marR="11201" marT="1120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10</a:t>
                      </a:r>
                      <a:r>
                        <a:rPr lang="ko-KR" altLang="en-US" sz="105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점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11201" marR="11201" marT="1120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1230083"/>
                  </a:ext>
                </a:extLst>
              </a:tr>
              <a:tr h="5106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JAVA</a:t>
                      </a:r>
                      <a:r>
                        <a:rPr lang="ko-KR" altLang="en-US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입문과정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11201" marR="11201" marT="112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◯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11201" marR="11201" marT="1120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16</a:t>
                      </a:r>
                    </a:p>
                  </a:txBody>
                  <a:tcPr marL="11201" marR="11201" marT="1120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48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11201" marR="11201" marT="1120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20</a:t>
                      </a:r>
                    </a:p>
                  </a:txBody>
                  <a:tcPr marL="11201" marR="11201" marT="1120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15</a:t>
                      </a:r>
                      <a:r>
                        <a:rPr lang="ko-KR" altLang="en-US" sz="105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점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11201" marR="11201" marT="1120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4316442"/>
                  </a:ext>
                </a:extLst>
              </a:tr>
              <a:tr h="5106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</a:t>
                      </a:r>
                      <a:r>
                        <a:rPr lang="ko-KR" altLang="en-US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언어 입문과정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11201" marR="11201" marT="1120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◯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11201" marR="11201" marT="1120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16</a:t>
                      </a:r>
                    </a:p>
                  </a:txBody>
                  <a:tcPr marL="11201" marR="11201" marT="1120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48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11201" marR="11201" marT="1120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20</a:t>
                      </a:r>
                    </a:p>
                  </a:txBody>
                  <a:tcPr marL="11201" marR="11201" marT="1120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15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점</a:t>
                      </a:r>
                    </a:p>
                  </a:txBody>
                  <a:tcPr marL="11201" marR="11201" marT="1120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4270985"/>
                  </a:ext>
                </a:extLst>
              </a:tr>
              <a:tr h="51063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배점</a:t>
                      </a:r>
                      <a:endParaRPr 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20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점</a:t>
                      </a:r>
                    </a:p>
                  </a:txBody>
                  <a:tcPr marL="11201" marR="11201" marT="1120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15</a:t>
                      </a:r>
                      <a:r>
                        <a:rPr lang="ko-KR" altLang="en-US" sz="105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점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11201" marR="11201" marT="1120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10</a:t>
                      </a:r>
                      <a:r>
                        <a:rPr lang="ko-KR" altLang="en-US" sz="105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점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11201" marR="11201" marT="1120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15</a:t>
                      </a:r>
                      <a:r>
                        <a:rPr lang="ko-KR" altLang="en-US" sz="105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점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11201" marR="11201" marT="1120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40</a:t>
                      </a:r>
                      <a:r>
                        <a:rPr lang="ko-KR" altLang="en-US" sz="105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점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11201" marR="11201" marT="1120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8862077"/>
                  </a:ext>
                </a:extLst>
              </a:tr>
              <a:tr h="51063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합계</a:t>
                      </a:r>
                      <a:endParaRPr 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100</a:t>
                      </a:r>
                      <a:r>
                        <a:rPr lang="ko-KR" altLang="en-US" sz="105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점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134413" marR="134413" marT="67206" marB="67206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7553416"/>
                  </a:ext>
                </a:extLst>
              </a:tr>
            </a:tbl>
          </a:graphicData>
        </a:graphic>
      </p:graphicFrame>
      <p:grpSp>
        <p:nvGrpSpPr>
          <p:cNvPr id="19" name="그룹 18">
            <a:extLst>
              <a:ext uri="{FF2B5EF4-FFF2-40B4-BE49-F238E27FC236}">
                <a16:creationId xmlns:a16="http://schemas.microsoft.com/office/drawing/2014/main" id="{419947FC-21FC-3A0C-8A8E-A4365AED7D75}"/>
              </a:ext>
            </a:extLst>
          </p:cNvPr>
          <p:cNvGrpSpPr/>
          <p:nvPr/>
        </p:nvGrpSpPr>
        <p:grpSpPr>
          <a:xfrm>
            <a:off x="425041" y="1668865"/>
            <a:ext cx="3180882" cy="538609"/>
            <a:chOff x="425041" y="1668865"/>
            <a:chExt cx="3180882" cy="53860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916387F-1E96-9C22-3B71-250E1F318FF4}"/>
                </a:ext>
              </a:extLst>
            </p:cNvPr>
            <p:cNvSpPr txBox="1"/>
            <p:nvPr/>
          </p:nvSpPr>
          <p:spPr>
            <a:xfrm>
              <a:off x="425041" y="1668865"/>
              <a:ext cx="236635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■ 학습 평가 방안</a:t>
              </a:r>
              <a:r>
                <a:rPr lang="en-US" altLang="ko-KR" sz="12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: </a:t>
              </a:r>
              <a:r>
                <a:rPr lang="ko-KR" altLang="en-US" sz="12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전체 수료 기준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736A3AD-7E34-F197-81FC-0EF90C649F18}"/>
                </a:ext>
              </a:extLst>
            </p:cNvPr>
            <p:cNvSpPr txBox="1"/>
            <p:nvPr/>
          </p:nvSpPr>
          <p:spPr>
            <a:xfrm>
              <a:off x="527836" y="1945864"/>
              <a:ext cx="3078087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1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-</a:t>
              </a:r>
              <a:r>
                <a:rPr lang="ko-KR" altLang="en-US" sz="11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 출석 </a:t>
              </a:r>
              <a:r>
                <a:rPr lang="en-US" altLang="ko-KR" sz="11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80% </a:t>
              </a:r>
              <a:r>
                <a:rPr lang="ko-KR" altLang="en-US" sz="11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이상 </a:t>
              </a:r>
              <a:r>
                <a:rPr lang="en-US" altLang="ko-KR" sz="11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+ </a:t>
              </a:r>
              <a:r>
                <a:rPr lang="ko-KR" altLang="en-US" sz="11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개별 및 학습조별 </a:t>
              </a:r>
              <a:r>
                <a:rPr lang="en-US" altLang="ko-KR" sz="11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80</a:t>
              </a:r>
              <a:r>
                <a:rPr lang="ko-KR" altLang="en-US" sz="11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점 이상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+mn-cs"/>
                </a:rPr>
                <a:t> </a:t>
              </a:r>
              <a:endParaRPr lang="ko-KR" altLang="en-US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1951B7B-A878-CA14-8469-7E881DB410E7}"/>
              </a:ext>
            </a:extLst>
          </p:cNvPr>
          <p:cNvSpPr txBox="1"/>
          <p:nvPr/>
        </p:nvSpPr>
        <p:spPr>
          <a:xfrm>
            <a:off x="5992882" y="1668865"/>
            <a:ext cx="1620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■ 평가기준 세부 사항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124699-46CC-D54A-2240-2A48B03FBE37}"/>
              </a:ext>
            </a:extLst>
          </p:cNvPr>
          <p:cNvSpPr txBox="1"/>
          <p:nvPr/>
        </p:nvSpPr>
        <p:spPr>
          <a:xfrm>
            <a:off x="6095677" y="1945864"/>
            <a:ext cx="231345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-</a:t>
            </a: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평가 기준별 세부기준 수립 및 적용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DF030E-E0E9-A9C2-B49B-9D0C3D6B3AE5}"/>
              </a:ext>
            </a:extLst>
          </p:cNvPr>
          <p:cNvSpPr txBox="1"/>
          <p:nvPr/>
        </p:nvSpPr>
        <p:spPr>
          <a:xfrm>
            <a:off x="436886" y="6285662"/>
            <a:ext cx="1630575" cy="246221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※ TIL: Today I Learned</a:t>
            </a:r>
            <a:endParaRPr lang="ko-KR" altLang="en-US" dirty="0"/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1CF4F1EA-4513-1E6B-83CE-D29A262BDA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684015"/>
              </p:ext>
            </p:extLst>
          </p:nvPr>
        </p:nvGraphicFramePr>
        <p:xfrm>
          <a:off x="6102997" y="2328420"/>
          <a:ext cx="5765153" cy="39572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2129">
                  <a:extLst>
                    <a:ext uri="{9D8B030D-6E8A-4147-A177-3AD203B41FA5}">
                      <a16:colId xmlns:a16="http://schemas.microsoft.com/office/drawing/2014/main" val="171115718"/>
                    </a:ext>
                  </a:extLst>
                </a:gridCol>
                <a:gridCol w="671309">
                  <a:extLst>
                    <a:ext uri="{9D8B030D-6E8A-4147-A177-3AD203B41FA5}">
                      <a16:colId xmlns:a16="http://schemas.microsoft.com/office/drawing/2014/main" val="334541004"/>
                    </a:ext>
                  </a:extLst>
                </a:gridCol>
                <a:gridCol w="1666590">
                  <a:extLst>
                    <a:ext uri="{9D8B030D-6E8A-4147-A177-3AD203B41FA5}">
                      <a16:colId xmlns:a16="http://schemas.microsoft.com/office/drawing/2014/main" val="314431696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3612034146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21866947"/>
                    </a:ext>
                  </a:extLst>
                </a:gridCol>
                <a:gridCol w="1704975">
                  <a:extLst>
                    <a:ext uri="{9D8B030D-6E8A-4147-A177-3AD203B41FA5}">
                      <a16:colId xmlns:a16="http://schemas.microsoft.com/office/drawing/2014/main" val="3448567278"/>
                    </a:ext>
                  </a:extLst>
                </a:gridCol>
              </a:tblGrid>
              <a:tr h="307729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구분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분류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내용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평가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총합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총합 점수 기준</a:t>
                      </a:r>
                      <a:r>
                        <a:rPr lang="en-US" altLang="ko-KR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(Pass </a:t>
                      </a:r>
                      <a:r>
                        <a:rPr lang="ko-KR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개수</a:t>
                      </a:r>
                      <a:r>
                        <a:rPr lang="en-US" altLang="ko-KR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)</a:t>
                      </a:r>
                      <a:endParaRPr lang="ko-KR" altLang="en-US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232350"/>
                  </a:ext>
                </a:extLst>
              </a:tr>
              <a:tr h="1041511">
                <a:tc rowSpan="3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개별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실시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ctr" latinLnBrk="1" hangingPunct="1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Recap</a:t>
                      </a:r>
                    </a:p>
                    <a:p>
                      <a:pPr marL="0" lvl="1" indent="0" algn="ctr" defTabSz="914400" rtl="0" eaLnBrk="1" fontAlgn="ctr" latinLnBrk="1" hangingPunct="1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Test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1" indent="-373063" algn="l" fontAlgn="ctr"/>
                      <a:r>
                        <a:rPr lang="ko-KR" altLang="en-US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매일 전날 학습 내용 테스트</a:t>
                      </a:r>
                      <a:endParaRPr lang="en-US" altLang="ko-KR" sz="1000" u="none" strike="noStrike" dirty="0"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457200" lvl="1" indent="-373063" algn="l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(50</a:t>
                      </a:r>
                      <a:r>
                        <a:rPr lang="ko-KR" altLang="en-US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회</a:t>
                      </a:r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P/F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3663" lvl="1" indent="-93663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47</a:t>
                      </a:r>
                      <a:r>
                        <a:rPr lang="ko-KR" altLang="en-US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회 이상 </a:t>
                      </a:r>
                      <a:r>
                        <a:rPr lang="en-US" altLang="ko-KR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: 15</a:t>
                      </a:r>
                      <a:r>
                        <a:rPr lang="ko-KR" altLang="en-US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점</a:t>
                      </a:r>
                    </a:p>
                    <a:p>
                      <a:pPr marL="93663" lvl="1" indent="-93663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40</a:t>
                      </a:r>
                      <a:r>
                        <a:rPr lang="ko-KR" altLang="en-US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회</a:t>
                      </a:r>
                      <a:r>
                        <a:rPr lang="en-US" altLang="ko-KR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~46</a:t>
                      </a:r>
                      <a:r>
                        <a:rPr lang="ko-KR" altLang="en-US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회 </a:t>
                      </a:r>
                      <a:r>
                        <a:rPr lang="en-US" altLang="ko-KR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:</a:t>
                      </a:r>
                      <a:r>
                        <a:rPr lang="ko-KR" altLang="en-US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</a:t>
                      </a:r>
                      <a:r>
                        <a:rPr lang="en-US" altLang="ko-KR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13</a:t>
                      </a:r>
                      <a:r>
                        <a:rPr lang="ko-KR" altLang="en-US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점</a:t>
                      </a:r>
                    </a:p>
                    <a:p>
                      <a:pPr marL="93663" lvl="1" indent="-93663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30</a:t>
                      </a:r>
                      <a:r>
                        <a:rPr lang="ko-KR" altLang="en-US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회</a:t>
                      </a:r>
                      <a:r>
                        <a:rPr lang="en-US" altLang="ko-KR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~39</a:t>
                      </a:r>
                      <a:r>
                        <a:rPr lang="ko-KR" altLang="en-US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회 </a:t>
                      </a:r>
                      <a:r>
                        <a:rPr lang="en-US" altLang="ko-KR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: 10</a:t>
                      </a:r>
                      <a:r>
                        <a:rPr lang="ko-KR" altLang="en-US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점</a:t>
                      </a:r>
                    </a:p>
                    <a:p>
                      <a:pPr marL="93663" lvl="1" indent="-93663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20</a:t>
                      </a:r>
                      <a:r>
                        <a:rPr lang="ko-KR" altLang="en-US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회</a:t>
                      </a:r>
                      <a:r>
                        <a:rPr lang="en-US" altLang="ko-KR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~29</a:t>
                      </a:r>
                      <a:r>
                        <a:rPr lang="ko-KR" altLang="en-US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회 </a:t>
                      </a:r>
                      <a:r>
                        <a:rPr lang="en-US" altLang="ko-KR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: 7</a:t>
                      </a:r>
                      <a:r>
                        <a:rPr lang="ko-KR" altLang="en-US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점</a:t>
                      </a:r>
                    </a:p>
                    <a:p>
                      <a:pPr marL="93663" lvl="1" indent="-93663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10</a:t>
                      </a:r>
                      <a:r>
                        <a:rPr lang="ko-KR" altLang="en-US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회</a:t>
                      </a:r>
                      <a:r>
                        <a:rPr lang="en-US" altLang="ko-KR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~19</a:t>
                      </a:r>
                      <a:r>
                        <a:rPr lang="ko-KR" altLang="en-US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회 </a:t>
                      </a:r>
                      <a:r>
                        <a:rPr lang="en-US" altLang="ko-KR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:</a:t>
                      </a:r>
                      <a:r>
                        <a:rPr lang="ko-KR" altLang="en-US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</a:t>
                      </a:r>
                      <a:r>
                        <a:rPr lang="en-US" altLang="ko-KR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</a:t>
                      </a:r>
                      <a:r>
                        <a:rPr lang="ko-KR" altLang="en-US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점</a:t>
                      </a:r>
                    </a:p>
                    <a:p>
                      <a:pPr marL="93663" lvl="1" indent="-93663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10</a:t>
                      </a:r>
                      <a:r>
                        <a:rPr lang="ko-KR" altLang="en-US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회 미만 </a:t>
                      </a:r>
                      <a:r>
                        <a:rPr lang="en-US" altLang="ko-KR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: 0</a:t>
                      </a:r>
                      <a:r>
                        <a:rPr lang="ko-KR" altLang="en-US" sz="10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점</a:t>
                      </a:r>
                      <a:endParaRPr lang="en-US" altLang="ko-KR" sz="10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312689"/>
                  </a:ext>
                </a:extLst>
              </a:tr>
              <a:tr h="11759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ctr" latinLnBrk="1" hangingPunct="1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실습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3663" lvl="1" indent="-9525" algn="l" fontAlgn="ctr"/>
                      <a:r>
                        <a:rPr lang="ko-KR" altLang="en-US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매주 금까지 공유 </a:t>
                      </a:r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Cloud</a:t>
                      </a:r>
                      <a:r>
                        <a:rPr lang="ko-KR" altLang="en-US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에</a:t>
                      </a:r>
                      <a:endParaRPr lang="en-US" altLang="ko-KR" sz="1000" u="none" strike="noStrike" dirty="0"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93663" lvl="1" indent="-9525" algn="l" fontAlgn="ctr"/>
                      <a:r>
                        <a:rPr lang="ko-KR" altLang="en-US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작성 자료 제출 </a:t>
                      </a:r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(147</a:t>
                      </a:r>
                      <a:r>
                        <a:rPr lang="ko-KR" altLang="en-US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개</a:t>
                      </a:r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P/F</a:t>
                      </a:r>
                      <a:endParaRPr lang="ko-KR" altLang="en-US" sz="1000" u="none" strike="noStrike" kern="1200" dirty="0">
                        <a:solidFill>
                          <a:schemeClr val="dk1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10</a:t>
                      </a:r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3663" indent="-9366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140</a:t>
                      </a:r>
                      <a:r>
                        <a:rPr lang="ko-KR" altLang="en-US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개 이상 </a:t>
                      </a:r>
                      <a:r>
                        <a:rPr lang="en-US" altLang="ko-KR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: 10</a:t>
                      </a:r>
                      <a:r>
                        <a:rPr lang="ko-KR" altLang="en-US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점</a:t>
                      </a:r>
                      <a:endParaRPr lang="en-US" altLang="ko-KR" sz="1000" spc="-100" baseline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93663" indent="-9366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120</a:t>
                      </a:r>
                      <a:r>
                        <a:rPr lang="ko-KR" altLang="en-US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개 이상 </a:t>
                      </a:r>
                      <a:r>
                        <a:rPr lang="en-US" altLang="ko-KR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:</a:t>
                      </a:r>
                      <a:r>
                        <a:rPr lang="ko-KR" altLang="en-US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</a:t>
                      </a:r>
                      <a:r>
                        <a:rPr lang="en-US" altLang="ko-KR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8</a:t>
                      </a:r>
                      <a:r>
                        <a:rPr lang="ko-KR" altLang="en-US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점</a:t>
                      </a:r>
                      <a:endParaRPr lang="en-US" altLang="ko-KR" sz="1000" spc="-100" baseline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93663" indent="-9366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100</a:t>
                      </a:r>
                      <a:r>
                        <a:rPr lang="ko-KR" altLang="en-US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개 이상 </a:t>
                      </a:r>
                      <a:r>
                        <a:rPr lang="en-US" altLang="ko-KR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: 6</a:t>
                      </a:r>
                      <a:r>
                        <a:rPr lang="ko-KR" altLang="en-US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점</a:t>
                      </a:r>
                      <a:endParaRPr lang="en-US" altLang="ko-KR" sz="1000" spc="-100" baseline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93663" indent="-9366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80</a:t>
                      </a:r>
                      <a:r>
                        <a:rPr lang="ko-KR" altLang="en-US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개 이상 </a:t>
                      </a:r>
                      <a:r>
                        <a:rPr lang="en-US" altLang="ko-KR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: 4</a:t>
                      </a:r>
                      <a:r>
                        <a:rPr lang="ko-KR" altLang="en-US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점</a:t>
                      </a:r>
                      <a:endParaRPr lang="en-US" altLang="ko-KR" sz="1000" spc="-100" baseline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93663" indent="-9366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60</a:t>
                      </a:r>
                      <a:r>
                        <a:rPr lang="ko-KR" altLang="en-US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개 이상 </a:t>
                      </a:r>
                      <a:r>
                        <a:rPr lang="en-US" altLang="ko-KR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: 2</a:t>
                      </a:r>
                      <a:r>
                        <a:rPr lang="ko-KR" altLang="en-US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점</a:t>
                      </a:r>
                      <a:endParaRPr lang="en-US" altLang="ko-KR" sz="1000" spc="-100" baseline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93663" indent="-9366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40</a:t>
                      </a:r>
                      <a:r>
                        <a:rPr lang="ko-KR" altLang="en-US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개 이상 </a:t>
                      </a:r>
                      <a:r>
                        <a:rPr lang="en-US" altLang="ko-KR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: 1</a:t>
                      </a:r>
                      <a:r>
                        <a:rPr lang="ko-KR" altLang="en-US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점</a:t>
                      </a:r>
                      <a:endParaRPr lang="en-US" altLang="ko-KR" sz="1000" spc="-100" baseline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93663" indent="-9366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40</a:t>
                      </a:r>
                      <a:r>
                        <a:rPr lang="ko-KR" altLang="en-US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개 미만 </a:t>
                      </a:r>
                      <a:r>
                        <a:rPr lang="en-US" altLang="ko-KR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: 0</a:t>
                      </a:r>
                      <a:r>
                        <a:rPr lang="ko-KR" altLang="en-US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점</a:t>
                      </a:r>
                      <a:endParaRPr lang="en-US" altLang="ko-KR" sz="1000" spc="-100" baseline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367634"/>
                  </a:ext>
                </a:extLst>
              </a:tr>
              <a:tr h="3998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TIL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3663" marR="0" lvl="1" indent="-952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매일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T story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에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TIL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작성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93663" marR="0" lvl="1" indent="-952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복습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정리 기록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관리자</a:t>
                      </a:r>
                      <a:endParaRPr lang="en-US" altLang="ko-KR" sz="1000" u="none" strike="noStrike" dirty="0"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체크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15</a:t>
                      </a:r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3663" indent="-9366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교육일자 기준 </a:t>
                      </a:r>
                      <a:r>
                        <a:rPr lang="en-US" altLang="ko-KR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90% </a:t>
                      </a:r>
                      <a:r>
                        <a:rPr lang="ko-KR" altLang="en-US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이상 </a:t>
                      </a:r>
                      <a:r>
                        <a:rPr lang="en-US" altLang="ko-KR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10</a:t>
                      </a:r>
                      <a:r>
                        <a:rPr lang="ko-KR" altLang="en-US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점</a:t>
                      </a:r>
                      <a:endParaRPr lang="en-US" altLang="ko-KR" sz="1000" spc="-100" baseline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93663" indent="-9366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교육일자 기준 </a:t>
                      </a:r>
                      <a:r>
                        <a:rPr lang="en-US" altLang="ko-KR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90% </a:t>
                      </a:r>
                      <a:r>
                        <a:rPr lang="ko-KR" altLang="en-US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이하 </a:t>
                      </a:r>
                      <a:r>
                        <a:rPr lang="en-US" altLang="ko-KR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0</a:t>
                      </a:r>
                      <a:r>
                        <a:rPr lang="ko-KR" altLang="en-US" sz="10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점</a:t>
                      </a: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9694487"/>
                  </a:ext>
                </a:extLst>
              </a:tr>
              <a:tr h="420685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학습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조별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373063" algn="ctr" defTabSz="914400" rtl="0" eaLnBrk="1" fontAlgn="ctr" latinLnBrk="1" hangingPunct="1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팀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lvl="1" indent="-373063" algn="ctr" defTabSz="914400" rtl="0" eaLnBrk="1" fontAlgn="ctr" latinLnBrk="1" hangingPunct="1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프로젝트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3663" lvl="1" indent="0" algn="l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4</a:t>
                      </a:r>
                      <a:r>
                        <a:rPr lang="ko-KR" altLang="en-US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주차</a:t>
                      </a:r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8</a:t>
                      </a:r>
                      <a:r>
                        <a:rPr lang="ko-KR" altLang="en-US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주차</a:t>
                      </a:r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12</a:t>
                      </a:r>
                      <a:r>
                        <a:rPr lang="ko-KR" altLang="en-US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주차에</a:t>
                      </a:r>
                      <a:endParaRPr lang="en-US" altLang="ko-KR" sz="1000" u="none" strike="noStrike" dirty="0"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93663" lvl="1" indent="0" algn="l" fontAlgn="ctr"/>
                      <a:r>
                        <a:rPr lang="ko-KR" altLang="en-US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프로젝트 발표 </a:t>
                      </a:r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(3</a:t>
                      </a:r>
                      <a:r>
                        <a:rPr lang="ko-KR" altLang="en-US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회</a:t>
                      </a:r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정량평가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3663" lvl="1" indent="-93663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프로젝트별 평가 기준에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0" lvl="1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 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따라 배점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2007628"/>
                  </a:ext>
                </a:extLst>
              </a:tr>
              <a:tr h="30407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출석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457200" lvl="1" indent="-373063" algn="ctr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3663" lvl="1" indent="0"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출결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체크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관리자 체크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/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</a:t>
                      </a: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523535"/>
                  </a:ext>
                </a:extLst>
              </a:tr>
              <a:tr h="307452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총합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457200" lvl="1" indent="-277813" algn="l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/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8011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4194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71938-B428-6C5B-5E71-3517C88E3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837FDC-D0A5-DB97-C1F9-3D14DD634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단계별 주요 활동 및 예시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E792B72-7BC1-F696-49A4-A7622E7C9531}"/>
              </a:ext>
            </a:extLst>
          </p:cNvPr>
          <p:cNvSpPr/>
          <p:nvPr/>
        </p:nvSpPr>
        <p:spPr>
          <a:xfrm>
            <a:off x="0" y="867581"/>
            <a:ext cx="12192000" cy="3179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marL="1730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3-3. </a:t>
            </a:r>
            <a:r>
              <a:rPr lang="ko-KR" altLang="en-US" sz="1200" spc="-100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프로그램 운영</a:t>
            </a:r>
            <a:endParaRPr kumimoji="0" lang="ko-KR" altLang="en-US" sz="1200" b="0" i="0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AD85E41-2404-A18B-95B8-573C97EB7B0E}"/>
              </a:ext>
            </a:extLst>
          </p:cNvPr>
          <p:cNvSpPr/>
          <p:nvPr/>
        </p:nvSpPr>
        <p:spPr>
          <a:xfrm>
            <a:off x="997791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분석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E475C2-5C7A-DA76-1B61-6B4E821B32C8}"/>
              </a:ext>
            </a:extLst>
          </p:cNvPr>
          <p:cNvSpPr/>
          <p:nvPr/>
        </p:nvSpPr>
        <p:spPr>
          <a:xfrm>
            <a:off x="1042363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세팅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63C806E-A98E-CAF3-9CA9-5CB9E289CC8B}"/>
              </a:ext>
            </a:extLst>
          </p:cNvPr>
          <p:cNvSpPr/>
          <p:nvPr/>
        </p:nvSpPr>
        <p:spPr>
          <a:xfrm>
            <a:off x="10869354" y="933459"/>
            <a:ext cx="397500" cy="186234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운영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AB4921D-3151-607B-0C50-5A9E4A3B84D9}"/>
              </a:ext>
            </a:extLst>
          </p:cNvPr>
          <p:cNvSpPr/>
          <p:nvPr/>
        </p:nvSpPr>
        <p:spPr>
          <a:xfrm>
            <a:off x="1131507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사후</a:t>
            </a:r>
          </a:p>
        </p:txBody>
      </p:sp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EB5E1948-0E14-8575-D2C2-96144FBABD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5456"/>
              </p:ext>
            </p:extLst>
          </p:nvPr>
        </p:nvGraphicFramePr>
        <p:xfrm>
          <a:off x="515938" y="1603926"/>
          <a:ext cx="11217455" cy="4704801"/>
        </p:xfrm>
        <a:graphic>
          <a:graphicData uri="http://schemas.openxmlformats.org/drawingml/2006/table">
            <a:tbl>
              <a:tblPr firstRow="1" bandRow="1"/>
              <a:tblGrid>
                <a:gridCol w="1866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50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355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r" defTabSz="742969" rtl="0" eaLnBrk="1" latinLnBrk="1" hangingPunct="1">
                        <a:buFont typeface="Arial" pitchFamily="34" charset="0"/>
                        <a:buNone/>
                      </a:pPr>
                      <a:r>
                        <a:rPr lang="en-US" altLang="ko-KR" sz="1100" b="1" kern="0" spc="-150" dirty="0">
                          <a:solidFill>
                            <a:schemeClr val="tx1"/>
                          </a:solidFill>
                          <a:effectLst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+mn-cs"/>
                        </a:rPr>
                        <a:t>A Track</a:t>
                      </a:r>
                      <a:endParaRPr lang="ko-KR" altLang="en-US" sz="1100" b="1" kern="0" spc="-150" dirty="0">
                        <a:solidFill>
                          <a:schemeClr val="tx1"/>
                        </a:solidFill>
                        <a:effectLst/>
                        <a:latin typeface="나눔스퀘어 네오 ExtraBold" panose="00000900000000000000" pitchFamily="2" charset="-127"/>
                        <a:ea typeface="나눔스퀘어 네오 ExtraBold" panose="000009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l" latinLnBrk="1">
                        <a:lnSpc>
                          <a:spcPct val="100000"/>
                        </a:lnSpc>
                        <a:spcAft>
                          <a:spcPts val="600"/>
                        </a:spcAft>
                        <a:buFontTx/>
                        <a:buNone/>
                      </a:pPr>
                      <a:r>
                        <a:rPr lang="ko-KR" altLang="en-US" sz="1100" b="1" kern="0" spc="-80" baseline="0" noProof="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컴퓨터</a:t>
                      </a:r>
                      <a:r>
                        <a:rPr lang="en-US" altLang="ko-KR" sz="1100" b="1" kern="0" spc="-80" baseline="0" noProof="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/</a:t>
                      </a:r>
                      <a:r>
                        <a:rPr lang="ko-KR" altLang="en-US" sz="1100" b="1" kern="0" spc="-80" baseline="0" noProof="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프로그램 개론</a:t>
                      </a:r>
                    </a:p>
                  </a:txBody>
                  <a:tcPr marL="144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55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r" defTabSz="742969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100" b="1" kern="0" spc="-150" dirty="0">
                          <a:solidFill>
                            <a:schemeClr val="tx1"/>
                          </a:solidFill>
                          <a:effectLst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+mn-cs"/>
                        </a:rPr>
                        <a:t>강의장소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l" latinLnBrk="1">
                        <a:lnSpc>
                          <a:spcPct val="100000"/>
                        </a:lnSpc>
                        <a:spcAft>
                          <a:spcPts val="600"/>
                        </a:spcAft>
                        <a:buFontTx/>
                        <a:buNone/>
                      </a:pPr>
                      <a:r>
                        <a:rPr lang="ko-KR" altLang="en-US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다우기술 </a:t>
                      </a:r>
                      <a:r>
                        <a:rPr lang="ko-KR" altLang="en-US" sz="1100" b="0" kern="1200" spc="0" baseline="0" noProof="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강의장</a:t>
                      </a:r>
                      <a:r>
                        <a:rPr lang="en-US" altLang="ko-KR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(</a:t>
                      </a:r>
                      <a:r>
                        <a:rPr lang="ko-KR" altLang="en-US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판교</a:t>
                      </a:r>
                      <a:r>
                        <a:rPr lang="en-US" altLang="ko-KR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)</a:t>
                      </a:r>
                      <a:endParaRPr lang="ko-KR" altLang="en-US" sz="1100" b="0" kern="1200" spc="0" baseline="0" noProof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144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103864"/>
                  </a:ext>
                </a:extLst>
              </a:tr>
              <a:tr h="31355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r" defTabSz="742969" rtl="0" eaLnBrk="1" latinLnBrk="1" hangingPunct="1">
                        <a:lnSpc>
                          <a:spcPct val="100000"/>
                        </a:lnSpc>
                        <a:buFont typeface="Arial" pitchFamily="34" charset="0"/>
                        <a:buNone/>
                      </a:pPr>
                      <a:r>
                        <a:rPr lang="ko-KR" altLang="en-US" sz="1100" b="1" kern="0" spc="-150" dirty="0">
                          <a:solidFill>
                            <a:schemeClr val="tx1"/>
                          </a:solidFill>
                          <a:effectLst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+mn-cs"/>
                        </a:rPr>
                        <a:t>실행일정 및 시간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l" latinLnBrk="1">
                        <a:lnSpc>
                          <a:spcPct val="100000"/>
                        </a:lnSpc>
                        <a:spcAft>
                          <a:spcPts val="600"/>
                        </a:spcAft>
                        <a:buFontTx/>
                        <a:buNone/>
                      </a:pPr>
                      <a:r>
                        <a:rPr lang="en-US" altLang="ko-KR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2025</a:t>
                      </a:r>
                      <a:r>
                        <a:rPr lang="ko-KR" altLang="en-US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년 </a:t>
                      </a:r>
                      <a:r>
                        <a:rPr lang="en-US" altLang="ko-KR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1</a:t>
                      </a:r>
                      <a:r>
                        <a:rPr lang="ko-KR" altLang="en-US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월 중</a:t>
                      </a:r>
                      <a:r>
                        <a:rPr lang="en-US" altLang="ko-KR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, 1~2</a:t>
                      </a:r>
                      <a:r>
                        <a:rPr lang="ko-KR" altLang="en-US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주차</a:t>
                      </a:r>
                      <a:r>
                        <a:rPr lang="en-US" altLang="ko-KR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/12</a:t>
                      </a:r>
                      <a:r>
                        <a:rPr lang="ko-KR" altLang="en-US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주차</a:t>
                      </a:r>
                      <a:r>
                        <a:rPr lang="en-US" altLang="ko-KR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, 8h/</a:t>
                      </a:r>
                      <a:r>
                        <a:rPr lang="ko-KR" altLang="en-US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일</a:t>
                      </a:r>
                    </a:p>
                  </a:txBody>
                  <a:tcPr marL="144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843035"/>
                  </a:ext>
                </a:extLst>
              </a:tr>
              <a:tr h="94585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r" defTabSz="742969" rtl="0" eaLnBrk="1" latinLnBrk="1" hangingPunct="1">
                        <a:spcAft>
                          <a:spcPts val="100"/>
                        </a:spcAft>
                        <a:buFont typeface="Arial" pitchFamily="34" charset="0"/>
                        <a:buNone/>
                      </a:pPr>
                      <a:r>
                        <a:rPr lang="ko-KR" altLang="en-US" sz="1100" b="1" kern="0" spc="-150" dirty="0">
                          <a:solidFill>
                            <a:schemeClr val="tx1"/>
                          </a:solidFill>
                          <a:effectLst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+mn-cs"/>
                        </a:rPr>
                        <a:t>과정목표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0" i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○ 컴퓨터의 기본 구조와 작동 원리를 이해하고</a:t>
                      </a:r>
                      <a:r>
                        <a:rPr lang="en-US" altLang="ko-KR" sz="1100" b="0" i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, </a:t>
                      </a:r>
                      <a:r>
                        <a:rPr lang="ko-KR" altLang="en-US" sz="1100" b="0" i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하드웨어와 소프트웨어의 상호작용을 설명할 수 있다</a:t>
                      </a:r>
                      <a:r>
                        <a:rPr lang="en-US" altLang="ko-KR" sz="1100" b="0" i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0" i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○프로그래밍의 기본 개념과 원리를 이해하고</a:t>
                      </a:r>
                      <a:r>
                        <a:rPr lang="en-US" altLang="ko-KR" sz="1100" b="0" i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, </a:t>
                      </a:r>
                      <a:r>
                        <a:rPr lang="ko-KR" altLang="en-US" sz="1100" b="0" i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프로그래밍 언어의 특징을 배울 수 있다</a:t>
                      </a:r>
                      <a:r>
                        <a:rPr lang="en-US" altLang="ko-KR" sz="1100" b="0" i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0" i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○ </a:t>
                      </a: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주어진 문제를 분석하고</a:t>
                      </a: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효과적인 알고리즘을 설계하여 프로그램으로 구현할 수 있는 능력을 기를 수 있다</a:t>
                      </a: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.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144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056000"/>
                  </a:ext>
                </a:extLst>
              </a:tr>
              <a:tr h="252688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r" defTabSz="742969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100" b="1" kern="0" spc="-150" dirty="0">
                          <a:solidFill>
                            <a:schemeClr val="tx1"/>
                          </a:solidFill>
                          <a:effectLst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+mn-cs"/>
                        </a:rPr>
                        <a:t>과정구성</a:t>
                      </a:r>
                      <a:endParaRPr lang="en-US" altLang="ko-KR" sz="1100" b="1" kern="0" spc="-150" dirty="0">
                        <a:solidFill>
                          <a:schemeClr val="tx1"/>
                        </a:solidFill>
                        <a:effectLst/>
                        <a:latin typeface="나눔스퀘어 네오 ExtraBold" panose="00000900000000000000" pitchFamily="2" charset="-127"/>
                        <a:ea typeface="나눔스퀘어 네오 ExtraBold" panose="000009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97FD5">
                        <a:lumMod val="60000"/>
                        <a:lumOff val="40000"/>
                        <a:alpha val="58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100" b="0" kern="1200" spc="0" baseline="0" noProof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144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540992"/>
                  </a:ext>
                </a:extLst>
              </a:tr>
              <a:tr h="29140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r" defTabSz="742969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100" b="1" kern="0" spc="-150" dirty="0">
                          <a:solidFill>
                            <a:schemeClr val="tx1"/>
                          </a:solidFill>
                          <a:effectLst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+mn-cs"/>
                        </a:rPr>
                        <a:t>교수방법</a:t>
                      </a:r>
                      <a:endParaRPr lang="en-US" altLang="ko-KR" sz="1100" b="1" kern="0" spc="-150" dirty="0">
                        <a:solidFill>
                          <a:schemeClr val="tx1"/>
                        </a:solidFill>
                        <a:effectLst/>
                        <a:latin typeface="나눔스퀘어 네오 ExtraBold" panose="00000900000000000000" pitchFamily="2" charset="-127"/>
                        <a:ea typeface="나눔스퀘어 네오 ExtraBold" panose="000009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8FA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이론강의 </a:t>
                      </a:r>
                      <a:r>
                        <a:rPr lang="en-US" altLang="ko-KR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+ </a:t>
                      </a:r>
                      <a:r>
                        <a:rPr lang="ko-KR" altLang="en-US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실습 </a:t>
                      </a:r>
                      <a:r>
                        <a:rPr lang="en-US" altLang="ko-KR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+ </a:t>
                      </a:r>
                      <a:r>
                        <a:rPr lang="ko-KR" altLang="en-US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개인 학습</a:t>
                      </a:r>
                      <a:r>
                        <a:rPr lang="en-US" altLang="ko-KR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+ </a:t>
                      </a:r>
                      <a:r>
                        <a:rPr lang="ko-KR" altLang="en-US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팀 스터디</a:t>
                      </a:r>
                      <a:endParaRPr lang="en-US" altLang="ko-KR" sz="1100" b="0" kern="1200" spc="0" baseline="0" noProof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144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862371"/>
                  </a:ext>
                </a:extLst>
              </a:tr>
            </a:tbl>
          </a:graphicData>
        </a:graphic>
      </p:graphicFrame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BE6A7B81-03E2-5A09-A47B-AB9158D7B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65293"/>
              </p:ext>
            </p:extLst>
          </p:nvPr>
        </p:nvGraphicFramePr>
        <p:xfrm>
          <a:off x="2486025" y="3644631"/>
          <a:ext cx="9161460" cy="2279791"/>
        </p:xfrm>
        <a:graphic>
          <a:graphicData uri="http://schemas.openxmlformats.org/drawingml/2006/table">
            <a:tbl>
              <a:tblPr firstRow="1" bandRow="1"/>
              <a:tblGrid>
                <a:gridCol w="1628775">
                  <a:extLst>
                    <a:ext uri="{9D8B030D-6E8A-4147-A177-3AD203B41FA5}">
                      <a16:colId xmlns:a16="http://schemas.microsoft.com/office/drawing/2014/main" val="2617287499"/>
                    </a:ext>
                  </a:extLst>
                </a:gridCol>
                <a:gridCol w="2510895">
                  <a:extLst>
                    <a:ext uri="{9D8B030D-6E8A-4147-A177-3AD203B41FA5}">
                      <a16:colId xmlns:a16="http://schemas.microsoft.com/office/drawing/2014/main" val="4209543300"/>
                    </a:ext>
                  </a:extLst>
                </a:gridCol>
                <a:gridCol w="2510895">
                  <a:extLst>
                    <a:ext uri="{9D8B030D-6E8A-4147-A177-3AD203B41FA5}">
                      <a16:colId xmlns:a16="http://schemas.microsoft.com/office/drawing/2014/main" val="2852030399"/>
                    </a:ext>
                  </a:extLst>
                </a:gridCol>
                <a:gridCol w="2510895">
                  <a:extLst>
                    <a:ext uri="{9D8B030D-6E8A-4147-A177-3AD203B41FA5}">
                      <a16:colId xmlns:a16="http://schemas.microsoft.com/office/drawing/2014/main" val="3943045774"/>
                    </a:ext>
                  </a:extLst>
                </a:gridCol>
              </a:tblGrid>
              <a:tr h="2422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Module1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Module2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Module3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839939"/>
                  </a:ext>
                </a:extLst>
              </a:tr>
              <a:tr h="2422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모듈명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</a:rPr>
                        <a:t>CS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</a:rPr>
                        <a:t>기반지식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스퀘어 네오 ExtraBold" panose="00000900000000000000" pitchFamily="2" charset="-127"/>
                        <a:ea typeface="나눔스퀘어 네오 ExtraBold" panose="000009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97F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Arial" panose="020B0604020202020204" pitchFamily="34" charset="0"/>
                        </a:rPr>
                        <a:t>CS </a:t>
                      </a:r>
                      <a:r>
                        <a:rPr kumimoji="0" lang="ko-KR" altLang="en-US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Arial" panose="020B0604020202020204" pitchFamily="34" charset="0"/>
                        </a:rPr>
                        <a:t>자료 처리</a:t>
                      </a:r>
                      <a:endParaRPr kumimoji="0" lang="en-US" altLang="ko-KR" sz="900" b="0" i="0" u="none" strike="noStrike" kern="0" cap="none" spc="-80" normalizeH="0" baseline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나눔스퀘어 네오 ExtraBold" panose="00000900000000000000" pitchFamily="2" charset="-127"/>
                        <a:ea typeface="나눔스퀘어 네오 ExtraBold" panose="00000900000000000000" pitchFamily="2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97F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</a:rPr>
                        <a:t>IT </a:t>
                      </a:r>
                      <a:r>
                        <a:rPr lang="ko-KR" altLang="en-US" sz="900" dirty="0"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</a:rPr>
                        <a:t>서비스 이해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97FD5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34819"/>
                  </a:ext>
                </a:extLst>
              </a:tr>
              <a:tr h="2422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학습시간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3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일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,24h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0" lang="ko-KR" altLang="en-US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일</a:t>
                      </a:r>
                      <a:r>
                        <a:rPr kumimoji="0" lang="en-US" altLang="ko-KR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, 32h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3</a:t>
                      </a: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일</a:t>
                      </a: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24h</a:t>
                      </a:r>
                      <a:endParaRPr lang="ko-KR" altLang="en-US" sz="9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797105"/>
                  </a:ext>
                </a:extLst>
              </a:tr>
              <a:tr h="99706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학습내용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4138" marR="0" lvl="0" indent="-84138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이산수학과 논리설계</a:t>
                      </a:r>
                      <a:endParaRPr lang="en-US" altLang="ko-KR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  <a:p>
                      <a:pPr marL="84138" marR="0" lvl="0" indent="-84138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컴퓨터구조와 운영체제</a:t>
                      </a:r>
                      <a:endParaRPr lang="en-US" altLang="ko-KR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  <a:p>
                      <a:pPr marL="84138" marR="0" lvl="0" indent="-84138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애플리케이션 프로그래밍</a:t>
                      </a:r>
                      <a:endParaRPr lang="en-US" altLang="ko-KR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4138" marR="0" lvl="0" indent="-84138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컴퓨터 통신과 네트워킹</a:t>
                      </a:r>
                      <a:endParaRPr lang="en-US" altLang="ko-KR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  <a:p>
                      <a:pPr marL="84138" marR="0" lvl="0" indent="-84138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데이터베이스와 파일시스템</a:t>
                      </a:r>
                      <a:endParaRPr lang="en-US" altLang="ko-KR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  <a:p>
                      <a:pPr marL="84138" marR="0" lvl="0" indent="-84138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알고리즘과 자료구조</a:t>
                      </a:r>
                      <a:endParaRPr lang="en-US" altLang="ko-KR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  <a:p>
                      <a:pPr marL="84138" marR="0" lvl="0" indent="-84138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시스템 프로그래밍과 병렬 처리</a:t>
                      </a:r>
                      <a:endParaRPr lang="en-US" altLang="ko-KR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4138" marR="0" lvl="0" indent="-84138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인터넷과 데이터 보안 </a:t>
                      </a:r>
                      <a:endParaRPr lang="en-US" altLang="ko-KR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  <a:p>
                      <a:pPr marL="84138" marR="0" lvl="0" indent="-84138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인공지능 원리와 활용</a:t>
                      </a:r>
                      <a:endParaRPr lang="en-US" altLang="ko-KR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  <a:p>
                      <a:pPr marL="84138" marR="0" lvl="0" indent="-84138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 err="1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소셜네트워크와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 서비스 설계</a:t>
                      </a:r>
                      <a:endParaRPr lang="en-US" altLang="ko-KR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138318"/>
                  </a:ext>
                </a:extLst>
              </a:tr>
              <a:tr h="2684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실습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537364"/>
                  </a:ext>
                </a:extLst>
              </a:tr>
              <a:tr h="2684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Test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427066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BE64AF9C-3793-98B4-BAF1-5DFE5910C205}"/>
              </a:ext>
            </a:extLst>
          </p:cNvPr>
          <p:cNvSpPr txBox="1"/>
          <p:nvPr/>
        </p:nvSpPr>
        <p:spPr>
          <a:xfrm>
            <a:off x="2502369" y="2840597"/>
            <a:ext cx="418952" cy="349702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E2AE827-430F-0641-09FD-B83684281E4A}"/>
              </a:ext>
            </a:extLst>
          </p:cNvPr>
          <p:cNvSpPr txBox="1"/>
          <p:nvPr/>
        </p:nvSpPr>
        <p:spPr>
          <a:xfrm>
            <a:off x="2502369" y="3063692"/>
            <a:ext cx="418952" cy="349702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3986597-C6D0-A266-138E-A0976DE977B8}"/>
              </a:ext>
            </a:extLst>
          </p:cNvPr>
          <p:cNvSpPr txBox="1"/>
          <p:nvPr/>
        </p:nvSpPr>
        <p:spPr>
          <a:xfrm>
            <a:off x="2454744" y="2582209"/>
            <a:ext cx="5549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F3995A9-1F5A-0EE2-2D07-1E9656BC87D7}"/>
              </a:ext>
            </a:extLst>
          </p:cNvPr>
          <p:cNvGrpSpPr/>
          <p:nvPr/>
        </p:nvGrpSpPr>
        <p:grpSpPr>
          <a:xfrm>
            <a:off x="8722795" y="1338997"/>
            <a:ext cx="2978664" cy="180000"/>
            <a:chOff x="8716878" y="1327872"/>
            <a:chExt cx="2978664" cy="180000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85CE9925-7B6C-D8F8-0B01-3CE2C54E9FDE}"/>
                </a:ext>
              </a:extLst>
            </p:cNvPr>
            <p:cNvSpPr/>
            <p:nvPr/>
          </p:nvSpPr>
          <p:spPr>
            <a:xfrm>
              <a:off x="8716878" y="1327872"/>
              <a:ext cx="720000" cy="180000"/>
            </a:xfrm>
            <a:prstGeom prst="rect">
              <a:avLst/>
            </a:prstGeom>
            <a:solidFill>
              <a:srgbClr val="82DFFF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A Track</a:t>
              </a:r>
              <a:endParaRPr lang="ko-KR" altLang="en-US" sz="9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3435CB1A-66C2-FF64-BC25-C35BA6150292}"/>
                </a:ext>
              </a:extLst>
            </p:cNvPr>
            <p:cNvSpPr/>
            <p:nvPr/>
          </p:nvSpPr>
          <p:spPr>
            <a:xfrm>
              <a:off x="9469766" y="1327872"/>
              <a:ext cx="720000" cy="1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B Track</a:t>
              </a:r>
              <a:endParaRPr lang="ko-KR" altLang="en-US" sz="9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62C21791-904B-81D7-E009-6A72F453150F}"/>
                </a:ext>
              </a:extLst>
            </p:cNvPr>
            <p:cNvSpPr/>
            <p:nvPr/>
          </p:nvSpPr>
          <p:spPr>
            <a:xfrm>
              <a:off x="10222654" y="1327872"/>
              <a:ext cx="720000" cy="1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C Track</a:t>
              </a:r>
              <a:endParaRPr lang="ko-KR" altLang="en-US" sz="9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F1632AF4-C61C-47CD-9418-45DA295F10EA}"/>
                </a:ext>
              </a:extLst>
            </p:cNvPr>
            <p:cNvSpPr/>
            <p:nvPr/>
          </p:nvSpPr>
          <p:spPr>
            <a:xfrm>
              <a:off x="10975542" y="1327872"/>
              <a:ext cx="720000" cy="1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D Track</a:t>
              </a:r>
              <a:endParaRPr lang="ko-KR" altLang="en-US" sz="9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7047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6E11D-E3B5-269E-D136-15607AF2F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BCE1EA-B971-DBE7-CB37-84833C5C8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단계별 주요 활동 및 예시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BD939CE-6CE4-A6D8-BEFC-A70502B09564}"/>
              </a:ext>
            </a:extLst>
          </p:cNvPr>
          <p:cNvSpPr/>
          <p:nvPr/>
        </p:nvSpPr>
        <p:spPr>
          <a:xfrm>
            <a:off x="0" y="867581"/>
            <a:ext cx="12192000" cy="3179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marL="1730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3-3. </a:t>
            </a:r>
            <a:r>
              <a:rPr lang="ko-KR" altLang="en-US" sz="1200" spc="-100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프로그램 운영</a:t>
            </a:r>
            <a:endParaRPr kumimoji="0" lang="ko-KR" altLang="en-US" sz="1200" b="0" i="0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62EC94D-AC4B-AAE7-EA61-6B84ACEC8198}"/>
              </a:ext>
            </a:extLst>
          </p:cNvPr>
          <p:cNvSpPr/>
          <p:nvPr/>
        </p:nvSpPr>
        <p:spPr>
          <a:xfrm>
            <a:off x="997791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분석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9DB631D-76A8-007A-62B1-A3433711A806}"/>
              </a:ext>
            </a:extLst>
          </p:cNvPr>
          <p:cNvSpPr/>
          <p:nvPr/>
        </p:nvSpPr>
        <p:spPr>
          <a:xfrm>
            <a:off x="1042363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세팅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A2291E-4322-4EDF-5C4F-8626301BA1F6}"/>
              </a:ext>
            </a:extLst>
          </p:cNvPr>
          <p:cNvSpPr/>
          <p:nvPr/>
        </p:nvSpPr>
        <p:spPr>
          <a:xfrm>
            <a:off x="10869354" y="933459"/>
            <a:ext cx="397500" cy="186234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운영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C94AABA-17BC-B411-C99A-D579E3625339}"/>
              </a:ext>
            </a:extLst>
          </p:cNvPr>
          <p:cNvSpPr/>
          <p:nvPr/>
        </p:nvSpPr>
        <p:spPr>
          <a:xfrm>
            <a:off x="1131507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사후</a:t>
            </a: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131224A4-109B-306E-9CFF-E317271507DE}"/>
              </a:ext>
            </a:extLst>
          </p:cNvPr>
          <p:cNvGrpSpPr/>
          <p:nvPr/>
        </p:nvGrpSpPr>
        <p:grpSpPr>
          <a:xfrm>
            <a:off x="8722795" y="1338997"/>
            <a:ext cx="2978664" cy="180000"/>
            <a:chOff x="8716878" y="1327872"/>
            <a:chExt cx="2978664" cy="180000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4F707BFA-A7D8-855E-9A51-32C995AB4A0E}"/>
                </a:ext>
              </a:extLst>
            </p:cNvPr>
            <p:cNvSpPr/>
            <p:nvPr/>
          </p:nvSpPr>
          <p:spPr>
            <a:xfrm>
              <a:off x="8716878" y="1327872"/>
              <a:ext cx="720000" cy="180000"/>
            </a:xfrm>
            <a:prstGeom prst="rect">
              <a:avLst/>
            </a:prstGeom>
            <a:solidFill>
              <a:srgbClr val="82DFFF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A Track</a:t>
              </a:r>
              <a:endParaRPr lang="ko-KR" altLang="en-US" sz="9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73B479C5-5317-F413-9C2D-7A1A355D534B}"/>
                </a:ext>
              </a:extLst>
            </p:cNvPr>
            <p:cNvSpPr/>
            <p:nvPr/>
          </p:nvSpPr>
          <p:spPr>
            <a:xfrm>
              <a:off x="9469766" y="1327872"/>
              <a:ext cx="720000" cy="1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B Track</a:t>
              </a:r>
              <a:endParaRPr lang="ko-KR" altLang="en-US" sz="9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D7A756F6-75FB-DB92-E98B-44B8323C34CE}"/>
                </a:ext>
              </a:extLst>
            </p:cNvPr>
            <p:cNvSpPr/>
            <p:nvPr/>
          </p:nvSpPr>
          <p:spPr>
            <a:xfrm>
              <a:off x="10222654" y="1327872"/>
              <a:ext cx="720000" cy="1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C Track</a:t>
              </a:r>
              <a:endParaRPr lang="ko-KR" altLang="en-US" sz="9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1EEB75DC-A331-61B1-F70E-D793547AF5A1}"/>
                </a:ext>
              </a:extLst>
            </p:cNvPr>
            <p:cNvSpPr/>
            <p:nvPr/>
          </p:nvSpPr>
          <p:spPr>
            <a:xfrm>
              <a:off x="10975542" y="1327872"/>
              <a:ext cx="720000" cy="1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D Track</a:t>
              </a:r>
              <a:endParaRPr lang="ko-KR" altLang="en-US" sz="9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D0910F1-B5B6-633C-87C0-B1B73B039269}"/>
              </a:ext>
            </a:extLst>
          </p:cNvPr>
          <p:cNvGrpSpPr/>
          <p:nvPr/>
        </p:nvGrpSpPr>
        <p:grpSpPr>
          <a:xfrm>
            <a:off x="515938" y="1300479"/>
            <a:ext cx="1223204" cy="1042670"/>
            <a:chOff x="515938" y="1300479"/>
            <a:chExt cx="1223206" cy="1033146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7B74ACCB-5A00-8521-8138-AF23CCD8191C}"/>
                </a:ext>
              </a:extLst>
            </p:cNvPr>
            <p:cNvSpPr/>
            <p:nvPr/>
          </p:nvSpPr>
          <p:spPr>
            <a:xfrm>
              <a:off x="515938" y="1300479"/>
              <a:ext cx="1223206" cy="1033146"/>
            </a:xfrm>
            <a:prstGeom prst="rect">
              <a:avLst/>
            </a:prstGeom>
            <a:solidFill>
              <a:srgbClr val="2484C6"/>
            </a:solidFill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0" i="0" u="none" strike="noStrike" kern="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컴퓨터</a:t>
              </a:r>
              <a:r>
                <a:rPr kumimoji="0" lang="en-US" altLang="ko-KR" sz="1200" b="0" i="0" u="none" strike="noStrike" kern="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/</a:t>
              </a:r>
              <a:r>
                <a:rPr kumimoji="0" lang="ko-KR" altLang="en-US" sz="1200" b="0" i="0" u="none" strike="noStrike" kern="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프로그램 개론 </a:t>
              </a:r>
              <a:endParaRPr kumimoji="0" lang="en-US" altLang="ko-KR" sz="1200" b="0" i="0" u="none" strike="noStrike" kern="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48AE38F6-E732-2E3D-AD50-9C167CF24EC8}"/>
                </a:ext>
              </a:extLst>
            </p:cNvPr>
            <p:cNvSpPr/>
            <p:nvPr/>
          </p:nvSpPr>
          <p:spPr>
            <a:xfrm>
              <a:off x="515938" y="1300479"/>
              <a:ext cx="319423" cy="261621"/>
            </a:xfrm>
            <a:prstGeom prst="rect">
              <a:avLst/>
            </a:prstGeom>
            <a:solidFill>
              <a:srgbClr val="2484C6">
                <a:lumMod val="40000"/>
                <a:lumOff val="60000"/>
              </a:srgbClr>
            </a:solidFill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A</a:t>
              </a:r>
              <a:endPara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E266128-EE8F-2F8F-D6C1-B2BEE587BB20}"/>
              </a:ext>
            </a:extLst>
          </p:cNvPr>
          <p:cNvSpPr/>
          <p:nvPr/>
        </p:nvSpPr>
        <p:spPr>
          <a:xfrm>
            <a:off x="1775644" y="1300479"/>
            <a:ext cx="9936927" cy="1044000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1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주차 학습목표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  <a:p>
            <a:pPr marL="268288" marR="0" lvl="0" indent="-17938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현재의 정보통신 기술의 위치와 미래에서의 정보통신 기술의 발전위치를 확인해본다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 </a:t>
            </a:r>
          </a:p>
          <a:p>
            <a:pPr marL="268288" marR="0" lvl="0" indent="-17938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컴퓨터의 기본구조를  이해하고 하드웨어와 소프트웨어의 구조를 이해한다</a:t>
            </a:r>
          </a:p>
          <a:p>
            <a:pPr marL="268288" marR="0" lvl="0" indent="-17938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디지털 정보 표현을 이해하고 진법변환을 자유롭게 할 수 있다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FA16ACFE-0078-FA01-CEC8-71A9988A25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897688"/>
              </p:ext>
            </p:extLst>
          </p:nvPr>
        </p:nvGraphicFramePr>
        <p:xfrm>
          <a:off x="525363" y="2409826"/>
          <a:ext cx="11195675" cy="3915714"/>
        </p:xfrm>
        <a:graphic>
          <a:graphicData uri="http://schemas.openxmlformats.org/drawingml/2006/table">
            <a:tbl>
              <a:tblPr firstRow="1" bandRow="1"/>
              <a:tblGrid>
                <a:gridCol w="464906">
                  <a:extLst>
                    <a:ext uri="{9D8B030D-6E8A-4147-A177-3AD203B41FA5}">
                      <a16:colId xmlns:a16="http://schemas.microsoft.com/office/drawing/2014/main" val="3940468437"/>
                    </a:ext>
                  </a:extLst>
                </a:gridCol>
                <a:gridCol w="464906">
                  <a:extLst>
                    <a:ext uri="{9D8B030D-6E8A-4147-A177-3AD203B41FA5}">
                      <a16:colId xmlns:a16="http://schemas.microsoft.com/office/drawing/2014/main" val="2400606576"/>
                    </a:ext>
                  </a:extLst>
                </a:gridCol>
                <a:gridCol w="904568">
                  <a:extLst>
                    <a:ext uri="{9D8B030D-6E8A-4147-A177-3AD203B41FA5}">
                      <a16:colId xmlns:a16="http://schemas.microsoft.com/office/drawing/2014/main" val="376411452"/>
                    </a:ext>
                  </a:extLst>
                </a:gridCol>
                <a:gridCol w="2019203">
                  <a:extLst>
                    <a:ext uri="{9D8B030D-6E8A-4147-A177-3AD203B41FA5}">
                      <a16:colId xmlns:a16="http://schemas.microsoft.com/office/drawing/2014/main" val="2115866371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1381459244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1058031535"/>
                    </a:ext>
                  </a:extLst>
                </a:gridCol>
                <a:gridCol w="2195196">
                  <a:extLst>
                    <a:ext uri="{9D8B030D-6E8A-4147-A177-3AD203B41FA5}">
                      <a16:colId xmlns:a16="http://schemas.microsoft.com/office/drawing/2014/main" val="1033327336"/>
                    </a:ext>
                  </a:extLst>
                </a:gridCol>
                <a:gridCol w="826896">
                  <a:extLst>
                    <a:ext uri="{9D8B030D-6E8A-4147-A177-3AD203B41FA5}">
                      <a16:colId xmlns:a16="http://schemas.microsoft.com/office/drawing/2014/main" val="3360630688"/>
                    </a:ext>
                  </a:extLst>
                </a:gridCol>
              </a:tblGrid>
              <a:tr h="319266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일정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모듈명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교육 내용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실습 내용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기타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476630"/>
                  </a:ext>
                </a:extLst>
              </a:tr>
              <a:tr h="844208"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</a:t>
                      </a:r>
                    </a:p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week</a:t>
                      </a:r>
                      <a:endParaRPr lang="ko-KR" altLang="en-US" sz="1000" spc="-15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CS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기반 지식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이산수학과 논리설계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8900" indent="-889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컴퓨터과학과 디지털에 대한 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890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수학적 이해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8900" indent="-889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전자회로 및 신호처리 방식</a:t>
                      </a:r>
                    </a:p>
                    <a:p>
                      <a:pPr marL="88900" indent="-889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논리설계부터 컴퓨터가 만들어지는 과정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8900" indent="-889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디지털이란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?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소프트웨어는 어떻게 하드웨어를 구동하는가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?</a:t>
                      </a:r>
                    </a:p>
                    <a:p>
                      <a:pPr marL="88900" indent="-889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로직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논리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에 대한 이해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defTabSz="914400" rtl="0" eaLnBrk="1" fontAlgn="base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기초적인 논리설계 구현하기</a:t>
                      </a:r>
                    </a:p>
                    <a:p>
                      <a:pPr marL="85725" indent="-85725" algn="l" defTabSz="914400" rtl="0" eaLnBrk="1" fontAlgn="base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kern="1200" spc="-5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</a:t>
                      </a:r>
                      <a:r>
                        <a:rPr lang="ko-KR" altLang="en-US" sz="1000" kern="1200" spc="-5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명이 각 논리설계를 하나로 통합하기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037185"/>
                  </a:ext>
                </a:extLst>
              </a:tr>
              <a:tr h="68065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컴퓨터 구조와 운영체제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8900" indent="-889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컴퓨터를 구성하는 핵심 요소들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8900" indent="-889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컴퓨터 주변기기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8900" indent="-889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운영체제의 정의와 필요성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8900" indent="-825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-6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데스크탑</a:t>
                      </a:r>
                      <a:r>
                        <a:rPr lang="en-US" altLang="ko-KR" sz="1000" spc="-6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000" spc="-6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모바일</a:t>
                      </a:r>
                      <a:r>
                        <a:rPr lang="en-US" altLang="ko-KR" sz="1000" spc="-6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000" spc="-6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서버용 운영체제의 차이</a:t>
                      </a:r>
                      <a:endParaRPr lang="en-US" altLang="ko-KR" sz="1000" spc="-60" baseline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8900" indent="-825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가상 컴퓨터와 가상 운영체제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가상 컴퓨터와 가상 운영체제 정의 및 발표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963409"/>
                  </a:ext>
                </a:extLst>
              </a:tr>
              <a:tr h="68065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애플리케이션 프로그래밍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8900" indent="-88900" latinLnBrk="1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애플리케이션의 의미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8900" indent="-825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컴퓨터 구조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운영체제와 상관관계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889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비즈니스 로직의 가치와 중요성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0" marR="0" lvl="0" indent="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3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단계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티어에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대한 이해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4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운영체제과 애플리케이션간 소통 방식 발표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단원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TEST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4769"/>
                  </a:ext>
                </a:extLst>
              </a:tr>
              <a:tr h="6934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CS 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자료 처리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컴퓨터 통신과 네트워킹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defTabSz="914400" rtl="0" eaLnBrk="1" fontAlgn="base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통신을 위한 하드웨어 및 신호체계</a:t>
                      </a:r>
                    </a:p>
                    <a:p>
                      <a:pPr marL="85725" indent="-85725" algn="l" defTabSz="914400" rtl="0" eaLnBrk="1" fontAlgn="base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운영체제의 역할</a:t>
                      </a: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85725" algn="l" defTabSz="914400" rtl="0" eaLnBrk="1" fontAlgn="base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컴퓨터간 통신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indent="85725" algn="l" defTabSz="914400" rtl="0" eaLnBrk="1" fontAlgn="base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네트워킹으로의 확대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indent="0" algn="l" defTabSz="914400" rtl="0" eaLnBrk="1" fontAlgn="base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물리적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논리적 측면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defTabSz="914400" rtl="0" eaLnBrk="1" fontAlgn="base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spc="-2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내가 정의한 소프트웨어 간 통신 방법</a:t>
                      </a:r>
                    </a:p>
                    <a:p>
                      <a:pPr marL="85725" indent="-85725" algn="l" defTabSz="914400" rtl="0" eaLnBrk="1" fontAlgn="base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다수의 소프트웨어간 통신 방법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121350"/>
                  </a:ext>
                </a:extLst>
              </a:tr>
              <a:tr h="68065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데이터베이스와 파일시스템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defTabSz="914400" rtl="0" eaLnBrk="1" fontAlgn="base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파일시스템에 대한 이해</a:t>
                      </a:r>
                    </a:p>
                    <a:p>
                      <a:pPr marL="85725" indent="-85725" algn="l" defTabSz="914400" rtl="0" eaLnBrk="1" fontAlgn="base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데이터베이스 관리 시스템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(DBMS)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에 대한 이해</a:t>
                      </a: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85725" algn="l" defTabSz="914400" rtl="0" eaLnBrk="1" fontAlgn="base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데이터와 정보의 차이</a:t>
                      </a:r>
                    </a:p>
                    <a:p>
                      <a:pPr marL="0" indent="85725" algn="l" defTabSz="914400" rtl="0" eaLnBrk="1" fontAlgn="base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spc="-6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분산 데이터베이스와 분산 파일시스템</a:t>
                      </a: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5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파일시스템과 데이터베이스 대상 기초적인 실습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877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54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59575-813C-7889-E801-CB0606338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4B015A-C6B6-2E93-066A-285D7FA2F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단계별 주요 활동 및 예시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7608DA5-0E34-0A85-B44E-C312A5D7C1CD}"/>
              </a:ext>
            </a:extLst>
          </p:cNvPr>
          <p:cNvSpPr/>
          <p:nvPr/>
        </p:nvSpPr>
        <p:spPr>
          <a:xfrm>
            <a:off x="0" y="867581"/>
            <a:ext cx="12192000" cy="3179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marL="1730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3-3. </a:t>
            </a:r>
            <a:r>
              <a:rPr lang="ko-KR" altLang="en-US" sz="1200" spc="-100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프로그램 운영</a:t>
            </a:r>
            <a:endParaRPr kumimoji="0" lang="ko-KR" altLang="en-US" sz="1200" b="0" i="0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2E81799-6956-7922-F5C5-6B71CDDBC54C}"/>
              </a:ext>
            </a:extLst>
          </p:cNvPr>
          <p:cNvSpPr/>
          <p:nvPr/>
        </p:nvSpPr>
        <p:spPr>
          <a:xfrm>
            <a:off x="997791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분석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970FB2B-8115-3100-F373-A974151DC56D}"/>
              </a:ext>
            </a:extLst>
          </p:cNvPr>
          <p:cNvSpPr/>
          <p:nvPr/>
        </p:nvSpPr>
        <p:spPr>
          <a:xfrm>
            <a:off x="1042363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세팅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F070D32-C5CD-75BF-A183-12BB5386A666}"/>
              </a:ext>
            </a:extLst>
          </p:cNvPr>
          <p:cNvSpPr/>
          <p:nvPr/>
        </p:nvSpPr>
        <p:spPr>
          <a:xfrm>
            <a:off x="10869354" y="933459"/>
            <a:ext cx="397500" cy="186234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운영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99E8CD0-636C-DC88-55EF-1D316C7F002C}"/>
              </a:ext>
            </a:extLst>
          </p:cNvPr>
          <p:cNvSpPr/>
          <p:nvPr/>
        </p:nvSpPr>
        <p:spPr>
          <a:xfrm>
            <a:off x="1131507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사후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D71386D-1C95-DE18-3585-7498553868C1}"/>
              </a:ext>
            </a:extLst>
          </p:cNvPr>
          <p:cNvGrpSpPr/>
          <p:nvPr/>
        </p:nvGrpSpPr>
        <p:grpSpPr>
          <a:xfrm>
            <a:off x="515938" y="1300479"/>
            <a:ext cx="1223204" cy="1042670"/>
            <a:chOff x="515938" y="1300479"/>
            <a:chExt cx="1223206" cy="1033146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27B5B4D-8C4F-A283-0F89-C7B4C983B123}"/>
                </a:ext>
              </a:extLst>
            </p:cNvPr>
            <p:cNvSpPr/>
            <p:nvPr/>
          </p:nvSpPr>
          <p:spPr>
            <a:xfrm>
              <a:off x="515938" y="1300479"/>
              <a:ext cx="1223206" cy="1033146"/>
            </a:xfrm>
            <a:prstGeom prst="rect">
              <a:avLst/>
            </a:prstGeom>
            <a:solidFill>
              <a:srgbClr val="2484C6"/>
            </a:solidFill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0" i="0" u="none" strike="noStrike" kern="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컴퓨터</a:t>
              </a:r>
              <a:r>
                <a:rPr kumimoji="0" lang="en-US" altLang="ko-KR" sz="1200" b="0" i="0" u="none" strike="noStrike" kern="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/</a:t>
              </a:r>
              <a:r>
                <a:rPr kumimoji="0" lang="ko-KR" altLang="en-US" sz="1200" b="0" i="0" u="none" strike="noStrike" kern="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프로그램 개론 </a:t>
              </a:r>
              <a:endParaRPr kumimoji="0" lang="en-US" altLang="ko-KR" sz="1200" b="0" i="0" u="none" strike="noStrike" kern="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E680B90-1930-C766-8458-410812296438}"/>
                </a:ext>
              </a:extLst>
            </p:cNvPr>
            <p:cNvSpPr/>
            <p:nvPr/>
          </p:nvSpPr>
          <p:spPr>
            <a:xfrm>
              <a:off x="515938" y="1300479"/>
              <a:ext cx="319423" cy="261621"/>
            </a:xfrm>
            <a:prstGeom prst="rect">
              <a:avLst/>
            </a:prstGeom>
            <a:solidFill>
              <a:srgbClr val="2484C6">
                <a:lumMod val="40000"/>
                <a:lumOff val="60000"/>
              </a:srgbClr>
            </a:solidFill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A</a:t>
              </a:r>
              <a:endPara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755823D-DD29-9495-9BA6-9FB0D453536E}"/>
              </a:ext>
            </a:extLst>
          </p:cNvPr>
          <p:cNvSpPr/>
          <p:nvPr/>
        </p:nvSpPr>
        <p:spPr>
          <a:xfrm>
            <a:off x="1775644" y="1300479"/>
            <a:ext cx="9936927" cy="1044000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2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주차 학습목표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  <a:p>
            <a:pPr marL="268288" marR="0" lvl="0" indent="-17938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알고리즘과 자료 구조에 대해 설명할 수 있다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</a:t>
            </a:r>
          </a:p>
          <a:p>
            <a:pPr marL="268288" marR="0" lvl="0" indent="-17938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시스템 프로그램에 대해 이해하고 병렬처리에 대해 설명할 수 있다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</a:t>
            </a:r>
          </a:p>
          <a:p>
            <a:pPr marL="268288" marR="0" lvl="0" indent="-17938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IT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서비스를 이해를 바탕으로 금융권 서비스 개발 방법론에 대해 설명할 수 있다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C3AA1720-B5B3-B761-8F0D-EA4946ABE2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535322"/>
              </p:ext>
            </p:extLst>
          </p:nvPr>
        </p:nvGraphicFramePr>
        <p:xfrm>
          <a:off x="525363" y="2409825"/>
          <a:ext cx="11195675" cy="3898901"/>
        </p:xfrm>
        <a:graphic>
          <a:graphicData uri="http://schemas.openxmlformats.org/drawingml/2006/table">
            <a:tbl>
              <a:tblPr firstRow="1" bandRow="1"/>
              <a:tblGrid>
                <a:gridCol w="464906">
                  <a:extLst>
                    <a:ext uri="{9D8B030D-6E8A-4147-A177-3AD203B41FA5}">
                      <a16:colId xmlns:a16="http://schemas.microsoft.com/office/drawing/2014/main" val="3940468437"/>
                    </a:ext>
                  </a:extLst>
                </a:gridCol>
                <a:gridCol w="464906">
                  <a:extLst>
                    <a:ext uri="{9D8B030D-6E8A-4147-A177-3AD203B41FA5}">
                      <a16:colId xmlns:a16="http://schemas.microsoft.com/office/drawing/2014/main" val="2400606576"/>
                    </a:ext>
                  </a:extLst>
                </a:gridCol>
                <a:gridCol w="904568">
                  <a:extLst>
                    <a:ext uri="{9D8B030D-6E8A-4147-A177-3AD203B41FA5}">
                      <a16:colId xmlns:a16="http://schemas.microsoft.com/office/drawing/2014/main" val="376411452"/>
                    </a:ext>
                  </a:extLst>
                </a:gridCol>
                <a:gridCol w="2019203">
                  <a:extLst>
                    <a:ext uri="{9D8B030D-6E8A-4147-A177-3AD203B41FA5}">
                      <a16:colId xmlns:a16="http://schemas.microsoft.com/office/drawing/2014/main" val="2115866371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1381459244"/>
                    </a:ext>
                  </a:extLst>
                </a:gridCol>
                <a:gridCol w="2195196">
                  <a:extLst>
                    <a:ext uri="{9D8B030D-6E8A-4147-A177-3AD203B41FA5}">
                      <a16:colId xmlns:a16="http://schemas.microsoft.com/office/drawing/2014/main" val="1033327336"/>
                    </a:ext>
                  </a:extLst>
                </a:gridCol>
                <a:gridCol w="826896">
                  <a:extLst>
                    <a:ext uri="{9D8B030D-6E8A-4147-A177-3AD203B41FA5}">
                      <a16:colId xmlns:a16="http://schemas.microsoft.com/office/drawing/2014/main" val="3360630688"/>
                    </a:ext>
                  </a:extLst>
                </a:gridCol>
              </a:tblGrid>
              <a:tr h="334391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일정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모듈명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교육 내용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실습 내용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기타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476630"/>
                  </a:ext>
                </a:extLst>
              </a:tr>
              <a:tr h="712902"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</a:t>
                      </a:r>
                    </a:p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week</a:t>
                      </a:r>
                      <a:endParaRPr lang="ko-KR" altLang="en-US" sz="1000" spc="-15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CS 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자료 처리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과 자료구조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defTabSz="914400" rtl="0" eaLnBrk="1" fontAlgn="base" latinLnBrk="1" hangingPunct="1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메모리의 중요성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특히 프로그래머의 시각에서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85725" indent="-85725" algn="l" defTabSz="914400" rtl="0" eaLnBrk="1" fontAlgn="base" latinLnBrk="1" hangingPunct="1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자료구조가 필요한 이유</a:t>
                      </a:r>
                    </a:p>
                    <a:p>
                      <a:pPr marL="85725" indent="-85725" algn="l" defTabSz="914400" rtl="0" eaLnBrk="1" fontAlgn="base" latinLnBrk="1" hangingPunct="1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핵심 자료구조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3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가지 익히기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배열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구조체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리스트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85725" indent="-85725" algn="l" defTabSz="914400" rtl="0" eaLnBrk="1" fontAlgn="base" latinLnBrk="1" hangingPunct="1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알고리즘의 필요성과 중요도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자료구조 핸들링 측면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defTabSz="914400" rtl="0" eaLnBrk="1" fontAlgn="base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간단한 자료구조 정의</a:t>
                      </a:r>
                    </a:p>
                    <a:p>
                      <a:pPr marL="85725" indent="-85725" algn="l" defTabSz="914400" rtl="0" eaLnBrk="1" fontAlgn="base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명이 각자의 자료구조 통합하는 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indent="0" algn="l" defTabSz="914400" rtl="0" eaLnBrk="1" fontAlgn="base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 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알고리즘 작성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171450" indent="-171450" algn="ctr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037185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시스템 프로그래밍과 병렬처리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defTabSz="914400" rtl="0" eaLnBrk="1" fontAlgn="base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시스템 프로그램과 응용프로그램 차이점</a:t>
                      </a:r>
                    </a:p>
                    <a:p>
                      <a:pPr marL="85725" indent="-85725" algn="l" defTabSz="914400" rtl="0" eaLnBrk="1" fontAlgn="base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컴퓨터 리소스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프로세스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메모리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관리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파일시스템과 입출력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네트워킹</a:t>
                      </a:r>
                    </a:p>
                    <a:p>
                      <a:pPr marL="85725" indent="-85725" algn="l" defTabSz="914400" rtl="0" eaLnBrk="1" fontAlgn="base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병렬 처리의 필요성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스케일업과 스케일아웃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85725" indent="-85725" algn="l" defTabSz="914400" rtl="0" eaLnBrk="1" fontAlgn="base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클라우드 컴퓨팅과 가상 컴퓨팅</a:t>
                      </a: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defTabSz="914400" rtl="0" eaLnBrk="1" fontAlgn="base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가상적으로 정의된 컴퓨터에 대한 </a:t>
                      </a:r>
                      <a:r>
                        <a:rPr lang="ko-KR" altLang="en-US" sz="1000" kern="1200" spc="-3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간단한 시스템 프로그래밍 시뮬레이션 및 효과 발표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단원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TEST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963409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IT 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서비스 이해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인터넷과 데이터 보안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defTabSz="914400" rtl="0" eaLnBrk="1" fontAlgn="base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인터넷의 동작 원리 이해</a:t>
                      </a:r>
                    </a:p>
                    <a:p>
                      <a:pPr marL="85725" indent="-85725" algn="l" defTabSz="914400" rtl="0" eaLnBrk="1" fontAlgn="base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인터넷 기반 프로그래밍에 대한 이해</a:t>
                      </a:r>
                    </a:p>
                    <a:p>
                      <a:pPr marL="85725" indent="-85725" algn="l" defTabSz="914400" rtl="0" eaLnBrk="1" fontAlgn="base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데이터 손실로 인한 피해 사례</a:t>
                      </a:r>
                    </a:p>
                    <a:p>
                      <a:pPr marL="85725" indent="-85725" algn="l" defTabSz="914400" rtl="0" eaLnBrk="1" fontAlgn="base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안정적인 데이터 보관 방법</a:t>
                      </a: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defTabSz="914400" rtl="0" eaLnBrk="1" fontAlgn="base" latinLnBrk="1" hangingPunct="1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나만의 데이터 보관 방법 발표 </a:t>
                      </a:r>
                    </a:p>
                    <a:p>
                      <a:pPr marL="85725" indent="-85725" algn="l" defTabSz="914400" rtl="0" eaLnBrk="1" fontAlgn="base" latinLnBrk="1" hangingPunct="1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000" kern="1200" spc="-4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금융권 데이터 침해 사례 및 원인 발표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4769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인공지능 원리와 활용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defTabSz="914400" rtl="0" eaLnBrk="1" fontAlgn="base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인공지능의 개발 역사</a:t>
                      </a:r>
                    </a:p>
                    <a:p>
                      <a:pPr marL="85725" indent="-85725" algn="l" defTabSz="914400" rtl="0" eaLnBrk="1" fontAlgn="base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LLM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과 생성형 인공지능에 대한 이해</a:t>
                      </a:r>
                    </a:p>
                    <a:p>
                      <a:pPr marL="85725" indent="-85725" algn="l" defTabSz="914400" rtl="0" eaLnBrk="1" fontAlgn="base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ChatGPT, MS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디자이너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Suno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AI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실습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121350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소셜네트워크와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서비스 설계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defTabSz="914400" rtl="0" eaLnBrk="1" fontAlgn="base" latinLnBrk="1" hangingPunct="1">
                        <a:buFont typeface="Arial" panose="020B0604020202020204" pitchFamily="34" charset="0"/>
                        <a:buChar char="•"/>
                        <a:tabLst>
                          <a:tab pos="85725" algn="l"/>
                        </a:tabLs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IT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서비스에 대한 이해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(SNS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및 포털을 중심으로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85725" indent="-85725" algn="l" defTabSz="914400" rtl="0" eaLnBrk="1" fontAlgn="base" latinLnBrk="1" hangingPunct="1">
                        <a:buFont typeface="Arial" panose="020B0604020202020204" pitchFamily="34" charset="0"/>
                        <a:buChar char="•"/>
                        <a:tabLst>
                          <a:tab pos="85725" algn="l"/>
                        </a:tabLs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CRM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과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Agile, Design Thinking, Growth hacking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등</a:t>
                      </a:r>
                    </a:p>
                    <a:p>
                      <a:pPr marL="85725" indent="-85725" algn="l" defTabSz="914400" rtl="0" eaLnBrk="1" fontAlgn="base" latinLnBrk="1" hangingPunct="1">
                        <a:buFont typeface="Arial" panose="020B0604020202020204" pitchFamily="34" charset="0"/>
                        <a:buChar char="•"/>
                        <a:tabLst>
                          <a:tab pos="85725" algn="l"/>
                        </a:tabLs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디지털 대전환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(DX)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에 대한 이해</a:t>
                      </a:r>
                    </a:p>
                    <a:p>
                      <a:pPr marL="85725" indent="-85725" algn="l" defTabSz="914400" rtl="0" eaLnBrk="1" fontAlgn="base" latinLnBrk="1" hangingPunct="1">
                        <a:buFont typeface="Arial" panose="020B0604020202020204" pitchFamily="34" charset="0"/>
                        <a:buChar char="•"/>
                        <a:tabLst>
                          <a:tab pos="85725" algn="l"/>
                        </a:tabLs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빅데이터 분석을 이용한 금융권 서비스 개발 방법론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4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분석 도구를 활용한 </a:t>
                      </a:r>
                      <a:r>
                        <a:rPr lang="en-US" altLang="ko-KR" sz="1000" kern="1200" spc="-4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IT </a:t>
                      </a:r>
                      <a:r>
                        <a:rPr lang="ko-KR" altLang="en-US" sz="1000" kern="1200" spc="-4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서비스 설계 및 발표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단원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TEST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877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2982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8A321-7CD0-BC7E-61F3-C0863F8D2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77473A-E7D4-7123-BE47-D0F0569FB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단계별 주요 활동 및 예시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6C6CF7F-ADD0-1357-7A22-151ABA2439B1}"/>
              </a:ext>
            </a:extLst>
          </p:cNvPr>
          <p:cNvSpPr/>
          <p:nvPr/>
        </p:nvSpPr>
        <p:spPr>
          <a:xfrm>
            <a:off x="0" y="867581"/>
            <a:ext cx="12192000" cy="3179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marL="1730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3-3. </a:t>
            </a:r>
            <a:r>
              <a:rPr lang="ko-KR" altLang="en-US" sz="1200" spc="-100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프로그램 운영</a:t>
            </a:r>
            <a:endParaRPr kumimoji="0" lang="ko-KR" altLang="en-US" sz="1200" b="0" i="0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7CE3361-DD25-9022-8AF1-228EC1A70463}"/>
              </a:ext>
            </a:extLst>
          </p:cNvPr>
          <p:cNvSpPr/>
          <p:nvPr/>
        </p:nvSpPr>
        <p:spPr>
          <a:xfrm>
            <a:off x="997791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분석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8D4D89F-C295-29C5-F320-928FB50D1305}"/>
              </a:ext>
            </a:extLst>
          </p:cNvPr>
          <p:cNvSpPr/>
          <p:nvPr/>
        </p:nvSpPr>
        <p:spPr>
          <a:xfrm>
            <a:off x="1042363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세팅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E01C8C1-719F-4E64-E535-0BAA84E6A386}"/>
              </a:ext>
            </a:extLst>
          </p:cNvPr>
          <p:cNvSpPr/>
          <p:nvPr/>
        </p:nvSpPr>
        <p:spPr>
          <a:xfrm>
            <a:off x="10869354" y="933459"/>
            <a:ext cx="397500" cy="186234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운영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65D0DC9-9EC1-1EA7-8EAF-045370074236}"/>
              </a:ext>
            </a:extLst>
          </p:cNvPr>
          <p:cNvSpPr/>
          <p:nvPr/>
        </p:nvSpPr>
        <p:spPr>
          <a:xfrm>
            <a:off x="1131507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사후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F40DD502-4CBB-0074-A19A-7614A10ED8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559553"/>
              </p:ext>
            </p:extLst>
          </p:nvPr>
        </p:nvGraphicFramePr>
        <p:xfrm>
          <a:off x="515938" y="1603926"/>
          <a:ext cx="11217456" cy="4743096"/>
        </p:xfrm>
        <a:graphic>
          <a:graphicData uri="http://schemas.openxmlformats.org/drawingml/2006/table">
            <a:tbl>
              <a:tblPr firstRow="1" bandRow="1"/>
              <a:tblGrid>
                <a:gridCol w="18664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50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77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r" defTabSz="742969" rtl="0" eaLnBrk="1" latinLnBrk="1" hangingPunct="1">
                        <a:buFont typeface="Arial" pitchFamily="34" charset="0"/>
                        <a:buNone/>
                      </a:pPr>
                      <a:r>
                        <a:rPr lang="en-US" altLang="ko-KR" sz="1100" b="1" kern="0" spc="-150" dirty="0">
                          <a:solidFill>
                            <a:schemeClr val="tx1"/>
                          </a:solidFill>
                          <a:effectLst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+mn-cs"/>
                        </a:rPr>
                        <a:t>B Track</a:t>
                      </a:r>
                      <a:endParaRPr lang="ko-KR" altLang="en-US" sz="1100" b="1" kern="0" spc="-150" dirty="0">
                        <a:solidFill>
                          <a:schemeClr val="tx1"/>
                        </a:solidFill>
                        <a:effectLst/>
                        <a:latin typeface="나눔스퀘어 네오 ExtraBold" panose="00000900000000000000" pitchFamily="2" charset="-127"/>
                        <a:ea typeface="나눔스퀘어 네오 ExtraBold" panose="000009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l" latinLnBrk="1">
                        <a:lnSpc>
                          <a:spcPct val="100000"/>
                        </a:lnSpc>
                        <a:spcAft>
                          <a:spcPts val="600"/>
                        </a:spcAft>
                        <a:buFontTx/>
                        <a:buNone/>
                      </a:pPr>
                      <a:r>
                        <a:rPr lang="ko-KR" altLang="en-US" sz="1100" b="1" kern="0" spc="-80" baseline="0" noProof="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데이터베이스 개론</a:t>
                      </a:r>
                      <a:r>
                        <a:rPr lang="en-US" altLang="ko-KR" sz="1100" b="1" kern="0" spc="-80" baseline="0" noProof="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/SQL</a:t>
                      </a:r>
                    </a:p>
                  </a:txBody>
                  <a:tcPr marL="144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77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r" defTabSz="742969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100" b="1" kern="0" spc="-150" dirty="0">
                          <a:solidFill>
                            <a:schemeClr val="tx1"/>
                          </a:solidFill>
                          <a:effectLst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+mn-cs"/>
                        </a:rPr>
                        <a:t>강의장소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l" latinLnBrk="1">
                        <a:lnSpc>
                          <a:spcPct val="100000"/>
                        </a:lnSpc>
                        <a:spcAft>
                          <a:spcPts val="600"/>
                        </a:spcAft>
                        <a:buFontTx/>
                        <a:buNone/>
                      </a:pPr>
                      <a:r>
                        <a:rPr lang="ko-KR" altLang="en-US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다우기술 </a:t>
                      </a:r>
                      <a:r>
                        <a:rPr lang="ko-KR" altLang="en-US" sz="1100" b="0" kern="1200" spc="0" baseline="0" noProof="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강의장</a:t>
                      </a:r>
                      <a:r>
                        <a:rPr lang="en-US" altLang="ko-KR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(</a:t>
                      </a:r>
                      <a:r>
                        <a:rPr lang="ko-KR" altLang="en-US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판교</a:t>
                      </a:r>
                      <a:r>
                        <a:rPr lang="en-US" altLang="ko-KR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)</a:t>
                      </a:r>
                      <a:endParaRPr lang="ko-KR" altLang="en-US" sz="1100" b="0" kern="1200" spc="0" baseline="0" noProof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144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103864"/>
                  </a:ext>
                </a:extLst>
              </a:tr>
              <a:tr h="29477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r" defTabSz="742969" rtl="0" eaLnBrk="1" latinLnBrk="1" hangingPunct="1">
                        <a:lnSpc>
                          <a:spcPct val="100000"/>
                        </a:lnSpc>
                        <a:buFont typeface="Arial" pitchFamily="34" charset="0"/>
                        <a:buNone/>
                      </a:pPr>
                      <a:r>
                        <a:rPr lang="ko-KR" altLang="en-US" sz="1100" b="1" kern="0" spc="-150" dirty="0">
                          <a:solidFill>
                            <a:schemeClr val="tx1"/>
                          </a:solidFill>
                          <a:effectLst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+mn-cs"/>
                        </a:rPr>
                        <a:t>실행일정 및 시간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l" latinLnBrk="1">
                        <a:lnSpc>
                          <a:spcPct val="100000"/>
                        </a:lnSpc>
                        <a:spcAft>
                          <a:spcPts val="600"/>
                        </a:spcAft>
                        <a:buFontTx/>
                        <a:buNone/>
                      </a:pPr>
                      <a:r>
                        <a:rPr lang="en-US" altLang="ko-KR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2025</a:t>
                      </a:r>
                      <a:r>
                        <a:rPr lang="ko-KR" altLang="en-US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년 </a:t>
                      </a:r>
                      <a:r>
                        <a:rPr lang="en-US" altLang="ko-KR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1</a:t>
                      </a:r>
                      <a:r>
                        <a:rPr lang="ko-KR" altLang="en-US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월 중</a:t>
                      </a:r>
                      <a:r>
                        <a:rPr lang="en-US" altLang="ko-KR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, 3~4</a:t>
                      </a:r>
                      <a:r>
                        <a:rPr lang="ko-KR" altLang="en-US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주차</a:t>
                      </a:r>
                      <a:r>
                        <a:rPr lang="en-US" altLang="ko-KR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/12</a:t>
                      </a:r>
                      <a:r>
                        <a:rPr lang="ko-KR" altLang="en-US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주차</a:t>
                      </a:r>
                      <a:r>
                        <a:rPr lang="en-US" altLang="ko-KR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, 8h/</a:t>
                      </a:r>
                      <a:r>
                        <a:rPr lang="ko-KR" altLang="en-US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일</a:t>
                      </a:r>
                    </a:p>
                  </a:txBody>
                  <a:tcPr marL="144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843035"/>
                  </a:ext>
                </a:extLst>
              </a:tr>
              <a:tr h="117093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r" defTabSz="742969" rtl="0" eaLnBrk="1" latinLnBrk="1" hangingPunct="1">
                        <a:spcAft>
                          <a:spcPts val="100"/>
                        </a:spcAft>
                        <a:buFont typeface="Arial" pitchFamily="34" charset="0"/>
                        <a:buNone/>
                      </a:pPr>
                      <a:r>
                        <a:rPr lang="ko-KR" altLang="en-US" sz="1100" b="1" kern="0" spc="-150" dirty="0">
                          <a:solidFill>
                            <a:schemeClr val="tx1"/>
                          </a:solidFill>
                          <a:effectLst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+mn-cs"/>
                        </a:rPr>
                        <a:t>과정목표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0" i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○ </a:t>
                      </a:r>
                      <a:r>
                        <a:rPr lang="en-US" altLang="ko-KR" sz="1100" b="0" i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RDBMS</a:t>
                      </a:r>
                      <a:r>
                        <a:rPr lang="ko-KR" altLang="en-US" sz="1100" b="0" i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에 대한 이해와 현장에서 가장 많이 사용되는 </a:t>
                      </a:r>
                      <a:r>
                        <a:rPr lang="en-US" altLang="ko-KR" sz="1100" b="0" i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Oracle</a:t>
                      </a:r>
                      <a:r>
                        <a:rPr lang="ko-KR" altLang="en-US" sz="1100" b="0" i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에 대한 운영 및 구성에 대해 이해 한다</a:t>
                      </a:r>
                      <a:r>
                        <a:rPr lang="en-US" altLang="ko-KR" sz="1100" b="0" i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0" i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○ Oracle SQL</a:t>
                      </a:r>
                      <a:r>
                        <a:rPr lang="ko-KR" altLang="en-US" sz="1100" b="0" i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의 기본 문법과 구조를 이해하고</a:t>
                      </a:r>
                      <a:r>
                        <a:rPr lang="en-US" altLang="ko-KR" sz="1100" b="0" i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, </a:t>
                      </a:r>
                      <a:r>
                        <a:rPr lang="ko-KR" altLang="en-US" sz="1100" b="0" i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다양한 함수와 업무에서의 요구사항을 반영한 복잡한 쿼리 작성을 할 수 있도록 한다</a:t>
                      </a:r>
                      <a:r>
                        <a:rPr lang="en-US" altLang="ko-KR" sz="1100" b="0" i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0" i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○ </a:t>
                      </a:r>
                      <a:r>
                        <a:rPr lang="ko-KR" altLang="en-US" sz="1100" b="0" i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데이터모델링의 원칙을 배우고</a:t>
                      </a:r>
                      <a:r>
                        <a:rPr lang="en-US" altLang="ko-KR" sz="1100" b="0" i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, </a:t>
                      </a:r>
                      <a:r>
                        <a:rPr lang="ko-KR" altLang="en-US" sz="1100" b="0" i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테이블을 설계하고 이를 기번으로 한  테이블을 구축 한다</a:t>
                      </a:r>
                      <a:r>
                        <a:rPr lang="en-US" altLang="ko-KR" sz="1100" b="0" i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0" i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○ </a:t>
                      </a:r>
                      <a:r>
                        <a:rPr lang="ko-KR" altLang="en-US" sz="1100" b="0" i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실무에서 필요한 데이터 분석 기법을 익히고</a:t>
                      </a:r>
                      <a:r>
                        <a:rPr lang="en-US" altLang="ko-KR" sz="1100" b="0" i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, </a:t>
                      </a:r>
                      <a:r>
                        <a:rPr lang="ko-KR" altLang="en-US" sz="1100" b="0" i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집계 함수</a:t>
                      </a:r>
                      <a:r>
                        <a:rPr lang="en-US" altLang="ko-KR" sz="1100" b="0" i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, </a:t>
                      </a:r>
                      <a:r>
                        <a:rPr lang="ko-KR" altLang="en-US" sz="1100" b="0" i="0" kern="1200" spc="0" baseline="0" noProof="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서브쿼리</a:t>
                      </a:r>
                      <a:r>
                        <a:rPr lang="ko-KR" altLang="en-US" sz="1100" b="0" i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등을 활용하여 효과적으로 데이터를 조회하고 작성할 수 있다</a:t>
                      </a:r>
                      <a:r>
                        <a:rPr lang="en-US" altLang="ko-KR" sz="1100" b="0" i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0" i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○ </a:t>
                      </a:r>
                      <a:r>
                        <a:rPr lang="ko-KR" altLang="en-US" sz="1100" b="0" i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실무에서 요구되는 다양한 요건을 기반으로 데이터베이스 모델링 기법을 학습 한다</a:t>
                      </a:r>
                      <a:r>
                        <a:rPr lang="en-US" altLang="ko-KR" sz="1100" b="0" i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.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144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056000"/>
                  </a:ext>
                </a:extLst>
              </a:tr>
              <a:tr h="23755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r" defTabSz="742969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100" b="1" kern="0" spc="-150" dirty="0">
                          <a:solidFill>
                            <a:schemeClr val="tx1"/>
                          </a:solidFill>
                          <a:effectLst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+mn-cs"/>
                        </a:rPr>
                        <a:t>과정구성</a:t>
                      </a:r>
                      <a:endParaRPr lang="en-US" altLang="ko-KR" sz="1100" b="1" kern="0" spc="-150" dirty="0">
                        <a:solidFill>
                          <a:schemeClr val="tx1"/>
                        </a:solidFill>
                        <a:effectLst/>
                        <a:latin typeface="나눔스퀘어 네오 ExtraBold" panose="00000900000000000000" pitchFamily="2" charset="-127"/>
                        <a:ea typeface="나눔스퀘어 네오 ExtraBold" panose="000009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97FD5">
                        <a:lumMod val="60000"/>
                        <a:lumOff val="40000"/>
                        <a:alpha val="58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100" b="0" kern="1200" spc="0" baseline="0" noProof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144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540992"/>
                  </a:ext>
                </a:extLst>
              </a:tr>
              <a:tr h="27395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r" defTabSz="742969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100" b="1" kern="0" spc="-150" dirty="0">
                          <a:solidFill>
                            <a:schemeClr val="tx1"/>
                          </a:solidFill>
                          <a:effectLst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+mn-cs"/>
                        </a:rPr>
                        <a:t>교수방법</a:t>
                      </a:r>
                      <a:endParaRPr lang="en-US" altLang="ko-KR" sz="1100" b="1" kern="0" spc="-150" dirty="0">
                        <a:solidFill>
                          <a:schemeClr val="tx1"/>
                        </a:solidFill>
                        <a:effectLst/>
                        <a:latin typeface="나눔스퀘어 네오 ExtraBold" panose="00000900000000000000" pitchFamily="2" charset="-127"/>
                        <a:ea typeface="나눔스퀘어 네오 ExtraBold" panose="000009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8FA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이론강의 </a:t>
                      </a:r>
                      <a:r>
                        <a:rPr lang="en-US" altLang="ko-KR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+ </a:t>
                      </a:r>
                      <a:r>
                        <a:rPr lang="ko-KR" altLang="en-US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실습 </a:t>
                      </a:r>
                      <a:r>
                        <a:rPr lang="en-US" altLang="ko-KR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+ </a:t>
                      </a:r>
                      <a:r>
                        <a:rPr lang="ko-KR" altLang="en-US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개인 학습</a:t>
                      </a:r>
                      <a:r>
                        <a:rPr lang="en-US" altLang="ko-KR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+ </a:t>
                      </a:r>
                      <a:r>
                        <a:rPr lang="ko-KR" altLang="en-US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팀 스터디 </a:t>
                      </a:r>
                      <a:r>
                        <a:rPr lang="en-US" altLang="ko-KR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+ </a:t>
                      </a:r>
                      <a:r>
                        <a:rPr lang="ko-KR" altLang="en-US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팀 프로젝트 </a:t>
                      </a:r>
                      <a:endParaRPr lang="en-US" altLang="ko-KR" sz="1100" b="0" kern="1200" spc="0" baseline="0" noProof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144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862371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C59084B9-420B-FC16-4813-539A0C6D19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7079050"/>
              </p:ext>
            </p:extLst>
          </p:nvPr>
        </p:nvGraphicFramePr>
        <p:xfrm>
          <a:off x="2502369" y="3752938"/>
          <a:ext cx="9156228" cy="2184400"/>
        </p:xfrm>
        <a:graphic>
          <a:graphicData uri="http://schemas.openxmlformats.org/drawingml/2006/table">
            <a:tbl>
              <a:tblPr firstRow="1" bandRow="1"/>
              <a:tblGrid>
                <a:gridCol w="847118">
                  <a:extLst>
                    <a:ext uri="{9D8B030D-6E8A-4147-A177-3AD203B41FA5}">
                      <a16:colId xmlns:a16="http://schemas.microsoft.com/office/drawing/2014/main" val="2617287499"/>
                    </a:ext>
                  </a:extLst>
                </a:gridCol>
                <a:gridCol w="1673282">
                  <a:extLst>
                    <a:ext uri="{9D8B030D-6E8A-4147-A177-3AD203B41FA5}">
                      <a16:colId xmlns:a16="http://schemas.microsoft.com/office/drawing/2014/main" val="4209543300"/>
                    </a:ext>
                  </a:extLst>
                </a:gridCol>
                <a:gridCol w="1658957">
                  <a:extLst>
                    <a:ext uri="{9D8B030D-6E8A-4147-A177-3AD203B41FA5}">
                      <a16:colId xmlns:a16="http://schemas.microsoft.com/office/drawing/2014/main" val="2852030399"/>
                    </a:ext>
                  </a:extLst>
                </a:gridCol>
                <a:gridCol w="1658957">
                  <a:extLst>
                    <a:ext uri="{9D8B030D-6E8A-4147-A177-3AD203B41FA5}">
                      <a16:colId xmlns:a16="http://schemas.microsoft.com/office/drawing/2014/main" val="3943045774"/>
                    </a:ext>
                  </a:extLst>
                </a:gridCol>
                <a:gridCol w="1658957">
                  <a:extLst>
                    <a:ext uri="{9D8B030D-6E8A-4147-A177-3AD203B41FA5}">
                      <a16:colId xmlns:a16="http://schemas.microsoft.com/office/drawing/2014/main" val="149304694"/>
                    </a:ext>
                  </a:extLst>
                </a:gridCol>
                <a:gridCol w="1658957">
                  <a:extLst>
                    <a:ext uri="{9D8B030D-6E8A-4147-A177-3AD203B41FA5}">
                      <a16:colId xmlns:a16="http://schemas.microsoft.com/office/drawing/2014/main" val="4058534829"/>
                    </a:ext>
                  </a:extLst>
                </a:gridCol>
              </a:tblGrid>
              <a:tr h="19136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Module1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Module2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Module3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Module4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Module5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839939"/>
                  </a:ext>
                </a:extLst>
              </a:tr>
              <a:tr h="19136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모듈명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</a:rPr>
                        <a:t>OT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97F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0" spc="-80" dirty="0">
                          <a:solidFill>
                            <a:srgbClr val="1E1E1E"/>
                          </a:solidFill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Arial" panose="020B0604020202020204" pitchFamily="34" charset="0"/>
                        </a:rPr>
                        <a:t>SQL </a:t>
                      </a:r>
                      <a:r>
                        <a:rPr lang="ko-KR" altLang="en-US" sz="900" kern="0" spc="-80" dirty="0">
                          <a:solidFill>
                            <a:srgbClr val="1E1E1E"/>
                          </a:solidFill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Arial" panose="020B0604020202020204" pitchFamily="34" charset="0"/>
                        </a:rPr>
                        <a:t>기본</a:t>
                      </a:r>
                      <a:endParaRPr kumimoji="0" lang="en-US" altLang="ko-KR" sz="900" b="0" i="0" u="none" strike="noStrike" kern="0" cap="none" spc="-80" normalizeH="0" baseline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나눔스퀘어 네오 ExtraBold" panose="00000900000000000000" pitchFamily="2" charset="-127"/>
                        <a:ea typeface="나눔스퀘어 네오 ExtraBold" panose="00000900000000000000" pitchFamily="2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97F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Arial" panose="020B0604020202020204" pitchFamily="34" charset="0"/>
                        </a:rPr>
                        <a:t>SQL </a:t>
                      </a:r>
                      <a:r>
                        <a:rPr kumimoji="0" lang="ko-KR" altLang="en-US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Arial" panose="020B0604020202020204" pitchFamily="34" charset="0"/>
                        </a:rPr>
                        <a:t>고급</a:t>
                      </a:r>
                      <a:endParaRPr lang="ko-KR" altLang="en-US" sz="900" dirty="0">
                        <a:latin typeface="나눔스퀘어 네오 ExtraBold" panose="00000900000000000000" pitchFamily="2" charset="-127"/>
                        <a:ea typeface="나눔스퀘어 네오 ExtraBold" panose="000009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97F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Arial" panose="020B0604020202020204" pitchFamily="34" charset="0"/>
                        </a:rPr>
                        <a:t>DB </a:t>
                      </a:r>
                      <a:r>
                        <a:rPr kumimoji="0" lang="ko-KR" altLang="en-US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Arial" panose="020B0604020202020204" pitchFamily="34" charset="0"/>
                        </a:rPr>
                        <a:t>모델링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97F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Arial" panose="020B0604020202020204" pitchFamily="34" charset="0"/>
                        </a:rPr>
                        <a:t>팀 프로젝트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97FD5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34819"/>
                  </a:ext>
                </a:extLst>
              </a:tr>
              <a:tr h="19136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학습시간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일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,8h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0" spc="-80" dirty="0">
                          <a:solidFill>
                            <a:srgbClr val="1E1E1E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lang="ko-KR" altLang="en-US" sz="900" kern="0" spc="-80" dirty="0">
                          <a:solidFill>
                            <a:srgbClr val="1E1E1E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일</a:t>
                      </a:r>
                      <a:r>
                        <a:rPr lang="en-US" altLang="ko-KR" sz="900" kern="0" spc="-80" dirty="0">
                          <a:solidFill>
                            <a:srgbClr val="1E1E1E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, 16h</a:t>
                      </a:r>
                      <a:endParaRPr kumimoji="0" lang="en-US" altLang="ko-KR" sz="900" b="0" i="0" u="none" strike="noStrike" kern="0" cap="none" spc="-80" normalizeH="0" baseline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0" lang="ko-KR" altLang="en-US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일</a:t>
                      </a:r>
                      <a:r>
                        <a:rPr kumimoji="0" lang="en-US" altLang="ko-KR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, 32h</a:t>
                      </a:r>
                      <a:endParaRPr lang="ko-KR" altLang="en-US" sz="9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0" lang="ko-KR" altLang="en-US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일</a:t>
                      </a:r>
                      <a:r>
                        <a:rPr kumimoji="0" lang="en-US" altLang="ko-KR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, 8h</a:t>
                      </a:r>
                      <a:endParaRPr kumimoji="0" lang="ko-KR" altLang="en-US" sz="900" b="0" i="0" u="none" strike="noStrike" kern="0" cap="none" spc="-80" normalizeH="0" baseline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0" spc="-80" dirty="0">
                          <a:solidFill>
                            <a:srgbClr val="1E1E1E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lang="ko-KR" altLang="en-US" sz="900" kern="0" spc="-80" dirty="0">
                          <a:solidFill>
                            <a:srgbClr val="1E1E1E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일</a:t>
                      </a:r>
                      <a:r>
                        <a:rPr lang="en-US" altLang="ko-KR" sz="900" kern="0" spc="-80" dirty="0">
                          <a:solidFill>
                            <a:srgbClr val="1E1E1E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, 16h</a:t>
                      </a:r>
                      <a:endParaRPr kumimoji="0" lang="ko-KR" altLang="en-US" sz="900" b="0" i="0" u="none" strike="noStrike" kern="0" cap="none" spc="-80" normalizeH="0" baseline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797105"/>
                  </a:ext>
                </a:extLst>
              </a:tr>
              <a:tr h="100233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학습내용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4138" marR="0" lvl="0" indent="-84138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오리엔테이션 </a:t>
                      </a:r>
                      <a:endParaRPr lang="en-US" altLang="ko-KR" sz="9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  <a:p>
                      <a:pPr marL="84138" marR="0" lvl="0" indent="-84138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교육 환경 구축</a:t>
                      </a:r>
                      <a:endParaRPr lang="en-US" altLang="ko-KR" sz="9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  <a:p>
                      <a:pPr marL="84138" marR="0" lvl="0" indent="-84138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금융 시스템 이해</a:t>
                      </a:r>
                      <a:endParaRPr lang="en-US" altLang="ko-KR" sz="9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9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4138" marR="0" lvl="0" indent="-84138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데이터베이스 개념 이해</a:t>
                      </a:r>
                      <a:endParaRPr lang="en-US" altLang="ko-KR" sz="9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  <a:p>
                      <a:pPr marL="84138" marR="0" lvl="0" indent="-84138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SQL </a:t>
                      </a: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기본 구문 및 함수 이해</a:t>
                      </a:r>
                      <a:endParaRPr lang="en-US" altLang="ko-KR" sz="9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4138" marR="0" lvl="0" indent="-84138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다양한 행의 처리</a:t>
                      </a:r>
                      <a:endParaRPr lang="en-US" altLang="ko-KR" sz="9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  <a:p>
                      <a:pPr marL="84138" marR="0" lvl="0" indent="-84138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Join</a:t>
                      </a: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절 이해</a:t>
                      </a:r>
                      <a:endParaRPr lang="en-US" altLang="ko-KR" sz="9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  <a:p>
                      <a:pPr marL="84138" marR="0" lvl="0" indent="-84138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DDL </a:t>
                      </a: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구문 및 </a:t>
                      </a: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DML </a:t>
                      </a: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구문 이해</a:t>
                      </a:r>
                      <a:endParaRPr lang="en-US" altLang="ko-KR" sz="9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  <a:p>
                      <a:pPr marL="84138" marR="0" lvl="0" indent="-84138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Sequence </a:t>
                      </a: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구문 이해</a:t>
                      </a:r>
                    </a:p>
                    <a:p>
                      <a:pPr marL="84138" marR="0" lvl="0" indent="-84138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View, Index </a:t>
                      </a: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이해</a:t>
                      </a:r>
                      <a:endParaRPr lang="en-US" altLang="ko-KR" sz="9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4138" marR="0" lvl="0" indent="-84138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데이터베이스 모델링 이해</a:t>
                      </a:r>
                    </a:p>
                    <a:p>
                      <a:pPr marL="84138" marR="0" lvl="0" indent="-84138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업무별 모델링 기법</a:t>
                      </a:r>
                      <a:endParaRPr lang="en-US" altLang="ko-KR" sz="9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4138" marR="0" lvl="0" indent="-84138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dirty="0" err="1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뱅킹시스템</a:t>
                      </a: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 구축을 위한 </a:t>
                      </a:r>
                      <a:endParaRPr lang="en-US" altLang="ko-KR" sz="9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   </a:t>
                      </a: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데이터베이스 모델링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138318"/>
                  </a:ext>
                </a:extLst>
              </a:tr>
              <a:tr h="19136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실습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537364"/>
                  </a:ext>
                </a:extLst>
              </a:tr>
              <a:tr h="19136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Test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427066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CA80F6FA-1EF7-C197-5EFA-F732C0F136D9}"/>
              </a:ext>
            </a:extLst>
          </p:cNvPr>
          <p:cNvSpPr txBox="1"/>
          <p:nvPr/>
        </p:nvSpPr>
        <p:spPr>
          <a:xfrm>
            <a:off x="2502370" y="2932106"/>
            <a:ext cx="442997" cy="349702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1BE4CD-EE5C-5C50-672D-41496A9D5969}"/>
              </a:ext>
            </a:extLst>
          </p:cNvPr>
          <p:cNvSpPr txBox="1"/>
          <p:nvPr/>
        </p:nvSpPr>
        <p:spPr>
          <a:xfrm>
            <a:off x="2502370" y="3170923"/>
            <a:ext cx="442997" cy="349702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273094-3C9A-F99E-EB59-4C122B23DF0A}"/>
              </a:ext>
            </a:extLst>
          </p:cNvPr>
          <p:cNvSpPr txBox="1"/>
          <p:nvPr/>
        </p:nvSpPr>
        <p:spPr>
          <a:xfrm>
            <a:off x="2502370" y="2454474"/>
            <a:ext cx="418952" cy="349702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43C8DD-E8F8-2FAA-E606-6F6C9AF691F1}"/>
              </a:ext>
            </a:extLst>
          </p:cNvPr>
          <p:cNvSpPr txBox="1"/>
          <p:nvPr/>
        </p:nvSpPr>
        <p:spPr>
          <a:xfrm>
            <a:off x="2502370" y="2693290"/>
            <a:ext cx="418952" cy="349702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1F5EDC-8CA6-6245-A47C-85B8CDB41675}"/>
              </a:ext>
            </a:extLst>
          </p:cNvPr>
          <p:cNvSpPr txBox="1"/>
          <p:nvPr/>
        </p:nvSpPr>
        <p:spPr>
          <a:xfrm>
            <a:off x="2438399" y="3396117"/>
            <a:ext cx="418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CD3666B1-6414-FB00-F2AC-0757D98D40F3}"/>
              </a:ext>
            </a:extLst>
          </p:cNvPr>
          <p:cNvGrpSpPr/>
          <p:nvPr/>
        </p:nvGrpSpPr>
        <p:grpSpPr>
          <a:xfrm>
            <a:off x="8736542" y="1314346"/>
            <a:ext cx="2978664" cy="180000"/>
            <a:chOff x="8716878" y="1327872"/>
            <a:chExt cx="2978664" cy="180000"/>
          </a:xfrm>
          <a:solidFill>
            <a:srgbClr val="BFBFBF"/>
          </a:solidFill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109E6D9A-D0F4-3C97-4FFE-CB4CFD5140D9}"/>
                </a:ext>
              </a:extLst>
            </p:cNvPr>
            <p:cNvSpPr/>
            <p:nvPr/>
          </p:nvSpPr>
          <p:spPr>
            <a:xfrm>
              <a:off x="8716878" y="1327872"/>
              <a:ext cx="720000" cy="180000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A Track</a:t>
              </a:r>
              <a:endParaRPr lang="ko-KR" altLang="en-US" sz="9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75A8F199-1422-1385-16E7-C62CBECA80A2}"/>
                </a:ext>
              </a:extLst>
            </p:cNvPr>
            <p:cNvSpPr/>
            <p:nvPr/>
          </p:nvSpPr>
          <p:spPr>
            <a:xfrm>
              <a:off x="9469766" y="1327872"/>
              <a:ext cx="720000" cy="180000"/>
            </a:xfrm>
            <a:prstGeom prst="rect">
              <a:avLst/>
            </a:prstGeom>
            <a:solidFill>
              <a:srgbClr val="82DFFF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B Track</a:t>
              </a:r>
              <a:endParaRPr lang="ko-KR" altLang="en-US" sz="9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A0A76C0B-4F6A-F57F-8358-9EF82348A192}"/>
                </a:ext>
              </a:extLst>
            </p:cNvPr>
            <p:cNvSpPr/>
            <p:nvPr/>
          </p:nvSpPr>
          <p:spPr>
            <a:xfrm>
              <a:off x="10222654" y="1327872"/>
              <a:ext cx="720000" cy="180000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C Track</a:t>
              </a:r>
              <a:endParaRPr lang="ko-KR" altLang="en-US" sz="9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141151D2-F932-56EC-29EB-360684740F47}"/>
                </a:ext>
              </a:extLst>
            </p:cNvPr>
            <p:cNvSpPr/>
            <p:nvPr/>
          </p:nvSpPr>
          <p:spPr>
            <a:xfrm>
              <a:off x="10975542" y="1327872"/>
              <a:ext cx="720000" cy="180000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D Track</a:t>
              </a:r>
              <a:endParaRPr lang="ko-KR" altLang="en-US" sz="9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6222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9727F-23B1-13D7-37AE-88AA20297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769E9E-354D-60DB-E2A0-ED94A0AAB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단계별 주요 활동 및 예시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B6CEC3D-F6FA-A423-30AF-C723F6C19B6A}"/>
              </a:ext>
            </a:extLst>
          </p:cNvPr>
          <p:cNvSpPr/>
          <p:nvPr/>
        </p:nvSpPr>
        <p:spPr>
          <a:xfrm>
            <a:off x="0" y="867581"/>
            <a:ext cx="12192000" cy="3179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marL="1730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3-3. </a:t>
            </a:r>
            <a:r>
              <a:rPr lang="ko-KR" altLang="en-US" sz="1200" spc="-100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프로그램 운영</a:t>
            </a:r>
            <a:endParaRPr kumimoji="0" lang="ko-KR" altLang="en-US" sz="1200" b="0" i="0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9F29E41-3284-D297-218D-136090027BCD}"/>
              </a:ext>
            </a:extLst>
          </p:cNvPr>
          <p:cNvSpPr/>
          <p:nvPr/>
        </p:nvSpPr>
        <p:spPr>
          <a:xfrm>
            <a:off x="997791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분석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EF9F9FC-6945-00BE-33FB-0294F925D973}"/>
              </a:ext>
            </a:extLst>
          </p:cNvPr>
          <p:cNvSpPr/>
          <p:nvPr/>
        </p:nvSpPr>
        <p:spPr>
          <a:xfrm>
            <a:off x="1042363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세팅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240D819-CD62-5B7B-753B-7FE94C8F7315}"/>
              </a:ext>
            </a:extLst>
          </p:cNvPr>
          <p:cNvSpPr/>
          <p:nvPr/>
        </p:nvSpPr>
        <p:spPr>
          <a:xfrm>
            <a:off x="10869354" y="933459"/>
            <a:ext cx="397500" cy="186234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운영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F95D542-40C9-CE0D-6496-E8A84A68EAA6}"/>
              </a:ext>
            </a:extLst>
          </p:cNvPr>
          <p:cNvSpPr/>
          <p:nvPr/>
        </p:nvSpPr>
        <p:spPr>
          <a:xfrm>
            <a:off x="1131507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사후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5C9F968E-1E40-9768-EEDE-90734A913BF3}"/>
              </a:ext>
            </a:extLst>
          </p:cNvPr>
          <p:cNvGrpSpPr/>
          <p:nvPr/>
        </p:nvGrpSpPr>
        <p:grpSpPr>
          <a:xfrm>
            <a:off x="515938" y="1300479"/>
            <a:ext cx="1223204" cy="1042670"/>
            <a:chOff x="515938" y="1300479"/>
            <a:chExt cx="1223206" cy="1033146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99370BBF-02AE-C131-215B-3C6606E472CE}"/>
                </a:ext>
              </a:extLst>
            </p:cNvPr>
            <p:cNvSpPr/>
            <p:nvPr/>
          </p:nvSpPr>
          <p:spPr>
            <a:xfrm>
              <a:off x="515938" y="1300479"/>
              <a:ext cx="1223206" cy="1033146"/>
            </a:xfrm>
            <a:prstGeom prst="rect">
              <a:avLst/>
            </a:prstGeom>
            <a:solidFill>
              <a:srgbClr val="2484C6"/>
            </a:solidFill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데이터베이스 개론</a:t>
              </a:r>
              <a:r>
                <a:rPr kumimoji="0" lang="en-US" altLang="ko-KR" sz="1200" b="1" i="0" u="none" strike="noStrike" kern="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/SQL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787B6E9E-C7A1-53B6-23AF-F45C5B02B9EB}"/>
                </a:ext>
              </a:extLst>
            </p:cNvPr>
            <p:cNvSpPr/>
            <p:nvPr/>
          </p:nvSpPr>
          <p:spPr>
            <a:xfrm>
              <a:off x="515938" y="1300479"/>
              <a:ext cx="319423" cy="261621"/>
            </a:xfrm>
            <a:prstGeom prst="rect">
              <a:avLst/>
            </a:prstGeom>
            <a:solidFill>
              <a:srgbClr val="2484C6">
                <a:lumMod val="40000"/>
                <a:lumOff val="60000"/>
              </a:srgbClr>
            </a:solidFill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B</a:t>
              </a:r>
              <a:endPara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597DAB3-C143-EEE1-CECC-9EC801A0C6BF}"/>
              </a:ext>
            </a:extLst>
          </p:cNvPr>
          <p:cNvSpPr/>
          <p:nvPr/>
        </p:nvSpPr>
        <p:spPr>
          <a:xfrm>
            <a:off x="1784111" y="1304925"/>
            <a:ext cx="9936927" cy="1044000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1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주차 학습목표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  <a:p>
            <a:pPr marL="268288" marR="0" lvl="0" indent="-17938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데이터베이스 개념에 대해 설명할 수 있다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</a:t>
            </a:r>
          </a:p>
          <a:p>
            <a:pPr marL="268288" marR="0" lvl="0" indent="-17938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SQL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기본 구문과 함수에 대해 설명할 수 있다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</a:t>
            </a:r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AD057EBE-FC26-4396-99C8-7ABC212A6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164419"/>
              </p:ext>
            </p:extLst>
          </p:nvPr>
        </p:nvGraphicFramePr>
        <p:xfrm>
          <a:off x="525363" y="2409825"/>
          <a:ext cx="11195675" cy="3898901"/>
        </p:xfrm>
        <a:graphic>
          <a:graphicData uri="http://schemas.openxmlformats.org/drawingml/2006/table">
            <a:tbl>
              <a:tblPr firstRow="1" bandRow="1"/>
              <a:tblGrid>
                <a:gridCol w="464906">
                  <a:extLst>
                    <a:ext uri="{9D8B030D-6E8A-4147-A177-3AD203B41FA5}">
                      <a16:colId xmlns:a16="http://schemas.microsoft.com/office/drawing/2014/main" val="3940468437"/>
                    </a:ext>
                  </a:extLst>
                </a:gridCol>
                <a:gridCol w="464906">
                  <a:extLst>
                    <a:ext uri="{9D8B030D-6E8A-4147-A177-3AD203B41FA5}">
                      <a16:colId xmlns:a16="http://schemas.microsoft.com/office/drawing/2014/main" val="2400606576"/>
                    </a:ext>
                  </a:extLst>
                </a:gridCol>
                <a:gridCol w="904568">
                  <a:extLst>
                    <a:ext uri="{9D8B030D-6E8A-4147-A177-3AD203B41FA5}">
                      <a16:colId xmlns:a16="http://schemas.microsoft.com/office/drawing/2014/main" val="376411452"/>
                    </a:ext>
                  </a:extLst>
                </a:gridCol>
                <a:gridCol w="2019203">
                  <a:extLst>
                    <a:ext uri="{9D8B030D-6E8A-4147-A177-3AD203B41FA5}">
                      <a16:colId xmlns:a16="http://schemas.microsoft.com/office/drawing/2014/main" val="2115866371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1381459244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790379818"/>
                    </a:ext>
                  </a:extLst>
                </a:gridCol>
                <a:gridCol w="2185364">
                  <a:extLst>
                    <a:ext uri="{9D8B030D-6E8A-4147-A177-3AD203B41FA5}">
                      <a16:colId xmlns:a16="http://schemas.microsoft.com/office/drawing/2014/main" val="1033327336"/>
                    </a:ext>
                  </a:extLst>
                </a:gridCol>
                <a:gridCol w="836728">
                  <a:extLst>
                    <a:ext uri="{9D8B030D-6E8A-4147-A177-3AD203B41FA5}">
                      <a16:colId xmlns:a16="http://schemas.microsoft.com/office/drawing/2014/main" val="3360630688"/>
                    </a:ext>
                  </a:extLst>
                </a:gridCol>
              </a:tblGrid>
              <a:tr h="334391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일정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모듈명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교육 내용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실습 내용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기타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476630"/>
                  </a:ext>
                </a:extLst>
              </a:tr>
              <a:tr h="712902"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</a:t>
                      </a:r>
                    </a:p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week</a:t>
                      </a:r>
                      <a:endParaRPr lang="ko-KR" altLang="en-US" sz="1000" spc="-15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OT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오리엔테이션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&amp;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교육 환경 구축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(8h)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000" b="0" i="0" u="none" strike="noStrike" kern="1200" baseline="0" dirty="0">
                          <a:solidFill>
                            <a:schemeClr val="dk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오리엔테이션</a:t>
                      </a:r>
                      <a:endParaRPr lang="en-US" altLang="ko-KR" sz="1000" b="0" i="0" u="none" strike="noStrike" kern="1200" baseline="0" dirty="0">
                        <a:solidFill>
                          <a:schemeClr val="dk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금융시스템에 대한 이해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시스템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아키텍쳐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이해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최신 트렌드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Oracle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데이터베이스 구축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 Programming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개발 환경 구축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spc="-1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JAVA Programming </a:t>
                      </a:r>
                      <a:r>
                        <a:rPr lang="ko-KR" altLang="en-US" sz="1000" spc="-1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개발 환경 구축</a:t>
                      </a: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Oracle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데이터베이스 설치 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개발 도구 설치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JDK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및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Intelli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J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설치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037185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SQL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기본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데이터베이스 개념 이해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(8h)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관계형데이터베이스 이해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Oracle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데이터베이스 이해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계정 생성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Scheme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이해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테이블구조 이해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SQL Developer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사용법</a:t>
                      </a: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Oracle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관리자 계정 생성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Oracle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사용자 계정 생성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SQL Developer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를 이용한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Oracle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접속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963409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SQL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기본 구문 및 함수 이해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(8h)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DML, DDL, DCL, TCL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이해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SELECT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구문 이해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단일행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함수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SQL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연산자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ORDER BY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고객 테이블 생성 및 데이터 조회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상품 테이블 생성 및 데이터 조회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단원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TEST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4769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SQL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고급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다양한 행의 처리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(8h)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집합 함수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GROUP BY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HAVING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절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Sub Query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8900" indent="-889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고객 정보를 기반으로 집합 함수 활용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8900" indent="-889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상품 테이블을 이용한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GROUP BY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실습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121350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Join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절에 대한 이해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(8h)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Join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개념 이해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Equi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Join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Non-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Equi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Join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Outter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Join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Self Join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0" algn="l"/>
                        </a:tabLst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고객의 상품 보유 테이블 구축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0" algn="l"/>
                        </a:tabLst>
                        <a:defRPr/>
                      </a:pPr>
                      <a:r>
                        <a:rPr lang="ko-KR" altLang="en-US" sz="1000" spc="-4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고객이 보유한 상품 정보 조회 실습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877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0529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173C3-D17C-FA1D-7261-B1EDF05A1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BCA490-9A6E-E749-EA00-56D78D43F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단계별 주요 활동 및 예시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62EE39A-791C-DBD3-1212-EFBBBCE36B39}"/>
              </a:ext>
            </a:extLst>
          </p:cNvPr>
          <p:cNvSpPr/>
          <p:nvPr/>
        </p:nvSpPr>
        <p:spPr>
          <a:xfrm>
            <a:off x="0" y="867581"/>
            <a:ext cx="12192000" cy="3179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marL="1730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3-3. </a:t>
            </a:r>
            <a:r>
              <a:rPr lang="ko-KR" altLang="en-US" sz="1200" spc="-100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프로그램 운영</a:t>
            </a:r>
            <a:endParaRPr kumimoji="0" lang="ko-KR" altLang="en-US" sz="1200" b="0" i="0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9C9F89-D46F-4E56-1004-3A412A032425}"/>
              </a:ext>
            </a:extLst>
          </p:cNvPr>
          <p:cNvSpPr/>
          <p:nvPr/>
        </p:nvSpPr>
        <p:spPr>
          <a:xfrm>
            <a:off x="997791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분석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CAFB9C0-27A7-7532-F884-812D735D085B}"/>
              </a:ext>
            </a:extLst>
          </p:cNvPr>
          <p:cNvSpPr/>
          <p:nvPr/>
        </p:nvSpPr>
        <p:spPr>
          <a:xfrm>
            <a:off x="1042363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세팅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4ABBD18-FF57-E506-603F-6FCB76C405DD}"/>
              </a:ext>
            </a:extLst>
          </p:cNvPr>
          <p:cNvSpPr/>
          <p:nvPr/>
        </p:nvSpPr>
        <p:spPr>
          <a:xfrm>
            <a:off x="10869354" y="933459"/>
            <a:ext cx="397500" cy="186234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운영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F7641DA-5128-485D-6AFF-674B7B3FFED0}"/>
              </a:ext>
            </a:extLst>
          </p:cNvPr>
          <p:cNvSpPr/>
          <p:nvPr/>
        </p:nvSpPr>
        <p:spPr>
          <a:xfrm>
            <a:off x="1131507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사후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080CCD95-5F52-C642-F415-8DB2695ADCBE}"/>
              </a:ext>
            </a:extLst>
          </p:cNvPr>
          <p:cNvGrpSpPr/>
          <p:nvPr/>
        </p:nvGrpSpPr>
        <p:grpSpPr>
          <a:xfrm>
            <a:off x="515938" y="1300479"/>
            <a:ext cx="1223204" cy="1042670"/>
            <a:chOff x="515938" y="1300479"/>
            <a:chExt cx="1223206" cy="1033146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9F3EBC4C-4DB2-C460-3256-2CD7AAB061DF}"/>
                </a:ext>
              </a:extLst>
            </p:cNvPr>
            <p:cNvSpPr/>
            <p:nvPr/>
          </p:nvSpPr>
          <p:spPr>
            <a:xfrm>
              <a:off x="515938" y="1300479"/>
              <a:ext cx="1223206" cy="1033146"/>
            </a:xfrm>
            <a:prstGeom prst="rect">
              <a:avLst/>
            </a:prstGeom>
            <a:solidFill>
              <a:srgbClr val="2484C6"/>
            </a:solidFill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데이터베이스 개론</a:t>
              </a:r>
              <a:r>
                <a:rPr kumimoji="0" lang="en-US" altLang="ko-KR" sz="1200" b="1" i="0" u="none" strike="noStrike" kern="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/SQL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47347D48-256D-139A-4C1B-3655A3857BC7}"/>
                </a:ext>
              </a:extLst>
            </p:cNvPr>
            <p:cNvSpPr/>
            <p:nvPr/>
          </p:nvSpPr>
          <p:spPr>
            <a:xfrm>
              <a:off x="515938" y="1300479"/>
              <a:ext cx="319423" cy="261621"/>
            </a:xfrm>
            <a:prstGeom prst="rect">
              <a:avLst/>
            </a:prstGeom>
            <a:solidFill>
              <a:srgbClr val="2484C6">
                <a:lumMod val="40000"/>
                <a:lumOff val="60000"/>
              </a:srgbClr>
            </a:solidFill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B</a:t>
              </a:r>
              <a:endPara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D2498D6-74D0-2F93-A8F4-6FF782A8791B}"/>
              </a:ext>
            </a:extLst>
          </p:cNvPr>
          <p:cNvSpPr/>
          <p:nvPr/>
        </p:nvSpPr>
        <p:spPr>
          <a:xfrm>
            <a:off x="1775644" y="1300479"/>
            <a:ext cx="9936927" cy="1044000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2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주차 학습목표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  <a:p>
            <a:pPr marL="268288" marR="0" lvl="0" indent="-17938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DDL, DML, Sequence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등 다양한 구문을 활용할 수 있다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</a:t>
            </a:r>
          </a:p>
          <a:p>
            <a:pPr marL="268288" marR="0" lvl="0" indent="-17938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데이터 베이스 모델링 기법에 대해 설명할 수 있다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</a:t>
            </a:r>
          </a:p>
          <a:p>
            <a:pPr marL="268288" marR="0" lvl="0" indent="-17938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SQL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내용을 바탕으로 금융권 데이터 베이스 모델링 프로젝트를 결과물을 도출할 수 있다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</a:t>
            </a: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BE4067EB-04B9-71CF-9A17-49383D686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281760"/>
              </p:ext>
            </p:extLst>
          </p:nvPr>
        </p:nvGraphicFramePr>
        <p:xfrm>
          <a:off x="525363" y="2409825"/>
          <a:ext cx="11195675" cy="3898901"/>
        </p:xfrm>
        <a:graphic>
          <a:graphicData uri="http://schemas.openxmlformats.org/drawingml/2006/table">
            <a:tbl>
              <a:tblPr firstRow="1" bandRow="1"/>
              <a:tblGrid>
                <a:gridCol w="464906">
                  <a:extLst>
                    <a:ext uri="{9D8B030D-6E8A-4147-A177-3AD203B41FA5}">
                      <a16:colId xmlns:a16="http://schemas.microsoft.com/office/drawing/2014/main" val="3940468437"/>
                    </a:ext>
                  </a:extLst>
                </a:gridCol>
                <a:gridCol w="464906">
                  <a:extLst>
                    <a:ext uri="{9D8B030D-6E8A-4147-A177-3AD203B41FA5}">
                      <a16:colId xmlns:a16="http://schemas.microsoft.com/office/drawing/2014/main" val="2400606576"/>
                    </a:ext>
                  </a:extLst>
                </a:gridCol>
                <a:gridCol w="904568">
                  <a:extLst>
                    <a:ext uri="{9D8B030D-6E8A-4147-A177-3AD203B41FA5}">
                      <a16:colId xmlns:a16="http://schemas.microsoft.com/office/drawing/2014/main" val="376411452"/>
                    </a:ext>
                  </a:extLst>
                </a:gridCol>
                <a:gridCol w="2019203">
                  <a:extLst>
                    <a:ext uri="{9D8B030D-6E8A-4147-A177-3AD203B41FA5}">
                      <a16:colId xmlns:a16="http://schemas.microsoft.com/office/drawing/2014/main" val="2115866371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1381459244"/>
                    </a:ext>
                  </a:extLst>
                </a:gridCol>
                <a:gridCol w="2185364">
                  <a:extLst>
                    <a:ext uri="{9D8B030D-6E8A-4147-A177-3AD203B41FA5}">
                      <a16:colId xmlns:a16="http://schemas.microsoft.com/office/drawing/2014/main" val="1033327336"/>
                    </a:ext>
                  </a:extLst>
                </a:gridCol>
                <a:gridCol w="836728">
                  <a:extLst>
                    <a:ext uri="{9D8B030D-6E8A-4147-A177-3AD203B41FA5}">
                      <a16:colId xmlns:a16="http://schemas.microsoft.com/office/drawing/2014/main" val="3360630688"/>
                    </a:ext>
                  </a:extLst>
                </a:gridCol>
              </a:tblGrid>
              <a:tr h="334391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일정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모듈명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교육 내용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실습 내용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기타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476630"/>
                  </a:ext>
                </a:extLst>
              </a:tr>
              <a:tr h="712902"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</a:t>
                      </a:r>
                    </a:p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week</a:t>
                      </a:r>
                      <a:endParaRPr lang="ko-KR" altLang="en-US" sz="1000" spc="-15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pc="-1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SQL </a:t>
                      </a:r>
                      <a:r>
                        <a:rPr lang="ko-KR" altLang="en-US" sz="1000" spc="-1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고급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algn="l" defTabSz="914400" rtl="0" eaLnBrk="1" latinLnBrk="1" hangingPunct="1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DDL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구문 및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DML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구문 이해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(8h)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DDL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구문 이해</a:t>
                      </a:r>
                    </a:p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Create, Alter. Truncate, Drop, Constraint</a:t>
                      </a:r>
                    </a:p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DML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구문 이해</a:t>
                      </a:r>
                    </a:p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Insert, Delete, merge, Update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계좌 정보 테이블 구축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계좌 거래 내역 테이블 구축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171450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037185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algn="l" defTabSz="914400" rtl="0" eaLnBrk="1" latinLnBrk="1" hangingPunct="1"/>
                      <a:r>
                        <a:rPr lang="en-US" altLang="ko-KR" sz="1000" kern="1200" spc="-1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Sequence </a:t>
                      </a:r>
                      <a:r>
                        <a:rPr lang="ko-KR" altLang="en-US" sz="1000" kern="1200" spc="-1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구문 및</a:t>
                      </a:r>
                      <a:endParaRPr lang="en-US" altLang="ko-KR" sz="1000" kern="1200" spc="-10" baseline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algn="l" defTabSz="914400" rtl="0" eaLnBrk="1" latinLnBrk="1" hangingPunct="1"/>
                      <a:r>
                        <a:rPr lang="en-US" altLang="ko-KR" sz="1000" kern="1200" spc="-1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View, Index </a:t>
                      </a:r>
                      <a:r>
                        <a:rPr lang="ko-KR" altLang="en-US" sz="1000" kern="1200" spc="-1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이해</a:t>
                      </a:r>
                      <a:r>
                        <a:rPr lang="en-US" altLang="ko-KR" sz="1000" kern="1200" spc="-1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(8h)</a:t>
                      </a:r>
                      <a:endParaRPr lang="ko-KR" altLang="en-US" sz="1000" kern="1200" spc="-10" baseline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Sequence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구문 이해</a:t>
                      </a:r>
                    </a:p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View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구문 이해</a:t>
                      </a:r>
                    </a:p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Index 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  <a:tabLst>
                          <a:tab pos="85725" algn="l"/>
                        </a:tabLst>
                      </a:pPr>
                      <a:r>
                        <a:rPr lang="ko-KR" altLang="en-US" sz="1000" kern="1200" spc="-7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계좌 거래 내역에 </a:t>
                      </a:r>
                      <a:r>
                        <a:rPr lang="en-US" altLang="ko-KR" sz="1000" kern="1200" spc="-7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Sequence</a:t>
                      </a:r>
                      <a:r>
                        <a:rPr lang="ko-KR" altLang="en-US" sz="1000" kern="1200" spc="-7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를 이용한 구축 및 조회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단원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TEST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963409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en-US" altLang="ko-KR" sz="1000" kern="1200" spc="-15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DB </a:t>
                      </a:r>
                      <a:r>
                        <a:rPr lang="ko-KR" altLang="en-US" sz="1000" kern="1200" spc="-15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모델링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algn="l" defTabSz="914400" rtl="0" eaLnBrk="1" latinLnBrk="1" hangingPunct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데이터 베이스 모델링 이해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데이터베이스 모델링 이해</a:t>
                      </a:r>
                    </a:p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다양한 업무에 대한 모델링 기법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고객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계좌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거래 내역에 대한 테이블 구축을 위한 모델링 실습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88900" algn="l"/>
                        </a:tabLst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단원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TEST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4769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000" kern="1200" spc="-1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팀프로젝트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algn="l" defTabSz="914400" rtl="0" eaLnBrk="1" latinLnBrk="1" hangingPunct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금융권 업무 기반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algn="l" defTabSz="914400" rtl="0" eaLnBrk="1" latinLnBrk="1" hangingPunct="1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Database modeling (1)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ko-KR" altLang="en-US" sz="1000" u="sng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171450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171450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121350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금융권 업무 기반 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Database modeling (2)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877414"/>
                  </a:ext>
                </a:extLst>
              </a:tr>
            </a:tbl>
          </a:graphicData>
        </a:graphic>
      </p:graphicFrame>
      <p:grpSp>
        <p:nvGrpSpPr>
          <p:cNvPr id="26" name="그룹 25">
            <a:extLst>
              <a:ext uri="{FF2B5EF4-FFF2-40B4-BE49-F238E27FC236}">
                <a16:creationId xmlns:a16="http://schemas.microsoft.com/office/drawing/2014/main" id="{5D5EAC4B-DB24-02A6-7F2D-FEE979CACE37}"/>
              </a:ext>
            </a:extLst>
          </p:cNvPr>
          <p:cNvGrpSpPr/>
          <p:nvPr/>
        </p:nvGrpSpPr>
        <p:grpSpPr>
          <a:xfrm>
            <a:off x="4468903" y="4991101"/>
            <a:ext cx="4704595" cy="1255152"/>
            <a:chOff x="4489050" y="4972438"/>
            <a:chExt cx="3773335" cy="127317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EB1B379-B6B6-11AB-B483-9B539FF28209}"/>
                </a:ext>
              </a:extLst>
            </p:cNvPr>
            <p:cNvSpPr txBox="1"/>
            <p:nvPr/>
          </p:nvSpPr>
          <p:spPr>
            <a:xfrm>
              <a:off x="5381625" y="5003722"/>
              <a:ext cx="2880760" cy="1241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171450" marR="0" lvl="0" indent="-1714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    제시 주제 또는 자유 주제 선정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0" marR="0" lvl="0" indent="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0" marR="0" lvl="0" indent="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0" marR="0" lvl="0" indent="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         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주제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: </a:t>
              </a:r>
              <a:r>
                <a:rPr kumimoji="0" lang="ko-KR" altLang="en-US" sz="8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뱅킹시스템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 구축을 위한 데이터베이스 모델링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0" marR="0" lvl="0" indent="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0" marR="0" lvl="0" indent="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구현 및 테스트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0" marR="0" lvl="0" indent="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조별 발표 및 평가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C7D0EF13-485B-2D43-4A45-3B880F51CED9}"/>
                </a:ext>
              </a:extLst>
            </p:cNvPr>
            <p:cNvGrpSpPr/>
            <p:nvPr/>
          </p:nvGrpSpPr>
          <p:grpSpPr>
            <a:xfrm>
              <a:off x="4489050" y="4972438"/>
              <a:ext cx="864000" cy="1246365"/>
              <a:chOff x="4551011" y="4905368"/>
              <a:chExt cx="864000" cy="1246365"/>
            </a:xfrm>
          </p:grpSpPr>
          <p:sp>
            <p:nvSpPr>
              <p:cNvPr id="29" name="순서도: 병합 28">
                <a:extLst>
                  <a:ext uri="{FF2B5EF4-FFF2-40B4-BE49-F238E27FC236}">
                    <a16:creationId xmlns:a16="http://schemas.microsoft.com/office/drawing/2014/main" id="{2D51BCA3-254F-5D5D-AAB6-AE962CDF826C}"/>
                  </a:ext>
                </a:extLst>
              </p:cNvPr>
              <p:cNvSpPr/>
              <p:nvPr/>
            </p:nvSpPr>
            <p:spPr>
              <a:xfrm>
                <a:off x="4917000" y="5212134"/>
                <a:ext cx="132023" cy="143563"/>
              </a:xfrm>
              <a:prstGeom prst="flowChartMerg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617F9EFD-9C5F-D58F-153C-23521975D979}"/>
                  </a:ext>
                </a:extLst>
              </p:cNvPr>
              <p:cNvSpPr/>
              <p:nvPr/>
            </p:nvSpPr>
            <p:spPr>
              <a:xfrm>
                <a:off x="4551011" y="4905368"/>
                <a:ext cx="864000" cy="267824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주제 선정</a:t>
                </a: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644EDF01-DD2C-3FE3-0E1C-E688C08F4776}"/>
                  </a:ext>
                </a:extLst>
              </p:cNvPr>
              <p:cNvSpPr/>
              <p:nvPr/>
            </p:nvSpPr>
            <p:spPr>
              <a:xfrm>
                <a:off x="4551011" y="5394639"/>
                <a:ext cx="864000" cy="267824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프로젝트 진행</a:t>
                </a: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4DF4C541-9C86-D1F8-12CC-EDF13E32DC72}"/>
                  </a:ext>
                </a:extLst>
              </p:cNvPr>
              <p:cNvSpPr/>
              <p:nvPr/>
            </p:nvSpPr>
            <p:spPr>
              <a:xfrm>
                <a:off x="4551011" y="5883909"/>
                <a:ext cx="864000" cy="267824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발표 및 평가</a:t>
                </a:r>
              </a:p>
            </p:txBody>
          </p:sp>
          <p:sp>
            <p:nvSpPr>
              <p:cNvPr id="38" name="순서도: 병합 37">
                <a:extLst>
                  <a:ext uri="{FF2B5EF4-FFF2-40B4-BE49-F238E27FC236}">
                    <a16:creationId xmlns:a16="http://schemas.microsoft.com/office/drawing/2014/main" id="{8E369233-3ABD-BF3E-F99B-0BC070588422}"/>
                  </a:ext>
                </a:extLst>
              </p:cNvPr>
              <p:cNvSpPr/>
              <p:nvPr/>
            </p:nvSpPr>
            <p:spPr>
              <a:xfrm>
                <a:off x="4917000" y="5701405"/>
                <a:ext cx="132023" cy="143563"/>
              </a:xfrm>
              <a:prstGeom prst="flowChartMerg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29877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BB01A-4F26-2F2C-DD55-DF8A37A86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16FFCA-52E7-1A3C-3BB3-6B4F917CC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단계별 주요 활동 및 예시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CC470A0-FB17-4ACE-1E2E-3A8CEEF72D47}"/>
              </a:ext>
            </a:extLst>
          </p:cNvPr>
          <p:cNvSpPr/>
          <p:nvPr/>
        </p:nvSpPr>
        <p:spPr>
          <a:xfrm>
            <a:off x="0" y="867581"/>
            <a:ext cx="12192000" cy="3179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marL="1730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3-3. </a:t>
            </a:r>
            <a:r>
              <a:rPr lang="ko-KR" altLang="en-US" sz="1200" spc="-100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프로그램 운영</a:t>
            </a:r>
            <a:endParaRPr kumimoji="0" lang="ko-KR" altLang="en-US" sz="1200" b="0" i="0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43B7189-363B-0E82-E1DB-59CAA4AE2806}"/>
              </a:ext>
            </a:extLst>
          </p:cNvPr>
          <p:cNvSpPr/>
          <p:nvPr/>
        </p:nvSpPr>
        <p:spPr>
          <a:xfrm>
            <a:off x="997791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분석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7125BF7-9D9D-2137-5145-374B3CE1C074}"/>
              </a:ext>
            </a:extLst>
          </p:cNvPr>
          <p:cNvSpPr/>
          <p:nvPr/>
        </p:nvSpPr>
        <p:spPr>
          <a:xfrm>
            <a:off x="1042363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세팅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6077DFD-8436-426C-74BE-BF341FDF6229}"/>
              </a:ext>
            </a:extLst>
          </p:cNvPr>
          <p:cNvSpPr/>
          <p:nvPr/>
        </p:nvSpPr>
        <p:spPr>
          <a:xfrm>
            <a:off x="10869354" y="933459"/>
            <a:ext cx="397500" cy="186234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운영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923B18-D5DC-D84E-3B4F-448517B86EE1}"/>
              </a:ext>
            </a:extLst>
          </p:cNvPr>
          <p:cNvSpPr/>
          <p:nvPr/>
        </p:nvSpPr>
        <p:spPr>
          <a:xfrm>
            <a:off x="1131507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사후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F58C370-A018-36AF-0F54-80759CE15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122854"/>
              </p:ext>
            </p:extLst>
          </p:nvPr>
        </p:nvGraphicFramePr>
        <p:xfrm>
          <a:off x="502874" y="1592263"/>
          <a:ext cx="11230519" cy="4716461"/>
        </p:xfrm>
        <a:graphic>
          <a:graphicData uri="http://schemas.openxmlformats.org/drawingml/2006/table">
            <a:tbl>
              <a:tblPr firstRow="1" bandRow="1"/>
              <a:tblGrid>
                <a:gridCol w="1868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64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r" defTabSz="742969" rtl="0" eaLnBrk="1" latinLnBrk="1" hangingPunct="1">
                        <a:buFont typeface="Arial" pitchFamily="34" charset="0"/>
                        <a:buNone/>
                      </a:pPr>
                      <a:r>
                        <a:rPr lang="en-US" altLang="ko-KR" sz="1100" b="1" kern="0" spc="-150" dirty="0">
                          <a:solidFill>
                            <a:schemeClr val="tx1"/>
                          </a:solidFill>
                          <a:effectLst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+mn-cs"/>
                        </a:rPr>
                        <a:t>C Track</a:t>
                      </a:r>
                      <a:endParaRPr lang="ko-KR" altLang="en-US" sz="1100" b="1" kern="0" spc="-150" dirty="0">
                        <a:solidFill>
                          <a:schemeClr val="tx1"/>
                        </a:solidFill>
                        <a:effectLst/>
                        <a:latin typeface="나눔스퀘어 네오 ExtraBold" panose="00000900000000000000" pitchFamily="2" charset="-127"/>
                        <a:ea typeface="나눔스퀘어 네오 ExtraBold" panose="000009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l" latinLnBrk="1">
                        <a:lnSpc>
                          <a:spcPct val="100000"/>
                        </a:lnSpc>
                        <a:spcAft>
                          <a:spcPts val="600"/>
                        </a:spcAft>
                        <a:buFontTx/>
                        <a:buNone/>
                      </a:pPr>
                      <a:r>
                        <a:rPr lang="en-US" altLang="ko-KR" sz="1200" b="1" kern="0" spc="-80" baseline="0" noProof="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JAVA</a:t>
                      </a:r>
                      <a:r>
                        <a:rPr lang="ko-KR" altLang="en-US" sz="1200" b="1" kern="0" spc="-80" baseline="0" noProof="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입문과정</a:t>
                      </a:r>
                    </a:p>
                  </a:txBody>
                  <a:tcPr marL="144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64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r" defTabSz="742969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100" b="1" kern="0" spc="-150" dirty="0">
                          <a:solidFill>
                            <a:schemeClr val="tx1"/>
                          </a:solidFill>
                          <a:effectLst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+mn-cs"/>
                        </a:rPr>
                        <a:t>강의장소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l" latinLnBrk="1">
                        <a:lnSpc>
                          <a:spcPct val="100000"/>
                        </a:lnSpc>
                        <a:spcAft>
                          <a:spcPts val="600"/>
                        </a:spcAft>
                        <a:buFontTx/>
                        <a:buNone/>
                      </a:pPr>
                      <a:r>
                        <a:rPr lang="ko-KR" altLang="en-US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알파코 성수 캠퍼스</a:t>
                      </a:r>
                    </a:p>
                  </a:txBody>
                  <a:tcPr marL="144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103864"/>
                  </a:ext>
                </a:extLst>
              </a:tr>
              <a:tr h="31064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r" defTabSz="742969" rtl="0" eaLnBrk="1" latinLnBrk="1" hangingPunct="1">
                        <a:lnSpc>
                          <a:spcPct val="100000"/>
                        </a:lnSpc>
                        <a:buFont typeface="Arial" pitchFamily="34" charset="0"/>
                        <a:buNone/>
                      </a:pPr>
                      <a:r>
                        <a:rPr lang="ko-KR" altLang="en-US" sz="1100" b="1" kern="0" spc="-150" dirty="0">
                          <a:solidFill>
                            <a:schemeClr val="tx1"/>
                          </a:solidFill>
                          <a:effectLst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+mn-cs"/>
                        </a:rPr>
                        <a:t>실행 일정  및 시간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Tx/>
                        <a:buNone/>
                      </a:pP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2025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월 중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, 5~8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주차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/12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주차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, 8H/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일</a:t>
                      </a:r>
                      <a:endParaRPr lang="ko-KR" altLang="en-US" sz="1100" b="0" kern="1200" spc="0" baseline="0" noProof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144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843035"/>
                  </a:ext>
                </a:extLst>
              </a:tr>
              <a:tr h="99239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r" defTabSz="742969" rtl="0" eaLnBrk="1" latinLnBrk="1" hangingPunct="1">
                        <a:spcAft>
                          <a:spcPts val="100"/>
                        </a:spcAft>
                        <a:buFont typeface="Arial" pitchFamily="34" charset="0"/>
                        <a:buNone/>
                      </a:pPr>
                      <a:r>
                        <a:rPr lang="ko-KR" altLang="en-US" sz="1100" b="1" kern="0" spc="-150" dirty="0">
                          <a:solidFill>
                            <a:schemeClr val="tx1"/>
                          </a:solidFill>
                          <a:effectLst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+mn-cs"/>
                        </a:rPr>
                        <a:t>과정 목표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○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JAVA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기본 구조와 문법을 학습하고 객체 지향 프로그래밍의 핵심 원칙을 이해한다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○ 객체지향 프로그래밍 핵심 원리를 이해하고 코드 재사용성과 유지 보수 개념을 익힌다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. 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○ JAVA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가 제공하는 다는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API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를 이해하고 이를 활용한 응용 애플리케이션 개발이 가능 하도록 한다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. 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○ 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JDBC API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를 이해하고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Oracle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데이터베이스와 연동하여 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CRUD(Create Read Update Delete)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를 할 수 있다</a:t>
                      </a:r>
                    </a:p>
                  </a:txBody>
                  <a:tcPr marL="144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056000"/>
                  </a:ext>
                </a:extLst>
              </a:tr>
              <a:tr h="250344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r" defTabSz="742969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100" b="1" kern="0" spc="-150" dirty="0">
                          <a:solidFill>
                            <a:schemeClr val="tx1"/>
                          </a:solidFill>
                          <a:effectLst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+mn-cs"/>
                        </a:rPr>
                        <a:t>과정구성</a:t>
                      </a:r>
                      <a:endParaRPr lang="en-US" altLang="ko-KR" sz="1100" b="1" kern="0" spc="-150" dirty="0">
                        <a:solidFill>
                          <a:schemeClr val="tx1"/>
                        </a:solidFill>
                        <a:effectLst/>
                        <a:latin typeface="나눔스퀘어 네오 ExtraBold" panose="00000900000000000000" pitchFamily="2" charset="-127"/>
                        <a:ea typeface="나눔스퀘어 네오 ExtraBold" panose="000009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3B7E6">
                        <a:alpha val="58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100" b="0" kern="1200" spc="0" baseline="0" noProof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144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540992"/>
                  </a:ext>
                </a:extLst>
              </a:tr>
              <a:tr h="2887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r" defTabSz="742969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100" b="1" kern="0" spc="-150" dirty="0">
                          <a:solidFill>
                            <a:schemeClr val="tx1"/>
                          </a:solidFill>
                          <a:effectLst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+mn-cs"/>
                        </a:rPr>
                        <a:t>교수방법</a:t>
                      </a:r>
                      <a:endParaRPr lang="en-US" altLang="ko-KR" sz="1100" b="1" kern="0" spc="-150" dirty="0">
                        <a:solidFill>
                          <a:schemeClr val="tx1"/>
                        </a:solidFill>
                        <a:effectLst/>
                        <a:latin typeface="나눔스퀘어 네오 ExtraBold" panose="00000900000000000000" pitchFamily="2" charset="-127"/>
                        <a:ea typeface="나눔스퀘어 네오 ExtraBold" panose="000009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8FA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이론강의 </a:t>
                      </a:r>
                      <a:r>
                        <a:rPr lang="en-US" altLang="ko-KR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+ </a:t>
                      </a:r>
                      <a:r>
                        <a:rPr lang="ko-KR" altLang="en-US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실습 </a:t>
                      </a:r>
                      <a:r>
                        <a:rPr lang="en-US" altLang="ko-KR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+ </a:t>
                      </a:r>
                      <a:r>
                        <a:rPr lang="ko-KR" altLang="en-US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개인 학습</a:t>
                      </a:r>
                      <a:r>
                        <a:rPr lang="en-US" altLang="ko-KR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+ </a:t>
                      </a:r>
                      <a:r>
                        <a:rPr lang="ko-KR" altLang="en-US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팀 스터디 </a:t>
                      </a:r>
                      <a:r>
                        <a:rPr lang="en-US" altLang="ko-KR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+ </a:t>
                      </a:r>
                      <a:r>
                        <a:rPr lang="ko-KR" altLang="en-US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팀 프로젝트 </a:t>
                      </a:r>
                      <a:endParaRPr lang="en-US" altLang="ko-KR" sz="1100" b="0" kern="1200" spc="0" baseline="0" noProof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144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86237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1C1C2302-9993-16AB-127B-BAB98385E7F0}"/>
              </a:ext>
            </a:extLst>
          </p:cNvPr>
          <p:cNvSpPr txBox="1"/>
          <p:nvPr/>
        </p:nvSpPr>
        <p:spPr>
          <a:xfrm>
            <a:off x="2492800" y="2475804"/>
            <a:ext cx="418952" cy="349702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C72FAE-2C62-B277-7F1B-534C56BF2736}"/>
              </a:ext>
            </a:extLst>
          </p:cNvPr>
          <p:cNvSpPr txBox="1"/>
          <p:nvPr/>
        </p:nvSpPr>
        <p:spPr>
          <a:xfrm>
            <a:off x="2480778" y="2705951"/>
            <a:ext cx="442997" cy="349702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1DBDBC-BE03-C0B7-4DD7-49E99FDA3DFE}"/>
              </a:ext>
            </a:extLst>
          </p:cNvPr>
          <p:cNvSpPr txBox="1"/>
          <p:nvPr/>
        </p:nvSpPr>
        <p:spPr>
          <a:xfrm>
            <a:off x="2492800" y="3187319"/>
            <a:ext cx="418952" cy="349702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4CB4AAC1-1675-51E9-3084-788828A77A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987556"/>
              </p:ext>
            </p:extLst>
          </p:nvPr>
        </p:nvGraphicFramePr>
        <p:xfrm>
          <a:off x="2495338" y="3582063"/>
          <a:ext cx="9203854" cy="2342480"/>
        </p:xfrm>
        <a:graphic>
          <a:graphicData uri="http://schemas.openxmlformats.org/drawingml/2006/table">
            <a:tbl>
              <a:tblPr firstRow="1" bandRow="1"/>
              <a:tblGrid>
                <a:gridCol w="865924">
                  <a:extLst>
                    <a:ext uri="{9D8B030D-6E8A-4147-A177-3AD203B41FA5}">
                      <a16:colId xmlns:a16="http://schemas.microsoft.com/office/drawing/2014/main" val="2617287499"/>
                    </a:ext>
                  </a:extLst>
                </a:gridCol>
                <a:gridCol w="1335729">
                  <a:extLst>
                    <a:ext uri="{9D8B030D-6E8A-4147-A177-3AD203B41FA5}">
                      <a16:colId xmlns:a16="http://schemas.microsoft.com/office/drawing/2014/main" val="4209543300"/>
                    </a:ext>
                  </a:extLst>
                </a:gridCol>
                <a:gridCol w="1403927">
                  <a:extLst>
                    <a:ext uri="{9D8B030D-6E8A-4147-A177-3AD203B41FA5}">
                      <a16:colId xmlns:a16="http://schemas.microsoft.com/office/drawing/2014/main" val="2852030399"/>
                    </a:ext>
                  </a:extLst>
                </a:gridCol>
                <a:gridCol w="1385455">
                  <a:extLst>
                    <a:ext uri="{9D8B030D-6E8A-4147-A177-3AD203B41FA5}">
                      <a16:colId xmlns:a16="http://schemas.microsoft.com/office/drawing/2014/main" val="3943045774"/>
                    </a:ext>
                  </a:extLst>
                </a:gridCol>
                <a:gridCol w="1431636">
                  <a:extLst>
                    <a:ext uri="{9D8B030D-6E8A-4147-A177-3AD203B41FA5}">
                      <a16:colId xmlns:a16="http://schemas.microsoft.com/office/drawing/2014/main" val="149304694"/>
                    </a:ext>
                  </a:extLst>
                </a:gridCol>
                <a:gridCol w="1339273">
                  <a:extLst>
                    <a:ext uri="{9D8B030D-6E8A-4147-A177-3AD203B41FA5}">
                      <a16:colId xmlns:a16="http://schemas.microsoft.com/office/drawing/2014/main" val="16439815"/>
                    </a:ext>
                  </a:extLst>
                </a:gridCol>
                <a:gridCol w="1441910">
                  <a:extLst>
                    <a:ext uri="{9D8B030D-6E8A-4147-A177-3AD203B41FA5}">
                      <a16:colId xmlns:a16="http://schemas.microsoft.com/office/drawing/2014/main" val="4058534829"/>
                    </a:ext>
                  </a:extLst>
                </a:gridCol>
              </a:tblGrid>
              <a:tr h="24332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Module1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Module2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Module3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Module4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Module5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Module6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839939"/>
                  </a:ext>
                </a:extLst>
              </a:tr>
              <a:tr h="24332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모듈명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</a:rPr>
                        <a:t>JAVA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</a:rPr>
                        <a:t>의 기본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스퀘어 네오 ExtraBold" panose="00000900000000000000" pitchFamily="2" charset="-127"/>
                        <a:ea typeface="나눔스퀘어 네오 ExtraBold" panose="000009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97F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Arial" panose="020B0604020202020204" pitchFamily="34" charset="0"/>
                        </a:rPr>
                        <a:t>JAVA</a:t>
                      </a:r>
                      <a:r>
                        <a:rPr kumimoji="0" lang="ko-KR" altLang="en-US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ko-KR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Arial" panose="020B0604020202020204" pitchFamily="34" charset="0"/>
                        </a:rPr>
                        <a:t>OOP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97F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Arial" panose="020B0604020202020204" pitchFamily="34" charset="0"/>
                        </a:rPr>
                        <a:t>JAVA </a:t>
                      </a:r>
                      <a:r>
                        <a:rPr kumimoji="0" lang="ko-KR" altLang="en-US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Arial" panose="020B0604020202020204" pitchFamily="34" charset="0"/>
                        </a:rPr>
                        <a:t>고급</a:t>
                      </a:r>
                      <a:endParaRPr lang="ko-KR" altLang="en-US" sz="900" dirty="0">
                        <a:latin typeface="나눔스퀘어 네오 ExtraBold" panose="00000900000000000000" pitchFamily="2" charset="-127"/>
                        <a:ea typeface="나눔스퀘어 네오 ExtraBold" panose="000009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97F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spc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JDBC </a:t>
                      </a:r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프로그래밍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97F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MVC</a:t>
                      </a:r>
                      <a:endParaRPr lang="ko-KR" altLang="en-US" sz="900" b="1" spc="0" baseline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97F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Arial" panose="020B0604020202020204" pitchFamily="34" charset="0"/>
                        </a:rPr>
                        <a:t>팀 프로젝트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97FD5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34819"/>
                  </a:ext>
                </a:extLst>
              </a:tr>
              <a:tr h="24332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학습시간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4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일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,32H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0" spc="-80" dirty="0">
                          <a:solidFill>
                            <a:srgbClr val="1E1E1E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lang="ko-KR" altLang="en-US" sz="900" kern="0" spc="-80" dirty="0">
                          <a:solidFill>
                            <a:srgbClr val="1E1E1E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일</a:t>
                      </a:r>
                      <a:r>
                        <a:rPr lang="en-US" altLang="ko-KR" sz="900" kern="0" spc="-80" dirty="0">
                          <a:solidFill>
                            <a:srgbClr val="1E1E1E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, 32H</a:t>
                      </a:r>
                      <a:endParaRPr kumimoji="0" lang="en-US" altLang="ko-KR" sz="900" b="0" i="0" u="none" strike="noStrike" kern="0" cap="none" spc="-80" normalizeH="0" baseline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0" lang="ko-KR" altLang="en-US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일</a:t>
                      </a:r>
                      <a:r>
                        <a:rPr kumimoji="0" lang="en-US" altLang="ko-KR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, 32H</a:t>
                      </a:r>
                      <a:endParaRPr lang="ko-KR" altLang="en-US" sz="9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0" lang="ko-KR" altLang="en-US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일</a:t>
                      </a:r>
                      <a:r>
                        <a:rPr kumimoji="0" lang="en-US" altLang="ko-KR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, 16H</a:t>
                      </a:r>
                      <a:endParaRPr kumimoji="0" lang="ko-KR" altLang="en-US" sz="900" b="0" i="0" u="none" strike="noStrike" kern="0" cap="none" spc="-80" normalizeH="0" baseline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0" spc="-80" dirty="0">
                          <a:solidFill>
                            <a:srgbClr val="1E1E1E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lang="ko-KR" altLang="en-US" sz="900" kern="0" spc="-80" dirty="0">
                          <a:solidFill>
                            <a:srgbClr val="1E1E1E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일</a:t>
                      </a:r>
                      <a:r>
                        <a:rPr lang="en-US" altLang="ko-KR" sz="900" kern="0" spc="-80" dirty="0">
                          <a:solidFill>
                            <a:srgbClr val="1E1E1E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, 16H</a:t>
                      </a:r>
                      <a:endParaRPr kumimoji="0" lang="ko-KR" altLang="en-US" sz="900" b="0" i="0" u="none" strike="noStrike" kern="0" cap="none" spc="-80" normalizeH="0" baseline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0" spc="-80" dirty="0">
                          <a:solidFill>
                            <a:srgbClr val="1E1E1E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lang="ko-KR" altLang="en-US" sz="900" b="0" kern="0" spc="-80" dirty="0">
                          <a:solidFill>
                            <a:srgbClr val="1E1E1E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일</a:t>
                      </a:r>
                      <a:r>
                        <a:rPr lang="en-US" altLang="ko-KR" sz="900" b="0" kern="0" spc="-80" dirty="0">
                          <a:solidFill>
                            <a:srgbClr val="1E1E1E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, 32H</a:t>
                      </a:r>
                      <a:endParaRPr kumimoji="0" lang="ko-KR" altLang="en-US" sz="900" b="0" i="0" u="none" strike="noStrike" kern="0" cap="none" spc="-80" normalizeH="0" baseline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797105"/>
                  </a:ext>
                </a:extLst>
              </a:tr>
              <a:tr h="107331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학습내용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4138" indent="-84138">
                        <a:lnSpc>
                          <a:spcPct val="110000"/>
                        </a:lnSpc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ko-KR" sz="9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JAVA</a:t>
                      </a:r>
                      <a:r>
                        <a:rPr lang="ko-KR" altLang="en-US" sz="9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 특징과 기본 구조 이해</a:t>
                      </a:r>
                      <a:endParaRPr lang="en-US" altLang="ko-KR" sz="900" spc="-100" baseline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  <a:p>
                      <a:pPr marL="84138" indent="-84138">
                        <a:lnSpc>
                          <a:spcPct val="110000"/>
                        </a:lnSpc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JAVA </a:t>
                      </a: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기초 문법 학습</a:t>
                      </a: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4138" marR="0" lvl="0" indent="-84138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객체 지향 프로그래밍 원칙 이해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4138" marR="0" lvl="0" indent="-84138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예외 상황 처리에 대한 이해</a:t>
                      </a:r>
                      <a:endParaRPr lang="en-US" altLang="ko-KR" sz="9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  <a:p>
                      <a:pPr marL="84138" marR="0" lvl="0" indent="-84138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JAVA API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제네릭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Collection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API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개념 학습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4138" marR="0" lvl="0" indent="-84138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JDBC API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를 이해하고 데이터베이스와 연동하여 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CRUD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진행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4138" marR="0" lvl="0" indent="-84138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MVC </a:t>
                      </a: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프로그램과 흐름을 이해 </a:t>
                      </a:r>
                      <a:endParaRPr lang="en-US" altLang="ko-KR" sz="9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고객관리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계좌관리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거래내역조회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자산운영관리 등 금융 관련 업무 설계 및 구현 中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택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 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138318"/>
                  </a:ext>
                </a:extLst>
              </a:tr>
              <a:tr h="26960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실습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537364"/>
                  </a:ext>
                </a:extLst>
              </a:tr>
              <a:tr h="26960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Test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42706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FA1F2D1C-2A92-6977-FEDD-F84F094A99A8}"/>
              </a:ext>
            </a:extLst>
          </p:cNvPr>
          <p:cNvSpPr txBox="1"/>
          <p:nvPr/>
        </p:nvSpPr>
        <p:spPr>
          <a:xfrm>
            <a:off x="2492800" y="2944839"/>
            <a:ext cx="418952" cy="349702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7D07926-8D9B-0F93-27CF-C9EE61E55AEB}"/>
              </a:ext>
            </a:extLst>
          </p:cNvPr>
          <p:cNvGrpSpPr/>
          <p:nvPr/>
        </p:nvGrpSpPr>
        <p:grpSpPr>
          <a:xfrm>
            <a:off x="8736542" y="1342921"/>
            <a:ext cx="2978664" cy="180000"/>
            <a:chOff x="8716878" y="1327872"/>
            <a:chExt cx="2978664" cy="18000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3002BEFB-6439-B30D-8ABD-D1D8954143D9}"/>
                </a:ext>
              </a:extLst>
            </p:cNvPr>
            <p:cNvSpPr/>
            <p:nvPr/>
          </p:nvSpPr>
          <p:spPr>
            <a:xfrm>
              <a:off x="8716878" y="1327872"/>
              <a:ext cx="720000" cy="180000"/>
            </a:xfrm>
            <a:prstGeom prst="rect">
              <a:avLst/>
            </a:prstGeom>
            <a:solidFill>
              <a:srgbClr val="BFBFBF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A Track</a:t>
              </a:r>
              <a:endParaRPr lang="ko-KR" altLang="en-US" sz="9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6523D312-0E26-FB10-76DE-C8156198647C}"/>
                </a:ext>
              </a:extLst>
            </p:cNvPr>
            <p:cNvSpPr/>
            <p:nvPr/>
          </p:nvSpPr>
          <p:spPr>
            <a:xfrm>
              <a:off x="9469766" y="1327872"/>
              <a:ext cx="720000" cy="1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B Track</a:t>
              </a:r>
              <a:endParaRPr lang="ko-KR" altLang="en-US" sz="9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91B5DA13-1449-A7CF-9CDC-A6EB8646E5A7}"/>
                </a:ext>
              </a:extLst>
            </p:cNvPr>
            <p:cNvSpPr/>
            <p:nvPr/>
          </p:nvSpPr>
          <p:spPr>
            <a:xfrm>
              <a:off x="10222654" y="1327872"/>
              <a:ext cx="720000" cy="180000"/>
            </a:xfrm>
            <a:prstGeom prst="rect">
              <a:avLst/>
            </a:prstGeom>
            <a:solidFill>
              <a:srgbClr val="82DFFF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C Track</a:t>
              </a:r>
              <a:endParaRPr lang="ko-KR" altLang="en-US" sz="9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517070E7-9715-7A31-BB1D-0750CDF7593E}"/>
                </a:ext>
              </a:extLst>
            </p:cNvPr>
            <p:cNvSpPr/>
            <p:nvPr/>
          </p:nvSpPr>
          <p:spPr>
            <a:xfrm>
              <a:off x="10975542" y="1327872"/>
              <a:ext cx="720000" cy="1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D Track</a:t>
              </a:r>
              <a:endParaRPr lang="ko-KR" altLang="en-US" sz="9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5504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EFD10-8560-6789-8A59-2D67CCD01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950154-2B2B-1380-6C58-C67139582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단계별 주요 활동 및 예시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2DECCD6-1583-CA39-E928-24824200499A}"/>
              </a:ext>
            </a:extLst>
          </p:cNvPr>
          <p:cNvSpPr/>
          <p:nvPr/>
        </p:nvSpPr>
        <p:spPr>
          <a:xfrm>
            <a:off x="0" y="867581"/>
            <a:ext cx="12192000" cy="3179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marL="1730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3-3. </a:t>
            </a:r>
            <a:r>
              <a:rPr lang="ko-KR" altLang="en-US" sz="1200" spc="-100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프로그램 운영</a:t>
            </a:r>
            <a:endParaRPr kumimoji="0" lang="ko-KR" altLang="en-US" sz="1200" b="0" i="0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2F27879-883F-8412-0762-E9A918A32E1C}"/>
              </a:ext>
            </a:extLst>
          </p:cNvPr>
          <p:cNvSpPr/>
          <p:nvPr/>
        </p:nvSpPr>
        <p:spPr>
          <a:xfrm>
            <a:off x="997791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분석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C4CCB2E-7243-9C8F-745B-A78DEB2B0AEA}"/>
              </a:ext>
            </a:extLst>
          </p:cNvPr>
          <p:cNvSpPr/>
          <p:nvPr/>
        </p:nvSpPr>
        <p:spPr>
          <a:xfrm>
            <a:off x="1042363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세팅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E128B17-1F38-3C68-6204-83FBE49C8102}"/>
              </a:ext>
            </a:extLst>
          </p:cNvPr>
          <p:cNvSpPr/>
          <p:nvPr/>
        </p:nvSpPr>
        <p:spPr>
          <a:xfrm>
            <a:off x="10869354" y="933459"/>
            <a:ext cx="397500" cy="186234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운영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96D0D5-8E9C-DEE4-950E-B66356F27844}"/>
              </a:ext>
            </a:extLst>
          </p:cNvPr>
          <p:cNvSpPr/>
          <p:nvPr/>
        </p:nvSpPr>
        <p:spPr>
          <a:xfrm>
            <a:off x="1131507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사후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F6FF0FA-DD88-3D8D-C9A2-A292D503D0C8}"/>
              </a:ext>
            </a:extLst>
          </p:cNvPr>
          <p:cNvGrpSpPr/>
          <p:nvPr/>
        </p:nvGrpSpPr>
        <p:grpSpPr>
          <a:xfrm>
            <a:off x="515938" y="1300479"/>
            <a:ext cx="1223204" cy="1042670"/>
            <a:chOff x="515938" y="1300479"/>
            <a:chExt cx="1223206" cy="1033146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DD369E74-C57F-65CC-AD0F-0640384A8641}"/>
                </a:ext>
              </a:extLst>
            </p:cNvPr>
            <p:cNvSpPr/>
            <p:nvPr/>
          </p:nvSpPr>
          <p:spPr>
            <a:xfrm>
              <a:off x="515938" y="1300479"/>
              <a:ext cx="1223206" cy="1033146"/>
            </a:xfrm>
            <a:prstGeom prst="rect">
              <a:avLst/>
            </a:prstGeom>
            <a:solidFill>
              <a:srgbClr val="2484C6"/>
            </a:solidFill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JAVA </a:t>
              </a:r>
              <a:r>
                <a:rPr kumimoji="0" lang="ko-KR" altLang="en-US" sz="1200" b="0" i="0" u="none" strike="noStrike" kern="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입문과정</a:t>
              </a:r>
              <a:endParaRPr kumimoji="0" lang="en-US" altLang="ko-KR" sz="1200" b="0" i="0" u="none" strike="noStrike" kern="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06792AC0-49C3-37B1-1FC4-24F0B4DD935B}"/>
                </a:ext>
              </a:extLst>
            </p:cNvPr>
            <p:cNvSpPr/>
            <p:nvPr/>
          </p:nvSpPr>
          <p:spPr>
            <a:xfrm>
              <a:off x="515938" y="1300479"/>
              <a:ext cx="319423" cy="261621"/>
            </a:xfrm>
            <a:prstGeom prst="rect">
              <a:avLst/>
            </a:prstGeom>
            <a:solidFill>
              <a:srgbClr val="2484C6">
                <a:lumMod val="40000"/>
                <a:lumOff val="60000"/>
              </a:srgbClr>
            </a:solidFill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C</a:t>
              </a:r>
              <a:endPara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6E96959-C18B-F3FE-F0E9-29292B729323}"/>
              </a:ext>
            </a:extLst>
          </p:cNvPr>
          <p:cNvSpPr/>
          <p:nvPr/>
        </p:nvSpPr>
        <p:spPr>
          <a:xfrm>
            <a:off x="1775644" y="1300479"/>
            <a:ext cx="9936927" cy="1044000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1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주차 학습목표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  <a:p>
            <a:pPr marL="268288" marR="0" lvl="0" indent="-17938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JAVA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의 특징과 기본 구조를 이해한다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</a:t>
            </a:r>
          </a:p>
          <a:p>
            <a:pPr marL="268288" marR="0" lvl="0" indent="-17938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JAVA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의 기초 문법을 이해하고 프로그래밍 문제를 해결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할 수 있다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</a:t>
            </a:r>
          </a:p>
          <a:p>
            <a:pPr marL="268288" marR="0" lvl="0" indent="-17938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객체 지향 언어의 특징과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Class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구조를 이해한다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5B16C4DD-EC55-54A7-DAAD-32E3C75FB0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445677"/>
              </p:ext>
            </p:extLst>
          </p:nvPr>
        </p:nvGraphicFramePr>
        <p:xfrm>
          <a:off x="525363" y="2409825"/>
          <a:ext cx="11195675" cy="3898901"/>
        </p:xfrm>
        <a:graphic>
          <a:graphicData uri="http://schemas.openxmlformats.org/drawingml/2006/table">
            <a:tbl>
              <a:tblPr firstRow="1" bandRow="1"/>
              <a:tblGrid>
                <a:gridCol w="464906">
                  <a:extLst>
                    <a:ext uri="{9D8B030D-6E8A-4147-A177-3AD203B41FA5}">
                      <a16:colId xmlns:a16="http://schemas.microsoft.com/office/drawing/2014/main" val="3940468437"/>
                    </a:ext>
                  </a:extLst>
                </a:gridCol>
                <a:gridCol w="464906">
                  <a:extLst>
                    <a:ext uri="{9D8B030D-6E8A-4147-A177-3AD203B41FA5}">
                      <a16:colId xmlns:a16="http://schemas.microsoft.com/office/drawing/2014/main" val="2400606576"/>
                    </a:ext>
                  </a:extLst>
                </a:gridCol>
                <a:gridCol w="904568">
                  <a:extLst>
                    <a:ext uri="{9D8B030D-6E8A-4147-A177-3AD203B41FA5}">
                      <a16:colId xmlns:a16="http://schemas.microsoft.com/office/drawing/2014/main" val="376411452"/>
                    </a:ext>
                  </a:extLst>
                </a:gridCol>
                <a:gridCol w="2019203">
                  <a:extLst>
                    <a:ext uri="{9D8B030D-6E8A-4147-A177-3AD203B41FA5}">
                      <a16:colId xmlns:a16="http://schemas.microsoft.com/office/drawing/2014/main" val="2115866371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1381459244"/>
                    </a:ext>
                  </a:extLst>
                </a:gridCol>
                <a:gridCol w="2185364">
                  <a:extLst>
                    <a:ext uri="{9D8B030D-6E8A-4147-A177-3AD203B41FA5}">
                      <a16:colId xmlns:a16="http://schemas.microsoft.com/office/drawing/2014/main" val="1033327336"/>
                    </a:ext>
                  </a:extLst>
                </a:gridCol>
                <a:gridCol w="836728">
                  <a:extLst>
                    <a:ext uri="{9D8B030D-6E8A-4147-A177-3AD203B41FA5}">
                      <a16:colId xmlns:a16="http://schemas.microsoft.com/office/drawing/2014/main" val="3360630688"/>
                    </a:ext>
                  </a:extLst>
                </a:gridCol>
              </a:tblGrid>
              <a:tr h="334391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일정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모듈명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교육 내용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실습 내용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기타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476630"/>
                  </a:ext>
                </a:extLst>
              </a:tr>
              <a:tr h="712902"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</a:t>
                      </a:r>
                    </a:p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week</a:t>
                      </a:r>
                      <a:endParaRPr lang="ko-KR" altLang="en-US" sz="1000" spc="-15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JAVA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기본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JAVA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기본 구조 이해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(8h)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What is JAVA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JAVA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특징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JAVA program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기본 구조 이해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Class 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생성 및 실현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개발 환경 셋팅 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기본  프로그래밍 작성 및 실행을 통한 구조 이해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037185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JAVA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변수 이해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(8h)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JAVA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변수 이해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정수형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실수형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문자타입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문자열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논리형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데이터 타입 별 선언 및 각 데이터들의 범위를 설정하여 출력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80975" lvl="1" indent="-180975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타입 변환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80975" lvl="1" indent="-180975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연산자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963409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조건문 및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반복문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(8h)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코드 실행 흐름 제어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제어문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반복문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For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문을 이용한 특정 범위까지의 </a:t>
                      </a:r>
                      <a:r>
                        <a:rPr lang="ko-KR" altLang="en-US" sz="1000" spc="-7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숫자들의 합과 다양한 조건을 결합한 연산 처리 실습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4769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참조형 변수 이해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(8h)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참조형 변수 이해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메모리 구조 이해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String 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배열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차원 배열 생성 후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랜덤한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숫자를 배열에 입력하고 연산 처리 실습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단원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TEST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121350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JAVA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OOP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객체지향 언어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1(8h)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OOAD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OOP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JAVA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에서의 객체지향 언어 특징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Class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구조 이해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고객 계좌에 대한 클래스 설계 및 구현 실습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877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2508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4A8F5-FDBA-1FF3-E666-437245A32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A4352F-B434-8993-7896-FB5776113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단계별 주요 활동 및 예시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3E06A02-08C0-A49D-A8B5-777F21F8994A}"/>
              </a:ext>
            </a:extLst>
          </p:cNvPr>
          <p:cNvSpPr/>
          <p:nvPr/>
        </p:nvSpPr>
        <p:spPr>
          <a:xfrm>
            <a:off x="0" y="867581"/>
            <a:ext cx="12192000" cy="3179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marL="1730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3-3. </a:t>
            </a:r>
            <a:r>
              <a:rPr lang="ko-KR" altLang="en-US" sz="1200" spc="-100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프로그램 운영</a:t>
            </a:r>
            <a:endParaRPr kumimoji="0" lang="ko-KR" altLang="en-US" sz="1200" b="0" i="0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64C8A98-0B41-2CC8-8C0E-52D8434FAC76}"/>
              </a:ext>
            </a:extLst>
          </p:cNvPr>
          <p:cNvSpPr/>
          <p:nvPr/>
        </p:nvSpPr>
        <p:spPr>
          <a:xfrm>
            <a:off x="997791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분석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30E03A-7D34-8555-F3BB-4ED7A7B31830}"/>
              </a:ext>
            </a:extLst>
          </p:cNvPr>
          <p:cNvSpPr/>
          <p:nvPr/>
        </p:nvSpPr>
        <p:spPr>
          <a:xfrm>
            <a:off x="1042363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세팅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CFA7FA5-D144-070B-6534-6257062D0222}"/>
              </a:ext>
            </a:extLst>
          </p:cNvPr>
          <p:cNvSpPr/>
          <p:nvPr/>
        </p:nvSpPr>
        <p:spPr>
          <a:xfrm>
            <a:off x="10869354" y="933459"/>
            <a:ext cx="397500" cy="186234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운영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965A69F-2EB2-6F6E-5247-6EB3370A0AF6}"/>
              </a:ext>
            </a:extLst>
          </p:cNvPr>
          <p:cNvSpPr/>
          <p:nvPr/>
        </p:nvSpPr>
        <p:spPr>
          <a:xfrm>
            <a:off x="1131507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사후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555807A-DAC1-5AC6-30C4-D64554C6A61B}"/>
              </a:ext>
            </a:extLst>
          </p:cNvPr>
          <p:cNvGrpSpPr/>
          <p:nvPr/>
        </p:nvGrpSpPr>
        <p:grpSpPr>
          <a:xfrm>
            <a:off x="515938" y="1300479"/>
            <a:ext cx="1223204" cy="1042670"/>
            <a:chOff x="515938" y="1300479"/>
            <a:chExt cx="1223206" cy="1033146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0238DD0B-97A7-FC54-4EA1-83D788E11A3E}"/>
                </a:ext>
              </a:extLst>
            </p:cNvPr>
            <p:cNvSpPr/>
            <p:nvPr/>
          </p:nvSpPr>
          <p:spPr>
            <a:xfrm>
              <a:off x="515938" y="1300479"/>
              <a:ext cx="1223206" cy="1033146"/>
            </a:xfrm>
            <a:prstGeom prst="rect">
              <a:avLst/>
            </a:prstGeom>
            <a:solidFill>
              <a:srgbClr val="2484C6"/>
            </a:solidFill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0" i="0" u="none" strike="noStrike" kern="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JAVA </a:t>
              </a:r>
              <a:r>
                <a:rPr kumimoji="0" lang="ko-KR" altLang="en-US" sz="1200" b="0" i="0" u="none" strike="noStrike" kern="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입문과정</a:t>
              </a:r>
              <a:endParaRPr kumimoji="0" lang="en-US" altLang="ko-KR" sz="1200" b="0" i="0" u="none" strike="noStrike" kern="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0" i="0" u="none" strike="noStrike" kern="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86E5F2B5-6B43-B9E8-FC99-843142FF50D6}"/>
                </a:ext>
              </a:extLst>
            </p:cNvPr>
            <p:cNvSpPr/>
            <p:nvPr/>
          </p:nvSpPr>
          <p:spPr>
            <a:xfrm>
              <a:off x="515938" y="1300479"/>
              <a:ext cx="319423" cy="261621"/>
            </a:xfrm>
            <a:prstGeom prst="rect">
              <a:avLst/>
            </a:prstGeom>
            <a:solidFill>
              <a:srgbClr val="2484C6">
                <a:lumMod val="40000"/>
                <a:lumOff val="60000"/>
              </a:srgbClr>
            </a:solidFill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C</a:t>
              </a:r>
              <a:endPara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02F30DA-0B9F-8F18-7577-5285A6AA4282}"/>
              </a:ext>
            </a:extLst>
          </p:cNvPr>
          <p:cNvSpPr/>
          <p:nvPr/>
        </p:nvSpPr>
        <p:spPr>
          <a:xfrm>
            <a:off x="1775644" y="1300479"/>
            <a:ext cx="9936927" cy="1044000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2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주차 학습목표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  <a:p>
            <a:pPr marL="268288" marR="0" lvl="0" indent="-17938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객체 지향 프로그래밍의 핵심 원칙을 이해하고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,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코드의 재사용성과 유지보수성을 위한 개념을 활용 할 수 있다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</a:t>
            </a:r>
          </a:p>
          <a:p>
            <a:pPr marL="268288" marR="0" lvl="0" indent="-17938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예외 상황에 대해 이해하고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,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예외 처리 </a:t>
            </a:r>
            <a:r>
              <a:rPr kumimoji="0" lang="ko-KR" altLang="en-US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매커니즘과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Exception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을 활용하여 견고한 코드를 작성할 수 있도록 한다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</a:t>
            </a:r>
          </a:p>
          <a:p>
            <a:pPr marL="268288" marR="0" lvl="0" indent="-17938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JAVA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API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를 활용하여 데이터를 효율적으로 처리하고 정확하게 다룰 수 있다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EEBC1F5F-B1B6-1104-3A0B-323392EDC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229811"/>
              </p:ext>
            </p:extLst>
          </p:nvPr>
        </p:nvGraphicFramePr>
        <p:xfrm>
          <a:off x="525363" y="2409825"/>
          <a:ext cx="11195675" cy="3898901"/>
        </p:xfrm>
        <a:graphic>
          <a:graphicData uri="http://schemas.openxmlformats.org/drawingml/2006/table">
            <a:tbl>
              <a:tblPr firstRow="1" bandRow="1"/>
              <a:tblGrid>
                <a:gridCol w="464906">
                  <a:extLst>
                    <a:ext uri="{9D8B030D-6E8A-4147-A177-3AD203B41FA5}">
                      <a16:colId xmlns:a16="http://schemas.microsoft.com/office/drawing/2014/main" val="3940468437"/>
                    </a:ext>
                  </a:extLst>
                </a:gridCol>
                <a:gridCol w="464906">
                  <a:extLst>
                    <a:ext uri="{9D8B030D-6E8A-4147-A177-3AD203B41FA5}">
                      <a16:colId xmlns:a16="http://schemas.microsoft.com/office/drawing/2014/main" val="2400606576"/>
                    </a:ext>
                  </a:extLst>
                </a:gridCol>
                <a:gridCol w="904568">
                  <a:extLst>
                    <a:ext uri="{9D8B030D-6E8A-4147-A177-3AD203B41FA5}">
                      <a16:colId xmlns:a16="http://schemas.microsoft.com/office/drawing/2014/main" val="376411452"/>
                    </a:ext>
                  </a:extLst>
                </a:gridCol>
                <a:gridCol w="2019203">
                  <a:extLst>
                    <a:ext uri="{9D8B030D-6E8A-4147-A177-3AD203B41FA5}">
                      <a16:colId xmlns:a16="http://schemas.microsoft.com/office/drawing/2014/main" val="2115866371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1381459244"/>
                    </a:ext>
                  </a:extLst>
                </a:gridCol>
                <a:gridCol w="2195196">
                  <a:extLst>
                    <a:ext uri="{9D8B030D-6E8A-4147-A177-3AD203B41FA5}">
                      <a16:colId xmlns:a16="http://schemas.microsoft.com/office/drawing/2014/main" val="1033327336"/>
                    </a:ext>
                  </a:extLst>
                </a:gridCol>
                <a:gridCol w="826896">
                  <a:extLst>
                    <a:ext uri="{9D8B030D-6E8A-4147-A177-3AD203B41FA5}">
                      <a16:colId xmlns:a16="http://schemas.microsoft.com/office/drawing/2014/main" val="3360630688"/>
                    </a:ext>
                  </a:extLst>
                </a:gridCol>
              </a:tblGrid>
              <a:tr h="334391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일정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모듈명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교육 내용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실습 내용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기타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476630"/>
                  </a:ext>
                </a:extLst>
              </a:tr>
              <a:tr h="712902"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</a:t>
                      </a:r>
                    </a:p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week</a:t>
                      </a:r>
                      <a:endParaRPr lang="ko-KR" altLang="en-US" sz="1000" spc="-15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JAVA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OOP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객체지향 언어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상속 개념 이해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캡슐화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계좌 클래스를 기반으로 상속을 이용한 다양한 계좌 클래스 생성 실습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037185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객체지향 언어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추상화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다형성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상속 구조의 계좌 클래스를 추상화 시켜 다형성이 진행 되도록 실습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963409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객체지향 언어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추상클래스와 인터페이스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-6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인터페이스를 이용한 기능 정의 실습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단원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TEST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4769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JAVA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고급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예외 상황처리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예외 상황에 대한 이해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예외 상황 처리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Exception Class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처리 및 사용자 정의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Exception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이체 시 예외 상황 처리를 위해 예외 클래스 설계 및 실습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121350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JAVA API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활용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JAVA API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를 이용한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Programming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날짜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정규 표현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-7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통화 표현 및 </a:t>
                      </a:r>
                      <a:r>
                        <a:rPr lang="en-US" altLang="ko-KR" sz="1000" spc="-7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Local </a:t>
                      </a:r>
                      <a:r>
                        <a:rPr lang="ko-KR" altLang="en-US" sz="1000" spc="-7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시간에 대한 표현식 실습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877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79317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9A075-CE3D-C776-4CC9-FEB4CE8D4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D70D3E-D168-653C-D7E4-723199EBC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단계별 주요 활동 및 예시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834E559-663A-3745-2C0D-763A2B47C578}"/>
              </a:ext>
            </a:extLst>
          </p:cNvPr>
          <p:cNvSpPr/>
          <p:nvPr/>
        </p:nvSpPr>
        <p:spPr>
          <a:xfrm>
            <a:off x="0" y="867581"/>
            <a:ext cx="12192000" cy="3179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marL="1730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3-3. </a:t>
            </a:r>
            <a:r>
              <a:rPr lang="ko-KR" altLang="en-US" sz="1200" spc="-100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프로그램 운영</a:t>
            </a:r>
            <a:endParaRPr kumimoji="0" lang="ko-KR" altLang="en-US" sz="1200" b="0" i="0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BD18A0D-C193-67F0-6FCB-1EDAE471FE73}"/>
              </a:ext>
            </a:extLst>
          </p:cNvPr>
          <p:cNvSpPr/>
          <p:nvPr/>
        </p:nvSpPr>
        <p:spPr>
          <a:xfrm>
            <a:off x="997791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분석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21D8DD1-D08F-1FCA-ADED-4032714B03B1}"/>
              </a:ext>
            </a:extLst>
          </p:cNvPr>
          <p:cNvSpPr/>
          <p:nvPr/>
        </p:nvSpPr>
        <p:spPr>
          <a:xfrm>
            <a:off x="1042363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세팅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380482E-9F4D-497F-D0DA-82723574800E}"/>
              </a:ext>
            </a:extLst>
          </p:cNvPr>
          <p:cNvSpPr/>
          <p:nvPr/>
        </p:nvSpPr>
        <p:spPr>
          <a:xfrm>
            <a:off x="10869354" y="933459"/>
            <a:ext cx="397500" cy="186234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운영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E1A6DDA-0135-E74C-B961-C23D8C61F526}"/>
              </a:ext>
            </a:extLst>
          </p:cNvPr>
          <p:cNvSpPr/>
          <p:nvPr/>
        </p:nvSpPr>
        <p:spPr>
          <a:xfrm>
            <a:off x="1131507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사후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61DE58F-EF8B-C28C-39AF-748F581D0EAC}"/>
              </a:ext>
            </a:extLst>
          </p:cNvPr>
          <p:cNvGrpSpPr/>
          <p:nvPr/>
        </p:nvGrpSpPr>
        <p:grpSpPr>
          <a:xfrm>
            <a:off x="515938" y="1300479"/>
            <a:ext cx="1223204" cy="1042670"/>
            <a:chOff x="515938" y="1300479"/>
            <a:chExt cx="1223206" cy="1033146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FF8CD0C-08DE-F10E-E55F-F115C9E865E7}"/>
                </a:ext>
              </a:extLst>
            </p:cNvPr>
            <p:cNvSpPr/>
            <p:nvPr/>
          </p:nvSpPr>
          <p:spPr>
            <a:xfrm>
              <a:off x="515938" y="1300479"/>
              <a:ext cx="1223206" cy="1033146"/>
            </a:xfrm>
            <a:prstGeom prst="rect">
              <a:avLst/>
            </a:prstGeom>
            <a:solidFill>
              <a:srgbClr val="2484C6"/>
            </a:solidFill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0" i="0" u="none" strike="noStrike" kern="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JAVA </a:t>
              </a:r>
              <a:r>
                <a:rPr kumimoji="0" lang="ko-KR" altLang="en-US" sz="1200" b="0" i="0" u="none" strike="noStrike" kern="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입문과정</a:t>
              </a:r>
              <a:endParaRPr kumimoji="0" lang="en-US" altLang="ko-KR" sz="1200" b="0" i="0" u="none" strike="noStrike" kern="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0" i="0" u="none" strike="noStrike" kern="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98F6942-8DB7-69A4-6E06-13A35A1AF983}"/>
                </a:ext>
              </a:extLst>
            </p:cNvPr>
            <p:cNvSpPr/>
            <p:nvPr/>
          </p:nvSpPr>
          <p:spPr>
            <a:xfrm>
              <a:off x="515938" y="1300479"/>
              <a:ext cx="319423" cy="261621"/>
            </a:xfrm>
            <a:prstGeom prst="rect">
              <a:avLst/>
            </a:prstGeom>
            <a:solidFill>
              <a:srgbClr val="2484C6">
                <a:lumMod val="40000"/>
                <a:lumOff val="60000"/>
              </a:srgbClr>
            </a:solidFill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C</a:t>
              </a:r>
              <a:endPara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F363304-990F-9A5C-C682-734E357B5F31}"/>
              </a:ext>
            </a:extLst>
          </p:cNvPr>
          <p:cNvSpPr/>
          <p:nvPr/>
        </p:nvSpPr>
        <p:spPr>
          <a:xfrm>
            <a:off x="1775644" y="1300479"/>
            <a:ext cx="9936927" cy="1044000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3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주차 학습목표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  <a:p>
            <a:pPr marL="268288" marR="0" lvl="0" indent="-17938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Collection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API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와 제네릭 를 이해하고 활용 할 수 있다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</a:t>
            </a:r>
          </a:p>
          <a:p>
            <a:pPr marL="268288" marR="0" lvl="0" indent="-17938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JDBC API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를 이해하고 데이터베이스와 연동하여 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CRUD(Create Read Update Delete)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를 할 수 있다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  <a:p>
            <a:pPr marL="268288" marR="0" lvl="0" indent="-17938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MVC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아키텍처를 이해하고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Model, View, Controller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를 활용하여 확장성과 유지보수성이 높은 애플리케이션을 구현 할 수 있다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</a:t>
            </a: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274F062B-76AB-FF7E-41D9-3015927B0D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878778"/>
              </p:ext>
            </p:extLst>
          </p:nvPr>
        </p:nvGraphicFramePr>
        <p:xfrm>
          <a:off x="525363" y="2409825"/>
          <a:ext cx="11195675" cy="3898901"/>
        </p:xfrm>
        <a:graphic>
          <a:graphicData uri="http://schemas.openxmlformats.org/drawingml/2006/table">
            <a:tbl>
              <a:tblPr firstRow="1" bandRow="1"/>
              <a:tblGrid>
                <a:gridCol w="464906">
                  <a:extLst>
                    <a:ext uri="{9D8B030D-6E8A-4147-A177-3AD203B41FA5}">
                      <a16:colId xmlns:a16="http://schemas.microsoft.com/office/drawing/2014/main" val="3940468437"/>
                    </a:ext>
                  </a:extLst>
                </a:gridCol>
                <a:gridCol w="464906">
                  <a:extLst>
                    <a:ext uri="{9D8B030D-6E8A-4147-A177-3AD203B41FA5}">
                      <a16:colId xmlns:a16="http://schemas.microsoft.com/office/drawing/2014/main" val="2400606576"/>
                    </a:ext>
                  </a:extLst>
                </a:gridCol>
                <a:gridCol w="904568">
                  <a:extLst>
                    <a:ext uri="{9D8B030D-6E8A-4147-A177-3AD203B41FA5}">
                      <a16:colId xmlns:a16="http://schemas.microsoft.com/office/drawing/2014/main" val="376411452"/>
                    </a:ext>
                  </a:extLst>
                </a:gridCol>
                <a:gridCol w="2019203">
                  <a:extLst>
                    <a:ext uri="{9D8B030D-6E8A-4147-A177-3AD203B41FA5}">
                      <a16:colId xmlns:a16="http://schemas.microsoft.com/office/drawing/2014/main" val="2115866371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1381459244"/>
                    </a:ext>
                  </a:extLst>
                </a:gridCol>
                <a:gridCol w="2185364">
                  <a:extLst>
                    <a:ext uri="{9D8B030D-6E8A-4147-A177-3AD203B41FA5}">
                      <a16:colId xmlns:a16="http://schemas.microsoft.com/office/drawing/2014/main" val="1033327336"/>
                    </a:ext>
                  </a:extLst>
                </a:gridCol>
                <a:gridCol w="836728">
                  <a:extLst>
                    <a:ext uri="{9D8B030D-6E8A-4147-A177-3AD203B41FA5}">
                      <a16:colId xmlns:a16="http://schemas.microsoft.com/office/drawing/2014/main" val="3360630688"/>
                    </a:ext>
                  </a:extLst>
                </a:gridCol>
              </a:tblGrid>
              <a:tr h="334391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일정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모듈명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교육 내용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실습 내용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기타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476630"/>
                  </a:ext>
                </a:extLst>
              </a:tr>
              <a:tr h="712902"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3</a:t>
                      </a:r>
                    </a:p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week</a:t>
                      </a:r>
                      <a:endParaRPr lang="ko-KR" altLang="en-US" sz="1000" spc="-15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JAVA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고급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Collection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API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활용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Collection API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이해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List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Set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HashSet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거래 내역 조회를 위한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List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객체를 이용한 실습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037185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제네릭 활용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제네릭에 대한 이해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제네릭을 이용한 프로그램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인터페이스 기능 구현을 다양한 클래스에서 진행이 가능하도록 제네릭으로 설계 실습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단원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TEST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963409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spc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JDBC</a:t>
                      </a:r>
                    </a:p>
                    <a:p>
                      <a:pPr algn="ctr" latinLnBrk="1"/>
                      <a:r>
                        <a:rPr lang="en-US" altLang="ko-KR" sz="10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</a:t>
                      </a:r>
                      <a:r>
                        <a:rPr lang="ko-KR" altLang="en-US" sz="10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프로</a:t>
                      </a:r>
                      <a:endParaRPr lang="en-US" altLang="ko-KR" sz="1000" spc="0" baseline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algn="ctr" latinLnBrk="1"/>
                      <a:r>
                        <a:rPr lang="ko-KR" altLang="en-US" sz="1000" spc="0" baseline="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그래밍</a:t>
                      </a:r>
                      <a:endParaRPr lang="ko-KR" altLang="en-US" sz="1000" spc="0" baseline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JDBC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프로그래밍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  <a:tabLst>
                          <a:tab pos="0" algn="l"/>
                        </a:tabLst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JDBC API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이해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  <a:tabLst>
                          <a:tab pos="0" algn="l"/>
                        </a:tabLst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JDBC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를 이용한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Oracle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데이터베이스 연동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고객 테이블을 대상으로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JDBC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연동 실습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4769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JDBC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프로그래밍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JDBC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이용한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CRUD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프로그래밍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-4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고객 테이블을 대상으로 </a:t>
                      </a:r>
                      <a:r>
                        <a:rPr lang="en-US" altLang="ko-KR" sz="1000" spc="-4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CRUD </a:t>
                      </a:r>
                      <a:r>
                        <a:rPr lang="ko-KR" altLang="en-US" sz="1000" spc="-4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구현 실습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단원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TEST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121350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MVC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MVC 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구조 이해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MVC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프로그램에 대한 이해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Model 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View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Controller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  <a:tabLst>
                          <a:tab pos="0" algn="l"/>
                        </a:tabLst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MVC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모델을 이용한 데이터베이스 연동 실습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877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7912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DEEBF-211C-6AE9-1D4D-0B849B1D1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BD96D8-426B-FA34-CB2A-9ABA6C59D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단계별 주요 활동 및 예시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F485461-9B26-DDF2-CDEE-92DCBC0CFFBF}"/>
              </a:ext>
            </a:extLst>
          </p:cNvPr>
          <p:cNvSpPr/>
          <p:nvPr/>
        </p:nvSpPr>
        <p:spPr>
          <a:xfrm>
            <a:off x="0" y="867581"/>
            <a:ext cx="12192000" cy="3179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marL="1730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3-3. </a:t>
            </a:r>
            <a:r>
              <a:rPr lang="ko-KR" altLang="en-US" sz="1200" spc="-100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프로그램 운영</a:t>
            </a:r>
            <a:endParaRPr kumimoji="0" lang="ko-KR" altLang="en-US" sz="1200" b="0" i="0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D3740FC-FAB5-2D79-4731-FC4440093458}"/>
              </a:ext>
            </a:extLst>
          </p:cNvPr>
          <p:cNvSpPr/>
          <p:nvPr/>
        </p:nvSpPr>
        <p:spPr>
          <a:xfrm>
            <a:off x="997791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분석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B6219B7-D33F-E286-187A-745A0F878868}"/>
              </a:ext>
            </a:extLst>
          </p:cNvPr>
          <p:cNvSpPr/>
          <p:nvPr/>
        </p:nvSpPr>
        <p:spPr>
          <a:xfrm>
            <a:off x="1042363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세팅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0112892-9882-8B57-2BEB-9DB00D8D2893}"/>
              </a:ext>
            </a:extLst>
          </p:cNvPr>
          <p:cNvSpPr/>
          <p:nvPr/>
        </p:nvSpPr>
        <p:spPr>
          <a:xfrm>
            <a:off x="10869354" y="933459"/>
            <a:ext cx="397500" cy="186234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운영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D09D1B5-6F37-4B13-8DA3-6B6E46C6C5A9}"/>
              </a:ext>
            </a:extLst>
          </p:cNvPr>
          <p:cNvSpPr/>
          <p:nvPr/>
        </p:nvSpPr>
        <p:spPr>
          <a:xfrm>
            <a:off x="1131507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사후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4C4181FD-3A67-8A5E-070F-9517E10ED8B6}"/>
              </a:ext>
            </a:extLst>
          </p:cNvPr>
          <p:cNvGrpSpPr/>
          <p:nvPr/>
        </p:nvGrpSpPr>
        <p:grpSpPr>
          <a:xfrm>
            <a:off x="515938" y="1300479"/>
            <a:ext cx="1223204" cy="1042670"/>
            <a:chOff x="515938" y="1300479"/>
            <a:chExt cx="1223206" cy="1033146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D14EE0D0-CEB4-18F3-BA07-BB2E9E4D878C}"/>
                </a:ext>
              </a:extLst>
            </p:cNvPr>
            <p:cNvSpPr/>
            <p:nvPr/>
          </p:nvSpPr>
          <p:spPr>
            <a:xfrm>
              <a:off x="515938" y="1300479"/>
              <a:ext cx="1223206" cy="1033146"/>
            </a:xfrm>
            <a:prstGeom prst="rect">
              <a:avLst/>
            </a:prstGeom>
            <a:solidFill>
              <a:srgbClr val="2484C6"/>
            </a:solidFill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JAVA </a:t>
              </a:r>
              <a:r>
                <a:rPr kumimoji="0" lang="ko-KR" altLang="en-US" sz="1200" b="0" i="0" u="none" strike="noStrike" kern="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입문과정</a:t>
              </a:r>
              <a:endParaRPr kumimoji="0" lang="en-US" altLang="ko-KR" sz="1200" b="0" i="0" u="none" strike="noStrike" kern="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40E6E723-AB5F-BE6D-FB00-462DCB3A5424}"/>
                </a:ext>
              </a:extLst>
            </p:cNvPr>
            <p:cNvSpPr/>
            <p:nvPr/>
          </p:nvSpPr>
          <p:spPr>
            <a:xfrm>
              <a:off x="515938" y="1300479"/>
              <a:ext cx="319423" cy="261621"/>
            </a:xfrm>
            <a:prstGeom prst="rect">
              <a:avLst/>
            </a:prstGeom>
            <a:solidFill>
              <a:srgbClr val="2484C6">
                <a:lumMod val="40000"/>
                <a:lumOff val="60000"/>
              </a:srgbClr>
            </a:solidFill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C</a:t>
              </a:r>
              <a:endPara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FACF62C-FD4B-6F3D-DF6E-DBC21615CBDF}"/>
              </a:ext>
            </a:extLst>
          </p:cNvPr>
          <p:cNvSpPr/>
          <p:nvPr/>
        </p:nvSpPr>
        <p:spPr>
          <a:xfrm>
            <a:off x="1775644" y="1300479"/>
            <a:ext cx="9936927" cy="1044000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4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주차 학습목표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  <a:p>
            <a:pPr marL="268288" marR="0" lvl="0" indent="-17938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MVC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기반 프로그램 구조를 생성하고 흐름을 이해할 수 있다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</a:t>
            </a:r>
          </a:p>
          <a:p>
            <a:pPr marL="268288" marR="0" lvl="0" indent="-17938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금융권 업무를 기반으로 한 프로젝트를 기획하고 구현할 수 있다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</a:t>
            </a: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12F47220-108E-AED7-0ED7-562957606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88345"/>
              </p:ext>
            </p:extLst>
          </p:nvPr>
        </p:nvGraphicFramePr>
        <p:xfrm>
          <a:off x="525363" y="2409825"/>
          <a:ext cx="11195675" cy="3898901"/>
        </p:xfrm>
        <a:graphic>
          <a:graphicData uri="http://schemas.openxmlformats.org/drawingml/2006/table">
            <a:tbl>
              <a:tblPr firstRow="1" bandRow="1"/>
              <a:tblGrid>
                <a:gridCol w="464906">
                  <a:extLst>
                    <a:ext uri="{9D8B030D-6E8A-4147-A177-3AD203B41FA5}">
                      <a16:colId xmlns:a16="http://schemas.microsoft.com/office/drawing/2014/main" val="3940468437"/>
                    </a:ext>
                  </a:extLst>
                </a:gridCol>
                <a:gridCol w="464906">
                  <a:extLst>
                    <a:ext uri="{9D8B030D-6E8A-4147-A177-3AD203B41FA5}">
                      <a16:colId xmlns:a16="http://schemas.microsoft.com/office/drawing/2014/main" val="2400606576"/>
                    </a:ext>
                  </a:extLst>
                </a:gridCol>
                <a:gridCol w="904568">
                  <a:extLst>
                    <a:ext uri="{9D8B030D-6E8A-4147-A177-3AD203B41FA5}">
                      <a16:colId xmlns:a16="http://schemas.microsoft.com/office/drawing/2014/main" val="376411452"/>
                    </a:ext>
                  </a:extLst>
                </a:gridCol>
                <a:gridCol w="2019203">
                  <a:extLst>
                    <a:ext uri="{9D8B030D-6E8A-4147-A177-3AD203B41FA5}">
                      <a16:colId xmlns:a16="http://schemas.microsoft.com/office/drawing/2014/main" val="2115866371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1381459244"/>
                    </a:ext>
                  </a:extLst>
                </a:gridCol>
                <a:gridCol w="2195196">
                  <a:extLst>
                    <a:ext uri="{9D8B030D-6E8A-4147-A177-3AD203B41FA5}">
                      <a16:colId xmlns:a16="http://schemas.microsoft.com/office/drawing/2014/main" val="1033327336"/>
                    </a:ext>
                  </a:extLst>
                </a:gridCol>
                <a:gridCol w="826896">
                  <a:extLst>
                    <a:ext uri="{9D8B030D-6E8A-4147-A177-3AD203B41FA5}">
                      <a16:colId xmlns:a16="http://schemas.microsoft.com/office/drawing/2014/main" val="3360630688"/>
                    </a:ext>
                  </a:extLst>
                </a:gridCol>
              </a:tblGrid>
              <a:tr h="334391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일정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모듈명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교육 내용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실습 내용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기타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476630"/>
                  </a:ext>
                </a:extLst>
              </a:tr>
              <a:tr h="712902"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4</a:t>
                      </a:r>
                    </a:p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week</a:t>
                      </a:r>
                      <a:endParaRPr lang="ko-KR" altLang="en-US" sz="1000" spc="-15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MVC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MVC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기반 프로그래밍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(8h)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MVC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기반 프로그램 구조 생성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MVC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프로그램 흐름 이해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spc="-6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MVC </a:t>
                      </a:r>
                      <a:r>
                        <a:rPr lang="ko-KR" altLang="en-US" sz="1000" spc="-6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모델을 이용한 고객 데이터 조회 실습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단원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TEST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037185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pc="-15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팀프로젝트</a:t>
                      </a:r>
                      <a:endParaRPr lang="en-US" altLang="ko-KR" sz="1000" spc="-15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금융권 업무를 기반으로 한 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JAVA Project 1(8h)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spc="-50" baseline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963409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금융권 업무를 기반으로 한 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JAVA Project 2(8h)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4769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금융권 업무를 기반으로 한 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JAVA Project 3(8h)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121350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금융권 업무를 기반으로 한 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JAVA Project 4(8h)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877414"/>
                  </a:ext>
                </a:extLst>
              </a:tr>
            </a:tbl>
          </a:graphicData>
        </a:graphic>
      </p:graphicFrame>
      <p:grpSp>
        <p:nvGrpSpPr>
          <p:cNvPr id="31" name="그룹 30">
            <a:extLst>
              <a:ext uri="{FF2B5EF4-FFF2-40B4-BE49-F238E27FC236}">
                <a16:creationId xmlns:a16="http://schemas.microsoft.com/office/drawing/2014/main" id="{AE44EF2B-F56D-F499-F22E-19A219E454CF}"/>
              </a:ext>
            </a:extLst>
          </p:cNvPr>
          <p:cNvGrpSpPr/>
          <p:nvPr/>
        </p:nvGrpSpPr>
        <p:grpSpPr>
          <a:xfrm>
            <a:off x="4468901" y="3822802"/>
            <a:ext cx="3974924" cy="2008657"/>
            <a:chOff x="4489050" y="4972438"/>
            <a:chExt cx="3188101" cy="1246365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B705713-073D-3FDE-FBCD-AF9AC4C94C65}"/>
                </a:ext>
              </a:extLst>
            </p:cNvPr>
            <p:cNvSpPr txBox="1"/>
            <p:nvPr/>
          </p:nvSpPr>
          <p:spPr>
            <a:xfrm>
              <a:off x="5353051" y="4972438"/>
              <a:ext cx="2324100" cy="12103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marR="0" lvl="0" indent="-1714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171450" marR="0" lvl="0" indent="-1714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171450" marR="0" lvl="0" indent="-1714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171450" marR="0" lvl="0" indent="-1714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    제시 주제 또는 자유 주제 선정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542925" marR="0" lvl="1" indent="-85725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고객관리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542925" marR="0" lvl="1" indent="-85725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계좌관리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542925" marR="0" lvl="1" indent="-85725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거리내역조회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542925" marR="0" lvl="1" indent="-85725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자산운영관리 등 금융 관련 업무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542925" marR="0" lvl="1" indent="-85725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설계 및 구현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0" marR="0" lvl="0" indent="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구현 및 테스트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0" marR="0" lvl="0" indent="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조별 발표 및 평가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451E6892-8973-08F5-BABB-02FC1168061D}"/>
                </a:ext>
              </a:extLst>
            </p:cNvPr>
            <p:cNvGrpSpPr/>
            <p:nvPr/>
          </p:nvGrpSpPr>
          <p:grpSpPr>
            <a:xfrm>
              <a:off x="4489050" y="4972438"/>
              <a:ext cx="864000" cy="1246365"/>
              <a:chOff x="4551011" y="4905368"/>
              <a:chExt cx="864000" cy="1246365"/>
            </a:xfrm>
          </p:grpSpPr>
          <p:sp>
            <p:nvSpPr>
              <p:cNvPr id="34" name="순서도: 병합 33">
                <a:extLst>
                  <a:ext uri="{FF2B5EF4-FFF2-40B4-BE49-F238E27FC236}">
                    <a16:creationId xmlns:a16="http://schemas.microsoft.com/office/drawing/2014/main" id="{79CBF41F-A0D1-E3BE-5F42-D16526CA1AF4}"/>
                  </a:ext>
                </a:extLst>
              </p:cNvPr>
              <p:cNvSpPr/>
              <p:nvPr/>
            </p:nvSpPr>
            <p:spPr>
              <a:xfrm>
                <a:off x="4917000" y="5212134"/>
                <a:ext cx="132023" cy="143563"/>
              </a:xfrm>
              <a:prstGeom prst="flowChartMerg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9003A759-45CD-6C75-BD7A-3328697D1D35}"/>
                  </a:ext>
                </a:extLst>
              </p:cNvPr>
              <p:cNvSpPr/>
              <p:nvPr/>
            </p:nvSpPr>
            <p:spPr>
              <a:xfrm>
                <a:off x="4551011" y="4905368"/>
                <a:ext cx="864000" cy="267824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주제 선정</a:t>
                </a: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2DE65C65-52BC-3C24-47F6-A96AA94364CC}"/>
                  </a:ext>
                </a:extLst>
              </p:cNvPr>
              <p:cNvSpPr/>
              <p:nvPr/>
            </p:nvSpPr>
            <p:spPr>
              <a:xfrm>
                <a:off x="4551011" y="5394639"/>
                <a:ext cx="864000" cy="267824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프로젝트 진행</a:t>
                </a: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EBDE014E-0415-B0C8-4F11-38D7F9B074D0}"/>
                  </a:ext>
                </a:extLst>
              </p:cNvPr>
              <p:cNvSpPr/>
              <p:nvPr/>
            </p:nvSpPr>
            <p:spPr>
              <a:xfrm>
                <a:off x="4551011" y="5883909"/>
                <a:ext cx="864000" cy="267824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발표 및 평가</a:t>
                </a:r>
              </a:p>
            </p:txBody>
          </p:sp>
          <p:sp>
            <p:nvSpPr>
              <p:cNvPr id="38" name="순서도: 병합 37">
                <a:extLst>
                  <a:ext uri="{FF2B5EF4-FFF2-40B4-BE49-F238E27FC236}">
                    <a16:creationId xmlns:a16="http://schemas.microsoft.com/office/drawing/2014/main" id="{C7272427-B2E4-B9B0-3AAD-E3787778906E}"/>
                  </a:ext>
                </a:extLst>
              </p:cNvPr>
              <p:cNvSpPr/>
              <p:nvPr/>
            </p:nvSpPr>
            <p:spPr>
              <a:xfrm>
                <a:off x="4917000" y="5701405"/>
                <a:ext cx="132023" cy="143563"/>
              </a:xfrm>
              <a:prstGeom prst="flowChartMerg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720499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0BCCB-0ACE-F430-0EED-54BD48345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그룹 25">
            <a:extLst>
              <a:ext uri="{FF2B5EF4-FFF2-40B4-BE49-F238E27FC236}">
                <a16:creationId xmlns:a16="http://schemas.microsoft.com/office/drawing/2014/main" id="{1AEBD16B-65B9-9C61-9A5A-0DC3635C3623}"/>
              </a:ext>
            </a:extLst>
          </p:cNvPr>
          <p:cNvGrpSpPr/>
          <p:nvPr/>
        </p:nvGrpSpPr>
        <p:grpSpPr>
          <a:xfrm>
            <a:off x="8736542" y="1342921"/>
            <a:ext cx="2978664" cy="180000"/>
            <a:chOff x="8716878" y="1327872"/>
            <a:chExt cx="2978664" cy="180000"/>
          </a:xfrm>
          <a:solidFill>
            <a:srgbClr val="BFBFBF"/>
          </a:solidFill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BAEBFF6-97E7-05B9-3B4F-800DF97BBD01}"/>
                </a:ext>
              </a:extLst>
            </p:cNvPr>
            <p:cNvSpPr/>
            <p:nvPr/>
          </p:nvSpPr>
          <p:spPr>
            <a:xfrm>
              <a:off x="8716878" y="1327872"/>
              <a:ext cx="720000" cy="180000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A Track</a:t>
              </a:r>
              <a:endParaRPr lang="ko-KR" altLang="en-US" sz="9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5325450E-DD83-EADF-6582-F723EBF3F068}"/>
                </a:ext>
              </a:extLst>
            </p:cNvPr>
            <p:cNvSpPr/>
            <p:nvPr/>
          </p:nvSpPr>
          <p:spPr>
            <a:xfrm>
              <a:off x="9469766" y="1327872"/>
              <a:ext cx="720000" cy="180000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B Track</a:t>
              </a:r>
              <a:endParaRPr lang="ko-KR" altLang="en-US" sz="9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88245C2E-D7F7-3446-5B10-3C5A41548D49}"/>
                </a:ext>
              </a:extLst>
            </p:cNvPr>
            <p:cNvSpPr/>
            <p:nvPr/>
          </p:nvSpPr>
          <p:spPr>
            <a:xfrm>
              <a:off x="10222654" y="1327872"/>
              <a:ext cx="720000" cy="180000"/>
            </a:xfrm>
            <a:prstGeom prst="rect">
              <a:avLst/>
            </a:prstGeom>
            <a:solidFill>
              <a:srgbClr val="BFBFBF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C Track</a:t>
              </a:r>
              <a:endParaRPr lang="ko-KR" altLang="en-US" sz="9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E4237A45-C637-BE03-57B2-F045195E2FA1}"/>
                </a:ext>
              </a:extLst>
            </p:cNvPr>
            <p:cNvSpPr/>
            <p:nvPr/>
          </p:nvSpPr>
          <p:spPr>
            <a:xfrm>
              <a:off x="10975542" y="1327872"/>
              <a:ext cx="720000" cy="180000"/>
            </a:xfrm>
            <a:prstGeom prst="rect">
              <a:avLst/>
            </a:prstGeom>
            <a:solidFill>
              <a:srgbClr val="82DFFF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D Track</a:t>
              </a:r>
              <a:endParaRPr lang="ko-KR" altLang="en-US" sz="9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06649A14-581A-A231-D6C6-37A6F3CA6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단계별 주요 활동 및 예시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5180A51-5F06-8540-DDA1-C8A4CC38FAE7}"/>
              </a:ext>
            </a:extLst>
          </p:cNvPr>
          <p:cNvSpPr/>
          <p:nvPr/>
        </p:nvSpPr>
        <p:spPr>
          <a:xfrm>
            <a:off x="0" y="867581"/>
            <a:ext cx="12192000" cy="3179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marL="1730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3-3. </a:t>
            </a:r>
            <a:r>
              <a:rPr lang="ko-KR" altLang="en-US" sz="1200" spc="-100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프로그램 운영</a:t>
            </a:r>
            <a:endParaRPr kumimoji="0" lang="ko-KR" altLang="en-US" sz="1200" b="0" i="0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C4912AF-25CF-4A22-F309-01F95F96F880}"/>
              </a:ext>
            </a:extLst>
          </p:cNvPr>
          <p:cNvSpPr/>
          <p:nvPr/>
        </p:nvSpPr>
        <p:spPr>
          <a:xfrm>
            <a:off x="997791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분석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A563607-2479-9EED-5F38-56F9FF237A13}"/>
              </a:ext>
            </a:extLst>
          </p:cNvPr>
          <p:cNvSpPr/>
          <p:nvPr/>
        </p:nvSpPr>
        <p:spPr>
          <a:xfrm>
            <a:off x="1042363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세팅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09FB6FB-49C3-44E3-0C9C-88B3D6FA46B8}"/>
              </a:ext>
            </a:extLst>
          </p:cNvPr>
          <p:cNvSpPr/>
          <p:nvPr/>
        </p:nvSpPr>
        <p:spPr>
          <a:xfrm>
            <a:off x="10869354" y="933459"/>
            <a:ext cx="397500" cy="186234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운영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EFC5F63-4BEF-9F84-71CB-B9CBE6718CD6}"/>
              </a:ext>
            </a:extLst>
          </p:cNvPr>
          <p:cNvSpPr/>
          <p:nvPr/>
        </p:nvSpPr>
        <p:spPr>
          <a:xfrm>
            <a:off x="1131507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사후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FC13CDEB-99BA-4F33-B21B-8BCF8226C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772503"/>
              </p:ext>
            </p:extLst>
          </p:nvPr>
        </p:nvGraphicFramePr>
        <p:xfrm>
          <a:off x="515938" y="1603926"/>
          <a:ext cx="11217456" cy="4704797"/>
        </p:xfrm>
        <a:graphic>
          <a:graphicData uri="http://schemas.openxmlformats.org/drawingml/2006/table">
            <a:tbl>
              <a:tblPr firstRow="1" bandRow="1"/>
              <a:tblGrid>
                <a:gridCol w="18664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50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77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r" defTabSz="742969" rtl="0" eaLnBrk="1" latinLnBrk="1" hangingPunct="1">
                        <a:buFont typeface="Arial" pitchFamily="34" charset="0"/>
                        <a:buNone/>
                      </a:pPr>
                      <a:r>
                        <a:rPr lang="en-US" altLang="ko-KR" sz="1100" b="1" kern="0" spc="-150" dirty="0">
                          <a:solidFill>
                            <a:schemeClr val="tx1"/>
                          </a:solidFill>
                          <a:effectLst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+mn-cs"/>
                        </a:rPr>
                        <a:t>D Track</a:t>
                      </a:r>
                      <a:endParaRPr lang="ko-KR" altLang="en-US" sz="1100" b="1" kern="0" spc="-150" dirty="0">
                        <a:solidFill>
                          <a:schemeClr val="tx1"/>
                        </a:solidFill>
                        <a:effectLst/>
                        <a:latin typeface="나눔스퀘어 네오 ExtraBold" panose="00000900000000000000" pitchFamily="2" charset="-127"/>
                        <a:ea typeface="나눔스퀘어 네오 ExtraBold" panose="000009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l" latinLnBrk="1">
                        <a:lnSpc>
                          <a:spcPct val="100000"/>
                        </a:lnSpc>
                        <a:spcAft>
                          <a:spcPts val="600"/>
                        </a:spcAft>
                        <a:buFontTx/>
                        <a:buNone/>
                      </a:pPr>
                      <a:r>
                        <a:rPr lang="en-US" altLang="ko-KR" sz="1100" b="1" kern="0" spc="-80" baseline="0" noProof="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C</a:t>
                      </a:r>
                      <a:r>
                        <a:rPr lang="ko-KR" altLang="en-US" sz="1100" b="1" kern="0" spc="-80" baseline="0" noProof="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언어 입문과정</a:t>
                      </a:r>
                    </a:p>
                  </a:txBody>
                  <a:tcPr marL="144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r" defTabSz="742969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100" b="1" kern="0" spc="-150" dirty="0">
                          <a:solidFill>
                            <a:schemeClr val="tx1"/>
                          </a:solidFill>
                          <a:effectLst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+mn-cs"/>
                        </a:rPr>
                        <a:t>강의장소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l" latinLnBrk="1">
                        <a:lnSpc>
                          <a:spcPct val="100000"/>
                        </a:lnSpc>
                        <a:spcAft>
                          <a:spcPts val="600"/>
                        </a:spcAft>
                        <a:buFontTx/>
                        <a:buNone/>
                      </a:pPr>
                      <a:r>
                        <a:rPr lang="ko-KR" altLang="en-US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알파코 성수 캠퍼스</a:t>
                      </a:r>
                    </a:p>
                  </a:txBody>
                  <a:tcPr marL="144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103864"/>
                  </a:ext>
                </a:extLst>
              </a:tr>
              <a:tr h="30977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r" defTabSz="742969" rtl="0" eaLnBrk="1" latinLnBrk="1" hangingPunct="1">
                        <a:lnSpc>
                          <a:spcPct val="100000"/>
                        </a:lnSpc>
                        <a:buFont typeface="Arial" pitchFamily="34" charset="0"/>
                        <a:buNone/>
                      </a:pPr>
                      <a:r>
                        <a:rPr lang="ko-KR" altLang="en-US" sz="1100" b="1" kern="0" spc="-150" dirty="0">
                          <a:solidFill>
                            <a:schemeClr val="tx1"/>
                          </a:solidFill>
                          <a:effectLst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+mn-cs"/>
                        </a:rPr>
                        <a:t>실행일정 및 시간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Tx/>
                        <a:buNone/>
                      </a:pP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2025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월 중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, 9~12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주차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/12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주차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, 8H/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일</a:t>
                      </a:r>
                      <a:endParaRPr lang="ko-KR" altLang="en-US" sz="1100" b="0" kern="1200" spc="0" baseline="0" noProof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144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843035"/>
                  </a:ext>
                </a:extLst>
              </a:tr>
              <a:tr h="99116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r" defTabSz="742969" rtl="0" eaLnBrk="1" latinLnBrk="1" hangingPunct="1">
                        <a:spcAft>
                          <a:spcPts val="100"/>
                        </a:spcAft>
                        <a:buFont typeface="Arial" pitchFamily="34" charset="0"/>
                        <a:buNone/>
                      </a:pPr>
                      <a:r>
                        <a:rPr lang="ko-KR" altLang="en-US" sz="1100" b="1" kern="0" spc="-150" dirty="0">
                          <a:solidFill>
                            <a:schemeClr val="tx1"/>
                          </a:solidFill>
                          <a:effectLst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+mn-cs"/>
                        </a:rPr>
                        <a:t>과정목표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○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C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언어의 기본 문법과 구조를 이해하고 활용 할 수 있다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○ C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언어 구조체와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공용체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파일 입출력에 대해 이해하고 설명 할 수 있다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○ C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언어를 활용해 금융권 업무를 기반으로 한 프로젝트를 수행할 수 있다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○ ODBC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를 이용하여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C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언어와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Oracle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과의 연동 애플리케이션을 작성 할 수 있다</a:t>
                      </a:r>
                    </a:p>
                  </a:txBody>
                  <a:tcPr marL="144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056000"/>
                  </a:ext>
                </a:extLst>
              </a:tr>
              <a:tr h="24964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r" defTabSz="742969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100" b="1" kern="0" spc="-150" dirty="0">
                          <a:solidFill>
                            <a:schemeClr val="tx1"/>
                          </a:solidFill>
                          <a:effectLst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+mn-cs"/>
                        </a:rPr>
                        <a:t>과정구성</a:t>
                      </a:r>
                      <a:endParaRPr lang="en-US" altLang="ko-KR" sz="1100" b="1" kern="0" spc="-150" dirty="0">
                        <a:solidFill>
                          <a:schemeClr val="tx1"/>
                        </a:solidFill>
                        <a:effectLst/>
                        <a:latin typeface="나눔스퀘어 네오 ExtraBold" panose="00000900000000000000" pitchFamily="2" charset="-127"/>
                        <a:ea typeface="나눔스퀘어 네오 ExtraBold" panose="000009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97FD5">
                        <a:lumMod val="60000"/>
                        <a:lumOff val="40000"/>
                        <a:alpha val="58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100" b="0" kern="1200" spc="0" baseline="0" noProof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144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540992"/>
                  </a:ext>
                </a:extLst>
              </a:tr>
              <a:tr h="28789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indent="0" algn="r" defTabSz="742969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100" b="1" kern="0" spc="-150" dirty="0">
                          <a:solidFill>
                            <a:schemeClr val="tx1"/>
                          </a:solidFill>
                          <a:effectLst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+mn-cs"/>
                        </a:rPr>
                        <a:t>교수방법</a:t>
                      </a:r>
                      <a:endParaRPr lang="en-US" altLang="ko-KR" sz="1100" b="1" kern="0" spc="-150" dirty="0">
                        <a:solidFill>
                          <a:schemeClr val="tx1"/>
                        </a:solidFill>
                        <a:effectLst/>
                        <a:latin typeface="나눔스퀘어 네오 ExtraBold" panose="00000900000000000000" pitchFamily="2" charset="-127"/>
                        <a:ea typeface="나눔스퀘어 네오 ExtraBold" panose="000009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8FA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이론강의 </a:t>
                      </a:r>
                      <a:r>
                        <a:rPr lang="en-US" altLang="ko-KR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+ </a:t>
                      </a:r>
                      <a:r>
                        <a:rPr lang="ko-KR" altLang="en-US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실습 </a:t>
                      </a:r>
                      <a:r>
                        <a:rPr lang="en-US" altLang="ko-KR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+ </a:t>
                      </a:r>
                      <a:r>
                        <a:rPr lang="ko-KR" altLang="en-US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개인 학습</a:t>
                      </a:r>
                      <a:r>
                        <a:rPr lang="en-US" altLang="ko-KR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+ </a:t>
                      </a:r>
                      <a:r>
                        <a:rPr lang="ko-KR" altLang="en-US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팀 스터디 </a:t>
                      </a:r>
                      <a:r>
                        <a:rPr lang="en-US" altLang="ko-KR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+ </a:t>
                      </a:r>
                      <a:r>
                        <a:rPr lang="ko-KR" altLang="en-US" sz="1100" b="0" kern="1200" spc="0" baseline="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팀 프로젝트 </a:t>
                      </a:r>
                      <a:endParaRPr lang="en-US" altLang="ko-KR" sz="1100" b="0" kern="1200" spc="0" baseline="0" noProof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144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75000"/>
                          <a:lumOff val="2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862371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F2C1E138-B050-48FC-E1B5-FF777A466BDB}"/>
              </a:ext>
            </a:extLst>
          </p:cNvPr>
          <p:cNvSpPr txBox="1"/>
          <p:nvPr/>
        </p:nvSpPr>
        <p:spPr>
          <a:xfrm>
            <a:off x="2502461" y="2480697"/>
            <a:ext cx="418952" cy="349702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541DEF-BF3F-FE20-BB2A-2042AC693386}"/>
              </a:ext>
            </a:extLst>
          </p:cNvPr>
          <p:cNvSpPr txBox="1"/>
          <p:nvPr/>
        </p:nvSpPr>
        <p:spPr>
          <a:xfrm>
            <a:off x="2502461" y="2723110"/>
            <a:ext cx="418952" cy="349702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EBCFE5-4AD0-19A1-7F1D-5308DDD09C56}"/>
              </a:ext>
            </a:extLst>
          </p:cNvPr>
          <p:cNvSpPr txBox="1"/>
          <p:nvPr/>
        </p:nvSpPr>
        <p:spPr>
          <a:xfrm>
            <a:off x="2502461" y="2964074"/>
            <a:ext cx="418952" cy="349702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10DB49D5-9F0A-54E7-A2AA-B196E929B7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6193321"/>
              </p:ext>
            </p:extLst>
          </p:nvPr>
        </p:nvGraphicFramePr>
        <p:xfrm>
          <a:off x="2522217" y="3588847"/>
          <a:ext cx="9163493" cy="2335696"/>
        </p:xfrm>
        <a:graphic>
          <a:graphicData uri="http://schemas.openxmlformats.org/drawingml/2006/table">
            <a:tbl>
              <a:tblPr firstRow="1" bandRow="1"/>
              <a:tblGrid>
                <a:gridCol w="984655">
                  <a:extLst>
                    <a:ext uri="{9D8B030D-6E8A-4147-A177-3AD203B41FA5}">
                      <a16:colId xmlns:a16="http://schemas.microsoft.com/office/drawing/2014/main" val="2617287499"/>
                    </a:ext>
                  </a:extLst>
                </a:gridCol>
                <a:gridCol w="1214296">
                  <a:extLst>
                    <a:ext uri="{9D8B030D-6E8A-4147-A177-3AD203B41FA5}">
                      <a16:colId xmlns:a16="http://schemas.microsoft.com/office/drawing/2014/main" val="4209543300"/>
                    </a:ext>
                  </a:extLst>
                </a:gridCol>
                <a:gridCol w="1387885">
                  <a:extLst>
                    <a:ext uri="{9D8B030D-6E8A-4147-A177-3AD203B41FA5}">
                      <a16:colId xmlns:a16="http://schemas.microsoft.com/office/drawing/2014/main" val="2852030399"/>
                    </a:ext>
                  </a:extLst>
                </a:gridCol>
                <a:gridCol w="1281883">
                  <a:extLst>
                    <a:ext uri="{9D8B030D-6E8A-4147-A177-3AD203B41FA5}">
                      <a16:colId xmlns:a16="http://schemas.microsoft.com/office/drawing/2014/main" val="149304694"/>
                    </a:ext>
                  </a:extLst>
                </a:gridCol>
                <a:gridCol w="1422235">
                  <a:extLst>
                    <a:ext uri="{9D8B030D-6E8A-4147-A177-3AD203B41FA5}">
                      <a16:colId xmlns:a16="http://schemas.microsoft.com/office/drawing/2014/main" val="16439815"/>
                    </a:ext>
                  </a:extLst>
                </a:gridCol>
                <a:gridCol w="1309953">
                  <a:extLst>
                    <a:ext uri="{9D8B030D-6E8A-4147-A177-3AD203B41FA5}">
                      <a16:colId xmlns:a16="http://schemas.microsoft.com/office/drawing/2014/main" val="4058534829"/>
                    </a:ext>
                  </a:extLst>
                </a:gridCol>
                <a:gridCol w="1562586">
                  <a:extLst>
                    <a:ext uri="{9D8B030D-6E8A-4147-A177-3AD203B41FA5}">
                      <a16:colId xmlns:a16="http://schemas.microsoft.com/office/drawing/2014/main" val="1694101654"/>
                    </a:ext>
                  </a:extLst>
                </a:gridCol>
              </a:tblGrid>
              <a:tr h="24451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Module1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Module2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Module3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Module4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Module5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Module6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839939"/>
                  </a:ext>
                </a:extLst>
              </a:tr>
              <a:tr h="24451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모듈명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</a:rPr>
                        <a:t>C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</a:rPr>
                        <a:t>언어 기본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스퀘어 네오 ExtraBold" panose="00000900000000000000" pitchFamily="2" charset="-127"/>
                        <a:ea typeface="나눔스퀘어 네오 ExtraBold" panose="000009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97F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Arial" panose="020B0604020202020204" pitchFamily="34" charset="0"/>
                        </a:rPr>
                        <a:t>C</a:t>
                      </a:r>
                      <a:r>
                        <a:rPr kumimoji="0" lang="ko-KR" altLang="en-US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Arial" panose="020B0604020202020204" pitchFamily="34" charset="0"/>
                        </a:rPr>
                        <a:t>언어 함수배열</a:t>
                      </a:r>
                      <a:endParaRPr kumimoji="0" lang="en-US" altLang="ko-KR" sz="900" b="0" i="0" u="none" strike="noStrike" kern="0" cap="none" spc="-80" normalizeH="0" baseline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나눔스퀘어 네오 ExtraBold" panose="00000900000000000000" pitchFamily="2" charset="-127"/>
                        <a:ea typeface="나눔스퀘어 네오 ExtraBold" panose="00000900000000000000" pitchFamily="2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97F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포인터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97F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b="1" spc="-11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구조체 및 </a:t>
                      </a:r>
                      <a:r>
                        <a:rPr lang="ko-KR" altLang="en-US" sz="900" b="1" spc="-110" baseline="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공용체</a:t>
                      </a:r>
                      <a:r>
                        <a:rPr lang="en-US" altLang="ko-KR" sz="900" b="1" spc="-11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/  </a:t>
                      </a:r>
                      <a:r>
                        <a:rPr lang="ko-KR" altLang="en-US" sz="900" b="1" spc="-11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메모리할당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97F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데이터베이스 연동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97F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  <a:cs typeface="Arial" panose="020B0604020202020204" pitchFamily="34" charset="0"/>
                        </a:rPr>
                        <a:t>팀 프로젝트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97FD5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34819"/>
                  </a:ext>
                </a:extLst>
              </a:tr>
              <a:tr h="24451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학습시간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4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일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,40H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0" lang="ko-KR" altLang="en-US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일</a:t>
                      </a:r>
                      <a:r>
                        <a:rPr kumimoji="0" lang="en-US" altLang="ko-KR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, 24H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0" lang="ko-KR" altLang="en-US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일</a:t>
                      </a:r>
                      <a:r>
                        <a:rPr kumimoji="0" lang="en-US" altLang="ko-KR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, 16H</a:t>
                      </a:r>
                      <a:endParaRPr kumimoji="0" lang="ko-KR" altLang="en-US" sz="900" b="0" i="0" u="none" strike="noStrike" kern="0" cap="none" spc="-80" normalizeH="0" baseline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0" lang="ko-KR" altLang="en-US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일</a:t>
                      </a:r>
                      <a:r>
                        <a:rPr kumimoji="0" lang="en-US" altLang="ko-KR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, 24H</a:t>
                      </a:r>
                      <a:endParaRPr kumimoji="0" lang="ko-KR" altLang="en-US" sz="900" b="0" i="0" u="none" strike="noStrike" kern="0" cap="none" spc="-80" normalizeH="0" baseline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0" lang="ko-KR" altLang="en-US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일</a:t>
                      </a:r>
                      <a:r>
                        <a:rPr kumimoji="0" lang="en-US" altLang="ko-KR" sz="900" b="0" i="0" u="none" strike="noStrike" kern="0" cap="none" spc="-80" normalizeH="0" baseline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, 24H</a:t>
                      </a:r>
                      <a:endParaRPr kumimoji="0" lang="ko-KR" altLang="en-US" sz="900" b="0" i="0" u="none" strike="noStrike" kern="0" cap="none" spc="-80" normalizeH="0" baseline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0" spc="-80" dirty="0">
                          <a:solidFill>
                            <a:srgbClr val="1E1E1E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lang="ko-KR" altLang="en-US" sz="900" b="0" kern="0" spc="-80" dirty="0">
                          <a:solidFill>
                            <a:srgbClr val="1E1E1E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일</a:t>
                      </a:r>
                      <a:r>
                        <a:rPr lang="en-US" altLang="ko-KR" sz="900" b="0" kern="0" spc="-80" dirty="0">
                          <a:solidFill>
                            <a:srgbClr val="1E1E1E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, 32H</a:t>
                      </a:r>
                      <a:endParaRPr kumimoji="0" lang="ko-KR" altLang="en-US" sz="900" b="0" i="0" u="none" strike="noStrike" kern="0" cap="none" spc="-80" normalizeH="0" baseline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797105"/>
                  </a:ext>
                </a:extLst>
              </a:tr>
              <a:tr h="108672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학습내용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4138" indent="-84138">
                        <a:lnSpc>
                          <a:spcPct val="110000"/>
                        </a:lnSpc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C</a:t>
                      </a: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언어 특징 및 구조 이해</a:t>
                      </a:r>
                      <a:endParaRPr lang="en-US" altLang="ko-KR" sz="9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  <a:p>
                      <a:pPr marL="84138" indent="-84138">
                        <a:lnSpc>
                          <a:spcPct val="110000"/>
                        </a:lnSpc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C</a:t>
                      </a: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언어 기초 문법 학습 및 응용</a:t>
                      </a:r>
                      <a:endParaRPr lang="en-US" altLang="ko-KR" sz="9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함수의 개념과 활용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배열의 이해와 활용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재귀 호출과 표준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라이브러리</a:t>
                      </a: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spc="-1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포인터 개념과 필요성</a:t>
                      </a:r>
                      <a:endParaRPr lang="en-US" altLang="ko-KR" sz="900" spc="-100" baseline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spc="-1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포인터와 배열의 관계</a:t>
                      </a:r>
                      <a:endParaRPr lang="en-US" altLang="ko-KR" sz="900" spc="-100" baseline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문자열 처리</a:t>
                      </a: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4138" marR="0" lvl="0" indent="-84138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구조체와 공동체의 이해</a:t>
                      </a:r>
                      <a:endParaRPr lang="en-US" altLang="ko-KR" sz="9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  <a:p>
                      <a:pPr marL="84138" marR="0" lvl="0" indent="-84138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dirty="0" err="1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메모루</a:t>
                      </a: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 구조 및 동적 </a:t>
                      </a:r>
                      <a:br>
                        <a:rPr lang="en-US" altLang="ko-KR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</a:br>
                      <a:r>
                        <a:rPr lang="ko-KR" altLang="en-US" sz="9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메모리 관리</a:t>
                      </a:r>
                      <a:endParaRPr lang="en-US" altLang="ko-KR" sz="9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  <a:p>
                      <a:pPr marL="84138" marR="0" lvl="0" indent="-84138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spc="-100" baseline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구조체 배열과 비트 필드</a:t>
                      </a:r>
                      <a:endParaRPr lang="en-US" altLang="ko-KR" sz="900" spc="-100" baseline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4138" marR="0" lvl="0" indent="-84138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ODBC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셋팅 및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C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언어 연결</a:t>
                      </a:r>
                      <a:endParaRPr lang="en-US" altLang="ko-KR" sz="900" kern="1200" dirty="0">
                        <a:solidFill>
                          <a:schemeClr val="dk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  <a:p>
                      <a:pPr marL="84138" marR="0" lvl="0" indent="-84138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Oracle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데이터베이스 연동</a:t>
                      </a:r>
                      <a:endParaRPr lang="en-US" altLang="ko-KR" sz="900" kern="1200" dirty="0">
                        <a:solidFill>
                          <a:schemeClr val="dk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 panose="020B0604020202020204" pitchFamily="34" charset="0"/>
                      </a:endParaRPr>
                    </a:p>
                    <a:p>
                      <a:pPr marL="84138" marR="0" lvl="0" indent="-84138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CRUD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 panose="020B0604020202020204" pitchFamily="34" charset="0"/>
                        </a:rPr>
                        <a:t>프로그래밍 실습</a:t>
                      </a: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고객관리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계좌관리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거래내역조회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자산운영관리 등 금융 </a:t>
                      </a:r>
                      <a:b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</a:b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관련 업무 설계 및 구현 中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택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 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138318"/>
                  </a:ext>
                </a:extLst>
              </a:tr>
              <a:tr h="27092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실습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537364"/>
                  </a:ext>
                </a:extLst>
              </a:tr>
              <a:tr h="24451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Test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427066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C1B1AF58-1AE2-66DA-35A5-1CC22F79C725}"/>
              </a:ext>
            </a:extLst>
          </p:cNvPr>
          <p:cNvSpPr txBox="1"/>
          <p:nvPr/>
        </p:nvSpPr>
        <p:spPr>
          <a:xfrm>
            <a:off x="2502461" y="3206487"/>
            <a:ext cx="418952" cy="349702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48563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9D0D4-553E-B266-DD76-C62FDFA5F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F865F7-BA8B-983D-EA0F-A53AD68D0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단계별 주요 활동 및 예시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7A48E1F-E318-A594-00FD-62B59F5DA7E1}"/>
              </a:ext>
            </a:extLst>
          </p:cNvPr>
          <p:cNvSpPr/>
          <p:nvPr/>
        </p:nvSpPr>
        <p:spPr>
          <a:xfrm>
            <a:off x="0" y="867581"/>
            <a:ext cx="12192000" cy="3179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marL="1730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3-3. </a:t>
            </a:r>
            <a:r>
              <a:rPr lang="ko-KR" altLang="en-US" sz="1200" spc="-100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프로그램 운영</a:t>
            </a:r>
            <a:endParaRPr kumimoji="0" lang="ko-KR" altLang="en-US" sz="1200" b="0" i="0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B7105CF-B1B4-968E-A4C6-3CB8B0FE6FCA}"/>
              </a:ext>
            </a:extLst>
          </p:cNvPr>
          <p:cNvSpPr/>
          <p:nvPr/>
        </p:nvSpPr>
        <p:spPr>
          <a:xfrm>
            <a:off x="997791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분석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360485B-7B16-0643-5E69-5F2B4E32F3AF}"/>
              </a:ext>
            </a:extLst>
          </p:cNvPr>
          <p:cNvSpPr/>
          <p:nvPr/>
        </p:nvSpPr>
        <p:spPr>
          <a:xfrm>
            <a:off x="1042363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세팅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B121C82-40D6-9DCD-40B5-D43F6EF47AA5}"/>
              </a:ext>
            </a:extLst>
          </p:cNvPr>
          <p:cNvSpPr/>
          <p:nvPr/>
        </p:nvSpPr>
        <p:spPr>
          <a:xfrm>
            <a:off x="10869354" y="933459"/>
            <a:ext cx="397500" cy="186234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운영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FB34833-1A09-20BE-D894-AF566755B9AA}"/>
              </a:ext>
            </a:extLst>
          </p:cNvPr>
          <p:cNvSpPr/>
          <p:nvPr/>
        </p:nvSpPr>
        <p:spPr>
          <a:xfrm>
            <a:off x="1131507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사후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8A657B9-F5CD-47C2-86BB-DB7A5BF45A8D}"/>
              </a:ext>
            </a:extLst>
          </p:cNvPr>
          <p:cNvGrpSpPr/>
          <p:nvPr/>
        </p:nvGrpSpPr>
        <p:grpSpPr>
          <a:xfrm>
            <a:off x="515938" y="1300479"/>
            <a:ext cx="1223204" cy="1042670"/>
            <a:chOff x="515938" y="1300479"/>
            <a:chExt cx="1223206" cy="1033146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92285D2D-E6E9-7994-A852-B1D5E75C5FBF}"/>
                </a:ext>
              </a:extLst>
            </p:cNvPr>
            <p:cNvSpPr/>
            <p:nvPr/>
          </p:nvSpPr>
          <p:spPr>
            <a:xfrm>
              <a:off x="515938" y="1300479"/>
              <a:ext cx="1223206" cy="1033146"/>
            </a:xfrm>
            <a:prstGeom prst="rect">
              <a:avLst/>
            </a:prstGeom>
            <a:solidFill>
              <a:srgbClr val="2484C6"/>
            </a:solidFill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C</a:t>
              </a: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언어 입문과정 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69ADA47E-E88E-B45C-7981-4256F189204A}"/>
                </a:ext>
              </a:extLst>
            </p:cNvPr>
            <p:cNvSpPr/>
            <p:nvPr/>
          </p:nvSpPr>
          <p:spPr>
            <a:xfrm>
              <a:off x="515938" y="1300479"/>
              <a:ext cx="319423" cy="261621"/>
            </a:xfrm>
            <a:prstGeom prst="rect">
              <a:avLst/>
            </a:prstGeom>
            <a:solidFill>
              <a:srgbClr val="2484C6">
                <a:lumMod val="40000"/>
                <a:lumOff val="60000"/>
              </a:srgbClr>
            </a:solidFill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latinLnBrk="0"/>
              <a:r>
                <a:rPr lang="en-US" altLang="ko-KR" sz="1600" kern="0" dirty="0">
                  <a:solidFill>
                    <a:prstClr val="black"/>
                  </a:solidFill>
                  <a:latin typeface="맑은 고딕" panose="02110004020202020204"/>
                  <a:ea typeface="맑은 고딕" panose="020B0503020000020004" pitchFamily="50" charset="-127"/>
                </a:rPr>
                <a:t>D</a:t>
              </a:r>
              <a:endParaRPr lang="ko-KR" altLang="en-US" sz="1600" kern="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endParaRPr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1AE99E7-7B01-BE49-49E0-52C6F50DE440}"/>
              </a:ext>
            </a:extLst>
          </p:cNvPr>
          <p:cNvSpPr/>
          <p:nvPr/>
        </p:nvSpPr>
        <p:spPr>
          <a:xfrm>
            <a:off x="1775644" y="1300479"/>
            <a:ext cx="9936927" cy="1044000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1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주차 학습목표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  <a:p>
            <a:pPr marL="268288" marR="0" lvl="0" indent="-17938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 C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언어의 기본 문법과 구조를 이해하고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,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시스템 프로그래밍의 기초를 다진다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</a:t>
            </a:r>
          </a:p>
          <a:p>
            <a:pPr marL="268288" marR="0" lvl="0" indent="-17938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자료형과 변수에 대해 이해하고 다를 수 있다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</a:t>
            </a:r>
          </a:p>
          <a:p>
            <a:pPr marL="268288" marR="0" lvl="0" indent="-17938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 C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언어 조건문과 반복문을 이해하고 활용 할 수 있다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</a:t>
            </a: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FC81B4F7-FA27-F74C-FE66-5A56A6080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360705"/>
              </p:ext>
            </p:extLst>
          </p:nvPr>
        </p:nvGraphicFramePr>
        <p:xfrm>
          <a:off x="525363" y="2409825"/>
          <a:ext cx="11193662" cy="3898901"/>
        </p:xfrm>
        <a:graphic>
          <a:graphicData uri="http://schemas.openxmlformats.org/drawingml/2006/table">
            <a:tbl>
              <a:tblPr firstRow="1" bandRow="1"/>
              <a:tblGrid>
                <a:gridCol w="464400">
                  <a:extLst>
                    <a:ext uri="{9D8B030D-6E8A-4147-A177-3AD203B41FA5}">
                      <a16:colId xmlns:a16="http://schemas.microsoft.com/office/drawing/2014/main" val="3940468437"/>
                    </a:ext>
                  </a:extLst>
                </a:gridCol>
                <a:gridCol w="464400">
                  <a:extLst>
                    <a:ext uri="{9D8B030D-6E8A-4147-A177-3AD203B41FA5}">
                      <a16:colId xmlns:a16="http://schemas.microsoft.com/office/drawing/2014/main" val="2400606576"/>
                    </a:ext>
                  </a:extLst>
                </a:gridCol>
                <a:gridCol w="903600">
                  <a:extLst>
                    <a:ext uri="{9D8B030D-6E8A-4147-A177-3AD203B41FA5}">
                      <a16:colId xmlns:a16="http://schemas.microsoft.com/office/drawing/2014/main" val="376411452"/>
                    </a:ext>
                  </a:extLst>
                </a:gridCol>
                <a:gridCol w="2019600">
                  <a:extLst>
                    <a:ext uri="{9D8B030D-6E8A-4147-A177-3AD203B41FA5}">
                      <a16:colId xmlns:a16="http://schemas.microsoft.com/office/drawing/2014/main" val="1742845775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1381459244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17449513"/>
                    </a:ext>
                  </a:extLst>
                </a:gridCol>
                <a:gridCol w="2196779">
                  <a:extLst>
                    <a:ext uri="{9D8B030D-6E8A-4147-A177-3AD203B41FA5}">
                      <a16:colId xmlns:a16="http://schemas.microsoft.com/office/drawing/2014/main" val="1033327336"/>
                    </a:ext>
                  </a:extLst>
                </a:gridCol>
                <a:gridCol w="824883">
                  <a:extLst>
                    <a:ext uri="{9D8B030D-6E8A-4147-A177-3AD203B41FA5}">
                      <a16:colId xmlns:a16="http://schemas.microsoft.com/office/drawing/2014/main" val="3360630688"/>
                    </a:ext>
                  </a:extLst>
                </a:gridCol>
              </a:tblGrid>
              <a:tr h="334391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일정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모듈명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교육 내용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실습 내용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기타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476630"/>
                  </a:ext>
                </a:extLst>
              </a:tr>
              <a:tr h="712902"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</a:t>
                      </a:r>
                    </a:p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week</a:t>
                      </a:r>
                      <a:endParaRPr lang="ko-KR" altLang="en-US" sz="1000" spc="-15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언어</a:t>
                      </a:r>
                      <a:endParaRPr lang="en-US" altLang="ko-KR" sz="1000" kern="0" spc="0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기본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indent="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언어 기본 구조 이해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(8h)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  <a:tabLst>
                          <a:tab pos="85725" algn="l"/>
                        </a:tabLst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컴퓨터 하드웨어와 소프트웨어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  <a:tabLst>
                          <a:tab pos="85725" algn="l"/>
                        </a:tabLst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운영체계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  <a:tabLst>
                          <a:tab pos="85725" algn="l"/>
                        </a:tabLst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프로그래밍이란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  <a:tabLst>
                          <a:tab pos="85725" algn="l"/>
                        </a:tabLst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프로그래밍 과정 및 언어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언어의 특징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언어의 구조 이해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  <a:tabLst>
                          <a:tab pos="85725" algn="l"/>
                        </a:tabLst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개발 환경 세팅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  <a:tabLst>
                          <a:tab pos="85725" algn="l"/>
                        </a:tabLst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구조 이해를 위한 기본 프로그램 작성 및 실행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037185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indent="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프로그램 언어 작성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(8h)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 Programming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개발 환경 이해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 Program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의 구조 및 흐름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기계어와 자연어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Compile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기본 문법 실습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컴파일 후 실행 실습</a:t>
                      </a:r>
                    </a:p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963409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indent="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자료형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변수에 대한 이해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(8h)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  <a:tabLst>
                          <a:tab pos="85725" algn="l"/>
                        </a:tabLst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자료형에 대한 이해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  <a:tabLst>
                          <a:tab pos="85725" algn="l"/>
                        </a:tabLst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변수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  <a:tabLst>
                          <a:tab pos="85725" algn="l"/>
                        </a:tabLst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형변환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자료형 재정의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열거형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  <a:tabLst>
                          <a:tab pos="85725" algn="l"/>
                        </a:tabLst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데이터 타입별 선언 및 범위 출력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lvl="1" indent="-85725" algn="l" latinLnBrk="1">
                        <a:buFont typeface="Arial" panose="020B0604020202020204" pitchFamily="34" charset="0"/>
                        <a:buChar char="•"/>
                        <a:tabLst>
                          <a:tab pos="85725" algn="l"/>
                        </a:tabLst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정수와 실수의 합 출력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lvl="1" indent="-85725" algn="l" latinLnBrk="1">
                        <a:buFont typeface="Arial" panose="020B0604020202020204" pitchFamily="34" charset="0"/>
                        <a:buChar char="•"/>
                        <a:tabLst>
                          <a:tab pos="85725" algn="l"/>
                        </a:tabLst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자료형 변환 후 연산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4769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indent="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전처리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및 연산자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</a:p>
                    <a:p>
                      <a:pPr marL="0" marR="0" indent="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표준 입출력 함수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(8h)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전처리기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연산자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표준 입출력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문자열 입출력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-6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다양한 데이터 타입 이용한 연산 처리 실습</a:t>
                      </a:r>
                      <a:endParaRPr lang="en-US" altLang="ko-KR" sz="1000" spc="-60" baseline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lvl="1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입력된 정수 평균 구하기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lvl="1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단위 환산하기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121350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0" marR="0" indent="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언어 조건문 및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반복문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(8h)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제어 흐름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조건 표현식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조건문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반복문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반복문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제어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For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문과 조건문을 활용한 연산 처리 실습 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lvl="1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자판기 로직 만들기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lvl="1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-15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미세먼지 조건에 따른 경보 문구 나타내기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단원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TEST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877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81159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B71FB-DC51-ACAE-F67D-16CE8B7E1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185C2E-8458-FD1B-033B-F62B48759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단계별 주요 활동 및 예시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8BD8DD8-1DA3-ADD2-35A1-10B17F3DDBCF}"/>
              </a:ext>
            </a:extLst>
          </p:cNvPr>
          <p:cNvSpPr/>
          <p:nvPr/>
        </p:nvSpPr>
        <p:spPr>
          <a:xfrm>
            <a:off x="0" y="867581"/>
            <a:ext cx="12192000" cy="3179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marL="1730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3-3. </a:t>
            </a:r>
            <a:r>
              <a:rPr lang="ko-KR" altLang="en-US" sz="1200" spc="-100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프로그램 운영</a:t>
            </a:r>
            <a:endParaRPr kumimoji="0" lang="ko-KR" altLang="en-US" sz="1200" b="0" i="0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1DAB3A3-421E-341A-C061-25A9AB140320}"/>
              </a:ext>
            </a:extLst>
          </p:cNvPr>
          <p:cNvSpPr/>
          <p:nvPr/>
        </p:nvSpPr>
        <p:spPr>
          <a:xfrm>
            <a:off x="997791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분석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0DEC17-C2DA-5872-915A-D52442F3B996}"/>
              </a:ext>
            </a:extLst>
          </p:cNvPr>
          <p:cNvSpPr/>
          <p:nvPr/>
        </p:nvSpPr>
        <p:spPr>
          <a:xfrm>
            <a:off x="1042363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세팅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7222A3D-3E44-10E2-ABCF-79A89074BB40}"/>
              </a:ext>
            </a:extLst>
          </p:cNvPr>
          <p:cNvSpPr/>
          <p:nvPr/>
        </p:nvSpPr>
        <p:spPr>
          <a:xfrm>
            <a:off x="10869354" y="933459"/>
            <a:ext cx="397500" cy="186234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운영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A849014-815E-039F-32EC-8483B3871611}"/>
              </a:ext>
            </a:extLst>
          </p:cNvPr>
          <p:cNvSpPr/>
          <p:nvPr/>
        </p:nvSpPr>
        <p:spPr>
          <a:xfrm>
            <a:off x="1131507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사후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BDBB050-78F1-34F5-CD41-A8218596D37E}"/>
              </a:ext>
            </a:extLst>
          </p:cNvPr>
          <p:cNvGrpSpPr/>
          <p:nvPr/>
        </p:nvGrpSpPr>
        <p:grpSpPr>
          <a:xfrm>
            <a:off x="515938" y="1300479"/>
            <a:ext cx="1223204" cy="1042670"/>
            <a:chOff x="515938" y="1300479"/>
            <a:chExt cx="1223206" cy="1033146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27C374A2-C02A-5641-3A86-5CF3F82DDFF4}"/>
                </a:ext>
              </a:extLst>
            </p:cNvPr>
            <p:cNvSpPr/>
            <p:nvPr/>
          </p:nvSpPr>
          <p:spPr>
            <a:xfrm>
              <a:off x="515938" y="1300479"/>
              <a:ext cx="1223206" cy="1033146"/>
            </a:xfrm>
            <a:prstGeom prst="rect">
              <a:avLst/>
            </a:prstGeom>
            <a:solidFill>
              <a:srgbClr val="2484C6"/>
            </a:solidFill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C</a:t>
              </a: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언어 입문과정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5154D6AE-E2E0-7981-AB6A-F3E4832A3133}"/>
                </a:ext>
              </a:extLst>
            </p:cNvPr>
            <p:cNvSpPr/>
            <p:nvPr/>
          </p:nvSpPr>
          <p:spPr>
            <a:xfrm>
              <a:off x="515938" y="1300479"/>
              <a:ext cx="319423" cy="261621"/>
            </a:xfrm>
            <a:prstGeom prst="rect">
              <a:avLst/>
            </a:prstGeom>
            <a:solidFill>
              <a:srgbClr val="2484C6">
                <a:lumMod val="40000"/>
                <a:lumOff val="60000"/>
              </a:srgbClr>
            </a:solidFill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kern="0" dirty="0">
                  <a:solidFill>
                    <a:prstClr val="black"/>
                  </a:solidFill>
                  <a:latin typeface="맑은 고딕" panose="02110004020202020204"/>
                  <a:ea typeface="맑은 고딕" panose="020B0503020000020004" pitchFamily="50" charset="-127"/>
                </a:rPr>
                <a:t>D</a:t>
              </a:r>
              <a:endParaRPr lang="ko-KR" altLang="en-US" sz="1600" kern="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endParaRPr>
            </a:p>
          </p:txBody>
        </p: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13B62D5-24C6-65DE-5B69-1E3BC9C5BB0F}"/>
              </a:ext>
            </a:extLst>
          </p:cNvPr>
          <p:cNvSpPr/>
          <p:nvPr/>
        </p:nvSpPr>
        <p:spPr>
          <a:xfrm>
            <a:off x="1775644" y="1300479"/>
            <a:ext cx="9936927" cy="1044000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2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주차 학습목표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  <a:p>
            <a:pPr marL="268288" marR="0" lvl="0" indent="-17938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C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언어 함수를 이해하고 활용할 수 있다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</a:t>
            </a:r>
          </a:p>
          <a:p>
            <a:pPr marL="228600" marR="0" lvl="0" indent="-1397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 C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언어 포인터의 필요성을 이해하고 활용할 수 있다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</a:t>
            </a: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BD22E60F-5BCE-FA4A-BF1B-195D03255B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715772"/>
              </p:ext>
            </p:extLst>
          </p:nvPr>
        </p:nvGraphicFramePr>
        <p:xfrm>
          <a:off x="525363" y="2409825"/>
          <a:ext cx="11195675" cy="3898901"/>
        </p:xfrm>
        <a:graphic>
          <a:graphicData uri="http://schemas.openxmlformats.org/drawingml/2006/table">
            <a:tbl>
              <a:tblPr firstRow="1" bandRow="1"/>
              <a:tblGrid>
                <a:gridCol w="464906">
                  <a:extLst>
                    <a:ext uri="{9D8B030D-6E8A-4147-A177-3AD203B41FA5}">
                      <a16:colId xmlns:a16="http://schemas.microsoft.com/office/drawing/2014/main" val="3940468437"/>
                    </a:ext>
                  </a:extLst>
                </a:gridCol>
                <a:gridCol w="464906">
                  <a:extLst>
                    <a:ext uri="{9D8B030D-6E8A-4147-A177-3AD203B41FA5}">
                      <a16:colId xmlns:a16="http://schemas.microsoft.com/office/drawing/2014/main" val="2400606576"/>
                    </a:ext>
                  </a:extLst>
                </a:gridCol>
                <a:gridCol w="904568">
                  <a:extLst>
                    <a:ext uri="{9D8B030D-6E8A-4147-A177-3AD203B41FA5}">
                      <a16:colId xmlns:a16="http://schemas.microsoft.com/office/drawing/2014/main" val="376411452"/>
                    </a:ext>
                  </a:extLst>
                </a:gridCol>
                <a:gridCol w="2019203">
                  <a:extLst>
                    <a:ext uri="{9D8B030D-6E8A-4147-A177-3AD203B41FA5}">
                      <a16:colId xmlns:a16="http://schemas.microsoft.com/office/drawing/2014/main" val="2115866371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1381459244"/>
                    </a:ext>
                  </a:extLst>
                </a:gridCol>
                <a:gridCol w="2185364">
                  <a:extLst>
                    <a:ext uri="{9D8B030D-6E8A-4147-A177-3AD203B41FA5}">
                      <a16:colId xmlns:a16="http://schemas.microsoft.com/office/drawing/2014/main" val="1033327336"/>
                    </a:ext>
                  </a:extLst>
                </a:gridCol>
                <a:gridCol w="836728">
                  <a:extLst>
                    <a:ext uri="{9D8B030D-6E8A-4147-A177-3AD203B41FA5}">
                      <a16:colId xmlns:a16="http://schemas.microsoft.com/office/drawing/2014/main" val="3360630688"/>
                    </a:ext>
                  </a:extLst>
                </a:gridCol>
              </a:tblGrid>
              <a:tr h="334391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일정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모듈명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교육 내용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실습 내용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기타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476630"/>
                  </a:ext>
                </a:extLst>
              </a:tr>
              <a:tr h="712902"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</a:t>
                      </a:r>
                    </a:p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week</a:t>
                      </a:r>
                      <a:endParaRPr lang="ko-KR" altLang="en-US" sz="1000" spc="-15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spc="-7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 </a:t>
                      </a:r>
                      <a:r>
                        <a:rPr lang="ko-KR" altLang="en-US" sz="1000" spc="-7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언어</a:t>
                      </a:r>
                      <a:endParaRPr lang="en-US" altLang="ko-KR" sz="1000" spc="-70" baseline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algn="ctr" latinLnBrk="1"/>
                      <a:r>
                        <a:rPr lang="ko-KR" altLang="en-US" sz="1000" spc="-7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함수배열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언어 함수 이해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1(8h)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  <a:tabLst>
                          <a:tab pos="85725" algn="l"/>
                        </a:tabLst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함수의 목적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  <a:tabLst>
                          <a:tab pos="85725" algn="l"/>
                        </a:tabLst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함수의 정의 및 호출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흐름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  <a:tabLst>
                          <a:tab pos="85725" algn="l"/>
                        </a:tabLst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변수의 생명주기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  <a:tabLst>
                          <a:tab pos="85725" algn="l"/>
                        </a:tabLst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함수 생성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계좌 이체를 위한 함수 정의 및 구현 실습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037185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언어 함수 이해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2(8h)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표준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라이브러리 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재귀호출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매크로 함수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  <a:tabLst>
                          <a:tab pos="85725" algn="l"/>
                        </a:tabLst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재귀 호출을 위한 연산 처리 구현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lvl="1" indent="-85725" latinLnBrk="1">
                        <a:buFont typeface="Arial" panose="020B0604020202020204" pitchFamily="34" charset="0"/>
                        <a:buChar char="•"/>
                        <a:tabLst>
                          <a:tab pos="85725" algn="l"/>
                        </a:tabLst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이진수 변환 하기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lvl="1" indent="-85725" latinLnBrk="1">
                        <a:buFont typeface="Arial" panose="020B0604020202020204" pitchFamily="34" charset="0"/>
                        <a:buChar char="•"/>
                        <a:tabLst>
                          <a:tab pos="85725" algn="l"/>
                        </a:tabLst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최대공약수 및 순열 구하기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963409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언어 배열 이해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(8h)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배열의 필요성 및 개념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차원 배열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함수와 배열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다차원 배열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차원 배열 생성 후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랜덤한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숫자를 배열에 입력하고 연산 처리 실습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lvl="1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랜덤 로또 번호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생성기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단원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TEST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4769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언어 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포인터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언어 포인터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1(8h)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포인터의 필요성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포인터 자료형 변수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포인터 연산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포인터와 배열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  <a:tabLst>
                          <a:tab pos="0" algn="l"/>
                          <a:tab pos="85725" algn="l"/>
                        </a:tabLst>
                      </a:pPr>
                      <a:r>
                        <a:rPr lang="ko-KR" altLang="en-US" sz="1000" spc="-7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포인터 배열 선언 및 이를 이용한 연산 및 출력 실습</a:t>
                      </a:r>
                      <a:endParaRPr lang="en-US" altLang="ko-KR" sz="1000" spc="-70" baseline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lvl="1" indent="-85725" latinLnBrk="1">
                        <a:buFont typeface="Arial" panose="020B0604020202020204" pitchFamily="34" charset="0"/>
                        <a:buChar char="•"/>
                        <a:tabLst>
                          <a:tab pos="0" algn="l"/>
                          <a:tab pos="85725" algn="l"/>
                        </a:tabLst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포인터를 활용하여 사칙연산 프로그램 만들기</a:t>
                      </a: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121350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언어 포인터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2(8h)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문자열 선언과 초기화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문자열과 포인터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문자열 입출력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문자열 배열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문자열에 대한 선언 및 이를 이용한 다양한 함수 사용과 출력 실습</a:t>
                      </a:r>
                    </a:p>
                    <a:p>
                      <a:pPr marL="85725" marR="0" lvl="1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문자의 아스키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코드값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출력하기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단원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TEST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877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79558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B447E-E362-0C1C-4306-B8AC2F354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0942EC-14D2-A188-7A58-FF9FF7F71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단계별 주요 활동 및 예시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C58248A-45A5-19C8-F5EF-7E29D385144C}"/>
              </a:ext>
            </a:extLst>
          </p:cNvPr>
          <p:cNvSpPr/>
          <p:nvPr/>
        </p:nvSpPr>
        <p:spPr>
          <a:xfrm>
            <a:off x="0" y="867581"/>
            <a:ext cx="12192000" cy="3179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marL="1730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3-3. </a:t>
            </a:r>
            <a:r>
              <a:rPr lang="ko-KR" altLang="en-US" sz="1200" spc="-100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프로그램 운영</a:t>
            </a:r>
            <a:endParaRPr kumimoji="0" lang="ko-KR" altLang="en-US" sz="1200" b="0" i="0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5382D6F-765E-8959-1E47-7CC528430FD0}"/>
              </a:ext>
            </a:extLst>
          </p:cNvPr>
          <p:cNvSpPr/>
          <p:nvPr/>
        </p:nvSpPr>
        <p:spPr>
          <a:xfrm>
            <a:off x="997791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분석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FC01D71-1014-036A-C1C1-9B8395DC2A24}"/>
              </a:ext>
            </a:extLst>
          </p:cNvPr>
          <p:cNvSpPr/>
          <p:nvPr/>
        </p:nvSpPr>
        <p:spPr>
          <a:xfrm>
            <a:off x="1042363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세팅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6B1F820-A624-3B5E-52D5-17BAAA035B46}"/>
              </a:ext>
            </a:extLst>
          </p:cNvPr>
          <p:cNvSpPr/>
          <p:nvPr/>
        </p:nvSpPr>
        <p:spPr>
          <a:xfrm>
            <a:off x="10869354" y="933459"/>
            <a:ext cx="397500" cy="186234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운영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5D6FA18-0741-5890-CD20-17A13A546DDD}"/>
              </a:ext>
            </a:extLst>
          </p:cNvPr>
          <p:cNvSpPr/>
          <p:nvPr/>
        </p:nvSpPr>
        <p:spPr>
          <a:xfrm>
            <a:off x="1131507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사후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EF46CDF-A7BA-CBB2-CF95-C4C1FCADF833}"/>
              </a:ext>
            </a:extLst>
          </p:cNvPr>
          <p:cNvGrpSpPr/>
          <p:nvPr/>
        </p:nvGrpSpPr>
        <p:grpSpPr>
          <a:xfrm>
            <a:off x="515938" y="1300479"/>
            <a:ext cx="1223204" cy="1042670"/>
            <a:chOff x="515938" y="1300479"/>
            <a:chExt cx="1223206" cy="1033146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78DA645-DE6C-A066-884A-B5E17D05DA11}"/>
                </a:ext>
              </a:extLst>
            </p:cNvPr>
            <p:cNvSpPr/>
            <p:nvPr/>
          </p:nvSpPr>
          <p:spPr>
            <a:xfrm>
              <a:off x="515938" y="1300479"/>
              <a:ext cx="1223206" cy="1033146"/>
            </a:xfrm>
            <a:prstGeom prst="rect">
              <a:avLst/>
            </a:prstGeom>
            <a:solidFill>
              <a:srgbClr val="2484C6"/>
            </a:solidFill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C</a:t>
              </a: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언어 입문과정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7A4FDA0C-6A6B-7A16-ADF6-8A098EA05461}"/>
                </a:ext>
              </a:extLst>
            </p:cNvPr>
            <p:cNvSpPr/>
            <p:nvPr/>
          </p:nvSpPr>
          <p:spPr>
            <a:xfrm>
              <a:off x="515938" y="1300479"/>
              <a:ext cx="319423" cy="261621"/>
            </a:xfrm>
            <a:prstGeom prst="rect">
              <a:avLst/>
            </a:prstGeom>
            <a:solidFill>
              <a:srgbClr val="2484C6">
                <a:lumMod val="40000"/>
                <a:lumOff val="60000"/>
              </a:srgbClr>
            </a:solidFill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latinLnBrk="0"/>
              <a:r>
                <a:rPr lang="en-US" altLang="ko-KR" sz="1600" kern="0" dirty="0">
                  <a:solidFill>
                    <a:prstClr val="black"/>
                  </a:solidFill>
                  <a:latin typeface="맑은 고딕" panose="02110004020202020204"/>
                  <a:ea typeface="맑은 고딕" panose="020B0503020000020004" pitchFamily="50" charset="-127"/>
                </a:rPr>
                <a:t>D</a:t>
              </a:r>
              <a:endParaRPr lang="ko-KR" altLang="en-US" sz="1600" kern="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endParaRPr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8F54015-62FB-411B-4A17-02C4D48846F6}"/>
              </a:ext>
            </a:extLst>
          </p:cNvPr>
          <p:cNvSpPr/>
          <p:nvPr/>
        </p:nvSpPr>
        <p:spPr>
          <a:xfrm>
            <a:off x="1775644" y="1300479"/>
            <a:ext cx="9936927" cy="1044000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3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주차 학습목표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  <a:p>
            <a:pPr marL="268288" marR="0" lvl="0" indent="-17938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C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언어 구조체와 공용체에 대해 설명할 수 있다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</a:t>
            </a:r>
          </a:p>
          <a:p>
            <a:pPr marL="268288" marR="0" lvl="0" indent="-17938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C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언어 파일 입출력을 다룰 수 있다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</a:t>
            </a: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D865CAC7-DB14-7C84-C293-CC3B83FD32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107232"/>
              </p:ext>
            </p:extLst>
          </p:nvPr>
        </p:nvGraphicFramePr>
        <p:xfrm>
          <a:off x="525363" y="2409825"/>
          <a:ext cx="11195675" cy="3898901"/>
        </p:xfrm>
        <a:graphic>
          <a:graphicData uri="http://schemas.openxmlformats.org/drawingml/2006/table">
            <a:tbl>
              <a:tblPr firstRow="1" bandRow="1"/>
              <a:tblGrid>
                <a:gridCol w="464906">
                  <a:extLst>
                    <a:ext uri="{9D8B030D-6E8A-4147-A177-3AD203B41FA5}">
                      <a16:colId xmlns:a16="http://schemas.microsoft.com/office/drawing/2014/main" val="3940468437"/>
                    </a:ext>
                  </a:extLst>
                </a:gridCol>
                <a:gridCol w="464906">
                  <a:extLst>
                    <a:ext uri="{9D8B030D-6E8A-4147-A177-3AD203B41FA5}">
                      <a16:colId xmlns:a16="http://schemas.microsoft.com/office/drawing/2014/main" val="2400606576"/>
                    </a:ext>
                  </a:extLst>
                </a:gridCol>
                <a:gridCol w="904568">
                  <a:extLst>
                    <a:ext uri="{9D8B030D-6E8A-4147-A177-3AD203B41FA5}">
                      <a16:colId xmlns:a16="http://schemas.microsoft.com/office/drawing/2014/main" val="376411452"/>
                    </a:ext>
                  </a:extLst>
                </a:gridCol>
                <a:gridCol w="2019203">
                  <a:extLst>
                    <a:ext uri="{9D8B030D-6E8A-4147-A177-3AD203B41FA5}">
                      <a16:colId xmlns:a16="http://schemas.microsoft.com/office/drawing/2014/main" val="2115866371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1381459244"/>
                    </a:ext>
                  </a:extLst>
                </a:gridCol>
                <a:gridCol w="2185364">
                  <a:extLst>
                    <a:ext uri="{9D8B030D-6E8A-4147-A177-3AD203B41FA5}">
                      <a16:colId xmlns:a16="http://schemas.microsoft.com/office/drawing/2014/main" val="1033327336"/>
                    </a:ext>
                  </a:extLst>
                </a:gridCol>
                <a:gridCol w="836728">
                  <a:extLst>
                    <a:ext uri="{9D8B030D-6E8A-4147-A177-3AD203B41FA5}">
                      <a16:colId xmlns:a16="http://schemas.microsoft.com/office/drawing/2014/main" val="3360630688"/>
                    </a:ext>
                  </a:extLst>
                </a:gridCol>
              </a:tblGrid>
              <a:tr h="334391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일정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모듈명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교육 내용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실습 내용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기타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476630"/>
                  </a:ext>
                </a:extLst>
              </a:tr>
              <a:tr h="712902"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3</a:t>
                      </a:r>
                    </a:p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week</a:t>
                      </a:r>
                      <a:endParaRPr lang="ko-KR" altLang="en-US" sz="1000" spc="-15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spc="-19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구조체 및 </a:t>
                      </a:r>
                      <a:r>
                        <a:rPr lang="ko-KR" altLang="en-US" sz="1000" spc="-190" baseline="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공용체</a:t>
                      </a:r>
                      <a:endParaRPr lang="en-US" altLang="ko-KR" sz="1000" spc="-190" baseline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algn="ctr" latinLnBrk="1"/>
                      <a:r>
                        <a:rPr lang="en-US" altLang="ko-KR" sz="1000" spc="-19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/ </a:t>
                      </a:r>
                      <a:r>
                        <a:rPr lang="ko-KR" altLang="en-US" sz="1000" spc="-19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메모리 할당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언어 구조체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(8h)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구조체의 필요성과 정의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구조체 선언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구조체와 포인터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구조체 배열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구조체와 배열을 이용한 코드 구현 및 실습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주식 종목 저장 구조체 만들기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-100" baseline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구조체를 사용하여 데이터 출력하기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037185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언어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공용체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(8h)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공용체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PDF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비트 필드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PDF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공동체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PDF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구현 및 설계 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963409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spc="-50" baseline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ko-KR" altLang="en-US" sz="1000" spc="-5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메모리 구조 및 동적 메모리 할당</a:t>
                      </a:r>
                      <a:r>
                        <a:rPr lang="en-US" altLang="ko-KR" sz="1000" spc="-5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(8h)</a:t>
                      </a:r>
                      <a:endParaRPr lang="ko-KR" altLang="en-US" sz="1000" spc="-50" baseline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  <a:tabLst>
                          <a:tab pos="85725" algn="l"/>
                        </a:tabLst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메모리 구조 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  <a:tabLst>
                          <a:tab pos="85725" algn="l"/>
                        </a:tabLst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힙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영역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  <a:tabLst>
                          <a:tab pos="85725" algn="l"/>
                        </a:tabLst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동적 메모리 할당 및 반환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배열 구조를 이용한 메모리 할당 및 변환 구조 파악 실습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단원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TEST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4769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파일 입출력 및 모듈화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언어 파일 입출력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(8h)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파일과 스트림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파일 입출력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입의 접근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ODBC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를 이용한 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Oracle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데이터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</a:b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베이스 연결 실습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121350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언어 파일 입출력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(8h)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stdin,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stdout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stderr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리디렉션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파일 관련 함수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고객 테이블을 이용한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CRUD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구현 실습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877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90193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33C3E-B7EF-194B-379D-65AB3709E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76A252-A3DE-FBDA-BBCC-B2ACFBBC5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단계별 주요 활동 및 예시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7E33590-D520-0AF5-C605-FBFDDF1C3692}"/>
              </a:ext>
            </a:extLst>
          </p:cNvPr>
          <p:cNvSpPr/>
          <p:nvPr/>
        </p:nvSpPr>
        <p:spPr>
          <a:xfrm>
            <a:off x="0" y="867581"/>
            <a:ext cx="12192000" cy="3179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marL="1730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3-3. </a:t>
            </a:r>
            <a:r>
              <a:rPr lang="ko-KR" altLang="en-US" sz="1200" spc="-100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프로그램 운영</a:t>
            </a:r>
            <a:endParaRPr kumimoji="0" lang="ko-KR" altLang="en-US" sz="1200" b="0" i="0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7DCA7DD-69DE-6EEF-90F0-2F9EC3D5E88A}"/>
              </a:ext>
            </a:extLst>
          </p:cNvPr>
          <p:cNvSpPr/>
          <p:nvPr/>
        </p:nvSpPr>
        <p:spPr>
          <a:xfrm>
            <a:off x="997791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분석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72B076-69C6-5C71-F595-12ED2491591E}"/>
              </a:ext>
            </a:extLst>
          </p:cNvPr>
          <p:cNvSpPr/>
          <p:nvPr/>
        </p:nvSpPr>
        <p:spPr>
          <a:xfrm>
            <a:off x="1042363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세팅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06636B4-EA41-31A4-4233-1DC471105F6E}"/>
              </a:ext>
            </a:extLst>
          </p:cNvPr>
          <p:cNvSpPr/>
          <p:nvPr/>
        </p:nvSpPr>
        <p:spPr>
          <a:xfrm>
            <a:off x="10869354" y="933459"/>
            <a:ext cx="397500" cy="186234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운영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F4F4556-E5C5-3856-1912-C6724A9F8027}"/>
              </a:ext>
            </a:extLst>
          </p:cNvPr>
          <p:cNvSpPr/>
          <p:nvPr/>
        </p:nvSpPr>
        <p:spPr>
          <a:xfrm>
            <a:off x="1131507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사후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20D81C41-5857-B546-3B5E-7EADE2DB0B29}"/>
              </a:ext>
            </a:extLst>
          </p:cNvPr>
          <p:cNvGrpSpPr/>
          <p:nvPr/>
        </p:nvGrpSpPr>
        <p:grpSpPr>
          <a:xfrm>
            <a:off x="515938" y="1300479"/>
            <a:ext cx="1223204" cy="1042670"/>
            <a:chOff x="515938" y="1300479"/>
            <a:chExt cx="1223206" cy="1033146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3E6A87B4-156E-1BC4-91EC-E682FEED1CF1}"/>
                </a:ext>
              </a:extLst>
            </p:cNvPr>
            <p:cNvSpPr/>
            <p:nvPr/>
          </p:nvSpPr>
          <p:spPr>
            <a:xfrm>
              <a:off x="515938" y="1300479"/>
              <a:ext cx="1223206" cy="1033146"/>
            </a:xfrm>
            <a:prstGeom prst="rect">
              <a:avLst/>
            </a:prstGeom>
            <a:solidFill>
              <a:srgbClr val="2484C6"/>
            </a:solidFill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C</a:t>
              </a: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언어 입문과정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0255ACAA-1E61-8E06-95B8-5C55876DDCC9}"/>
                </a:ext>
              </a:extLst>
            </p:cNvPr>
            <p:cNvSpPr/>
            <p:nvPr/>
          </p:nvSpPr>
          <p:spPr>
            <a:xfrm>
              <a:off x="515938" y="1300479"/>
              <a:ext cx="319423" cy="261621"/>
            </a:xfrm>
            <a:prstGeom prst="rect">
              <a:avLst/>
            </a:prstGeom>
            <a:solidFill>
              <a:srgbClr val="2484C6">
                <a:lumMod val="40000"/>
                <a:lumOff val="60000"/>
              </a:srgbClr>
            </a:solidFill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kern="0" dirty="0">
                  <a:solidFill>
                    <a:prstClr val="black"/>
                  </a:solidFill>
                  <a:latin typeface="맑은 고딕" panose="02110004020202020204"/>
                  <a:ea typeface="맑은 고딕" panose="020B0503020000020004" pitchFamily="50" charset="-127"/>
                </a:rPr>
                <a:t>D</a:t>
              </a:r>
              <a:endParaRPr lang="ko-KR" altLang="en-US" sz="1600" kern="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6BD7685-8A65-A7AB-8CDF-7F9EAA9D52A0}"/>
              </a:ext>
            </a:extLst>
          </p:cNvPr>
          <p:cNvSpPr/>
          <p:nvPr/>
        </p:nvSpPr>
        <p:spPr>
          <a:xfrm>
            <a:off x="1775644" y="1300479"/>
            <a:ext cx="9936927" cy="1044000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4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주차 학습목표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  <a:p>
            <a:pPr marL="268288" marR="0" lvl="0" indent="-17938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C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언어 모듈화를 다룰 수 있다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</a:t>
            </a:r>
          </a:p>
          <a:p>
            <a:pPr marL="268288" marR="0" lvl="0" indent="-17938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C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언어를 활용해 금융권 업무를 기반으로 한 프로젝트를 수행할 수 있다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</a:t>
            </a: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B9BD2C51-A626-1BBF-DE99-69F68F298B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660230"/>
              </p:ext>
            </p:extLst>
          </p:nvPr>
        </p:nvGraphicFramePr>
        <p:xfrm>
          <a:off x="525363" y="2409825"/>
          <a:ext cx="11195675" cy="3898901"/>
        </p:xfrm>
        <a:graphic>
          <a:graphicData uri="http://schemas.openxmlformats.org/drawingml/2006/table">
            <a:tbl>
              <a:tblPr firstRow="1" bandRow="1"/>
              <a:tblGrid>
                <a:gridCol w="464906">
                  <a:extLst>
                    <a:ext uri="{9D8B030D-6E8A-4147-A177-3AD203B41FA5}">
                      <a16:colId xmlns:a16="http://schemas.microsoft.com/office/drawing/2014/main" val="3940468437"/>
                    </a:ext>
                  </a:extLst>
                </a:gridCol>
                <a:gridCol w="464906">
                  <a:extLst>
                    <a:ext uri="{9D8B030D-6E8A-4147-A177-3AD203B41FA5}">
                      <a16:colId xmlns:a16="http://schemas.microsoft.com/office/drawing/2014/main" val="2400606576"/>
                    </a:ext>
                  </a:extLst>
                </a:gridCol>
                <a:gridCol w="904568">
                  <a:extLst>
                    <a:ext uri="{9D8B030D-6E8A-4147-A177-3AD203B41FA5}">
                      <a16:colId xmlns:a16="http://schemas.microsoft.com/office/drawing/2014/main" val="376411452"/>
                    </a:ext>
                  </a:extLst>
                </a:gridCol>
                <a:gridCol w="2019203">
                  <a:extLst>
                    <a:ext uri="{9D8B030D-6E8A-4147-A177-3AD203B41FA5}">
                      <a16:colId xmlns:a16="http://schemas.microsoft.com/office/drawing/2014/main" val="2115866371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1381459244"/>
                    </a:ext>
                  </a:extLst>
                </a:gridCol>
                <a:gridCol w="2195196">
                  <a:extLst>
                    <a:ext uri="{9D8B030D-6E8A-4147-A177-3AD203B41FA5}">
                      <a16:colId xmlns:a16="http://schemas.microsoft.com/office/drawing/2014/main" val="1033327336"/>
                    </a:ext>
                  </a:extLst>
                </a:gridCol>
                <a:gridCol w="826896">
                  <a:extLst>
                    <a:ext uri="{9D8B030D-6E8A-4147-A177-3AD203B41FA5}">
                      <a16:colId xmlns:a16="http://schemas.microsoft.com/office/drawing/2014/main" val="3360630688"/>
                    </a:ext>
                  </a:extLst>
                </a:gridCol>
              </a:tblGrid>
              <a:tr h="334391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일정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모듈명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교육 내용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실습 내용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기타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476630"/>
                  </a:ext>
                </a:extLst>
              </a:tr>
              <a:tr h="712902"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4</a:t>
                      </a:r>
                    </a:p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week</a:t>
                      </a:r>
                      <a:endParaRPr lang="ko-KR" altLang="en-US" sz="1000" spc="-15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파일 입출력 및 모듈화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언어 모듈화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(8h)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모듈화 프로그래밍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조건부 컴파일</a:t>
                      </a:r>
                    </a:p>
                    <a:p>
                      <a:pPr marL="85725" indent="-85725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기타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전처리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작업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고객 테이블을 이용한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CRUD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통합 테스트 프로그램 작성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8900" indent="-889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단원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TEST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037185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spc="-15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팀프로젝트</a:t>
                      </a:r>
                      <a:endParaRPr lang="en-US" altLang="ko-KR" sz="1000" spc="-15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금융권 업무를 기반으로 한 </a:t>
                      </a: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 Project 1(8h)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963409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금융권 업무를 기반으로 한 </a:t>
                      </a: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 Project 2(8h)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4769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금융권 업무를 기반으로 한 </a:t>
                      </a: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 Project 3(8h)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121350"/>
                  </a:ext>
                </a:extLst>
              </a:tr>
              <a:tr h="71290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110004020202020204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금융권 업무를 기반으로 한 </a:t>
                      </a: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 Project 4(8h)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877414"/>
                  </a:ext>
                </a:extLst>
              </a:tr>
            </a:tbl>
          </a:graphicData>
        </a:graphic>
      </p:graphicFrame>
      <p:grpSp>
        <p:nvGrpSpPr>
          <p:cNvPr id="31" name="그룹 30">
            <a:extLst>
              <a:ext uri="{FF2B5EF4-FFF2-40B4-BE49-F238E27FC236}">
                <a16:creationId xmlns:a16="http://schemas.microsoft.com/office/drawing/2014/main" id="{17856EE1-2B2A-A799-5CAA-857E44EAADAB}"/>
              </a:ext>
            </a:extLst>
          </p:cNvPr>
          <p:cNvGrpSpPr/>
          <p:nvPr/>
        </p:nvGrpSpPr>
        <p:grpSpPr>
          <a:xfrm>
            <a:off x="4468901" y="3822803"/>
            <a:ext cx="3974924" cy="2008657"/>
            <a:chOff x="4489050" y="4972438"/>
            <a:chExt cx="3188101" cy="1246365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DAD482E-7BB6-B021-38DD-357E21AA984E}"/>
                </a:ext>
              </a:extLst>
            </p:cNvPr>
            <p:cNvSpPr txBox="1"/>
            <p:nvPr/>
          </p:nvSpPr>
          <p:spPr>
            <a:xfrm>
              <a:off x="5353051" y="4972438"/>
              <a:ext cx="2324100" cy="1193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marR="0" lvl="0" indent="-1714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171450" marR="0" lvl="0" indent="-1714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171450" marR="0" lvl="0" indent="-1714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171450" marR="0" lvl="0" indent="-1714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제시 주제 또는 자유 주제 선정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542925" marR="0" lvl="1" indent="-85725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고객관리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542925" marR="0" lvl="1" indent="-85725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계좌관리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542925" marR="0" lvl="1" indent="-85725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거리내역조회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542925" marR="0" lvl="1" indent="-85725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자산운영관리 등 금융 관련 업무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542925" marR="0" lvl="1" indent="-85725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설계 및 구현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0" marR="0" lvl="0" indent="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구현 및 테스트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0" marR="0" lvl="0" indent="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0" marR="0" lvl="0" indent="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285750" marR="0" lvl="0" indent="-285750" defTabSz="914400" eaLnBrk="1" fontAlgn="auto" latinLnBrk="0" hangingPunct="1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조별 발표 및 평가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20E4B4AB-EF13-1609-CC61-56B4C674E608}"/>
                </a:ext>
              </a:extLst>
            </p:cNvPr>
            <p:cNvGrpSpPr/>
            <p:nvPr/>
          </p:nvGrpSpPr>
          <p:grpSpPr>
            <a:xfrm>
              <a:off x="4489050" y="4972438"/>
              <a:ext cx="864000" cy="1246365"/>
              <a:chOff x="4551011" y="4905368"/>
              <a:chExt cx="864000" cy="1246365"/>
            </a:xfrm>
          </p:grpSpPr>
          <p:sp>
            <p:nvSpPr>
              <p:cNvPr id="34" name="순서도: 병합 33">
                <a:extLst>
                  <a:ext uri="{FF2B5EF4-FFF2-40B4-BE49-F238E27FC236}">
                    <a16:creationId xmlns:a16="http://schemas.microsoft.com/office/drawing/2014/main" id="{928692E3-03B2-2E46-94C8-92F58573C2C0}"/>
                  </a:ext>
                </a:extLst>
              </p:cNvPr>
              <p:cNvSpPr/>
              <p:nvPr/>
            </p:nvSpPr>
            <p:spPr>
              <a:xfrm>
                <a:off x="4917000" y="5212134"/>
                <a:ext cx="132023" cy="143563"/>
              </a:xfrm>
              <a:prstGeom prst="flowChartMerg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170BCBE5-5736-8C61-D46E-397A70632FC4}"/>
                  </a:ext>
                </a:extLst>
              </p:cNvPr>
              <p:cNvSpPr/>
              <p:nvPr/>
            </p:nvSpPr>
            <p:spPr>
              <a:xfrm>
                <a:off x="4551011" y="4905368"/>
                <a:ext cx="864000" cy="267824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주제 선정</a:t>
                </a: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F60F08CF-E3B0-02C7-DFAA-E5BB3F4717B2}"/>
                  </a:ext>
                </a:extLst>
              </p:cNvPr>
              <p:cNvSpPr/>
              <p:nvPr/>
            </p:nvSpPr>
            <p:spPr>
              <a:xfrm>
                <a:off x="4551011" y="5394639"/>
                <a:ext cx="864000" cy="267824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프로젝트 진행</a:t>
                </a: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CA98D7F2-42FA-0823-AFFD-3A82D2A79292}"/>
                  </a:ext>
                </a:extLst>
              </p:cNvPr>
              <p:cNvSpPr/>
              <p:nvPr/>
            </p:nvSpPr>
            <p:spPr>
              <a:xfrm>
                <a:off x="4551011" y="5883909"/>
                <a:ext cx="864000" cy="267824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발표 및 평가</a:t>
                </a:r>
              </a:p>
            </p:txBody>
          </p:sp>
          <p:sp>
            <p:nvSpPr>
              <p:cNvPr id="38" name="순서도: 병합 37">
                <a:extLst>
                  <a:ext uri="{FF2B5EF4-FFF2-40B4-BE49-F238E27FC236}">
                    <a16:creationId xmlns:a16="http://schemas.microsoft.com/office/drawing/2014/main" id="{2E509450-6D44-C5C5-EF90-33C63DD7646E}"/>
                  </a:ext>
                </a:extLst>
              </p:cNvPr>
              <p:cNvSpPr/>
              <p:nvPr/>
            </p:nvSpPr>
            <p:spPr>
              <a:xfrm>
                <a:off x="4917000" y="5701405"/>
                <a:ext cx="132023" cy="143563"/>
              </a:xfrm>
              <a:prstGeom prst="flowChartMerg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204318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E7A24-F773-69C5-502D-316E521AF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CCC8D-EF96-B6C6-1AC2-C3126B36D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단계별 주요 활동 및 예시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F83DE9A-15BC-489E-69F5-21245D6A5624}"/>
              </a:ext>
            </a:extLst>
          </p:cNvPr>
          <p:cNvSpPr/>
          <p:nvPr/>
        </p:nvSpPr>
        <p:spPr>
          <a:xfrm>
            <a:off x="0" y="867581"/>
            <a:ext cx="12192000" cy="3179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marL="1730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3-3. </a:t>
            </a:r>
            <a:r>
              <a:rPr lang="ko-KR" altLang="en-US" sz="1200" spc="-100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프로그램 운영</a:t>
            </a:r>
            <a:endParaRPr kumimoji="0" lang="ko-KR" altLang="en-US" sz="1200" b="0" i="0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0FA9C45-DAE6-28A8-039D-B0DDE1240AA4}"/>
              </a:ext>
            </a:extLst>
          </p:cNvPr>
          <p:cNvSpPr/>
          <p:nvPr/>
        </p:nvSpPr>
        <p:spPr>
          <a:xfrm>
            <a:off x="997791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분석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B34CA38-3089-27FA-4B92-4B8695D1F136}"/>
              </a:ext>
            </a:extLst>
          </p:cNvPr>
          <p:cNvSpPr/>
          <p:nvPr/>
        </p:nvSpPr>
        <p:spPr>
          <a:xfrm>
            <a:off x="1042363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세팅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42A70F2-C1B0-D257-DFA6-A55DB85F5B55}"/>
              </a:ext>
            </a:extLst>
          </p:cNvPr>
          <p:cNvSpPr/>
          <p:nvPr/>
        </p:nvSpPr>
        <p:spPr>
          <a:xfrm>
            <a:off x="10869354" y="933459"/>
            <a:ext cx="397500" cy="186234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운영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68E805-7A63-D178-5767-45BB51677FDB}"/>
              </a:ext>
            </a:extLst>
          </p:cNvPr>
          <p:cNvSpPr/>
          <p:nvPr/>
        </p:nvSpPr>
        <p:spPr>
          <a:xfrm>
            <a:off x="11315074" y="933459"/>
            <a:ext cx="397500" cy="1862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사후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774F6BD-7F61-B2F5-56C9-AD9A3147D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407" y="2074898"/>
            <a:ext cx="4751047" cy="2657360"/>
          </a:xfrm>
          <a:prstGeom prst="rect">
            <a:avLst/>
          </a:prstGeom>
        </p:spPr>
      </p:pic>
      <p:pic>
        <p:nvPicPr>
          <p:cNvPr id="10" name="그림 9" descr="실내, 컴퓨터, 사무실 건물, 가구이(가) 표시된 사진&#10;&#10;자동 생성된 설명">
            <a:extLst>
              <a:ext uri="{FF2B5EF4-FFF2-40B4-BE49-F238E27FC236}">
                <a16:creationId xmlns:a16="http://schemas.microsoft.com/office/drawing/2014/main" id="{4285EF25-A705-0ECD-F83B-B36E1B9177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2" t="4874" r="1830" b="2733"/>
          <a:stretch/>
        </p:blipFill>
        <p:spPr>
          <a:xfrm>
            <a:off x="5861427" y="4426401"/>
            <a:ext cx="3083545" cy="17130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EA6E510-C3F1-FDDA-3DC6-4AFCA7B2B0E0}"/>
              </a:ext>
            </a:extLst>
          </p:cNvPr>
          <p:cNvSpPr txBox="1"/>
          <p:nvPr/>
        </p:nvSpPr>
        <p:spPr>
          <a:xfrm>
            <a:off x="445407" y="5256319"/>
            <a:ext cx="4924864" cy="783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4138" indent="-84138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최대 </a:t>
            </a:r>
            <a:r>
              <a:rPr lang="en-US" altLang="ko-KR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50</a:t>
            </a: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명까지 수용 가능한 </a:t>
            </a:r>
            <a:r>
              <a:rPr lang="ko-KR" altLang="en-US" sz="1100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강의장</a:t>
            </a: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</a:t>
            </a:r>
            <a:r>
              <a:rPr lang="en-US" altLang="ko-KR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9</a:t>
            </a: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개 보유하여 유연한 강의 스케줄링 가능</a:t>
            </a:r>
            <a:endParaRPr lang="en-US" altLang="ko-KR" sz="11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84138" indent="-84138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교육 실습 및 토론 진행</a:t>
            </a:r>
            <a:r>
              <a:rPr lang="en-US" altLang="ko-KR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</a:t>
            </a: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전용 </a:t>
            </a:r>
            <a:r>
              <a:rPr lang="ko-KR" altLang="en-US" sz="1100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프로젝트룸</a:t>
            </a: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마련으로 실습 중심 학습 환경 조성</a:t>
            </a:r>
            <a:endParaRPr lang="en-US" altLang="ko-KR" sz="11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84138" indent="-84138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강의장별 </a:t>
            </a:r>
            <a:r>
              <a:rPr lang="ko-KR" altLang="en-US" sz="1100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빔프로젝터</a:t>
            </a:r>
            <a:r>
              <a:rPr lang="en-US" altLang="ko-KR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, </a:t>
            </a: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무선 인터넷 제공을 통해 원활하게 교육 진행</a:t>
            </a:r>
            <a:endParaRPr lang="en-US" altLang="ko-KR" sz="11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6CA60CB-EBAD-0C5A-24ED-BAA4596F41C8}"/>
              </a:ext>
            </a:extLst>
          </p:cNvPr>
          <p:cNvSpPr/>
          <p:nvPr/>
        </p:nvSpPr>
        <p:spPr>
          <a:xfrm>
            <a:off x="1279157" y="4888673"/>
            <a:ext cx="3083545" cy="258366"/>
          </a:xfrm>
          <a:prstGeom prst="roundRect">
            <a:avLst>
              <a:gd name="adj" fmla="val 36179"/>
            </a:avLst>
          </a:prstGeom>
          <a:solidFill>
            <a:srgbClr val="98C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1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다양한 학습 스타일에 적합한 강의 공간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E93E017-1B5C-195C-118B-0A2EFACE0580}"/>
              </a:ext>
            </a:extLst>
          </p:cNvPr>
          <p:cNvSpPr/>
          <p:nvPr/>
        </p:nvSpPr>
        <p:spPr>
          <a:xfrm>
            <a:off x="9135169" y="2073345"/>
            <a:ext cx="2434228" cy="258366"/>
          </a:xfrm>
          <a:prstGeom prst="roundRect">
            <a:avLst>
              <a:gd name="adj" fmla="val 36179"/>
            </a:avLst>
          </a:prstGeom>
          <a:solidFill>
            <a:srgbClr val="98C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1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협업을 촉진하는 휴게 공간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05EBE5A-9A13-7314-7814-525B6461A5F0}"/>
              </a:ext>
            </a:extLst>
          </p:cNvPr>
          <p:cNvSpPr/>
          <p:nvPr/>
        </p:nvSpPr>
        <p:spPr>
          <a:xfrm>
            <a:off x="9135169" y="4473892"/>
            <a:ext cx="2434228" cy="258366"/>
          </a:xfrm>
          <a:prstGeom prst="roundRect">
            <a:avLst>
              <a:gd name="adj" fmla="val 36179"/>
            </a:avLst>
          </a:prstGeom>
          <a:solidFill>
            <a:srgbClr val="98C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1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효율적인 학습을 지원하는 편의 시설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DD89C3-030B-81A8-9A70-D7BE6767FE62}"/>
              </a:ext>
            </a:extLst>
          </p:cNvPr>
          <p:cNvSpPr txBox="1"/>
          <p:nvPr/>
        </p:nvSpPr>
        <p:spPr>
          <a:xfrm>
            <a:off x="9080522" y="2368419"/>
            <a:ext cx="2788621" cy="1396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4138" indent="-84138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개인 및 팀 활동이 가능한 공간 조성으로</a:t>
            </a:r>
            <a:br>
              <a:rPr lang="en-US" altLang="ko-KR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</a:b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학습자 간 네트워킹 촉진</a:t>
            </a:r>
            <a:endParaRPr lang="en-US" altLang="ko-KR" sz="11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84138" indent="-84138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무료 사용 가능한 </a:t>
            </a:r>
            <a:r>
              <a:rPr lang="ko-KR" altLang="en-US" sz="1100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커피머신을</a:t>
            </a: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제공하여 </a:t>
            </a:r>
            <a:b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</a:b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학습 피로도 감소</a:t>
            </a:r>
          </a:p>
          <a:p>
            <a:pPr marL="84138" indent="-84138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회의나 스터디가 가능한 별도 </a:t>
            </a:r>
            <a:r>
              <a:rPr lang="ko-KR" altLang="en-US" sz="1100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미팅룸을</a:t>
            </a: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</a:t>
            </a:r>
            <a:br>
              <a:rPr lang="en-US" altLang="ko-KR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</a:b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제공하여 학습 집중도 제고</a:t>
            </a:r>
            <a:endParaRPr lang="en-US" altLang="ko-KR" sz="11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4101CD-6889-0B63-C334-CDB6C5061E51}"/>
              </a:ext>
            </a:extLst>
          </p:cNvPr>
          <p:cNvSpPr txBox="1"/>
          <p:nvPr/>
        </p:nvSpPr>
        <p:spPr>
          <a:xfrm>
            <a:off x="9067522" y="4732258"/>
            <a:ext cx="2788621" cy="1396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4138" indent="-84138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GPU </a:t>
            </a: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노트북 및 서버 대여 서비스를</a:t>
            </a:r>
            <a:br>
              <a:rPr lang="en-US" altLang="ko-KR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</a:b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통해 </a:t>
            </a:r>
            <a:r>
              <a:rPr lang="en-US" altLang="ko-KR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IT</a:t>
            </a: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교육에 최적화</a:t>
            </a:r>
            <a:endParaRPr lang="en-US" altLang="ko-KR" sz="11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84138" indent="-84138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성수역 도보 </a:t>
            </a:r>
            <a:r>
              <a:rPr lang="en-US" altLang="ko-KR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2</a:t>
            </a: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분 거리에 위치하여</a:t>
            </a:r>
            <a:br>
              <a:rPr lang="en-US" altLang="ko-KR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</a:b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접근 편의성 향상</a:t>
            </a:r>
            <a:endParaRPr lang="en-US" altLang="ko-KR" sz="11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84138" indent="-84138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안전하게 짐을 보관할 수 있는 </a:t>
            </a:r>
            <a:r>
              <a:rPr lang="ko-KR" altLang="en-US" sz="1100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라커를</a:t>
            </a: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</a:t>
            </a:r>
            <a:br>
              <a:rPr lang="en-US" altLang="ko-KR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</a:b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보유하여 더 넓은 공간 확보 가능</a:t>
            </a:r>
            <a:endParaRPr lang="en-US" altLang="ko-KR" sz="11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35864B5-E891-BAEE-A147-BD7FB5F0F4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8585" y="2073345"/>
            <a:ext cx="3083546" cy="174183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3273136-64D6-BAB3-A66C-FFEBC9298385}"/>
              </a:ext>
            </a:extLst>
          </p:cNvPr>
          <p:cNvSpPr txBox="1"/>
          <p:nvPr/>
        </p:nvSpPr>
        <p:spPr>
          <a:xfrm>
            <a:off x="527835" y="1213928"/>
            <a:ext cx="10859744" cy="28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알파코 성수 캠퍼스는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IT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및 디지털 인재 육성에 초점을 둔 교육 시설로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최적의 공간 구성 및 충분한 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장비 제공으로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최상의 교육환경을 제공합니다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24405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B5440A6-10C5-9865-5A98-B683E7676131}"/>
              </a:ext>
            </a:extLst>
          </p:cNvPr>
          <p:cNvSpPr txBox="1"/>
          <p:nvPr/>
        </p:nvSpPr>
        <p:spPr>
          <a:xfrm>
            <a:off x="609600" y="2115530"/>
            <a:ext cx="3486976" cy="553998"/>
          </a:xfrm>
          <a:prstGeom prst="rect">
            <a:avLst/>
          </a:prstGeom>
          <a:noFill/>
        </p:spPr>
        <p:txBody>
          <a:bodyPr wrap="none" lIns="36000" anchor="ctr" anchorCtr="0">
            <a:spAutoFit/>
          </a:bodyPr>
          <a:lstStyle/>
          <a:p>
            <a:r>
              <a:rPr lang="en-US" altLang="ko-KR" sz="30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End of Document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6AB842-CC2C-3C8B-4A93-F3764B62DE6D}"/>
              </a:ext>
            </a:extLst>
          </p:cNvPr>
          <p:cNvSpPr txBox="1"/>
          <p:nvPr/>
        </p:nvSpPr>
        <p:spPr>
          <a:xfrm>
            <a:off x="628454" y="1705465"/>
            <a:ext cx="1462383" cy="400110"/>
          </a:xfrm>
          <a:prstGeom prst="rect">
            <a:avLst/>
          </a:prstGeom>
          <a:noFill/>
        </p:spPr>
        <p:txBody>
          <a:bodyPr wrap="none" lIns="36000" anchor="ctr" anchorCtr="0">
            <a:spAutoFit/>
          </a:bodyPr>
          <a:lstStyle/>
          <a:p>
            <a:r>
              <a:rPr lang="en-US" altLang="ko-KR" sz="20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Thank you</a:t>
            </a:r>
            <a:endParaRPr lang="ko-KR" altLang="en-US" sz="2000" kern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pic>
        <p:nvPicPr>
          <p:cNvPr id="12" name="그림 11" descr="폰트, 그래픽, 로고, 상징이(가) 표시된 사진&#10;&#10;자동 생성된 설명">
            <a:extLst>
              <a:ext uri="{FF2B5EF4-FFF2-40B4-BE49-F238E27FC236}">
                <a16:creationId xmlns:a16="http://schemas.microsoft.com/office/drawing/2014/main" id="{51502405-6958-C615-21ED-E1F9A7F9796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5389472"/>
            <a:ext cx="873468" cy="31989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AEA4EF6-30DC-52CD-036C-C4DC05693B32}"/>
              </a:ext>
            </a:extLst>
          </p:cNvPr>
          <p:cNvSpPr txBox="1"/>
          <p:nvPr/>
        </p:nvSpPr>
        <p:spPr>
          <a:xfrm>
            <a:off x="609600" y="5348419"/>
            <a:ext cx="5062604" cy="276999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lrTx/>
              <a:buSzTx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문의  ㅣ 알파코 </a:t>
            </a:r>
            <a:r>
              <a:rPr lang="en-US" altLang="ko-KR" sz="12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BPO</a:t>
            </a:r>
            <a:r>
              <a:rPr lang="ko-KR" altLang="en-US" sz="12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컨설팅팀</a:t>
            </a:r>
            <a:r>
              <a:rPr lang="en-US" altLang="ko-KR" sz="12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(mylee@alpaco.co.kr/ 010 8507 0915)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2F0EAC-CCB2-5F72-7554-629942CA81EC}"/>
              </a:ext>
            </a:extLst>
          </p:cNvPr>
          <p:cNvSpPr txBox="1"/>
          <p:nvPr/>
        </p:nvSpPr>
        <p:spPr>
          <a:xfrm>
            <a:off x="609600" y="5631570"/>
            <a:ext cx="1556836" cy="276999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lrTx/>
              <a:buSzTx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www.alpaco.co.kr</a:t>
            </a:r>
          </a:p>
        </p:txBody>
      </p:sp>
    </p:spTree>
    <p:extLst>
      <p:ext uri="{BB962C8B-B14F-4D97-AF65-F5344CB8AC3E}">
        <p14:creationId xmlns:p14="http://schemas.microsoft.com/office/powerpoint/2010/main" val="21416428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0SlyZyt2J4csRlS3yIg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0SlyZyt2J4csRlS3yIg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0SlyZyt2J4csRlS3yIg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0SlyZyt2J4csRlS3yIgg"/>
</p:tagLst>
</file>

<file path=ppt/theme/theme1.xml><?xml version="1.0" encoding="utf-8"?>
<a:theme xmlns:a="http://schemas.openxmlformats.org/drawingml/2006/main" name="Office 테마">
  <a:themeElements>
    <a:clrScheme name="깨끗한나라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6182</TotalTime>
  <Words>4926</Words>
  <Application>Microsoft Office PowerPoint</Application>
  <PresentationFormat>와이드스크린</PresentationFormat>
  <Paragraphs>1459</Paragraphs>
  <Slides>25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6" baseType="lpstr">
      <vt:lpstr>나눔스퀘어</vt:lpstr>
      <vt:lpstr>에스코어 드림 3 Light</vt:lpstr>
      <vt:lpstr>Arial</vt:lpstr>
      <vt:lpstr>Wingdings</vt:lpstr>
      <vt:lpstr>나눔스퀘어 네오 Bold</vt:lpstr>
      <vt:lpstr>나눔스퀘어 네오 ExtraBold</vt:lpstr>
      <vt:lpstr>나눔스퀘어 네오 Heavy</vt:lpstr>
      <vt:lpstr>나눔스퀘어 네오 Regular</vt:lpstr>
      <vt:lpstr>맑은 고딕</vt:lpstr>
      <vt:lpstr>Office 테마</vt:lpstr>
      <vt:lpstr>think-cell Slide</vt:lpstr>
      <vt:lpstr>PowerPoint 프레젠테이션</vt:lpstr>
      <vt:lpstr>1. 프로그램 개요</vt:lpstr>
      <vt:lpstr>2. 프로그램 추진단계</vt:lpstr>
      <vt:lpstr>3. 단계별 주요 활동 및 예시</vt:lpstr>
      <vt:lpstr>3. 단계별 주요 활동 및 예시</vt:lpstr>
      <vt:lpstr>3. 단계별 주요 활동 및 예시</vt:lpstr>
      <vt:lpstr>3. 단계별 주요 활동 및 예시</vt:lpstr>
      <vt:lpstr>3. 단계별 주요 활동 및 예시</vt:lpstr>
      <vt:lpstr>3. 단계별 주요 활동 및 예시</vt:lpstr>
      <vt:lpstr>3. 단계별 주요 활동 및 예시</vt:lpstr>
      <vt:lpstr>3. 단계별 주요 활동 및 예시</vt:lpstr>
      <vt:lpstr>3. 단계별 주요 활동 및 예시</vt:lpstr>
      <vt:lpstr>3. 단계별 주요 활동 및 예시</vt:lpstr>
      <vt:lpstr>3. 단계별 주요 활동 및 예시</vt:lpstr>
      <vt:lpstr>3. 단계별 주요 활동 및 예시</vt:lpstr>
      <vt:lpstr>3. 단계별 주요 활동 및 예시</vt:lpstr>
      <vt:lpstr>3. 단계별 주요 활동 및 예시</vt:lpstr>
      <vt:lpstr>3. 단계별 주요 활동 및 예시</vt:lpstr>
      <vt:lpstr>3. 단계별 주요 활동 및 예시</vt:lpstr>
      <vt:lpstr>3. 단계별 주요 활동 및 예시</vt:lpstr>
      <vt:lpstr>3. 단계별 주요 활동 및 예시</vt:lpstr>
      <vt:lpstr>3. 단계별 주요 활동 및 예시</vt:lpstr>
      <vt:lpstr>3. 단계별 주요 활동 및 예시</vt:lpstr>
      <vt:lpstr>3. 단계별 주요 활동 및 예시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김혜정</dc:creator>
  <cp:lastModifiedBy>김나율</cp:lastModifiedBy>
  <cp:revision>794</cp:revision>
  <dcterms:created xsi:type="dcterms:W3CDTF">2024-10-07T05:19:08Z</dcterms:created>
  <dcterms:modified xsi:type="dcterms:W3CDTF">2025-12-09T00:47:31Z</dcterms:modified>
</cp:coreProperties>
</file>