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579" r:id="rId2"/>
    <p:sldId id="2134807373" r:id="rId3"/>
    <p:sldId id="2134807362" r:id="rId4"/>
    <p:sldId id="2134807382" r:id="rId5"/>
    <p:sldId id="2134807347" r:id="rId6"/>
    <p:sldId id="258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4" orient="horz" pos="3974" userDrawn="1">
          <p15:clr>
            <a:srgbClr val="A4A3A4"/>
          </p15:clr>
        </p15:guide>
        <p15:guide id="5" pos="3940" userDrawn="1">
          <p15:clr>
            <a:srgbClr val="A4A3A4"/>
          </p15:clr>
        </p15:guide>
        <p15:guide id="6" pos="7582" userDrawn="1">
          <p15:clr>
            <a:srgbClr val="A4A3A4"/>
          </p15:clr>
        </p15:guide>
        <p15:guide id="7" pos="36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75FA1"/>
    <a:srgbClr val="0791F8"/>
    <a:srgbClr val="FFFFFF"/>
    <a:srgbClr val="D1D1D1"/>
    <a:srgbClr val="E5E5E5"/>
    <a:srgbClr val="E8E8E8"/>
    <a:srgbClr val="474747"/>
    <a:srgbClr val="1835BC"/>
    <a:srgbClr val="043B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19" autoAdjust="0"/>
    <p:restoredTop sz="95026" autoAdjust="0"/>
  </p:normalViewPr>
  <p:slideViewPr>
    <p:cSldViewPr snapToGrid="0" showGuides="1">
      <p:cViewPr varScale="1">
        <p:scale>
          <a:sx n="110" d="100"/>
          <a:sy n="110" d="100"/>
        </p:scale>
        <p:origin x="330" y="78"/>
      </p:cViewPr>
      <p:guideLst>
        <p:guide orient="horz" pos="1026"/>
        <p:guide pos="257"/>
        <p:guide orient="horz" pos="3974"/>
        <p:guide pos="3940"/>
        <p:guide pos="7582"/>
        <p:guide pos="363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B69B57-FB6E-444A-8250-95C836F0EC03}" type="doc">
      <dgm:prSet loTypeId="urn:microsoft.com/office/officeart/2005/8/layout/chevron1" loCatId="process" qsTypeId="urn:microsoft.com/office/officeart/2005/8/quickstyle/3d2" qsCatId="3D" csTypeId="urn:microsoft.com/office/officeart/2005/8/colors/accent0_2" csCatId="mainScheme" phldr="1"/>
      <dgm:spPr/>
      <dgm:t>
        <a:bodyPr/>
        <a:lstStyle/>
        <a:p>
          <a:pPr latinLnBrk="1"/>
          <a:endParaRPr lang="ko-KR" altLang="en-US"/>
        </a:p>
      </dgm:t>
    </dgm:pt>
    <dgm:pt modelId="{27031A3F-BA4B-4A37-97A1-05E31643E444}">
      <dgm:prSet phldrT="[텍스트]" custT="1"/>
      <dgm:spPr/>
      <dgm:t>
        <a:bodyPr/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solidFill>
                <a:srgbClr val="0E2841">
                  <a:hueOff val="0"/>
                  <a:satOff val="0"/>
                  <a:lumOff val="0"/>
                  <a:alphaOff val="0"/>
                </a:srgb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rPr>
            <a:t>이론 학습</a:t>
          </a:r>
        </a:p>
      </dgm:t>
    </dgm:pt>
    <dgm:pt modelId="{0419619D-FF30-4770-B891-E595A7F21BD9}" type="parTrans" cxnId="{4AE90518-EE47-4D97-BB06-34421F18DCF9}">
      <dgm:prSet/>
      <dgm:spPr/>
      <dgm:t>
        <a:bodyPr/>
        <a:lstStyle/>
        <a:p>
          <a:pPr latinLnBrk="1"/>
          <a:endParaRPr lang="ko-KR" altLang="en-US"/>
        </a:p>
      </dgm:t>
    </dgm:pt>
    <dgm:pt modelId="{3A856C9F-69D2-49D0-A41F-496EFBC0B278}" type="sibTrans" cxnId="{4AE90518-EE47-4D97-BB06-34421F18DCF9}">
      <dgm:prSet/>
      <dgm:spPr/>
      <dgm:t>
        <a:bodyPr/>
        <a:lstStyle/>
        <a:p>
          <a:pPr latinLnBrk="1"/>
          <a:endParaRPr lang="ko-KR" altLang="en-US"/>
        </a:p>
      </dgm:t>
    </dgm:pt>
    <dgm:pt modelId="{5F44B5C1-1A0C-4E5E-8AA6-86D0EC10E60B}">
      <dgm:prSet phldrT="[텍스트]" custT="1"/>
      <dgm:spPr/>
      <dgm:t>
        <a:bodyPr/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solidFill>
                <a:srgbClr val="0E2841">
                  <a:hueOff val="0"/>
                  <a:satOff val="0"/>
                  <a:lumOff val="0"/>
                  <a:alphaOff val="0"/>
                </a:srgb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rPr>
            <a:t>단계별 실습 중심 학습</a:t>
          </a:r>
        </a:p>
      </dgm:t>
    </dgm:pt>
    <dgm:pt modelId="{60F713C2-5866-4F7E-88CD-8E987778AC29}" type="parTrans" cxnId="{12FBF1E1-CBF0-4326-AD5D-326063E423B2}">
      <dgm:prSet/>
      <dgm:spPr/>
      <dgm:t>
        <a:bodyPr/>
        <a:lstStyle/>
        <a:p>
          <a:pPr latinLnBrk="1"/>
          <a:endParaRPr lang="ko-KR" altLang="en-US"/>
        </a:p>
      </dgm:t>
    </dgm:pt>
    <dgm:pt modelId="{4233D2AD-3C90-45ED-A8CB-2416DC1F3CE6}" type="sibTrans" cxnId="{12FBF1E1-CBF0-4326-AD5D-326063E423B2}">
      <dgm:prSet/>
      <dgm:spPr/>
      <dgm:t>
        <a:bodyPr/>
        <a:lstStyle/>
        <a:p>
          <a:pPr latinLnBrk="1"/>
          <a:endParaRPr lang="ko-KR" altLang="en-US"/>
        </a:p>
      </dgm:t>
    </dgm:pt>
    <dgm:pt modelId="{9D3FACE6-EA63-4CA0-9CC9-D8AB84B7CB78}">
      <dgm:prSet phldrT="[텍스트]" custT="1"/>
      <dgm:spPr/>
      <dgm:t>
        <a:bodyPr/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solidFill>
                <a:srgbClr val="0E2841">
                  <a:hueOff val="0"/>
                  <a:satOff val="0"/>
                  <a:lumOff val="0"/>
                  <a:alphaOff val="0"/>
                </a:srgb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rPr>
            <a:t>금융 도메인 기반 미니 프로젝트</a:t>
          </a:r>
        </a:p>
      </dgm:t>
    </dgm:pt>
    <dgm:pt modelId="{5BB67708-90DB-433C-BB11-2D960062248F}" type="parTrans" cxnId="{04B42F95-3EB1-47BD-955B-65BB9DAF339D}">
      <dgm:prSet/>
      <dgm:spPr/>
      <dgm:t>
        <a:bodyPr/>
        <a:lstStyle/>
        <a:p>
          <a:pPr latinLnBrk="1"/>
          <a:endParaRPr lang="ko-KR" altLang="en-US"/>
        </a:p>
      </dgm:t>
    </dgm:pt>
    <dgm:pt modelId="{2E31A7B7-C680-4066-950E-EA9578234004}" type="sibTrans" cxnId="{04B42F95-3EB1-47BD-955B-65BB9DAF339D}">
      <dgm:prSet/>
      <dgm:spPr/>
      <dgm:t>
        <a:bodyPr/>
        <a:lstStyle/>
        <a:p>
          <a:pPr latinLnBrk="1"/>
          <a:endParaRPr lang="ko-KR" altLang="en-US"/>
        </a:p>
      </dgm:t>
    </dgm:pt>
    <dgm:pt modelId="{CA21AA6A-5C07-4B7A-89A0-E5C631CD0FBD}">
      <dgm:prSet phldrT="[텍스트]" custT="1"/>
      <dgm:spPr/>
      <dgm:t>
        <a:bodyPr/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solidFill>
                <a:srgbClr val="0E2841">
                  <a:hueOff val="0"/>
                  <a:satOff val="0"/>
                  <a:lumOff val="0"/>
                  <a:alphaOff val="0"/>
                </a:srgb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rPr>
            <a:t>현업 적용 강화</a:t>
          </a:r>
        </a:p>
      </dgm:t>
    </dgm:pt>
    <dgm:pt modelId="{98F73874-6B67-463F-9B7E-9539D6EABEB1}" type="parTrans" cxnId="{E66EF53C-CDD0-47A9-AB4B-FA2B3DC44B23}">
      <dgm:prSet/>
      <dgm:spPr/>
      <dgm:t>
        <a:bodyPr/>
        <a:lstStyle/>
        <a:p>
          <a:pPr latinLnBrk="1"/>
          <a:endParaRPr lang="ko-KR" altLang="en-US"/>
        </a:p>
      </dgm:t>
    </dgm:pt>
    <dgm:pt modelId="{D018C409-DB2C-45BC-BA12-BF54E3CC5390}" type="sibTrans" cxnId="{E66EF53C-CDD0-47A9-AB4B-FA2B3DC44B23}">
      <dgm:prSet/>
      <dgm:spPr/>
      <dgm:t>
        <a:bodyPr/>
        <a:lstStyle/>
        <a:p>
          <a:pPr latinLnBrk="1"/>
          <a:endParaRPr lang="ko-KR" altLang="en-US"/>
        </a:p>
      </dgm:t>
    </dgm:pt>
    <dgm:pt modelId="{C378B39B-5CBF-40BD-AE7E-163871B61473}" type="pres">
      <dgm:prSet presAssocID="{40B69B57-FB6E-444A-8250-95C836F0EC03}" presName="Name0" presStyleCnt="0">
        <dgm:presLayoutVars>
          <dgm:dir/>
          <dgm:animLvl val="lvl"/>
          <dgm:resizeHandles val="exact"/>
        </dgm:presLayoutVars>
      </dgm:prSet>
      <dgm:spPr/>
    </dgm:pt>
    <dgm:pt modelId="{BA1FC505-3A87-4306-9636-37BF1EE6A701}" type="pres">
      <dgm:prSet presAssocID="{27031A3F-BA4B-4A37-97A1-05E31643E444}" presName="parTxOnly" presStyleLbl="node1" presStyleIdx="0" presStyleCnt="4" custScaleX="94354" custLinFactNeighborX="59917" custLinFactNeighborY="-2399">
        <dgm:presLayoutVars>
          <dgm:chMax val="0"/>
          <dgm:chPref val="0"/>
          <dgm:bulletEnabled val="1"/>
        </dgm:presLayoutVars>
      </dgm:prSet>
      <dgm:spPr/>
    </dgm:pt>
    <dgm:pt modelId="{3D0F5AE2-FB46-490A-9625-066A8C16B0D0}" type="pres">
      <dgm:prSet presAssocID="{3A856C9F-69D2-49D0-A41F-496EFBC0B278}" presName="parTxOnlySpace" presStyleCnt="0"/>
      <dgm:spPr/>
    </dgm:pt>
    <dgm:pt modelId="{4ED0F671-9EC0-443C-92E5-1490D06387EC}" type="pres">
      <dgm:prSet presAssocID="{5F44B5C1-1A0C-4E5E-8AA6-86D0EC10E60B}" presName="parTxOnly" presStyleLbl="node1" presStyleIdx="1" presStyleCnt="4" custScaleX="92367" custLinFactNeighborY="-2652">
        <dgm:presLayoutVars>
          <dgm:chMax val="0"/>
          <dgm:chPref val="0"/>
          <dgm:bulletEnabled val="1"/>
        </dgm:presLayoutVars>
      </dgm:prSet>
      <dgm:spPr/>
    </dgm:pt>
    <dgm:pt modelId="{DE8F730F-D278-48FC-A803-A99597CB880C}" type="pres">
      <dgm:prSet presAssocID="{4233D2AD-3C90-45ED-A8CB-2416DC1F3CE6}" presName="parTxOnlySpace" presStyleCnt="0"/>
      <dgm:spPr/>
    </dgm:pt>
    <dgm:pt modelId="{D2548D13-A328-4EBB-96A8-5345FC8056EA}" type="pres">
      <dgm:prSet presAssocID="{9D3FACE6-EA63-4CA0-9CC9-D8AB84B7CB7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D3D6D44-10D8-45D0-A0DB-CDFC4015CCB2}" type="pres">
      <dgm:prSet presAssocID="{2E31A7B7-C680-4066-950E-EA9578234004}" presName="parTxOnlySpace" presStyleCnt="0"/>
      <dgm:spPr/>
    </dgm:pt>
    <dgm:pt modelId="{6C10BD48-C926-480B-8C87-1748A4F1624B}" type="pres">
      <dgm:prSet presAssocID="{CA21AA6A-5C07-4B7A-89A0-E5C631CD0FBD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994FC0A-80D9-4608-9EDD-A8DCB884203F}" type="presOf" srcId="{5F44B5C1-1A0C-4E5E-8AA6-86D0EC10E60B}" destId="{4ED0F671-9EC0-443C-92E5-1490D06387EC}" srcOrd="0" destOrd="0" presId="urn:microsoft.com/office/officeart/2005/8/layout/chevron1"/>
    <dgm:cxn modelId="{4AE90518-EE47-4D97-BB06-34421F18DCF9}" srcId="{40B69B57-FB6E-444A-8250-95C836F0EC03}" destId="{27031A3F-BA4B-4A37-97A1-05E31643E444}" srcOrd="0" destOrd="0" parTransId="{0419619D-FF30-4770-B891-E595A7F21BD9}" sibTransId="{3A856C9F-69D2-49D0-A41F-496EFBC0B278}"/>
    <dgm:cxn modelId="{11DE0D28-AB31-410F-A04C-FF3156260FCF}" type="presOf" srcId="{CA21AA6A-5C07-4B7A-89A0-E5C631CD0FBD}" destId="{6C10BD48-C926-480B-8C87-1748A4F1624B}" srcOrd="0" destOrd="0" presId="urn:microsoft.com/office/officeart/2005/8/layout/chevron1"/>
    <dgm:cxn modelId="{E66EF53C-CDD0-47A9-AB4B-FA2B3DC44B23}" srcId="{40B69B57-FB6E-444A-8250-95C836F0EC03}" destId="{CA21AA6A-5C07-4B7A-89A0-E5C631CD0FBD}" srcOrd="3" destOrd="0" parTransId="{98F73874-6B67-463F-9B7E-9539D6EABEB1}" sibTransId="{D018C409-DB2C-45BC-BA12-BF54E3CC5390}"/>
    <dgm:cxn modelId="{67C5745B-8CD0-4E2B-9482-AE5B8B41F04D}" type="presOf" srcId="{40B69B57-FB6E-444A-8250-95C836F0EC03}" destId="{C378B39B-5CBF-40BD-AE7E-163871B61473}" srcOrd="0" destOrd="0" presId="urn:microsoft.com/office/officeart/2005/8/layout/chevron1"/>
    <dgm:cxn modelId="{E4DEA678-0802-4E1E-8B3A-41AE6EBF8238}" type="presOf" srcId="{9D3FACE6-EA63-4CA0-9CC9-D8AB84B7CB78}" destId="{D2548D13-A328-4EBB-96A8-5345FC8056EA}" srcOrd="0" destOrd="0" presId="urn:microsoft.com/office/officeart/2005/8/layout/chevron1"/>
    <dgm:cxn modelId="{04B42F95-3EB1-47BD-955B-65BB9DAF339D}" srcId="{40B69B57-FB6E-444A-8250-95C836F0EC03}" destId="{9D3FACE6-EA63-4CA0-9CC9-D8AB84B7CB78}" srcOrd="2" destOrd="0" parTransId="{5BB67708-90DB-433C-BB11-2D960062248F}" sibTransId="{2E31A7B7-C680-4066-950E-EA9578234004}"/>
    <dgm:cxn modelId="{12FBF1E1-CBF0-4326-AD5D-326063E423B2}" srcId="{40B69B57-FB6E-444A-8250-95C836F0EC03}" destId="{5F44B5C1-1A0C-4E5E-8AA6-86D0EC10E60B}" srcOrd="1" destOrd="0" parTransId="{60F713C2-5866-4F7E-88CD-8E987778AC29}" sibTransId="{4233D2AD-3C90-45ED-A8CB-2416DC1F3CE6}"/>
    <dgm:cxn modelId="{DAF169E3-F3D6-499E-AF73-FBB6176DCA41}" type="presOf" srcId="{27031A3F-BA4B-4A37-97A1-05E31643E444}" destId="{BA1FC505-3A87-4306-9636-37BF1EE6A701}" srcOrd="0" destOrd="0" presId="urn:microsoft.com/office/officeart/2005/8/layout/chevron1"/>
    <dgm:cxn modelId="{6CDB62BC-C582-4DBB-9D63-E80B713C0D4A}" type="presParOf" srcId="{C378B39B-5CBF-40BD-AE7E-163871B61473}" destId="{BA1FC505-3A87-4306-9636-37BF1EE6A701}" srcOrd="0" destOrd="0" presId="urn:microsoft.com/office/officeart/2005/8/layout/chevron1"/>
    <dgm:cxn modelId="{24E230F2-1AA0-4DAE-8FD1-16EF77A9C04C}" type="presParOf" srcId="{C378B39B-5CBF-40BD-AE7E-163871B61473}" destId="{3D0F5AE2-FB46-490A-9625-066A8C16B0D0}" srcOrd="1" destOrd="0" presId="urn:microsoft.com/office/officeart/2005/8/layout/chevron1"/>
    <dgm:cxn modelId="{21852485-F8D1-4334-83AB-02C72B82BC1B}" type="presParOf" srcId="{C378B39B-5CBF-40BD-AE7E-163871B61473}" destId="{4ED0F671-9EC0-443C-92E5-1490D06387EC}" srcOrd="2" destOrd="0" presId="urn:microsoft.com/office/officeart/2005/8/layout/chevron1"/>
    <dgm:cxn modelId="{693079B5-5D2A-4CAD-99C4-958F0C4C6450}" type="presParOf" srcId="{C378B39B-5CBF-40BD-AE7E-163871B61473}" destId="{DE8F730F-D278-48FC-A803-A99597CB880C}" srcOrd="3" destOrd="0" presId="urn:microsoft.com/office/officeart/2005/8/layout/chevron1"/>
    <dgm:cxn modelId="{FF1972E5-F717-412B-B8BA-7E1FBF0B7EC1}" type="presParOf" srcId="{C378B39B-5CBF-40BD-AE7E-163871B61473}" destId="{D2548D13-A328-4EBB-96A8-5345FC8056EA}" srcOrd="4" destOrd="0" presId="urn:microsoft.com/office/officeart/2005/8/layout/chevron1"/>
    <dgm:cxn modelId="{537D2961-D06D-4826-BE33-ADDAC70A200F}" type="presParOf" srcId="{C378B39B-5CBF-40BD-AE7E-163871B61473}" destId="{1D3D6D44-10D8-45D0-A0DB-CDFC4015CCB2}" srcOrd="5" destOrd="0" presId="urn:microsoft.com/office/officeart/2005/8/layout/chevron1"/>
    <dgm:cxn modelId="{9C671B9E-550A-4334-A5C2-3A6C54F52071}" type="presParOf" srcId="{C378B39B-5CBF-40BD-AE7E-163871B61473}" destId="{6C10BD48-C926-480B-8C87-1748A4F1624B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B69B57-FB6E-444A-8250-95C836F0EC03}" type="doc">
      <dgm:prSet loTypeId="urn:microsoft.com/office/officeart/2005/8/layout/chevron1" loCatId="process" qsTypeId="urn:microsoft.com/office/officeart/2005/8/quickstyle/3d2" qsCatId="3D" csTypeId="urn:microsoft.com/office/officeart/2005/8/colors/accent0_2" csCatId="mainScheme" phldr="1"/>
      <dgm:spPr/>
      <dgm:t>
        <a:bodyPr/>
        <a:lstStyle/>
        <a:p>
          <a:pPr latinLnBrk="1"/>
          <a:endParaRPr lang="ko-KR" altLang="en-US"/>
        </a:p>
      </dgm:t>
    </dgm:pt>
    <dgm:pt modelId="{27031A3F-BA4B-4A37-97A1-05E31643E444}">
      <dgm:prSet phldrT="[텍스트]" custT="1"/>
      <dgm:spPr/>
      <dgm:t>
        <a:bodyPr/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solidFill>
                <a:srgbClr val="0E2841">
                  <a:hueOff val="0"/>
                  <a:satOff val="0"/>
                  <a:lumOff val="0"/>
                  <a:alphaOff val="0"/>
                </a:srgb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rPr>
            <a:t>이론 학습</a:t>
          </a:r>
        </a:p>
      </dgm:t>
    </dgm:pt>
    <dgm:pt modelId="{0419619D-FF30-4770-B891-E595A7F21BD9}" type="parTrans" cxnId="{4AE90518-EE47-4D97-BB06-34421F18DCF9}">
      <dgm:prSet/>
      <dgm:spPr/>
      <dgm:t>
        <a:bodyPr/>
        <a:lstStyle/>
        <a:p>
          <a:pPr latinLnBrk="1"/>
          <a:endParaRPr lang="ko-KR" altLang="en-US"/>
        </a:p>
      </dgm:t>
    </dgm:pt>
    <dgm:pt modelId="{3A856C9F-69D2-49D0-A41F-496EFBC0B278}" type="sibTrans" cxnId="{4AE90518-EE47-4D97-BB06-34421F18DCF9}">
      <dgm:prSet/>
      <dgm:spPr/>
      <dgm:t>
        <a:bodyPr/>
        <a:lstStyle/>
        <a:p>
          <a:pPr latinLnBrk="1"/>
          <a:endParaRPr lang="ko-KR" altLang="en-US"/>
        </a:p>
      </dgm:t>
    </dgm:pt>
    <dgm:pt modelId="{5F44B5C1-1A0C-4E5E-8AA6-86D0EC10E60B}">
      <dgm:prSet phldrT="[텍스트]" custT="1"/>
      <dgm:spPr/>
      <dgm:t>
        <a:bodyPr/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solidFill>
                <a:srgbClr val="0E2841">
                  <a:hueOff val="0"/>
                  <a:satOff val="0"/>
                  <a:lumOff val="0"/>
                  <a:alphaOff val="0"/>
                </a:srgb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rPr>
            <a:t>단계별 실습 중심 학습</a:t>
          </a:r>
        </a:p>
      </dgm:t>
    </dgm:pt>
    <dgm:pt modelId="{60F713C2-5866-4F7E-88CD-8E987778AC29}" type="parTrans" cxnId="{12FBF1E1-CBF0-4326-AD5D-326063E423B2}">
      <dgm:prSet/>
      <dgm:spPr/>
      <dgm:t>
        <a:bodyPr/>
        <a:lstStyle/>
        <a:p>
          <a:pPr latinLnBrk="1"/>
          <a:endParaRPr lang="ko-KR" altLang="en-US"/>
        </a:p>
      </dgm:t>
    </dgm:pt>
    <dgm:pt modelId="{4233D2AD-3C90-45ED-A8CB-2416DC1F3CE6}" type="sibTrans" cxnId="{12FBF1E1-CBF0-4326-AD5D-326063E423B2}">
      <dgm:prSet/>
      <dgm:spPr/>
      <dgm:t>
        <a:bodyPr/>
        <a:lstStyle/>
        <a:p>
          <a:pPr latinLnBrk="1"/>
          <a:endParaRPr lang="ko-KR" altLang="en-US"/>
        </a:p>
      </dgm:t>
    </dgm:pt>
    <dgm:pt modelId="{9D3FACE6-EA63-4CA0-9CC9-D8AB84B7CB78}">
      <dgm:prSet phldrT="[텍스트]" custT="1"/>
      <dgm:spPr/>
      <dgm:t>
        <a:bodyPr/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solidFill>
                <a:srgbClr val="0E2841">
                  <a:hueOff val="0"/>
                  <a:satOff val="0"/>
                  <a:lumOff val="0"/>
                  <a:alphaOff val="0"/>
                </a:srgb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rPr>
            <a:t>금융 도메인 기반 미니 프로젝트</a:t>
          </a:r>
        </a:p>
      </dgm:t>
    </dgm:pt>
    <dgm:pt modelId="{5BB67708-90DB-433C-BB11-2D960062248F}" type="parTrans" cxnId="{04B42F95-3EB1-47BD-955B-65BB9DAF339D}">
      <dgm:prSet/>
      <dgm:spPr/>
      <dgm:t>
        <a:bodyPr/>
        <a:lstStyle/>
        <a:p>
          <a:pPr latinLnBrk="1"/>
          <a:endParaRPr lang="ko-KR" altLang="en-US"/>
        </a:p>
      </dgm:t>
    </dgm:pt>
    <dgm:pt modelId="{2E31A7B7-C680-4066-950E-EA9578234004}" type="sibTrans" cxnId="{04B42F95-3EB1-47BD-955B-65BB9DAF339D}">
      <dgm:prSet/>
      <dgm:spPr/>
      <dgm:t>
        <a:bodyPr/>
        <a:lstStyle/>
        <a:p>
          <a:pPr latinLnBrk="1"/>
          <a:endParaRPr lang="ko-KR" altLang="en-US"/>
        </a:p>
      </dgm:t>
    </dgm:pt>
    <dgm:pt modelId="{CA21AA6A-5C07-4B7A-89A0-E5C631CD0FBD}">
      <dgm:prSet phldrT="[텍스트]" custT="1"/>
      <dgm:spPr/>
      <dgm:t>
        <a:bodyPr/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solidFill>
                <a:srgbClr val="0E2841">
                  <a:hueOff val="0"/>
                  <a:satOff val="0"/>
                  <a:lumOff val="0"/>
                  <a:alphaOff val="0"/>
                </a:srgb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rPr>
            <a:t>현업 적용 강화</a:t>
          </a:r>
        </a:p>
      </dgm:t>
    </dgm:pt>
    <dgm:pt modelId="{98F73874-6B67-463F-9B7E-9539D6EABEB1}" type="parTrans" cxnId="{E66EF53C-CDD0-47A9-AB4B-FA2B3DC44B23}">
      <dgm:prSet/>
      <dgm:spPr/>
      <dgm:t>
        <a:bodyPr/>
        <a:lstStyle/>
        <a:p>
          <a:pPr latinLnBrk="1"/>
          <a:endParaRPr lang="ko-KR" altLang="en-US"/>
        </a:p>
      </dgm:t>
    </dgm:pt>
    <dgm:pt modelId="{D018C409-DB2C-45BC-BA12-BF54E3CC5390}" type="sibTrans" cxnId="{E66EF53C-CDD0-47A9-AB4B-FA2B3DC44B23}">
      <dgm:prSet/>
      <dgm:spPr/>
      <dgm:t>
        <a:bodyPr/>
        <a:lstStyle/>
        <a:p>
          <a:pPr latinLnBrk="1"/>
          <a:endParaRPr lang="ko-KR" altLang="en-US"/>
        </a:p>
      </dgm:t>
    </dgm:pt>
    <dgm:pt modelId="{C378B39B-5CBF-40BD-AE7E-163871B61473}" type="pres">
      <dgm:prSet presAssocID="{40B69B57-FB6E-444A-8250-95C836F0EC03}" presName="Name0" presStyleCnt="0">
        <dgm:presLayoutVars>
          <dgm:dir/>
          <dgm:animLvl val="lvl"/>
          <dgm:resizeHandles val="exact"/>
        </dgm:presLayoutVars>
      </dgm:prSet>
      <dgm:spPr/>
    </dgm:pt>
    <dgm:pt modelId="{BA1FC505-3A87-4306-9636-37BF1EE6A701}" type="pres">
      <dgm:prSet presAssocID="{27031A3F-BA4B-4A37-97A1-05E31643E444}" presName="parTxOnly" presStyleLbl="node1" presStyleIdx="0" presStyleCnt="4" custScaleX="127871" custLinFactX="-87754" custLinFactNeighborX="-100000">
        <dgm:presLayoutVars>
          <dgm:chMax val="0"/>
          <dgm:chPref val="0"/>
          <dgm:bulletEnabled val="1"/>
        </dgm:presLayoutVars>
      </dgm:prSet>
      <dgm:spPr/>
    </dgm:pt>
    <dgm:pt modelId="{3D0F5AE2-FB46-490A-9625-066A8C16B0D0}" type="pres">
      <dgm:prSet presAssocID="{3A856C9F-69D2-49D0-A41F-496EFBC0B278}" presName="parTxOnlySpace" presStyleCnt="0"/>
      <dgm:spPr/>
    </dgm:pt>
    <dgm:pt modelId="{4ED0F671-9EC0-443C-92E5-1490D06387EC}" type="pres">
      <dgm:prSet presAssocID="{5F44B5C1-1A0C-4E5E-8AA6-86D0EC10E60B}" presName="parTxOnly" presStyleLbl="node1" presStyleIdx="1" presStyleCnt="4" custScaleX="123771">
        <dgm:presLayoutVars>
          <dgm:chMax val="0"/>
          <dgm:chPref val="0"/>
          <dgm:bulletEnabled val="1"/>
        </dgm:presLayoutVars>
      </dgm:prSet>
      <dgm:spPr/>
    </dgm:pt>
    <dgm:pt modelId="{DE8F730F-D278-48FC-A803-A99597CB880C}" type="pres">
      <dgm:prSet presAssocID="{4233D2AD-3C90-45ED-A8CB-2416DC1F3CE6}" presName="parTxOnlySpace" presStyleCnt="0"/>
      <dgm:spPr/>
    </dgm:pt>
    <dgm:pt modelId="{D2548D13-A328-4EBB-96A8-5345FC8056EA}" type="pres">
      <dgm:prSet presAssocID="{9D3FACE6-EA63-4CA0-9CC9-D8AB84B7CB7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D3D6D44-10D8-45D0-A0DB-CDFC4015CCB2}" type="pres">
      <dgm:prSet presAssocID="{2E31A7B7-C680-4066-950E-EA9578234004}" presName="parTxOnlySpace" presStyleCnt="0"/>
      <dgm:spPr/>
    </dgm:pt>
    <dgm:pt modelId="{6C10BD48-C926-480B-8C87-1748A4F1624B}" type="pres">
      <dgm:prSet presAssocID="{CA21AA6A-5C07-4B7A-89A0-E5C631CD0FBD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994FC0A-80D9-4608-9EDD-A8DCB884203F}" type="presOf" srcId="{5F44B5C1-1A0C-4E5E-8AA6-86D0EC10E60B}" destId="{4ED0F671-9EC0-443C-92E5-1490D06387EC}" srcOrd="0" destOrd="0" presId="urn:microsoft.com/office/officeart/2005/8/layout/chevron1"/>
    <dgm:cxn modelId="{4AE90518-EE47-4D97-BB06-34421F18DCF9}" srcId="{40B69B57-FB6E-444A-8250-95C836F0EC03}" destId="{27031A3F-BA4B-4A37-97A1-05E31643E444}" srcOrd="0" destOrd="0" parTransId="{0419619D-FF30-4770-B891-E595A7F21BD9}" sibTransId="{3A856C9F-69D2-49D0-A41F-496EFBC0B278}"/>
    <dgm:cxn modelId="{11DE0D28-AB31-410F-A04C-FF3156260FCF}" type="presOf" srcId="{CA21AA6A-5C07-4B7A-89A0-E5C631CD0FBD}" destId="{6C10BD48-C926-480B-8C87-1748A4F1624B}" srcOrd="0" destOrd="0" presId="urn:microsoft.com/office/officeart/2005/8/layout/chevron1"/>
    <dgm:cxn modelId="{E66EF53C-CDD0-47A9-AB4B-FA2B3DC44B23}" srcId="{40B69B57-FB6E-444A-8250-95C836F0EC03}" destId="{CA21AA6A-5C07-4B7A-89A0-E5C631CD0FBD}" srcOrd="3" destOrd="0" parTransId="{98F73874-6B67-463F-9B7E-9539D6EABEB1}" sibTransId="{D018C409-DB2C-45BC-BA12-BF54E3CC5390}"/>
    <dgm:cxn modelId="{67C5745B-8CD0-4E2B-9482-AE5B8B41F04D}" type="presOf" srcId="{40B69B57-FB6E-444A-8250-95C836F0EC03}" destId="{C378B39B-5CBF-40BD-AE7E-163871B61473}" srcOrd="0" destOrd="0" presId="urn:microsoft.com/office/officeart/2005/8/layout/chevron1"/>
    <dgm:cxn modelId="{E4DEA678-0802-4E1E-8B3A-41AE6EBF8238}" type="presOf" srcId="{9D3FACE6-EA63-4CA0-9CC9-D8AB84B7CB78}" destId="{D2548D13-A328-4EBB-96A8-5345FC8056EA}" srcOrd="0" destOrd="0" presId="urn:microsoft.com/office/officeart/2005/8/layout/chevron1"/>
    <dgm:cxn modelId="{04B42F95-3EB1-47BD-955B-65BB9DAF339D}" srcId="{40B69B57-FB6E-444A-8250-95C836F0EC03}" destId="{9D3FACE6-EA63-4CA0-9CC9-D8AB84B7CB78}" srcOrd="2" destOrd="0" parTransId="{5BB67708-90DB-433C-BB11-2D960062248F}" sibTransId="{2E31A7B7-C680-4066-950E-EA9578234004}"/>
    <dgm:cxn modelId="{12FBF1E1-CBF0-4326-AD5D-326063E423B2}" srcId="{40B69B57-FB6E-444A-8250-95C836F0EC03}" destId="{5F44B5C1-1A0C-4E5E-8AA6-86D0EC10E60B}" srcOrd="1" destOrd="0" parTransId="{60F713C2-5866-4F7E-88CD-8E987778AC29}" sibTransId="{4233D2AD-3C90-45ED-A8CB-2416DC1F3CE6}"/>
    <dgm:cxn modelId="{DAF169E3-F3D6-499E-AF73-FBB6176DCA41}" type="presOf" srcId="{27031A3F-BA4B-4A37-97A1-05E31643E444}" destId="{BA1FC505-3A87-4306-9636-37BF1EE6A701}" srcOrd="0" destOrd="0" presId="urn:microsoft.com/office/officeart/2005/8/layout/chevron1"/>
    <dgm:cxn modelId="{6CDB62BC-C582-4DBB-9D63-E80B713C0D4A}" type="presParOf" srcId="{C378B39B-5CBF-40BD-AE7E-163871B61473}" destId="{BA1FC505-3A87-4306-9636-37BF1EE6A701}" srcOrd="0" destOrd="0" presId="urn:microsoft.com/office/officeart/2005/8/layout/chevron1"/>
    <dgm:cxn modelId="{24E230F2-1AA0-4DAE-8FD1-16EF77A9C04C}" type="presParOf" srcId="{C378B39B-5CBF-40BD-AE7E-163871B61473}" destId="{3D0F5AE2-FB46-490A-9625-066A8C16B0D0}" srcOrd="1" destOrd="0" presId="urn:microsoft.com/office/officeart/2005/8/layout/chevron1"/>
    <dgm:cxn modelId="{21852485-F8D1-4334-83AB-02C72B82BC1B}" type="presParOf" srcId="{C378B39B-5CBF-40BD-AE7E-163871B61473}" destId="{4ED0F671-9EC0-443C-92E5-1490D06387EC}" srcOrd="2" destOrd="0" presId="urn:microsoft.com/office/officeart/2005/8/layout/chevron1"/>
    <dgm:cxn modelId="{693079B5-5D2A-4CAD-99C4-958F0C4C6450}" type="presParOf" srcId="{C378B39B-5CBF-40BD-AE7E-163871B61473}" destId="{DE8F730F-D278-48FC-A803-A99597CB880C}" srcOrd="3" destOrd="0" presId="urn:microsoft.com/office/officeart/2005/8/layout/chevron1"/>
    <dgm:cxn modelId="{FF1972E5-F717-412B-B8BA-7E1FBF0B7EC1}" type="presParOf" srcId="{C378B39B-5CBF-40BD-AE7E-163871B61473}" destId="{D2548D13-A328-4EBB-96A8-5345FC8056EA}" srcOrd="4" destOrd="0" presId="urn:microsoft.com/office/officeart/2005/8/layout/chevron1"/>
    <dgm:cxn modelId="{537D2961-D06D-4826-BE33-ADDAC70A200F}" type="presParOf" srcId="{C378B39B-5CBF-40BD-AE7E-163871B61473}" destId="{1D3D6D44-10D8-45D0-A0DB-CDFC4015CCB2}" srcOrd="5" destOrd="0" presId="urn:microsoft.com/office/officeart/2005/8/layout/chevron1"/>
    <dgm:cxn modelId="{9C671B9E-550A-4334-A5C2-3A6C54F52071}" type="presParOf" srcId="{C378B39B-5CBF-40BD-AE7E-163871B61473}" destId="{6C10BD48-C926-480B-8C87-1748A4F1624B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1FC505-3A87-4306-9636-37BF1EE6A701}">
      <dsp:nvSpPr>
        <dsp:cNvPr id="0" name=""/>
        <dsp:cNvSpPr/>
      </dsp:nvSpPr>
      <dsp:spPr>
        <a:xfrm>
          <a:off x="137123" y="0"/>
          <a:ext cx="2146195" cy="405581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solidFill>
                <a:srgbClr val="0E2841">
                  <a:hueOff val="0"/>
                  <a:satOff val="0"/>
                  <a:lumOff val="0"/>
                  <a:alphaOff val="0"/>
                </a:srgb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rPr>
            <a:t>이론 학습</a:t>
          </a:r>
        </a:p>
      </dsp:txBody>
      <dsp:txXfrm>
        <a:off x="339914" y="0"/>
        <a:ext cx="1740614" cy="405581"/>
      </dsp:txXfrm>
    </dsp:sp>
    <dsp:sp modelId="{4ED0F671-9EC0-443C-92E5-1490D06387EC}">
      <dsp:nvSpPr>
        <dsp:cNvPr id="0" name=""/>
        <dsp:cNvSpPr/>
      </dsp:nvSpPr>
      <dsp:spPr>
        <a:xfrm>
          <a:off x="1919568" y="0"/>
          <a:ext cx="2100999" cy="405581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solidFill>
                <a:srgbClr val="0E2841">
                  <a:hueOff val="0"/>
                  <a:satOff val="0"/>
                  <a:lumOff val="0"/>
                  <a:alphaOff val="0"/>
                </a:srgb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rPr>
            <a:t>단계별 실습 중심 학습</a:t>
          </a:r>
        </a:p>
      </dsp:txBody>
      <dsp:txXfrm>
        <a:off x="2122359" y="0"/>
        <a:ext cx="1695418" cy="405581"/>
      </dsp:txXfrm>
    </dsp:sp>
    <dsp:sp modelId="{D2548D13-A328-4EBB-96A8-5345FC8056EA}">
      <dsp:nvSpPr>
        <dsp:cNvPr id="0" name=""/>
        <dsp:cNvSpPr/>
      </dsp:nvSpPr>
      <dsp:spPr>
        <a:xfrm>
          <a:off x="3793105" y="0"/>
          <a:ext cx="2274621" cy="405581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solidFill>
                <a:srgbClr val="0E2841">
                  <a:hueOff val="0"/>
                  <a:satOff val="0"/>
                  <a:lumOff val="0"/>
                  <a:alphaOff val="0"/>
                </a:srgb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rPr>
            <a:t>금융 도메인 기반 미니 프로젝트</a:t>
          </a:r>
        </a:p>
      </dsp:txBody>
      <dsp:txXfrm>
        <a:off x="3995896" y="0"/>
        <a:ext cx="1869040" cy="405581"/>
      </dsp:txXfrm>
    </dsp:sp>
    <dsp:sp modelId="{6C10BD48-C926-480B-8C87-1748A4F1624B}">
      <dsp:nvSpPr>
        <dsp:cNvPr id="0" name=""/>
        <dsp:cNvSpPr/>
      </dsp:nvSpPr>
      <dsp:spPr>
        <a:xfrm>
          <a:off x="5840264" y="0"/>
          <a:ext cx="2274621" cy="405581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solidFill>
                <a:srgbClr val="0E2841">
                  <a:hueOff val="0"/>
                  <a:satOff val="0"/>
                  <a:lumOff val="0"/>
                  <a:alphaOff val="0"/>
                </a:srgb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rPr>
            <a:t>현업 적용 강화</a:t>
          </a:r>
        </a:p>
      </dsp:txBody>
      <dsp:txXfrm>
        <a:off x="6043055" y="0"/>
        <a:ext cx="1869040" cy="4055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1FC505-3A87-4306-9636-37BF1EE6A701}">
      <dsp:nvSpPr>
        <dsp:cNvPr id="0" name=""/>
        <dsp:cNvSpPr/>
      </dsp:nvSpPr>
      <dsp:spPr>
        <a:xfrm>
          <a:off x="0" y="0"/>
          <a:ext cx="2518568" cy="457200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solidFill>
                <a:srgbClr val="0E2841">
                  <a:hueOff val="0"/>
                  <a:satOff val="0"/>
                  <a:lumOff val="0"/>
                  <a:alphaOff val="0"/>
                </a:srgb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rPr>
            <a:t>이론 학습</a:t>
          </a:r>
        </a:p>
      </dsp:txBody>
      <dsp:txXfrm>
        <a:off x="228600" y="0"/>
        <a:ext cx="2061368" cy="457200"/>
      </dsp:txXfrm>
    </dsp:sp>
    <dsp:sp modelId="{4ED0F671-9EC0-443C-92E5-1490D06387EC}">
      <dsp:nvSpPr>
        <dsp:cNvPr id="0" name=""/>
        <dsp:cNvSpPr/>
      </dsp:nvSpPr>
      <dsp:spPr>
        <a:xfrm>
          <a:off x="2323489" y="0"/>
          <a:ext cx="2437813" cy="457200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solidFill>
                <a:srgbClr val="0E2841">
                  <a:hueOff val="0"/>
                  <a:satOff val="0"/>
                  <a:lumOff val="0"/>
                  <a:alphaOff val="0"/>
                </a:srgb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rPr>
            <a:t>단계별 실습 중심 학습</a:t>
          </a:r>
        </a:p>
      </dsp:txBody>
      <dsp:txXfrm>
        <a:off x="2552089" y="0"/>
        <a:ext cx="1980613" cy="457200"/>
      </dsp:txXfrm>
    </dsp:sp>
    <dsp:sp modelId="{D2548D13-A328-4EBB-96A8-5345FC8056EA}">
      <dsp:nvSpPr>
        <dsp:cNvPr id="0" name=""/>
        <dsp:cNvSpPr/>
      </dsp:nvSpPr>
      <dsp:spPr>
        <a:xfrm>
          <a:off x="4564341" y="0"/>
          <a:ext cx="1969616" cy="457200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solidFill>
                <a:srgbClr val="0E2841">
                  <a:hueOff val="0"/>
                  <a:satOff val="0"/>
                  <a:lumOff val="0"/>
                  <a:alphaOff val="0"/>
                </a:srgb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rPr>
            <a:t>금융 도메인 기반 미니 프로젝트</a:t>
          </a:r>
        </a:p>
      </dsp:txBody>
      <dsp:txXfrm>
        <a:off x="4792941" y="0"/>
        <a:ext cx="1512416" cy="457200"/>
      </dsp:txXfrm>
    </dsp:sp>
    <dsp:sp modelId="{6C10BD48-C926-480B-8C87-1748A4F1624B}">
      <dsp:nvSpPr>
        <dsp:cNvPr id="0" name=""/>
        <dsp:cNvSpPr/>
      </dsp:nvSpPr>
      <dsp:spPr>
        <a:xfrm>
          <a:off x="6336996" y="0"/>
          <a:ext cx="1969616" cy="457200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solidFill>
                <a:srgbClr val="0E2841">
                  <a:hueOff val="0"/>
                  <a:satOff val="0"/>
                  <a:lumOff val="0"/>
                  <a:alphaOff val="0"/>
                </a:srgb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rPr>
            <a:t>현업 적용 강화</a:t>
          </a:r>
        </a:p>
      </dsp:txBody>
      <dsp:txXfrm>
        <a:off x="6565596" y="0"/>
        <a:ext cx="1512416" cy="457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F0260AD-8063-8BFB-778E-5442BD90C5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0784536-A782-7E5B-3670-C4CA2F1829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5DA62-EE03-4628-B65F-C6C84EB2B257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D42BC0-1F44-547E-C673-AFF5DA69E1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8A0E72-3E1F-A320-A469-9322E2A35F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96715-8F58-4E81-83C1-6C2DE8E9D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719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10DCF-CB7C-4DAB-9B4B-2924BB241ED2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9E32F2-9390-478D-9AA7-A55F3EC73D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779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FDF6C-3991-06AA-3DCF-AAA359BA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124845-A8FB-3286-9968-66BA15741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9E9239-9AD2-9C3E-9CD6-592C017D9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1344DC-5C19-9886-294A-84C4F42475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E32F2-9390-478D-9AA7-A55F3EC73DE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211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FDF6C-3991-06AA-3DCF-AAA359BA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124845-A8FB-3286-9968-66BA15741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9E9239-9AD2-9C3E-9CD6-592C017D9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1344DC-5C19-9886-294A-84C4F42475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E32F2-9390-478D-9AA7-A55F3EC73DE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211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13080-816D-5CF9-0A06-64A953E1A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916105-C152-1677-47EB-C38AE5588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06F2F1-25E8-E4E1-23B8-F7B33F219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학습 로드맵 추가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2A070F-F3FD-E31F-D1E5-1806D058A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015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E604E-E308-F993-BDCB-E3F99C1A9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03DA79-E2F6-2338-D8C4-C782CE5479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BF3407-DCC2-721B-9A95-918936ED5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6D55ED-42EB-932F-620F-D76928EA3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E32F2-9390-478D-9AA7-A55F3EC73DE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924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28A28F6-5BC6-5887-7F16-327C078793D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456DE8"/>
          </a:solidFill>
          <a:ln w="12700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3513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21B64908-B9DC-4F3A-B9DD-B7B513ABEF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634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21B64908-B9DC-4F3A-B9DD-B7B513ABEF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>
            <a:extLst>
              <a:ext uri="{FF2B5EF4-FFF2-40B4-BE49-F238E27FC236}">
                <a16:creationId xmlns:a16="http://schemas.microsoft.com/office/drawing/2014/main" id="{44ACC6AD-18F0-4074-AB93-0012D72CA08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GB" altLang="ko-KR" sz="3088" b="1" i="0" baseline="0" dirty="0">
              <a:solidFill>
                <a:schemeClr val="tx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855B6642-0A55-4068-B403-FF36CF1D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75" y="427249"/>
            <a:ext cx="9163639" cy="431006"/>
          </a:xfrm>
          <a:prstGeom prst="rect">
            <a:avLst/>
          </a:prstGeom>
        </p:spPr>
        <p:txBody>
          <a:bodyPr wrap="none" lIns="36000" tIns="36000" rIns="36000" bIns="36000" anchor="ctr"/>
          <a:lstStyle>
            <a:lvl1pPr>
              <a:lnSpc>
                <a:spcPct val="100000"/>
              </a:lnSpc>
              <a:defRPr sz="20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5F68A4CE-4D04-33A7-6AFC-2F7ADF760C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8704" y="1292656"/>
            <a:ext cx="11147727" cy="7344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latinLnBrk="0">
              <a:lnSpc>
                <a:spcPct val="120000"/>
              </a:lnSpc>
              <a:spcBef>
                <a:spcPts val="200"/>
              </a:spcBef>
              <a:buNone/>
              <a:defRPr sz="1200" b="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  <a:lvl6pPr marL="2286000" indent="0">
              <a:buNone/>
              <a:defRPr/>
            </a:lvl6pPr>
            <a:lvl7pPr marL="2743200" indent="0">
              <a:buNone/>
              <a:defRPr/>
            </a:lvl7pPr>
            <a:lvl8pPr marL="3200400" indent="0">
              <a:buNone/>
              <a:defRPr/>
            </a:lvl8pPr>
            <a:lvl9pPr marL="3657600" indent="0">
              <a:buNone/>
              <a:defRPr/>
            </a:lvl9pPr>
          </a:lstStyle>
          <a:p>
            <a:pPr lvl="0"/>
            <a:r>
              <a:rPr lang="en-US" altLang="ko-KR" dirty="0"/>
              <a:t>Sub-heading: Add supporting detail.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99690E-4BAA-5C11-AB70-C4268D7BA687}"/>
              </a:ext>
            </a:extLst>
          </p:cNvPr>
          <p:cNvSpPr txBox="1">
            <a:spLocks/>
          </p:cNvSpPr>
          <p:nvPr userDrawn="1"/>
        </p:nvSpPr>
        <p:spPr>
          <a:xfrm>
            <a:off x="11385297" y="6435308"/>
            <a:ext cx="451134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736D8-36E2-0830-D27E-9D98AD5FC77A}"/>
              </a:ext>
            </a:extLst>
          </p:cNvPr>
          <p:cNvSpPr txBox="1"/>
          <p:nvPr userDrawn="1"/>
        </p:nvSpPr>
        <p:spPr>
          <a:xfrm>
            <a:off x="9746666" y="6446559"/>
            <a:ext cx="1903085" cy="215444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r"/>
            <a:r>
              <a:rPr lang="en-US" altLang="ko-KR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KB</a:t>
            </a:r>
            <a:r>
              <a:rPr lang="ko-KR" altLang="en-US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국민은행 디지털 분야 위탁교육 제안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BEEC524-1071-B7C8-0D5F-F6C9184EA9CB}"/>
              </a:ext>
            </a:extLst>
          </p:cNvPr>
          <p:cNvGrpSpPr/>
          <p:nvPr userDrawn="1"/>
        </p:nvGrpSpPr>
        <p:grpSpPr>
          <a:xfrm>
            <a:off x="10120632" y="310895"/>
            <a:ext cx="1444649" cy="187186"/>
            <a:chOff x="7014558" y="161169"/>
            <a:chExt cx="2004569" cy="259736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555C2D15-E0CC-E8BD-DF0F-9CBC5BE6E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14558" y="222220"/>
              <a:ext cx="1189685" cy="198685"/>
            </a:xfrm>
            <a:prstGeom prst="rect">
              <a:avLst/>
            </a:prstGeom>
          </p:spPr>
        </p:pic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91D2A224-831B-EE8F-AF07-2B24337A5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91795" y="161169"/>
              <a:ext cx="627332" cy="258637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FC41130-1B06-726C-2F99-BE595F4FB3E3}"/>
              </a:ext>
            </a:extLst>
          </p:cNvPr>
          <p:cNvSpPr txBox="1"/>
          <p:nvPr userDrawn="1"/>
        </p:nvSpPr>
        <p:spPr>
          <a:xfrm>
            <a:off x="9509816" y="523633"/>
            <a:ext cx="21665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2026 KB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국민은행 디지털 분야 위탁연수 제안</a:t>
            </a:r>
          </a:p>
        </p:txBody>
      </p:sp>
    </p:spTree>
    <p:extLst>
      <p:ext uri="{BB962C8B-B14F-4D97-AF65-F5344CB8AC3E}">
        <p14:creationId xmlns:p14="http://schemas.microsoft.com/office/powerpoint/2010/main" val="780725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앞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102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타워, 하늘, 대도시, 도시 풍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09768D-BFA4-215A-81C1-7415D8F5EB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" y="0"/>
            <a:ext cx="12191998" cy="6862027"/>
          </a:xfrm>
          <a:prstGeom prst="rect">
            <a:avLst/>
          </a:prstGeom>
        </p:spPr>
      </p:pic>
      <p:sp>
        <p:nvSpPr>
          <p:cNvPr id="8" name="Shape 1">
            <a:extLst>
              <a:ext uri="{FF2B5EF4-FFF2-40B4-BE49-F238E27FC236}">
                <a16:creationId xmlns:a16="http://schemas.microsoft.com/office/drawing/2014/main" id="{1DE757BA-7C1C-1A36-0FD6-0B92A57661B5}"/>
              </a:ext>
            </a:extLst>
          </p:cNvPr>
          <p:cNvSpPr/>
          <p:nvPr userDrawn="1"/>
        </p:nvSpPr>
        <p:spPr>
          <a:xfrm>
            <a:off x="450850" y="4445000"/>
            <a:ext cx="7619999" cy="1930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645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A2442DE-84D3-EBB0-12BE-A57CAC4D9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6837C0-7D26-A5B7-1A8D-0765A8BE8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B4D8EB-44D0-CA41-ABAC-4B5DB39045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419C26-8626-410F-B4ED-707647943E8B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FE53C2-32B9-8E6D-9377-F961A01E60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793865-62DD-F271-874A-B450FEDE5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480C86-1D76-48D6-A3E3-4DD029458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319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1" r:id="rId2"/>
    <p:sldLayoutId id="2147483667" r:id="rId3"/>
    <p:sldLayoutId id="2147483670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타워, 하늘, 대도시, 도시 풍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723A9A-8F4B-6C7D-BB0B-2F9A05A85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1998" cy="6857999"/>
          </a:xfrm>
          <a:prstGeom prst="rect">
            <a:avLst/>
          </a:prstGeom>
        </p:spPr>
      </p:pic>
      <p:sp>
        <p:nvSpPr>
          <p:cNvPr id="9" name="Shape 1">
            <a:extLst>
              <a:ext uri="{FF2B5EF4-FFF2-40B4-BE49-F238E27FC236}">
                <a16:creationId xmlns:a16="http://schemas.microsoft.com/office/drawing/2014/main" id="{0571303F-38C2-ABAB-9DD0-03D661B3B3AA}"/>
              </a:ext>
            </a:extLst>
          </p:cNvPr>
          <p:cNvSpPr/>
          <p:nvPr/>
        </p:nvSpPr>
        <p:spPr>
          <a:xfrm>
            <a:off x="-2" y="-1"/>
            <a:ext cx="12191694" cy="6857999"/>
          </a:xfrm>
          <a:prstGeom prst="rect">
            <a:avLst/>
          </a:prstGeom>
          <a:gradFill flip="none" rotWithShape="1">
            <a:gsLst>
              <a:gs pos="0">
                <a:srgbClr val="2C458E">
                  <a:alpha val="61000"/>
                </a:srgbClr>
              </a:gs>
              <a:gs pos="100000">
                <a:srgbClr val="0F172A"/>
              </a:gs>
            </a:gsLst>
            <a:path path="circle">
              <a:fillToRect l="50000" t="50000" r="50000" b="50000"/>
            </a:path>
            <a:tileRect/>
          </a:gra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BC2F053-31B0-3256-7468-3F435C840425}"/>
              </a:ext>
            </a:extLst>
          </p:cNvPr>
          <p:cNvGrpSpPr/>
          <p:nvPr/>
        </p:nvGrpSpPr>
        <p:grpSpPr>
          <a:xfrm>
            <a:off x="1" y="4004027"/>
            <a:ext cx="12191998" cy="2853974"/>
            <a:chOff x="0" y="2724182"/>
            <a:chExt cx="9144000" cy="2419319"/>
          </a:xfrm>
        </p:grpSpPr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4514682D-7AE8-6EEE-E6E5-39A0BD34E349}"/>
                </a:ext>
              </a:extLst>
            </p:cNvPr>
            <p:cNvSpPr/>
            <p:nvPr/>
          </p:nvSpPr>
          <p:spPr>
            <a:xfrm>
              <a:off x="5952082" y="2724182"/>
              <a:ext cx="3191918" cy="897303"/>
            </a:xfrm>
            <a:custGeom>
              <a:avLst/>
              <a:gdLst>
                <a:gd name="connsiteX0" fmla="*/ 3191918 w 3191918"/>
                <a:gd name="connsiteY0" fmla="*/ 0 h 897303"/>
                <a:gd name="connsiteX1" fmla="*/ 3191918 w 3191918"/>
                <a:gd name="connsiteY1" fmla="*/ 755785 h 897303"/>
                <a:gd name="connsiteX2" fmla="*/ 3077632 w 3191918"/>
                <a:gd name="connsiteY2" fmla="*/ 768849 h 897303"/>
                <a:gd name="connsiteX3" fmla="*/ 533778 w 3191918"/>
                <a:gd name="connsiteY3" fmla="*/ 897303 h 897303"/>
                <a:gd name="connsiteX4" fmla="*/ 0 w 3191918"/>
                <a:gd name="connsiteY4" fmla="*/ 888862 h 897303"/>
                <a:gd name="connsiteX5" fmla="*/ 227947 w 3191918"/>
                <a:gd name="connsiteY5" fmla="*/ 845559 h 897303"/>
                <a:gd name="connsiteX6" fmla="*/ 3091686 w 3191918"/>
                <a:gd name="connsiteY6" fmla="*/ 38105 h 897303"/>
                <a:gd name="connsiteX7" fmla="*/ 3191918 w 3191918"/>
                <a:gd name="connsiteY7" fmla="*/ 0 h 897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91918" h="897303">
                  <a:moveTo>
                    <a:pt x="3191918" y="0"/>
                  </a:moveTo>
                  <a:lnTo>
                    <a:pt x="3191918" y="755785"/>
                  </a:lnTo>
                  <a:lnTo>
                    <a:pt x="3077632" y="768849"/>
                  </a:lnTo>
                  <a:cubicBezTo>
                    <a:pt x="2241234" y="853790"/>
                    <a:pt x="1392586" y="897303"/>
                    <a:pt x="533778" y="897303"/>
                  </a:cubicBezTo>
                  <a:lnTo>
                    <a:pt x="0" y="888862"/>
                  </a:lnTo>
                  <a:lnTo>
                    <a:pt x="227947" y="845559"/>
                  </a:lnTo>
                  <a:cubicBezTo>
                    <a:pt x="1210992" y="647605"/>
                    <a:pt x="2167546" y="376478"/>
                    <a:pt x="3091686" y="38105"/>
                  </a:cubicBezTo>
                  <a:lnTo>
                    <a:pt x="3191918" y="0"/>
                  </a:lnTo>
                  <a:close/>
                </a:path>
              </a:pathLst>
            </a:custGeom>
            <a:solidFill>
              <a:srgbClr val="003A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7CD091E6-F1E0-80A5-DEA4-E3105E0535F2}"/>
                </a:ext>
              </a:extLst>
            </p:cNvPr>
            <p:cNvSpPr/>
            <p:nvPr/>
          </p:nvSpPr>
          <p:spPr>
            <a:xfrm>
              <a:off x="0" y="2762485"/>
              <a:ext cx="7648543" cy="1150845"/>
            </a:xfrm>
            <a:custGeom>
              <a:avLst/>
              <a:gdLst>
                <a:gd name="connsiteX0" fmla="*/ 0 w 7648543"/>
                <a:gd name="connsiteY0" fmla="*/ 0 h 1150845"/>
                <a:gd name="connsiteX1" fmla="*/ 267914 w 7648543"/>
                <a:gd name="connsiteY1" fmla="*/ 72498 h 1150845"/>
                <a:gd name="connsiteX2" fmla="*/ 6485860 w 7648543"/>
                <a:gd name="connsiteY2" fmla="*/ 855792 h 1150845"/>
                <a:gd name="connsiteX3" fmla="*/ 7128029 w 7648543"/>
                <a:gd name="connsiteY3" fmla="*/ 847666 h 1150845"/>
                <a:gd name="connsiteX4" fmla="*/ 7648543 w 7648543"/>
                <a:gd name="connsiteY4" fmla="*/ 827889 h 1150845"/>
                <a:gd name="connsiteX5" fmla="*/ 7148039 w 7648543"/>
                <a:gd name="connsiteY5" fmla="*/ 915662 h 1150845"/>
                <a:gd name="connsiteX6" fmla="*/ 4163615 w 7648543"/>
                <a:gd name="connsiteY6" fmla="*/ 1150845 h 1150845"/>
                <a:gd name="connsiteX7" fmla="*/ 368661 w 7648543"/>
                <a:gd name="connsiteY7" fmla="*/ 768281 h 1150845"/>
                <a:gd name="connsiteX8" fmla="*/ 0 w 7648543"/>
                <a:gd name="connsiteY8" fmla="*/ 688025 h 1150845"/>
                <a:gd name="connsiteX9" fmla="*/ 0 w 7648543"/>
                <a:gd name="connsiteY9" fmla="*/ 0 h 1150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48543" h="1150845">
                  <a:moveTo>
                    <a:pt x="0" y="0"/>
                  </a:moveTo>
                  <a:lnTo>
                    <a:pt x="267914" y="72498"/>
                  </a:lnTo>
                  <a:cubicBezTo>
                    <a:pt x="2255332" y="583838"/>
                    <a:pt x="4338837" y="855792"/>
                    <a:pt x="6485860" y="855792"/>
                  </a:cubicBezTo>
                  <a:cubicBezTo>
                    <a:pt x="6700562" y="855792"/>
                    <a:pt x="6914629" y="853073"/>
                    <a:pt x="7128029" y="847666"/>
                  </a:cubicBezTo>
                  <a:lnTo>
                    <a:pt x="7648543" y="827889"/>
                  </a:lnTo>
                  <a:lnTo>
                    <a:pt x="7148039" y="915662"/>
                  </a:lnTo>
                  <a:cubicBezTo>
                    <a:pt x="6176021" y="1070445"/>
                    <a:pt x="5179207" y="1150845"/>
                    <a:pt x="4163615" y="1150845"/>
                  </a:cubicBezTo>
                  <a:cubicBezTo>
                    <a:pt x="2863657" y="1150845"/>
                    <a:pt x="1594466" y="1019117"/>
                    <a:pt x="368661" y="768281"/>
                  </a:cubicBezTo>
                  <a:lnTo>
                    <a:pt x="0" y="688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B4C1CA28-8118-ED04-CE91-B1C6DCF96E3F}"/>
                </a:ext>
              </a:extLst>
            </p:cNvPr>
            <p:cNvSpPr/>
            <p:nvPr/>
          </p:nvSpPr>
          <p:spPr>
            <a:xfrm>
              <a:off x="0" y="3243042"/>
              <a:ext cx="9144000" cy="1900459"/>
            </a:xfrm>
            <a:custGeom>
              <a:avLst/>
              <a:gdLst>
                <a:gd name="connsiteX0" fmla="*/ 9144000 w 9144000"/>
                <a:gd name="connsiteY0" fmla="*/ 0 h 1900459"/>
                <a:gd name="connsiteX1" fmla="*/ 9144000 w 9144000"/>
                <a:gd name="connsiteY1" fmla="*/ 1900459 h 1900459"/>
                <a:gd name="connsiteX2" fmla="*/ 0 w 9144000"/>
                <a:gd name="connsiteY2" fmla="*/ 1900459 h 1900459"/>
                <a:gd name="connsiteX3" fmla="*/ 0 w 9144000"/>
                <a:gd name="connsiteY3" fmla="*/ 204261 h 1900459"/>
                <a:gd name="connsiteX4" fmla="*/ 368661 w 9144000"/>
                <a:gd name="connsiteY4" fmla="*/ 284517 h 1900459"/>
                <a:gd name="connsiteX5" fmla="*/ 4163615 w 9144000"/>
                <a:gd name="connsiteY5" fmla="*/ 667081 h 1900459"/>
                <a:gd name="connsiteX6" fmla="*/ 8869591 w 9144000"/>
                <a:gd name="connsiteY6" fmla="*/ 74255 h 1900459"/>
                <a:gd name="connsiteX7" fmla="*/ 9144000 w 9144000"/>
                <a:gd name="connsiteY7" fmla="*/ 0 h 19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144000" h="1900459">
                  <a:moveTo>
                    <a:pt x="9144000" y="0"/>
                  </a:moveTo>
                  <a:lnTo>
                    <a:pt x="9144000" y="1900459"/>
                  </a:lnTo>
                  <a:lnTo>
                    <a:pt x="0" y="1900459"/>
                  </a:lnTo>
                  <a:lnTo>
                    <a:pt x="0" y="204261"/>
                  </a:lnTo>
                  <a:lnTo>
                    <a:pt x="368661" y="284517"/>
                  </a:lnTo>
                  <a:cubicBezTo>
                    <a:pt x="1594466" y="535353"/>
                    <a:pt x="2863657" y="667081"/>
                    <a:pt x="4163615" y="667081"/>
                  </a:cubicBezTo>
                  <a:cubicBezTo>
                    <a:pt x="5788563" y="667081"/>
                    <a:pt x="7365438" y="461256"/>
                    <a:pt x="8869591" y="74255"/>
                  </a:cubicBezTo>
                  <a:lnTo>
                    <a:pt x="9144000" y="0"/>
                  </a:lnTo>
                  <a:close/>
                </a:path>
              </a:pathLst>
            </a:custGeom>
            <a:solidFill>
              <a:schemeClr val="tx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Shape 1">
            <a:extLst>
              <a:ext uri="{FF2B5EF4-FFF2-40B4-BE49-F238E27FC236}">
                <a16:creationId xmlns:a16="http://schemas.microsoft.com/office/drawing/2014/main" id="{5FE669CE-7D0B-2217-6EF7-33015A871771}"/>
              </a:ext>
            </a:extLst>
          </p:cNvPr>
          <p:cNvSpPr/>
          <p:nvPr/>
        </p:nvSpPr>
        <p:spPr>
          <a:xfrm>
            <a:off x="450850" y="4445000"/>
            <a:ext cx="7619999" cy="1930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solidFill>
                <a:srgbClr val="FF0000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707D0CB-2B56-DBCA-0DEC-C67979AC27E6}"/>
              </a:ext>
            </a:extLst>
          </p:cNvPr>
          <p:cNvGrpSpPr/>
          <p:nvPr/>
        </p:nvGrpSpPr>
        <p:grpSpPr>
          <a:xfrm>
            <a:off x="5517000" y="5802606"/>
            <a:ext cx="1157689" cy="602931"/>
            <a:chOff x="436649" y="5742701"/>
            <a:chExt cx="1372022" cy="71455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2E31825-9110-1C30-FB36-7AE82A8E34B5}"/>
                </a:ext>
              </a:extLst>
            </p:cNvPr>
            <p:cNvSpPr txBox="1"/>
            <p:nvPr/>
          </p:nvSpPr>
          <p:spPr>
            <a:xfrm>
              <a:off x="436649" y="5742701"/>
              <a:ext cx="1372022" cy="2735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solidFill>
                    <a:schemeClr val="bg1"/>
                  </a:solidFill>
                  <a:latin typeface="+mn-ea"/>
                </a:rPr>
                <a:t>고용노동부 인증기관</a:t>
              </a:r>
              <a:endParaRPr lang="en-US" altLang="ko-KR" sz="900" dirty="0"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0112EFAF-9B0E-D189-B243-F743068AC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0793" y="5988922"/>
              <a:ext cx="1135964" cy="468336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43F3439-2C53-E43C-6BEE-05278855F0BB}"/>
              </a:ext>
            </a:extLst>
          </p:cNvPr>
          <p:cNvGrpSpPr/>
          <p:nvPr/>
        </p:nvGrpSpPr>
        <p:grpSpPr>
          <a:xfrm>
            <a:off x="545871" y="1806136"/>
            <a:ext cx="10994904" cy="1359304"/>
            <a:chOff x="1124874" y="1717322"/>
            <a:chExt cx="11285328" cy="139521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2467089-E67D-B405-F8B7-12611D8D3949}"/>
                </a:ext>
              </a:extLst>
            </p:cNvPr>
            <p:cNvSpPr txBox="1"/>
            <p:nvPr/>
          </p:nvSpPr>
          <p:spPr>
            <a:xfrm>
              <a:off x="1124874" y="1717322"/>
              <a:ext cx="8770709" cy="13583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3200" b="1" spc="-150" dirty="0">
                  <a:solidFill>
                    <a:srgbClr val="FFFFFF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2026</a:t>
              </a:r>
            </a:p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4800" b="1" spc="-150" dirty="0">
                  <a:solidFill>
                    <a:srgbClr val="FFFFFF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디지털 분야 위탁교육 제안</a:t>
              </a:r>
              <a:endParaRPr lang="en-US" altLang="ko-KR" sz="4800" b="1" spc="-150" dirty="0">
                <a:solidFill>
                  <a:srgbClr val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endParaRP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FDAAA0B-66D0-3F34-0DB6-A7E8685A20AC}"/>
                </a:ext>
              </a:extLst>
            </p:cNvPr>
            <p:cNvCxnSpPr>
              <a:cxnSpLocks/>
            </p:cNvCxnSpPr>
            <p:nvPr/>
          </p:nvCxnSpPr>
          <p:spPr>
            <a:xfrm>
              <a:off x="1219201" y="3112532"/>
              <a:ext cx="11191001" cy="0"/>
            </a:xfrm>
            <a:prstGeom prst="line">
              <a:avLst/>
            </a:prstGeom>
            <a:ln>
              <a:solidFill>
                <a:srgbClr val="B4C5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8073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E5375-4717-DFD2-9197-22E917BB8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0742E1-9008-EED1-60FE-A28E9D31B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DT </a:t>
            </a:r>
            <a:r>
              <a:rPr lang="ko-KR" altLang="en-US" dirty="0"/>
              <a:t>기획 교육 개요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09971B-0E7A-0226-74AE-6608A90ADD9B}"/>
              </a:ext>
            </a:extLst>
          </p:cNvPr>
          <p:cNvSpPr/>
          <p:nvPr/>
        </p:nvSpPr>
        <p:spPr>
          <a:xfrm>
            <a:off x="0" y="843965"/>
            <a:ext cx="12192000" cy="3495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76000" rtlCol="0" anchor="ctr"/>
          <a:lstStyle/>
          <a:p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DT 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기획 교육 개요는 아래와 같습니다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6887B34-35EA-647B-1379-D43D6E5960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3501997"/>
              </p:ext>
            </p:extLst>
          </p:nvPr>
        </p:nvGraphicFramePr>
        <p:xfrm>
          <a:off x="403713" y="1402080"/>
          <a:ext cx="11432721" cy="4920501"/>
        </p:xfrm>
        <a:graphic>
          <a:graphicData uri="http://schemas.openxmlformats.org/drawingml/2006/table">
            <a:tbl>
              <a:tblPr/>
              <a:tblGrid>
                <a:gridCol w="1833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584">
                  <a:extLst>
                    <a:ext uri="{9D8B030D-6E8A-4147-A177-3AD203B41FA5}">
                      <a16:colId xmlns:a16="http://schemas.microsoft.com/office/drawing/2014/main" val="3679811132"/>
                    </a:ext>
                  </a:extLst>
                </a:gridCol>
                <a:gridCol w="1085584">
                  <a:extLst>
                    <a:ext uri="{9D8B030D-6E8A-4147-A177-3AD203B41FA5}">
                      <a16:colId xmlns:a16="http://schemas.microsoft.com/office/drawing/2014/main" val="1979755356"/>
                    </a:ext>
                  </a:extLst>
                </a:gridCol>
                <a:gridCol w="1085584">
                  <a:extLst>
                    <a:ext uri="{9D8B030D-6E8A-4147-A177-3AD203B41FA5}">
                      <a16:colId xmlns:a16="http://schemas.microsoft.com/office/drawing/2014/main" val="3772652269"/>
                    </a:ext>
                  </a:extLst>
                </a:gridCol>
                <a:gridCol w="1085584">
                  <a:extLst>
                    <a:ext uri="{9D8B030D-6E8A-4147-A177-3AD203B41FA5}">
                      <a16:colId xmlns:a16="http://schemas.microsoft.com/office/drawing/2014/main" val="2380923180"/>
                    </a:ext>
                  </a:extLst>
                </a:gridCol>
                <a:gridCol w="1085584">
                  <a:extLst>
                    <a:ext uri="{9D8B030D-6E8A-4147-A177-3AD203B41FA5}">
                      <a16:colId xmlns:a16="http://schemas.microsoft.com/office/drawing/2014/main" val="1252286291"/>
                    </a:ext>
                  </a:extLst>
                </a:gridCol>
                <a:gridCol w="1085584">
                  <a:extLst>
                    <a:ext uri="{9D8B030D-6E8A-4147-A177-3AD203B41FA5}">
                      <a16:colId xmlns:a16="http://schemas.microsoft.com/office/drawing/2014/main" val="4066478316"/>
                    </a:ext>
                  </a:extLst>
                </a:gridCol>
                <a:gridCol w="1085584">
                  <a:extLst>
                    <a:ext uri="{9D8B030D-6E8A-4147-A177-3AD203B41FA5}">
                      <a16:colId xmlns:a16="http://schemas.microsoft.com/office/drawing/2014/main" val="2019039876"/>
                    </a:ext>
                  </a:extLst>
                </a:gridCol>
                <a:gridCol w="1085584">
                  <a:extLst>
                    <a:ext uri="{9D8B030D-6E8A-4147-A177-3AD203B41FA5}">
                      <a16:colId xmlns:a16="http://schemas.microsoft.com/office/drawing/2014/main" val="4226294114"/>
                    </a:ext>
                  </a:extLst>
                </a:gridCol>
              </a:tblGrid>
              <a:tr h="1904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프로그램명</a:t>
                      </a:r>
                    </a:p>
                  </a:txBody>
                  <a:tcPr marL="13000" marR="13000" marT="13000" marB="13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58C9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2026 KB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국민은행 디지털 분야 </a:t>
                      </a: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DT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기획 과정</a:t>
                      </a:r>
                      <a:endParaRPr kumimoji="0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140700"/>
                  </a:ext>
                </a:extLst>
              </a:tr>
              <a:tr h="3531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프로그램 배경</a:t>
                      </a:r>
                    </a:p>
                  </a:txBody>
                  <a:tcPr marL="13000" marR="13000" marT="13000" marB="13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58C9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IT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구조 이해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서비스 설계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플랫폼 관점 사고를 기반으로 개발 조직과 원활히 협업할 수 있는 전문성 필요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와 자동화 기술의 확산에 따라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환경에 최적화된 기획 프레임 전환 요구 증가</a:t>
                      </a:r>
                    </a:p>
                  </a:txBody>
                  <a:tcPr marL="72000" marR="13000" marT="13000" marB="13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239534"/>
                  </a:ext>
                </a:extLst>
              </a:tr>
              <a:tr h="515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프로그램 목표</a:t>
                      </a:r>
                    </a:p>
                  </a:txBody>
                  <a:tcPr marL="13000" marR="13000" marT="13000" marB="13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58C9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기획자 핵심 역량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(IT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이해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서비스 기획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사고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체계적 내재화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개발 조직과의 협업이 가능한실무형 기획자 육성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업무 언어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프로세스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산출물 이해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금융 환경에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특화된디지털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서비스 기획 실무 역량 강화</a:t>
                      </a:r>
                    </a:p>
                  </a:txBody>
                  <a:tcPr marL="72000" marR="13000" marT="13000" marB="13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275746"/>
                  </a:ext>
                </a:extLst>
              </a:tr>
              <a:tr h="515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학습 대상</a:t>
                      </a:r>
                    </a:p>
                  </a:txBody>
                  <a:tcPr marL="13000" marR="13000" marT="13000" marB="13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58C9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비개발자 기획 직군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전사 대상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IT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부서와 협업이 필요한 비개발자 기획 직군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기획 역량을 사전에 확보하고자 하는 예비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PO /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주니어 기획자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641256"/>
                  </a:ext>
                </a:extLst>
              </a:tr>
              <a:tr h="6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프로그램 설계 프로세스</a:t>
                      </a:r>
                    </a:p>
                  </a:txBody>
                  <a:tcPr marL="13000" marR="13000" marT="13000" marB="13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58C9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302743"/>
                  </a:ext>
                </a:extLst>
              </a:tr>
              <a:tr h="193288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프로그램 구성</a:t>
                      </a:r>
                    </a:p>
                  </a:txBody>
                  <a:tcPr marL="13000" marR="13000" marT="13000" marB="13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5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교육 종류</a:t>
                      </a: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Pre-STEP</a:t>
                      </a:r>
                      <a:endParaRPr kumimoji="0" lang="ko-KR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Step1</a:t>
                      </a:r>
                      <a:endParaRPr kumimoji="0" lang="ko-KR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Step2</a:t>
                      </a:r>
                      <a:endParaRPr kumimoji="0" lang="ko-KR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Step3</a:t>
                      </a:r>
                      <a:endParaRPr kumimoji="0" lang="ko-KR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Step4</a:t>
                      </a:r>
                      <a:endParaRPr kumimoji="0" lang="ko-KR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231949"/>
                  </a:ext>
                </a:extLst>
              </a:tr>
              <a:tr h="368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세부 교육 유형</a:t>
                      </a: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기초</a:t>
                      </a: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기획 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기본 학습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실습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기획 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심화 학습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실습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주니어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PO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양성 과정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마케팅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과정</a:t>
                      </a: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UX · UI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과정</a:t>
                      </a: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금융 플랫폼 운영 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전문가 양성 과정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서비스 기획 과정</a:t>
                      </a: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921455"/>
                  </a:ext>
                </a:extLst>
              </a:tr>
              <a:tr h="368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교육 시간</a:t>
                      </a: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강의 별 상이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연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회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32H 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연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회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40H 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연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회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64H 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연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회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24H 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연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회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24H 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연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회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96H 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연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회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24H 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연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회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895496"/>
                  </a:ext>
                </a:extLst>
              </a:tr>
              <a:tr h="1749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교육 내용</a:t>
                      </a: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기획자 기본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소양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개요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Chat GPT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활용 방법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효과적인 프롬프트 작성법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환경  이해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기획         사고법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생성형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기반 리서치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사용자 여정 및     흐름 설계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UI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사고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체험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UX/UI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설계 실무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생성형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기획 문서 자동화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MVP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프로토타입 구현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시장 검증 전략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고객 요구와  문제 정의 방법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분석을   통한 목표 설정과 성공 검증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가설 검증과       애자일 개발        방법론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마케팅 데이터    분석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Amplitude      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기반 서비스       분석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고객 정의와  지표 설정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사용자 리서치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&amp;  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요구사항  분석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UX/UI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설계 실무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사용성 테스트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플랫폼 운영       프로세스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VOC·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고객   요구 기반     운영 개선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운영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KPI &amp; Funnel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분석    기초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데이터의 기본 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    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구조 이해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텍소노미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설계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툴을 활용한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MVP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만들기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277493"/>
                  </a:ext>
                </a:extLst>
              </a:tr>
            </a:tbl>
          </a:graphicData>
        </a:graphic>
      </p:graphicFrame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FE0F32C5-598C-80E0-6075-7757EBB365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7164512"/>
              </p:ext>
            </p:extLst>
          </p:nvPr>
        </p:nvGraphicFramePr>
        <p:xfrm>
          <a:off x="2308657" y="3093294"/>
          <a:ext cx="8115721" cy="405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09943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E5375-4717-DFD2-9197-22E917BB8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0742E1-9008-EED1-60FE-A28E9D31B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DT </a:t>
            </a:r>
            <a:r>
              <a:rPr lang="ko-KR" altLang="en-US" dirty="0"/>
              <a:t>개발 교육 개요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09971B-0E7A-0226-74AE-6608A90ADD9B}"/>
              </a:ext>
            </a:extLst>
          </p:cNvPr>
          <p:cNvSpPr/>
          <p:nvPr/>
        </p:nvSpPr>
        <p:spPr>
          <a:xfrm>
            <a:off x="0" y="843965"/>
            <a:ext cx="12192000" cy="3495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76000" rtlCol="0" anchor="ctr"/>
          <a:lstStyle/>
          <a:p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DT 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개발 교육 개요는 아래와 같습니다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6887B34-35EA-647B-1379-D43D6E5960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8740900"/>
              </p:ext>
            </p:extLst>
          </p:nvPr>
        </p:nvGraphicFramePr>
        <p:xfrm>
          <a:off x="403713" y="1349830"/>
          <a:ext cx="11432718" cy="4958896"/>
        </p:xfrm>
        <a:graphic>
          <a:graphicData uri="http://schemas.openxmlformats.org/drawingml/2006/table">
            <a:tbl>
              <a:tblPr/>
              <a:tblGrid>
                <a:gridCol w="1503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8507">
                  <a:extLst>
                    <a:ext uri="{9D8B030D-6E8A-4147-A177-3AD203B41FA5}">
                      <a16:colId xmlns:a16="http://schemas.microsoft.com/office/drawing/2014/main" val="3679811132"/>
                    </a:ext>
                  </a:extLst>
                </a:gridCol>
                <a:gridCol w="1538868">
                  <a:extLst>
                    <a:ext uri="{9D8B030D-6E8A-4147-A177-3AD203B41FA5}">
                      <a16:colId xmlns:a16="http://schemas.microsoft.com/office/drawing/2014/main" val="1979755356"/>
                    </a:ext>
                  </a:extLst>
                </a:gridCol>
                <a:gridCol w="1906859">
                  <a:extLst>
                    <a:ext uri="{9D8B030D-6E8A-4147-A177-3AD203B41FA5}">
                      <a16:colId xmlns:a16="http://schemas.microsoft.com/office/drawing/2014/main" val="3772652269"/>
                    </a:ext>
                  </a:extLst>
                </a:gridCol>
                <a:gridCol w="1750741">
                  <a:extLst>
                    <a:ext uri="{9D8B030D-6E8A-4147-A177-3AD203B41FA5}">
                      <a16:colId xmlns:a16="http://schemas.microsoft.com/office/drawing/2014/main" val="2380923180"/>
                    </a:ext>
                  </a:extLst>
                </a:gridCol>
                <a:gridCol w="2369046">
                  <a:extLst>
                    <a:ext uri="{9D8B030D-6E8A-4147-A177-3AD203B41FA5}">
                      <a16:colId xmlns:a16="http://schemas.microsoft.com/office/drawing/2014/main" val="2019039876"/>
                    </a:ext>
                  </a:extLst>
                </a:gridCol>
              </a:tblGrid>
              <a:tr h="2922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프로그램명</a:t>
                      </a:r>
                    </a:p>
                  </a:txBody>
                  <a:tcPr marL="13000" marR="13000" marT="13000" marB="13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58C9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2026 KB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국민은행 디지털 분야 </a:t>
                      </a: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DT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개발 과정</a:t>
                      </a:r>
                      <a:endParaRPr kumimoji="0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140700"/>
                  </a:ext>
                </a:extLst>
              </a:tr>
              <a:tr h="5859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프로그램 배경</a:t>
                      </a:r>
                    </a:p>
                  </a:txBody>
                  <a:tcPr marL="13000" marR="13000" marT="13000" marB="13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58C9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금융권 디지털 전환 가속화 및 내부 개발 역량 수요 증가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비개발자도 서비스기획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개발 협업을 수행할 수 있는 디지털 역량 필요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기반 개발 환경 확산에 따른 실무 중심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DT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역량 강화 요구</a:t>
                      </a:r>
                    </a:p>
                  </a:txBody>
                  <a:tcPr marL="72000" marR="13000" marT="13000" marB="13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239534"/>
                  </a:ext>
                </a:extLst>
              </a:tr>
              <a:tr h="5543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프로그램 목표</a:t>
                      </a:r>
                    </a:p>
                  </a:txBody>
                  <a:tcPr marL="13000" marR="13000" marT="13000" marB="13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58C9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비개발자를 개발 협업 가능 수준까지 성장시키는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DT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기본 역량 확보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기반 개발 방식 이해 및 업무 적용 능력 강화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금융서비스 기획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–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개발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–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테스트 흐름의 실무형 경험 제공</a:t>
                      </a:r>
                    </a:p>
                  </a:txBody>
                  <a:tcPr marL="72000" marR="13000" marT="13000" marB="13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275746"/>
                  </a:ext>
                </a:extLst>
              </a:tr>
              <a:tr h="5464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학습 대상</a:t>
                      </a:r>
                    </a:p>
                  </a:txBody>
                  <a:tcPr marL="13000" marR="13000" marT="13000" marB="13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58C9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비개발자 직군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전사 대상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전환 대응이 필요한 실무자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직무를 향후 희망하거나 협업이 필요한 임직원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641256"/>
                  </a:ext>
                </a:extLst>
              </a:tr>
              <a:tr h="6123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프로그램 설계 프로세스</a:t>
                      </a:r>
                    </a:p>
                  </a:txBody>
                  <a:tcPr marL="13000" marR="13000" marT="13000" marB="13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58C9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302743"/>
                  </a:ext>
                </a:extLst>
              </a:tr>
              <a:tr h="298565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프로그램 구성</a:t>
                      </a:r>
                    </a:p>
                  </a:txBody>
                  <a:tcPr marL="13000" marR="13000" marT="13000" marB="13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5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교육 종류</a:t>
                      </a:r>
                    </a:p>
                  </a:txBody>
                  <a:tcPr marL="72000" marR="13000" marT="13000" marB="13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Pre-Step</a:t>
                      </a:r>
                      <a:endParaRPr kumimoji="0" lang="ko-KR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Step1</a:t>
                      </a:r>
                      <a:endParaRPr kumimoji="0" lang="ko-KR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Step2</a:t>
                      </a:r>
                      <a:endParaRPr kumimoji="0" lang="ko-KR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Step3</a:t>
                      </a:r>
                      <a:endParaRPr kumimoji="0" lang="ko-KR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Step4</a:t>
                      </a:r>
                      <a:endParaRPr kumimoji="0" lang="ko-KR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231949"/>
                  </a:ext>
                </a:extLst>
              </a:tr>
              <a:tr h="2985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세부 교육 유형</a:t>
                      </a:r>
                    </a:p>
                  </a:txBody>
                  <a:tcPr marL="72000" marR="13000" marT="13000" marB="13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기초</a:t>
                      </a: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기본프로그램 개발</a:t>
                      </a: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심화 프로그램 개발</a:t>
                      </a: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분석 양성 과정</a:t>
                      </a: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ICT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주요 기술 고급 과정</a:t>
                      </a: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921455"/>
                  </a:ext>
                </a:extLst>
              </a:tr>
              <a:tr h="2985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교육 시간</a:t>
                      </a:r>
                    </a:p>
                  </a:txBody>
                  <a:tcPr marL="72000" marR="13000" marT="13000" marB="13000" anchor="ctr" horzOverflow="overflow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32H 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연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회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40H 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연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회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80H 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연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회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24H(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과정별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연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회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13000" marT="13000" marB="13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895496"/>
                  </a:ext>
                </a:extLst>
              </a:tr>
              <a:tr h="14717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교육 내용</a:t>
                      </a:r>
                    </a:p>
                  </a:txBody>
                  <a:tcPr marL="72000" marR="13000" marT="13000" marB="13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컴퓨팅 기본 원리 이해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기초 프로그래밍 이해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생성형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기본 이해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프론트엔드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기본기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백엔드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&amp; API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개발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데이터베이스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&amp; AI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활용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프로젝트 통합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React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기반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UI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개발 고도화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Spring Boot API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개발 및 연동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n8n·AI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도구 활용 자동화 구축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기반 고객 </a:t>
                      </a:r>
                      <a:r>
                        <a:rPr kumimoji="0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온보딩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시스템 완성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Python &amp;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기초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처리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전처리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집계 분석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수집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시각화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·ML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모델링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LLM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활용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&amp;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팀 프로젝트 완성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기반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Web/App Application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개발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생성형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기반 데이터 분석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고급 과정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클라우드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활용 및 금융 업무 적용 과정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고급 프롬프트 엔지니어링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보안 역량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277493"/>
                  </a:ext>
                </a:extLst>
              </a:tr>
            </a:tbl>
          </a:graphicData>
        </a:graphic>
      </p:graphicFrame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FE0F32C5-598C-80E0-6075-7757EBB365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3362208"/>
              </p:ext>
            </p:extLst>
          </p:nvPr>
        </p:nvGraphicFramePr>
        <p:xfrm>
          <a:off x="1965824" y="3429000"/>
          <a:ext cx="8308495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60761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E0369-9FA7-9E20-C3DD-67AD12658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09E3607-7778-AD8E-44D6-113F9A482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학습 개요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136CE2-C766-1752-922E-5C7070E57275}"/>
              </a:ext>
            </a:extLst>
          </p:cNvPr>
          <p:cNvSpPr/>
          <p:nvPr/>
        </p:nvSpPr>
        <p:spPr>
          <a:xfrm>
            <a:off x="0" y="843965"/>
            <a:ext cx="12192000" cy="3495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76000" rtlCol="0" anchor="ctr"/>
          <a:lstStyle/>
          <a:p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과정별 학습 로드맵 및 난이도 구분은 아래와 같습니다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.</a:t>
            </a:r>
            <a:endParaRPr lang="en-US" altLang="ko-KR" sz="12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398DCFB-2815-DEB5-FCB9-3FF370396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125808"/>
              </p:ext>
            </p:extLst>
          </p:nvPr>
        </p:nvGraphicFramePr>
        <p:xfrm>
          <a:off x="399773" y="2177143"/>
          <a:ext cx="5696227" cy="4279861"/>
        </p:xfrm>
        <a:graphic>
          <a:graphicData uri="http://schemas.openxmlformats.org/drawingml/2006/table">
            <a:tbl>
              <a:tblPr/>
              <a:tblGrid>
                <a:gridCol w="1175027">
                  <a:extLst>
                    <a:ext uri="{9D8B030D-6E8A-4147-A177-3AD203B41FA5}">
                      <a16:colId xmlns:a16="http://schemas.microsoft.com/office/drawing/2014/main" val="1443139784"/>
                    </a:ext>
                  </a:extLst>
                </a:gridCol>
                <a:gridCol w="1614757">
                  <a:extLst>
                    <a:ext uri="{9D8B030D-6E8A-4147-A177-3AD203B41FA5}">
                      <a16:colId xmlns:a16="http://schemas.microsoft.com/office/drawing/2014/main" val="1723316180"/>
                    </a:ext>
                  </a:extLst>
                </a:gridCol>
                <a:gridCol w="1482386">
                  <a:extLst>
                    <a:ext uri="{9D8B030D-6E8A-4147-A177-3AD203B41FA5}">
                      <a16:colId xmlns:a16="http://schemas.microsoft.com/office/drawing/2014/main" val="698642023"/>
                    </a:ext>
                  </a:extLst>
                </a:gridCol>
                <a:gridCol w="1424057">
                  <a:extLst>
                    <a:ext uri="{9D8B030D-6E8A-4147-A177-3AD203B41FA5}">
                      <a16:colId xmlns:a16="http://schemas.microsoft.com/office/drawing/2014/main" val="16367547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분류</a:t>
                      </a:r>
                      <a:endParaRPr lang="ko-KR" altLang="en-US" sz="105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80580" marR="80580" marT="40290" marB="4029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초급</a:t>
                      </a:r>
                      <a:endParaRPr lang="en-US" altLang="ko-KR" sz="105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중급</a:t>
                      </a:r>
                      <a:endParaRPr lang="en-US" altLang="ko-KR" sz="105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고급</a:t>
                      </a:r>
                      <a:endParaRPr lang="en-US" altLang="ko-KR" sz="1050" b="1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956476"/>
                  </a:ext>
                </a:extLst>
              </a:tr>
              <a:tr h="347112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프로그래밍 기초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80580" marR="80580" marT="40290" marB="4029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비전공자를 위한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IT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부트캠프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칼퇴하는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일잘러의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비밀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ChatGPT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업무자동화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실습으로 이해하는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프로그래밍 첫걸음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JAVA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741478"/>
                  </a:ext>
                </a:extLst>
              </a:tr>
              <a:tr h="3471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누구나 쉽게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!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파이썬 베이직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Start Programming!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파이썬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NumPy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와 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Pandas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이해하기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865154"/>
                  </a:ext>
                </a:extLst>
              </a:tr>
              <a:tr h="2643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컴퓨터구조 개념완성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처음 배우는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리액트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69630"/>
                  </a:ext>
                </a:extLst>
              </a:tr>
              <a:tr h="26905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데이터</a:t>
                      </a:r>
                      <a:r>
                        <a:rPr lang="en-US" altLang="ko-KR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en-US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API </a:t>
                      </a:r>
                      <a:r>
                        <a:rPr lang="ko-KR" altLang="en-US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개발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80580" marR="80580" marT="40290" marB="4029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파이썬으로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배우는 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분석 기초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집</a:t>
                      </a: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분석 인력 과정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집</a:t>
                      </a: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데이터분석 심화 과정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316364"/>
                  </a:ext>
                </a:extLst>
              </a:tr>
              <a:tr h="26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빅데이터 개발자를 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위한 아파치 스파크 프로그래밍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223918"/>
                  </a:ext>
                </a:extLst>
              </a:tr>
              <a:tr h="2643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468274"/>
                  </a:ext>
                </a:extLst>
              </a:tr>
              <a:tr h="347112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프론트</a:t>
                      </a:r>
                      <a:r>
                        <a:rPr lang="en-US" altLang="ko-KR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000" b="1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백엔드</a:t>
                      </a:r>
                      <a:r>
                        <a:rPr lang="ko-KR" altLang="en-US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    개발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80580" marR="80580" marT="40290" marB="4029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집</a:t>
                      </a: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기본 프로그래밍 개발 과정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생활 밀착형 객체지향 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자바 프로그래밍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집</a:t>
                      </a: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Web/App Application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208205"/>
                  </a:ext>
                </a:extLst>
              </a:tr>
              <a:tr h="2643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집</a:t>
                      </a: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심화 프로그래밍 개발 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994593"/>
                  </a:ext>
                </a:extLst>
              </a:tr>
              <a:tr h="2643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127028"/>
                  </a:ext>
                </a:extLst>
              </a:tr>
              <a:tr h="261941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클라우드</a:t>
                      </a:r>
                      <a:r>
                        <a:rPr lang="en-US" altLang="ko-KR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·AI </a:t>
                      </a:r>
                      <a:r>
                        <a:rPr lang="ko-KR" altLang="en-US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개발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80580" marR="80580" marT="40290" marB="4029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뜬구름 잡지 말고 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클라우드 제대로 이해하기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클라우드 서비스 기초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전문가에게 배우는 나의 첫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AWS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884638"/>
                  </a:ext>
                </a:extLst>
              </a:tr>
              <a:tr h="2643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집</a:t>
                      </a: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AI/AWS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기초 과정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04204"/>
                  </a:ext>
                </a:extLst>
              </a:tr>
              <a:tr h="2643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473888"/>
                  </a:ext>
                </a:extLst>
              </a:tr>
              <a:tr h="347112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프로젝트</a:t>
                      </a:r>
                      <a:endParaRPr lang="en-US" altLang="ko-KR" sz="10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MVP </a:t>
                      </a:r>
                      <a:r>
                        <a:rPr lang="ko-KR" altLang="en-US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개발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80580" marR="80580" marT="40290" marB="4029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처음 배우는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챗봇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ChatBot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커서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로 시작하는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바이브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코딩과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MCP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Langchain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&amp; </a:t>
                      </a:r>
                    </a:p>
                    <a:p>
                      <a:pPr marL="0" indent="0" algn="ctr" defTabSz="914400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RAG: AI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챗봇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완전정복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551784"/>
                  </a:ext>
                </a:extLst>
              </a:tr>
              <a:tr h="2643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집</a:t>
                      </a: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AI/AWS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프로젝트 과정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485538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01EE2DC-0AB2-3F3F-599D-28A87E736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765364"/>
              </p:ext>
            </p:extLst>
          </p:nvPr>
        </p:nvGraphicFramePr>
        <p:xfrm>
          <a:off x="6254749" y="2126309"/>
          <a:ext cx="5581680" cy="4319453"/>
        </p:xfrm>
        <a:graphic>
          <a:graphicData uri="http://schemas.openxmlformats.org/drawingml/2006/table">
            <a:tbl>
              <a:tblPr/>
              <a:tblGrid>
                <a:gridCol w="1305778">
                  <a:extLst>
                    <a:ext uri="{9D8B030D-6E8A-4147-A177-3AD203B41FA5}">
                      <a16:colId xmlns:a16="http://schemas.microsoft.com/office/drawing/2014/main" val="554468517"/>
                    </a:ext>
                  </a:extLst>
                </a:gridCol>
                <a:gridCol w="1485062">
                  <a:extLst>
                    <a:ext uri="{9D8B030D-6E8A-4147-A177-3AD203B41FA5}">
                      <a16:colId xmlns:a16="http://schemas.microsoft.com/office/drawing/2014/main" val="1377144501"/>
                    </a:ext>
                  </a:extLst>
                </a:gridCol>
                <a:gridCol w="1395420">
                  <a:extLst>
                    <a:ext uri="{9D8B030D-6E8A-4147-A177-3AD203B41FA5}">
                      <a16:colId xmlns:a16="http://schemas.microsoft.com/office/drawing/2014/main" val="3833063307"/>
                    </a:ext>
                  </a:extLst>
                </a:gridCol>
                <a:gridCol w="1395420">
                  <a:extLst>
                    <a:ext uri="{9D8B030D-6E8A-4147-A177-3AD203B41FA5}">
                      <a16:colId xmlns:a16="http://schemas.microsoft.com/office/drawing/2014/main" val="639847090"/>
                    </a:ext>
                  </a:extLst>
                </a:gridCol>
              </a:tblGrid>
              <a:tr h="237828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ko-KR" altLang="en-US" sz="105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분류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ko-KR" altLang="en-US" sz="105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초급</a:t>
                      </a:r>
                      <a:endParaRPr lang="en-US" altLang="ko-KR" sz="1050" b="1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ko-KR" altLang="en-US" sz="105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중급</a:t>
                      </a:r>
                      <a:endParaRPr lang="en-US" altLang="ko-KR" sz="1050" b="1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ko-KR" altLang="en-US" sz="105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고급 </a:t>
                      </a:r>
                      <a:endParaRPr lang="en-US" altLang="ko-KR" sz="1050" b="1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110319"/>
                  </a:ext>
                </a:extLst>
              </a:tr>
              <a:tr h="307797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생성형 </a:t>
                      </a:r>
                      <a:r>
                        <a:rPr lang="en-US" altLang="ko-KR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</a:t>
                      </a:r>
                      <a:endParaRPr lang="ko-KR" altLang="en-US" sz="10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일잘러가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알아야 할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비즈니스 이야기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200%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활용하는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챗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GPT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질문법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386169"/>
                  </a:ext>
                </a:extLst>
              </a:tr>
              <a:tr h="3367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AGI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시대를 준비하기 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위한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활용 미래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예측법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224162"/>
                  </a:ext>
                </a:extLst>
              </a:tr>
              <a:tr h="4813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GenAI in Action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직무실습과정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금융편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(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최종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en-US" altLang="ko-KR" sz="800" b="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AIder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College] AI </a:t>
                      </a:r>
                    </a:p>
                    <a:p>
                      <a:pPr latinLnBrk="1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학습모델을 알면 모든 게 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보인다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185341"/>
                  </a:ext>
                </a:extLst>
              </a:tr>
              <a:tr h="30779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디지털 기획</a:t>
                      </a:r>
                      <a:r>
                        <a:rPr lang="en-US" altLang="ko-KR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UX·UI</a:t>
                      </a:r>
                      <a:endParaRPr lang="ko-KR" altLang="en-US" sz="10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친절한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엄쌤의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망고보드 수업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집</a:t>
                      </a: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UX·UI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과정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343467"/>
                  </a:ext>
                </a:extLst>
              </a:tr>
              <a:tr h="3367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kern="1200" dirty="0">
                          <a:solidFill>
                            <a:srgbClr val="1835BC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집</a:t>
                      </a: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기획 기본 학습 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실습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lang="ko-KR" altLang="en-US" dirty="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집</a:t>
                      </a: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기획 심화 학습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실습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197981"/>
                  </a:ext>
                </a:extLst>
              </a:tr>
              <a:tr h="307797">
                <a:tc rowSpan="3"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서비스 기획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일잘러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기획자에게 배우는 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서비스 기획 입문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조직에서 인정받는 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필살기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!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기획보고의 기술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[PM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아카이브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Agile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프로젝트관리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6105"/>
                  </a:ext>
                </a:extLst>
              </a:tr>
              <a:tr h="3077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집</a:t>
                      </a: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주니어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PO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양성 과정</a:t>
                      </a:r>
                      <a:endParaRPr lang="ko-KR" altLang="en-US" dirty="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집</a:t>
                      </a: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금융 플랫폼 운영 전문가 양성 과정</a:t>
                      </a:r>
                      <a:endParaRPr lang="ko-KR" altLang="en-US" dirty="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059998"/>
                  </a:ext>
                </a:extLst>
              </a:tr>
              <a:tr h="3367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집</a:t>
                      </a: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서비스 기획 과정</a:t>
                      </a:r>
                      <a:endParaRPr lang="ko-KR" altLang="en-US" dirty="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775777"/>
                  </a:ext>
                </a:extLst>
              </a:tr>
              <a:tr h="307797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디지털 마케팅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[Marketing Insight]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지금 당장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!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마케팅 완전 실무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얼레벌레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배워서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한땀한땀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써먹는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광고콘텐츠제작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875064"/>
                  </a:ext>
                </a:extLst>
              </a:tr>
              <a:tr h="3367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집</a:t>
                      </a:r>
                      <a:r>
                        <a:rPr lang="en-US" altLang="ko-KR" sz="800" b="1" kern="1200" dirty="0">
                          <a:solidFill>
                            <a:srgbClr val="0000FF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마케팅 과정</a:t>
                      </a:r>
                      <a:endParaRPr lang="ko-KR" altLang="en-US" dirty="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905543"/>
                  </a:ext>
                </a:extLst>
              </a:tr>
              <a:tr h="5197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데이터 분석 및 </a:t>
                      </a:r>
                      <a:endParaRPr lang="en-US" altLang="ko-KR" sz="10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시각화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구글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애널리틱스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GA4 </a:t>
                      </a:r>
                    </a:p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분석 입문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딥스킬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리터러시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필수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16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 역량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081582"/>
                  </a:ext>
                </a:extLst>
              </a:tr>
            </a:tbl>
          </a:graphicData>
        </a:graphic>
      </p:graphicFrame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C53D7AF-EDD2-15AF-69F2-AEADFE5716E1}"/>
              </a:ext>
            </a:extLst>
          </p:cNvPr>
          <p:cNvSpPr/>
          <p:nvPr/>
        </p:nvSpPr>
        <p:spPr>
          <a:xfrm>
            <a:off x="7950498" y="1705441"/>
            <a:ext cx="2185960" cy="354203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kern="0" spc="-9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DT</a:t>
            </a:r>
            <a:r>
              <a:rPr lang="ko-KR" altLang="en-US" sz="1600" kern="0" spc="-9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기획 과정</a:t>
            </a:r>
            <a:endParaRPr lang="en-US" altLang="ko-KR" sz="1600" kern="0" spc="-9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D9DAE6E-A2B1-5E8E-860F-39212EFFBBE3}"/>
              </a:ext>
            </a:extLst>
          </p:cNvPr>
          <p:cNvSpPr/>
          <p:nvPr/>
        </p:nvSpPr>
        <p:spPr>
          <a:xfrm>
            <a:off x="2133641" y="1714578"/>
            <a:ext cx="2185960" cy="354203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kern="0" spc="-9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DT</a:t>
            </a:r>
            <a:r>
              <a:rPr lang="ko-KR" altLang="en-US" sz="1600" kern="0" spc="-9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개발 과정</a:t>
            </a:r>
            <a:endParaRPr lang="en-US" altLang="ko-KR" sz="1600" kern="0" spc="-9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219727-7F33-4F81-6C20-6AAE4F3920CA}"/>
              </a:ext>
            </a:extLst>
          </p:cNvPr>
          <p:cNvSpPr txBox="1"/>
          <p:nvPr/>
        </p:nvSpPr>
        <p:spPr>
          <a:xfrm>
            <a:off x="399773" y="1650019"/>
            <a:ext cx="13833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kern="1200" dirty="0">
                <a:solidFill>
                  <a:srgbClr val="0000FF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[</a:t>
            </a:r>
            <a:r>
              <a:rPr lang="ko-KR" altLang="en-US" sz="1100" b="1" kern="1200" dirty="0">
                <a:solidFill>
                  <a:srgbClr val="0000FF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집</a:t>
            </a:r>
            <a:r>
              <a:rPr lang="en-US" altLang="ko-KR" sz="1100" b="1" kern="1200" dirty="0">
                <a:solidFill>
                  <a:srgbClr val="0000FF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] </a:t>
            </a:r>
            <a:r>
              <a:rPr lang="ko-KR" altLang="en-US" sz="1100" b="1" kern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집합 연수</a:t>
            </a:r>
            <a:endParaRPr lang="ko-KR" alt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10C962-C148-D6A1-CFDC-24EE814EDA31}"/>
              </a:ext>
            </a:extLst>
          </p:cNvPr>
          <p:cNvSpPr txBox="1"/>
          <p:nvPr/>
        </p:nvSpPr>
        <p:spPr>
          <a:xfrm>
            <a:off x="399773" y="1861352"/>
            <a:ext cx="13833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kern="1200" dirty="0">
                <a:solidFill>
                  <a:srgbClr val="FF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[</a:t>
            </a:r>
            <a:r>
              <a:rPr lang="ko-KR" altLang="en-US" sz="1100" b="1" kern="1200" dirty="0">
                <a:solidFill>
                  <a:srgbClr val="FF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온</a:t>
            </a:r>
            <a:r>
              <a:rPr lang="en-US" altLang="ko-KR" sz="1100" b="1" kern="1200" dirty="0">
                <a:solidFill>
                  <a:srgbClr val="FF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] </a:t>
            </a:r>
            <a:r>
              <a:rPr lang="ko-KR" altLang="en-US" sz="1100" b="1" kern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온라인 연수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70906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93705-658B-7625-D978-F9B923ACB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1F96EB-8DDF-04F3-8220-CA1B2BDBF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학습 개요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7C96D66-52B4-E552-5565-5010B1AB3863}"/>
              </a:ext>
            </a:extLst>
          </p:cNvPr>
          <p:cNvSpPr/>
          <p:nvPr/>
        </p:nvSpPr>
        <p:spPr>
          <a:xfrm>
            <a:off x="0" y="843965"/>
            <a:ext cx="12192000" cy="3495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76000" rtlCol="0" anchor="ctr"/>
          <a:lstStyle/>
          <a:p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과정별 학습 로드맵 및 난이도 구분은 아래와 같습니다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.</a:t>
            </a:r>
            <a:endParaRPr lang="en-US" altLang="ko-KR" sz="12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1F8726CA-3432-48ED-8B33-7438904CAADD}"/>
              </a:ext>
            </a:extLst>
          </p:cNvPr>
          <p:cNvSpPr/>
          <p:nvPr/>
        </p:nvSpPr>
        <p:spPr>
          <a:xfrm>
            <a:off x="0" y="1343290"/>
            <a:ext cx="12192000" cy="5514709"/>
          </a:xfrm>
          <a:prstGeom prst="rect">
            <a:avLst/>
          </a:prstGeom>
          <a:gradFill flip="none" rotWithShape="1">
            <a:gsLst>
              <a:gs pos="0">
                <a:srgbClr val="E0EDFC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DDC76745-570A-5177-784E-7C5C4F1C7E23}"/>
              </a:ext>
            </a:extLst>
          </p:cNvPr>
          <p:cNvSpPr/>
          <p:nvPr/>
        </p:nvSpPr>
        <p:spPr>
          <a:xfrm>
            <a:off x="1845733" y="4001816"/>
            <a:ext cx="9866842" cy="2604581"/>
          </a:xfrm>
          <a:prstGeom prst="rect">
            <a:avLst/>
          </a:prstGeom>
          <a:solidFill>
            <a:srgbClr val="D5E0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95692188-C33E-2A63-C1EF-AE946B984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424142"/>
              </p:ext>
            </p:extLst>
          </p:nvPr>
        </p:nvGraphicFramePr>
        <p:xfrm>
          <a:off x="1845733" y="1523855"/>
          <a:ext cx="9866844" cy="508254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466711">
                  <a:extLst>
                    <a:ext uri="{9D8B030D-6E8A-4147-A177-3AD203B41FA5}">
                      <a16:colId xmlns:a16="http://schemas.microsoft.com/office/drawing/2014/main" val="509334984"/>
                    </a:ext>
                  </a:extLst>
                </a:gridCol>
                <a:gridCol w="2466711">
                  <a:extLst>
                    <a:ext uri="{9D8B030D-6E8A-4147-A177-3AD203B41FA5}">
                      <a16:colId xmlns:a16="http://schemas.microsoft.com/office/drawing/2014/main" val="3784875800"/>
                    </a:ext>
                  </a:extLst>
                </a:gridCol>
                <a:gridCol w="2466711">
                  <a:extLst>
                    <a:ext uri="{9D8B030D-6E8A-4147-A177-3AD203B41FA5}">
                      <a16:colId xmlns:a16="http://schemas.microsoft.com/office/drawing/2014/main" val="1290994513"/>
                    </a:ext>
                  </a:extLst>
                </a:gridCol>
                <a:gridCol w="2466711">
                  <a:extLst>
                    <a:ext uri="{9D8B030D-6E8A-4147-A177-3AD203B41FA5}">
                      <a16:colId xmlns:a16="http://schemas.microsoft.com/office/drawing/2014/main" val="310546428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0F2E84"/>
                          </a:solidFill>
                          <a:latin typeface="나눔스퀘어 네오 Heavy" panose="00000A00000000000000" pitchFamily="2" charset="-127"/>
                          <a:ea typeface="나눔스퀘어 네오 Heavy" panose="00000A00000000000000" pitchFamily="2" charset="-127"/>
                        </a:rPr>
                        <a:t>데이터분석</a:t>
                      </a:r>
                      <a:r>
                        <a:rPr lang="en-US" altLang="ko-KR" sz="1400" b="0" dirty="0">
                          <a:solidFill>
                            <a:srgbClr val="0F2E84"/>
                          </a:solidFill>
                          <a:latin typeface="나눔스퀘어 네오 Heavy" panose="00000A00000000000000" pitchFamily="2" charset="-127"/>
                          <a:ea typeface="나눔스퀘어 네오 Heavy" panose="00000A00000000000000" pitchFamily="2" charset="-127"/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0F2E84"/>
                          </a:solidFill>
                          <a:latin typeface="나눔스퀘어 네오 Heavy" panose="00000A00000000000000" pitchFamily="2" charset="-127"/>
                          <a:ea typeface="나눔스퀘어 네오 Heavy" panose="00000A00000000000000" pitchFamily="2" charset="-127"/>
                        </a:rPr>
                        <a:t>시각화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0F2E84"/>
                          </a:solidFill>
                          <a:latin typeface="나눔스퀘어 네오 Heavy" panose="00000A00000000000000" pitchFamily="2" charset="-127"/>
                          <a:ea typeface="나눔스퀘어 네오 Heavy" panose="00000A00000000000000" pitchFamily="2" charset="-127"/>
                        </a:rPr>
                        <a:t>업무 자동화 </a:t>
                      </a:r>
                      <a:r>
                        <a:rPr lang="en-US" altLang="ko-KR" sz="1400" b="0" dirty="0">
                          <a:solidFill>
                            <a:srgbClr val="0F2E84"/>
                          </a:solidFill>
                          <a:latin typeface="나눔스퀘어 네오 Heavy" panose="00000A00000000000000" pitchFamily="2" charset="-127"/>
                          <a:ea typeface="나눔스퀘어 네오 Heavy" panose="00000A00000000000000" pitchFamily="2" charset="-127"/>
                        </a:rPr>
                        <a:t>(RPA)</a:t>
                      </a:r>
                      <a:endParaRPr lang="ko-KR" altLang="en-US" sz="1400" b="0" dirty="0">
                        <a:solidFill>
                          <a:srgbClr val="0F2E84"/>
                        </a:solidFill>
                        <a:latin typeface="나눔스퀘어 네오 Heavy" panose="00000A00000000000000" pitchFamily="2" charset="-127"/>
                        <a:ea typeface="나눔스퀘어 네오 Heavy" panose="00000A00000000000000" pitchFamily="2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0F2E84"/>
                          </a:solidFill>
                          <a:latin typeface="나눔스퀘어 네오 Heavy" panose="00000A00000000000000" pitchFamily="2" charset="-127"/>
                          <a:ea typeface="나눔스퀘어 네오 Heavy" panose="00000A00000000000000" pitchFamily="2" charset="-127"/>
                        </a:rPr>
                        <a:t>서비스 기획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0F2E84"/>
                          </a:solidFill>
                          <a:latin typeface="나눔스퀘어 네오 Heavy" panose="00000A00000000000000" pitchFamily="2" charset="-127"/>
                          <a:ea typeface="나눔스퀘어 네오 Heavy" panose="00000A00000000000000" pitchFamily="2" charset="-127"/>
                        </a:rPr>
                        <a:t>IT </a:t>
                      </a:r>
                      <a:r>
                        <a:rPr lang="ko-KR" altLang="en-US" sz="1400" b="0" dirty="0">
                          <a:solidFill>
                            <a:srgbClr val="0F2E84"/>
                          </a:solidFill>
                          <a:latin typeface="나눔스퀘어 네오 Heavy" panose="00000A00000000000000" pitchFamily="2" charset="-127"/>
                          <a:ea typeface="나눔스퀘어 네오 Heavy" panose="00000A00000000000000" pitchFamily="2" charset="-127"/>
                        </a:rPr>
                        <a:t>개발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695269"/>
                  </a:ext>
                </a:extLst>
              </a:tr>
              <a:tr h="118368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8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28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8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28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8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28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476896"/>
                  </a:ext>
                </a:extLst>
              </a:tr>
              <a:tr h="891888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8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28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8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28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8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28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688460"/>
                  </a:ext>
                </a:extLst>
              </a:tr>
              <a:tr h="16920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8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28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8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28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8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28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704778"/>
                  </a:ext>
                </a:extLst>
              </a:tr>
              <a:tr h="918974"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8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에스코어 드림 6 Bold" panose="020B0703030302020204" pitchFamily="34" charset="-127"/>
                        <a:ea typeface="에스코어 드림 6 Bold" panose="020B07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9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9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에스코어 드림 6 Bold" panose="020B0703030302020204" pitchFamily="34" charset="-127"/>
                        <a:ea typeface="에스코어 드림 6 Bold" panose="020B07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9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9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28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707265"/>
                  </a:ext>
                </a:extLst>
              </a:tr>
            </a:tbl>
          </a:graphicData>
        </a:graphic>
      </p:graphicFrame>
      <p:grpSp>
        <p:nvGrpSpPr>
          <p:cNvPr id="68" name="그룹 67">
            <a:extLst>
              <a:ext uri="{FF2B5EF4-FFF2-40B4-BE49-F238E27FC236}">
                <a16:creationId xmlns:a16="http://schemas.microsoft.com/office/drawing/2014/main" id="{BF70AC68-96E1-6FCD-BA3F-97E03BD8275C}"/>
              </a:ext>
            </a:extLst>
          </p:cNvPr>
          <p:cNvGrpSpPr/>
          <p:nvPr/>
        </p:nvGrpSpPr>
        <p:grpSpPr>
          <a:xfrm>
            <a:off x="1975816" y="3234722"/>
            <a:ext cx="9596345" cy="663424"/>
            <a:chOff x="1975816" y="2661905"/>
            <a:chExt cx="9596345" cy="663424"/>
          </a:xfrm>
          <a:solidFill>
            <a:srgbClr val="0791F8"/>
          </a:solidFill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1D33CBB9-2E34-C027-8B17-746B4257316B}"/>
                </a:ext>
              </a:extLst>
            </p:cNvPr>
            <p:cNvSpPr/>
            <p:nvPr/>
          </p:nvSpPr>
          <p:spPr>
            <a:xfrm>
              <a:off x="4458360" y="2661905"/>
              <a:ext cx="2174400" cy="2988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rgbClr val="475FA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생성형 </a:t>
              </a:r>
              <a:r>
                <a:rPr lang="en-US" altLang="ko-KR" sz="800" dirty="0">
                  <a:solidFill>
                    <a:srgbClr val="475FA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AI X VBA </a:t>
              </a:r>
              <a:r>
                <a:rPr lang="ko-KR" altLang="en-US" sz="800" dirty="0">
                  <a:solidFill>
                    <a:srgbClr val="475FA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자동화</a:t>
              </a:r>
              <a:endParaRPr lang="en-US" altLang="ko-KR" sz="800" dirty="0">
                <a:solidFill>
                  <a:srgbClr val="475FA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1B6D40A7-656E-7AB7-FD43-3E93089CB2F3}"/>
                </a:ext>
              </a:extLst>
            </p:cNvPr>
            <p:cNvSpPr/>
            <p:nvPr/>
          </p:nvSpPr>
          <p:spPr>
            <a:xfrm>
              <a:off x="1975816" y="2661905"/>
              <a:ext cx="2174400" cy="298800"/>
            </a:xfrm>
            <a:prstGeom prst="round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파이썬 데이터분석 </a:t>
              </a:r>
              <a:r>
                <a:rPr lang="en-US" altLang="ko-KR" sz="8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/ </a:t>
              </a:r>
              <a:r>
                <a:rPr lang="ko-KR" altLang="en-US" sz="8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시각화</a:t>
              </a:r>
            </a:p>
          </p:txBody>
        </p:sp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26318E17-2C05-8B51-2F90-E1183234A7CA}"/>
                </a:ext>
              </a:extLst>
            </p:cNvPr>
            <p:cNvSpPr/>
            <p:nvPr/>
          </p:nvSpPr>
          <p:spPr>
            <a:xfrm>
              <a:off x="1975816" y="3026529"/>
              <a:ext cx="4656944" cy="298800"/>
            </a:xfrm>
            <a:prstGeom prst="roundRect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rgbClr val="475FA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생성형 </a:t>
              </a:r>
              <a:r>
                <a:rPr lang="en-US" altLang="ko-KR" sz="800" b="1" dirty="0">
                  <a:solidFill>
                    <a:srgbClr val="475FA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AI</a:t>
              </a:r>
              <a:r>
                <a:rPr lang="ko-KR" altLang="en-US" sz="800" b="1" dirty="0">
                  <a:solidFill>
                    <a:srgbClr val="475FA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 </a:t>
              </a:r>
              <a:r>
                <a:rPr lang="en-US" altLang="ko-KR" sz="800" b="1" dirty="0">
                  <a:solidFill>
                    <a:srgbClr val="475FA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X</a:t>
              </a:r>
              <a:r>
                <a:rPr lang="ko-KR" altLang="en-US" sz="800" b="1" dirty="0">
                  <a:solidFill>
                    <a:srgbClr val="475FA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 보고서 작성</a:t>
              </a:r>
            </a:p>
          </p:txBody>
        </p: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3E43DAAD-D093-9A84-46A4-CDEA59E32753}"/>
                </a:ext>
              </a:extLst>
            </p:cNvPr>
            <p:cNvSpPr/>
            <p:nvPr/>
          </p:nvSpPr>
          <p:spPr>
            <a:xfrm>
              <a:off x="6915217" y="3026529"/>
              <a:ext cx="2174400" cy="2988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rgbClr val="475FA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생성형 </a:t>
              </a:r>
              <a:r>
                <a:rPr lang="en-US" altLang="ko-KR" sz="800" dirty="0">
                  <a:solidFill>
                    <a:srgbClr val="475FA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AI </a:t>
              </a:r>
              <a:r>
                <a:rPr lang="ko-KR" altLang="en-US" sz="800" dirty="0">
                  <a:solidFill>
                    <a:srgbClr val="475FA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활용 인터페이스 설계 </a:t>
              </a:r>
              <a:r>
                <a:rPr lang="en-US" altLang="ko-KR" sz="800" dirty="0">
                  <a:solidFill>
                    <a:srgbClr val="475FA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/ </a:t>
              </a:r>
              <a:r>
                <a:rPr lang="ko-KR" altLang="en-US" sz="800" dirty="0">
                  <a:solidFill>
                    <a:srgbClr val="475FA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테스트</a:t>
              </a:r>
              <a:endParaRPr lang="en-US" altLang="ko-KR" sz="800" dirty="0">
                <a:solidFill>
                  <a:srgbClr val="475FA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800C6BD5-0689-AA72-CD01-D995E079024A}"/>
                </a:ext>
              </a:extLst>
            </p:cNvPr>
            <p:cNvSpPr/>
            <p:nvPr/>
          </p:nvSpPr>
          <p:spPr>
            <a:xfrm>
              <a:off x="6915217" y="2661905"/>
              <a:ext cx="2174400" cy="298800"/>
            </a:xfrm>
            <a:prstGeom prst="round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생성형 </a:t>
              </a:r>
              <a:r>
                <a:rPr lang="en-US" altLang="ko-KR" sz="8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AI </a:t>
              </a:r>
              <a:r>
                <a:rPr lang="ko-KR" altLang="en-US" sz="8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활용 사용자 행동 분석</a:t>
              </a:r>
            </a:p>
          </p:txBody>
        </p:sp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1827D007-82A2-9F19-3C69-D0E66626BDE8}"/>
                </a:ext>
              </a:extLst>
            </p:cNvPr>
            <p:cNvSpPr/>
            <p:nvPr/>
          </p:nvSpPr>
          <p:spPr>
            <a:xfrm>
              <a:off x="9397761" y="3026529"/>
              <a:ext cx="2174400" cy="298800"/>
            </a:xfrm>
            <a:prstGeom prst="round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클라우드 서비스 활용</a:t>
              </a:r>
              <a:endParaRPr lang="en-US" altLang="ko-KR" sz="8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6E1B3E4C-A98E-E453-319D-2B8579D1BDE8}"/>
                </a:ext>
              </a:extLst>
            </p:cNvPr>
            <p:cNvSpPr/>
            <p:nvPr/>
          </p:nvSpPr>
          <p:spPr>
            <a:xfrm>
              <a:off x="9397761" y="2661905"/>
              <a:ext cx="2174400" cy="2988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rgbClr val="475FA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AI </a:t>
              </a:r>
              <a:r>
                <a:rPr lang="ko-KR" altLang="en-US" sz="800" b="1" dirty="0">
                  <a:solidFill>
                    <a:srgbClr val="475FA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모델 개발 기초</a:t>
              </a:r>
            </a:p>
          </p:txBody>
        </p:sp>
      </p:grp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CF3539FB-C9ED-8F7D-D9B4-E20E3B6B9587}"/>
              </a:ext>
            </a:extLst>
          </p:cNvPr>
          <p:cNvSpPr/>
          <p:nvPr/>
        </p:nvSpPr>
        <p:spPr>
          <a:xfrm>
            <a:off x="1975817" y="6166367"/>
            <a:ext cx="7113801" cy="298800"/>
          </a:xfrm>
          <a:prstGeom prst="roundRect">
            <a:avLst/>
          </a:prstGeom>
          <a:solidFill>
            <a:srgbClr val="0791F8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800" dirty="0" err="1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리터러시</a:t>
            </a:r>
            <a:endParaRPr lang="ko-KR" altLang="en-US" sz="8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77EB3011-2A71-595F-DAE1-4F6060890761}"/>
              </a:ext>
            </a:extLst>
          </p:cNvPr>
          <p:cNvSpPr/>
          <p:nvPr/>
        </p:nvSpPr>
        <p:spPr>
          <a:xfrm>
            <a:off x="1975816" y="5804745"/>
            <a:ext cx="7113801" cy="298800"/>
          </a:xfrm>
          <a:prstGeom prst="round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</a:t>
            </a:r>
            <a:r>
              <a:rPr lang="ko-KR" altLang="en-US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비즈니스 트렌드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CFEF4234-77EF-A20C-8DC1-CEC30D93B525}"/>
              </a:ext>
            </a:extLst>
          </p:cNvPr>
          <p:cNvSpPr/>
          <p:nvPr/>
        </p:nvSpPr>
        <p:spPr>
          <a:xfrm>
            <a:off x="9397761" y="5804745"/>
            <a:ext cx="2174400" cy="298800"/>
          </a:xfrm>
          <a:prstGeom prst="round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프로그래밍 기초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690B6828-A511-36E2-574E-9A8441AF93DA}"/>
              </a:ext>
            </a:extLst>
          </p:cNvPr>
          <p:cNvSpPr/>
          <p:nvPr/>
        </p:nvSpPr>
        <p:spPr>
          <a:xfrm>
            <a:off x="9397761" y="6166925"/>
            <a:ext cx="2174400" cy="298800"/>
          </a:xfrm>
          <a:prstGeom prst="round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Git </a:t>
            </a:r>
            <a:r>
              <a:rPr lang="ko-KR" altLang="en-US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사용법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84010577-EB7B-47C1-71C9-87C4B96927E7}"/>
              </a:ext>
            </a:extLst>
          </p:cNvPr>
          <p:cNvGrpSpPr/>
          <p:nvPr/>
        </p:nvGrpSpPr>
        <p:grpSpPr>
          <a:xfrm>
            <a:off x="1975816" y="4104516"/>
            <a:ext cx="9596345" cy="1410193"/>
            <a:chOff x="1975816" y="3531699"/>
            <a:chExt cx="9596345" cy="1410193"/>
          </a:xfrm>
          <a:solidFill>
            <a:schemeClr val="bg1"/>
          </a:solidFill>
        </p:grpSpPr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0AC5EFCA-2A5F-635A-3B33-AB0D6A941660}"/>
                </a:ext>
              </a:extLst>
            </p:cNvPr>
            <p:cNvSpPr/>
            <p:nvPr/>
          </p:nvSpPr>
          <p:spPr>
            <a:xfrm>
              <a:off x="9397761" y="3538974"/>
              <a:ext cx="2174400" cy="298800"/>
            </a:xfrm>
            <a:prstGeom prst="roundRect">
              <a:avLst/>
            </a:prstGeom>
            <a:grp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rgbClr val="0F2E84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생성형 </a:t>
              </a:r>
              <a:r>
                <a:rPr lang="en-US" altLang="ko-KR" sz="800" dirty="0">
                  <a:solidFill>
                    <a:srgbClr val="0F2E84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AI X API </a:t>
              </a:r>
              <a:r>
                <a:rPr lang="ko-KR" altLang="en-US" sz="800" dirty="0">
                  <a:solidFill>
                    <a:srgbClr val="0F2E84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활용 서비스 개발</a:t>
              </a:r>
              <a:endParaRPr lang="en-US" altLang="ko-KR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C4C8CA90-E3DE-1524-A5DB-64C22663EFAF}"/>
                </a:ext>
              </a:extLst>
            </p:cNvPr>
            <p:cNvSpPr/>
            <p:nvPr/>
          </p:nvSpPr>
          <p:spPr>
            <a:xfrm>
              <a:off x="9397761" y="3907013"/>
              <a:ext cx="2174400" cy="298800"/>
            </a:xfrm>
            <a:prstGeom prst="roundRect">
              <a:avLst/>
            </a:prstGeom>
            <a:solidFill>
              <a:srgbClr val="0791F8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생성형 </a:t>
              </a:r>
              <a:r>
                <a:rPr lang="en-US" altLang="ko-KR" sz="8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AI </a:t>
              </a:r>
              <a:r>
                <a:rPr lang="ko-KR" altLang="en-US" sz="8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개발 활용</a:t>
              </a:r>
              <a:endParaRPr lang="en-US" altLang="ko-KR" sz="8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26" name="사각형: 둥근 모서리 125">
              <a:extLst>
                <a:ext uri="{FF2B5EF4-FFF2-40B4-BE49-F238E27FC236}">
                  <a16:creationId xmlns:a16="http://schemas.microsoft.com/office/drawing/2014/main" id="{215B138D-AC66-A44E-939A-D5D5A0A1CF39}"/>
                </a:ext>
              </a:extLst>
            </p:cNvPr>
            <p:cNvSpPr/>
            <p:nvPr/>
          </p:nvSpPr>
          <p:spPr>
            <a:xfrm>
              <a:off x="1975817" y="4276160"/>
              <a:ext cx="4656944" cy="298800"/>
            </a:xfrm>
            <a:prstGeom prst="roundRect">
              <a:avLst/>
            </a:prstGeom>
            <a:solidFill>
              <a:srgbClr val="FFFFFF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rgbClr val="475FA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생성형 </a:t>
              </a:r>
              <a:r>
                <a:rPr lang="en-US" altLang="ko-KR" sz="800" b="1" dirty="0">
                  <a:solidFill>
                    <a:srgbClr val="475FA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AI</a:t>
              </a:r>
              <a:r>
                <a:rPr lang="ko-KR" altLang="en-US" sz="800" b="1" dirty="0">
                  <a:solidFill>
                    <a:srgbClr val="475FA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 </a:t>
              </a:r>
              <a:r>
                <a:rPr lang="en-US" altLang="ko-KR" sz="800" b="1" dirty="0">
                  <a:solidFill>
                    <a:srgbClr val="475FA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X</a:t>
              </a:r>
              <a:r>
                <a:rPr lang="ko-KR" altLang="en-US" sz="800" b="1" dirty="0">
                  <a:solidFill>
                    <a:srgbClr val="475FA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 </a:t>
              </a:r>
              <a:r>
                <a:rPr lang="en-US" altLang="ko-KR" sz="800" b="1" dirty="0">
                  <a:solidFill>
                    <a:srgbClr val="475FA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Excel</a:t>
              </a:r>
              <a:endParaRPr lang="ko-KR" altLang="en-US" sz="800" b="1" dirty="0">
                <a:solidFill>
                  <a:srgbClr val="475FA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endParaRPr>
            </a:p>
          </p:txBody>
        </p:sp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74F202E7-0F5D-FADC-F5D8-598D03677200}"/>
                </a:ext>
              </a:extLst>
            </p:cNvPr>
            <p:cNvSpPr/>
            <p:nvPr/>
          </p:nvSpPr>
          <p:spPr>
            <a:xfrm>
              <a:off x="1975816" y="4643092"/>
              <a:ext cx="9596345" cy="298800"/>
            </a:xfrm>
            <a:prstGeom prst="roundRect">
              <a:avLst/>
            </a:prstGeom>
            <a:solidFill>
              <a:srgbClr val="FFFFFF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rgbClr val="475FA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생성형 </a:t>
              </a:r>
              <a:r>
                <a:rPr lang="en-US" altLang="ko-KR" sz="800" b="1" dirty="0">
                  <a:solidFill>
                    <a:srgbClr val="475FA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AI </a:t>
              </a:r>
              <a:r>
                <a:rPr lang="ko-KR" altLang="en-US" sz="800" b="1" dirty="0">
                  <a:solidFill>
                    <a:srgbClr val="475FA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기초 프롬프트 엔지니어링 </a:t>
              </a:r>
              <a:r>
                <a:rPr lang="en-US" altLang="ko-KR" sz="800" b="1" dirty="0">
                  <a:solidFill>
                    <a:srgbClr val="475FA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(Text, Image, Audio, Productivity) </a:t>
              </a:r>
              <a:r>
                <a:rPr lang="en-US" altLang="ko-KR" sz="800" dirty="0">
                  <a:solidFill>
                    <a:srgbClr val="475FA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/ Copilot </a:t>
              </a:r>
              <a:r>
                <a:rPr lang="ko-KR" altLang="en-US" sz="800" dirty="0">
                  <a:solidFill>
                    <a:srgbClr val="475FA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기초 프롬프트 엔지니어링</a:t>
              </a:r>
            </a:p>
          </p:txBody>
        </p:sp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1558C0AA-9E04-CAF1-6DD5-B37357F29EFD}"/>
                </a:ext>
              </a:extLst>
            </p:cNvPr>
            <p:cNvSpPr/>
            <p:nvPr/>
          </p:nvSpPr>
          <p:spPr>
            <a:xfrm>
              <a:off x="4458360" y="3531699"/>
              <a:ext cx="2174400" cy="298800"/>
            </a:xfrm>
            <a:prstGeom prst="roundRect">
              <a:avLst/>
            </a:prstGeom>
            <a:solidFill>
              <a:srgbClr val="FFFFFF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rgbClr val="475FA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생성형 </a:t>
              </a:r>
              <a:r>
                <a:rPr lang="en-US" altLang="ko-KR" sz="800" b="1" dirty="0">
                  <a:solidFill>
                    <a:srgbClr val="475FA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AI X PPT / Word</a:t>
              </a:r>
              <a:endParaRPr lang="ko-KR" altLang="en-US" sz="800" b="1" dirty="0">
                <a:solidFill>
                  <a:srgbClr val="475FA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endParaRPr>
            </a:p>
          </p:txBody>
        </p:sp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3BFFA967-11A7-CF87-AC50-AA3B246B1B8C}"/>
                </a:ext>
              </a:extLst>
            </p:cNvPr>
            <p:cNvSpPr/>
            <p:nvPr/>
          </p:nvSpPr>
          <p:spPr>
            <a:xfrm>
              <a:off x="1975816" y="3542296"/>
              <a:ext cx="2174400" cy="298800"/>
            </a:xfrm>
            <a:prstGeom prst="roundRect">
              <a:avLst/>
            </a:prstGeom>
            <a:solidFill>
              <a:srgbClr val="0791F8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생성형 </a:t>
              </a:r>
              <a:r>
                <a:rPr lang="en-US" altLang="ko-KR" sz="8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AI </a:t>
              </a:r>
              <a:r>
                <a:rPr lang="ko-KR" altLang="en-US" sz="8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데이터 가공 및 분석</a:t>
              </a:r>
            </a:p>
          </p:txBody>
        </p:sp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5F330C9D-37C9-E010-732C-9713C753F1DE}"/>
                </a:ext>
              </a:extLst>
            </p:cNvPr>
            <p:cNvSpPr/>
            <p:nvPr/>
          </p:nvSpPr>
          <p:spPr>
            <a:xfrm>
              <a:off x="6915217" y="3538974"/>
              <a:ext cx="2174400" cy="298800"/>
            </a:xfrm>
            <a:prstGeom prst="roundRect">
              <a:avLst/>
            </a:prstGeom>
            <a:grp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rgbClr val="0F2E84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생성형 </a:t>
              </a:r>
              <a:r>
                <a:rPr lang="en-US" altLang="ko-KR" sz="800" dirty="0">
                  <a:solidFill>
                    <a:srgbClr val="0F2E84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AI </a:t>
              </a:r>
              <a:r>
                <a:rPr lang="ko-KR" altLang="en-US" sz="800" dirty="0">
                  <a:solidFill>
                    <a:srgbClr val="0F2E84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활용 사용자 피드백 분석</a:t>
              </a:r>
              <a:endParaRPr lang="en-US" altLang="ko-KR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D36D1C49-FD77-4479-524B-4788F03E4393}"/>
                </a:ext>
              </a:extLst>
            </p:cNvPr>
            <p:cNvSpPr/>
            <p:nvPr/>
          </p:nvSpPr>
          <p:spPr>
            <a:xfrm>
              <a:off x="6915217" y="3907013"/>
              <a:ext cx="2174400" cy="298800"/>
            </a:xfrm>
            <a:prstGeom prst="roundRect">
              <a:avLst/>
            </a:prstGeom>
            <a:solidFill>
              <a:srgbClr val="0791F8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생성형 </a:t>
              </a:r>
              <a:r>
                <a:rPr lang="en-US" altLang="ko-KR" sz="8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AI </a:t>
              </a:r>
              <a:r>
                <a:rPr lang="ko-KR" altLang="en-US" sz="8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초기 디자인 아이디어 도출</a:t>
              </a:r>
              <a:endParaRPr lang="en-US" altLang="ko-KR" sz="8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32" name="사각형: 둥근 모서리 131">
              <a:extLst>
                <a:ext uri="{FF2B5EF4-FFF2-40B4-BE49-F238E27FC236}">
                  <a16:creationId xmlns:a16="http://schemas.microsoft.com/office/drawing/2014/main" id="{ABEF0CA7-0DB8-AE37-E9C9-00A7767FB57F}"/>
                </a:ext>
              </a:extLst>
            </p:cNvPr>
            <p:cNvSpPr/>
            <p:nvPr/>
          </p:nvSpPr>
          <p:spPr>
            <a:xfrm>
              <a:off x="4458360" y="3902163"/>
              <a:ext cx="2174400" cy="298800"/>
            </a:xfrm>
            <a:prstGeom prst="roundRect">
              <a:avLst/>
            </a:prstGeom>
            <a:solidFill>
              <a:srgbClr val="FFFFFF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rgbClr val="475FA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생성형 </a:t>
              </a:r>
              <a:r>
                <a:rPr lang="en-US" altLang="ko-KR" sz="800" b="1" dirty="0">
                  <a:solidFill>
                    <a:srgbClr val="475FA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AI </a:t>
              </a:r>
              <a:r>
                <a:rPr lang="ko-KR" altLang="en-US" sz="800" b="1" dirty="0">
                  <a:solidFill>
                    <a:srgbClr val="475FA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활용 문서 및 이메일 자동화</a:t>
              </a:r>
            </a:p>
          </p:txBody>
        </p:sp>
        <p:sp>
          <p:nvSpPr>
            <p:cNvPr id="133" name="사각형: 둥근 모서리 132">
              <a:extLst>
                <a:ext uri="{FF2B5EF4-FFF2-40B4-BE49-F238E27FC236}">
                  <a16:creationId xmlns:a16="http://schemas.microsoft.com/office/drawing/2014/main" id="{7E47C28C-D703-7A45-BCA6-5C6EBA8B7E0C}"/>
                </a:ext>
              </a:extLst>
            </p:cNvPr>
            <p:cNvSpPr/>
            <p:nvPr/>
          </p:nvSpPr>
          <p:spPr>
            <a:xfrm>
              <a:off x="1975816" y="3909228"/>
              <a:ext cx="2174400" cy="298800"/>
            </a:xfrm>
            <a:prstGeom prst="roundRect">
              <a:avLst/>
            </a:prstGeom>
            <a:solidFill>
              <a:srgbClr val="0791F8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생성형 </a:t>
              </a:r>
              <a:r>
                <a:rPr lang="en-US" altLang="ko-KR" sz="8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AI </a:t>
              </a:r>
              <a:r>
                <a:rPr lang="ko-KR" altLang="en-US" sz="8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데이터 시각화</a:t>
              </a:r>
            </a:p>
          </p:txBody>
        </p:sp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77270CF1-E9DD-BCC0-816B-1CA1386EA972}"/>
                </a:ext>
              </a:extLst>
            </p:cNvPr>
            <p:cNvSpPr/>
            <p:nvPr/>
          </p:nvSpPr>
          <p:spPr>
            <a:xfrm>
              <a:off x="6915217" y="4275052"/>
              <a:ext cx="2174400" cy="298800"/>
            </a:xfrm>
            <a:prstGeom prst="roundRect">
              <a:avLst/>
            </a:prstGeom>
            <a:grp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rgbClr val="0F2E84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기초 </a:t>
              </a:r>
              <a:r>
                <a:rPr lang="en-US" altLang="ko-KR" sz="800" dirty="0">
                  <a:solidFill>
                    <a:srgbClr val="0F2E84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UX </a:t>
              </a:r>
              <a:r>
                <a:rPr lang="ko-KR" altLang="en-US" sz="800" dirty="0">
                  <a:solidFill>
                    <a:srgbClr val="0F2E84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설계</a:t>
              </a:r>
              <a:endParaRPr lang="en-US" altLang="ko-KR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35" name="사각형: 둥근 모서리 134">
              <a:extLst>
                <a:ext uri="{FF2B5EF4-FFF2-40B4-BE49-F238E27FC236}">
                  <a16:creationId xmlns:a16="http://schemas.microsoft.com/office/drawing/2014/main" id="{88AF6D9E-3316-CB1D-76BB-98281EDDE732}"/>
                </a:ext>
              </a:extLst>
            </p:cNvPr>
            <p:cNvSpPr/>
            <p:nvPr/>
          </p:nvSpPr>
          <p:spPr>
            <a:xfrm>
              <a:off x="9397761" y="4275052"/>
              <a:ext cx="2174400" cy="298800"/>
            </a:xfrm>
            <a:prstGeom prst="roundRect">
              <a:avLst/>
            </a:prstGeom>
            <a:grp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err="1">
                  <a:solidFill>
                    <a:srgbClr val="0F2E84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Github</a:t>
              </a:r>
              <a:r>
                <a:rPr lang="en-US" altLang="ko-KR" sz="800" dirty="0">
                  <a:solidFill>
                    <a:srgbClr val="0F2E84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 </a:t>
              </a:r>
              <a:r>
                <a:rPr lang="ko-KR" altLang="en-US" sz="800" dirty="0">
                  <a:solidFill>
                    <a:srgbClr val="0F2E84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활용 협업</a:t>
              </a:r>
              <a:endParaRPr lang="en-US" altLang="ko-KR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1777A9C6-857A-8049-9D2F-A6A58BF79B9B}"/>
              </a:ext>
            </a:extLst>
          </p:cNvPr>
          <p:cNvSpPr/>
          <p:nvPr/>
        </p:nvSpPr>
        <p:spPr>
          <a:xfrm>
            <a:off x="4458360" y="2367080"/>
            <a:ext cx="2174400" cy="298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생성형 </a:t>
            </a:r>
            <a:r>
              <a:rPr lang="en-US" altLang="ko-KR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자동 응답 시스템 구축</a:t>
            </a: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00A52527-F1AA-D6DC-87B3-4805E43AD39D}"/>
              </a:ext>
            </a:extLst>
          </p:cNvPr>
          <p:cNvSpPr/>
          <p:nvPr/>
        </p:nvSpPr>
        <p:spPr>
          <a:xfrm>
            <a:off x="4458360" y="2006149"/>
            <a:ext cx="2174400" cy="298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80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활용 </a:t>
            </a:r>
            <a:r>
              <a:rPr lang="ko-KR" altLang="en-US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예측 분석 및 </a:t>
            </a:r>
            <a:br>
              <a:rPr lang="en-US" altLang="ko-KR" sz="80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en-US" sz="80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의사결정 </a:t>
            </a:r>
            <a:r>
              <a:rPr lang="ko-KR" altLang="en-US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시스템</a:t>
            </a: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CA010164-A6D0-F76C-03CA-1F0AE2D832B4}"/>
              </a:ext>
            </a:extLst>
          </p:cNvPr>
          <p:cNvSpPr/>
          <p:nvPr/>
        </p:nvSpPr>
        <p:spPr>
          <a:xfrm>
            <a:off x="1975816" y="2374011"/>
            <a:ext cx="2174400" cy="298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파이썬 </a:t>
            </a:r>
            <a:r>
              <a:rPr lang="ko-KR" altLang="en-US" sz="800" dirty="0" err="1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머신러닝</a:t>
            </a:r>
            <a:r>
              <a:rPr lang="en-US" altLang="ko-KR" sz="80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/ </a:t>
            </a:r>
            <a:r>
              <a:rPr lang="ko-KR" altLang="en-US" sz="80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딥러닝</a:t>
            </a:r>
            <a:endParaRPr lang="ko-KR" altLang="en-US" sz="800" dirty="0">
              <a:solidFill>
                <a:srgbClr val="0F2E84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4BA793E7-5043-3D88-8DFB-26174E35CD94}"/>
              </a:ext>
            </a:extLst>
          </p:cNvPr>
          <p:cNvSpPr/>
          <p:nvPr/>
        </p:nvSpPr>
        <p:spPr>
          <a:xfrm>
            <a:off x="1975816" y="2000814"/>
            <a:ext cx="2174400" cy="298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산업 트렌드 예측 모델 개발</a:t>
            </a: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5DB05E18-DFED-DDB9-0338-DF064A374156}"/>
              </a:ext>
            </a:extLst>
          </p:cNvPr>
          <p:cNvSpPr/>
          <p:nvPr/>
        </p:nvSpPr>
        <p:spPr>
          <a:xfrm>
            <a:off x="9397761" y="2006149"/>
            <a:ext cx="2174400" cy="298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생성형 </a:t>
            </a:r>
            <a:r>
              <a:rPr lang="en-US" altLang="ko-KR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활용</a:t>
            </a:r>
            <a:r>
              <a:rPr lang="en-US" altLang="ko-KR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서비스 설계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1A2E0DFB-3458-033A-49D6-20C7F9C58131}"/>
              </a:ext>
            </a:extLst>
          </p:cNvPr>
          <p:cNvSpPr/>
          <p:nvPr/>
        </p:nvSpPr>
        <p:spPr>
          <a:xfrm>
            <a:off x="6915217" y="2367080"/>
            <a:ext cx="2174400" cy="298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기반 고객 여정 매핑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BF6FF57A-0320-DEE9-F011-FEBBB669EDDD}"/>
              </a:ext>
            </a:extLst>
          </p:cNvPr>
          <p:cNvSpPr/>
          <p:nvPr/>
        </p:nvSpPr>
        <p:spPr>
          <a:xfrm>
            <a:off x="6915217" y="2006149"/>
            <a:ext cx="2174400" cy="298800"/>
          </a:xfrm>
          <a:prstGeom prst="roundRect">
            <a:avLst/>
          </a:prstGeom>
          <a:solidFill>
            <a:srgbClr val="0791F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8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활용 고객 </a:t>
            </a:r>
            <a:r>
              <a:rPr lang="en-US" altLang="ko-KR" sz="8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Persona </a:t>
            </a:r>
            <a:r>
              <a:rPr lang="ko-KR" altLang="en-US" sz="8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분석</a:t>
            </a: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566955D9-C145-99AD-B4D5-44E9BD14DF26}"/>
              </a:ext>
            </a:extLst>
          </p:cNvPr>
          <p:cNvSpPr/>
          <p:nvPr/>
        </p:nvSpPr>
        <p:spPr>
          <a:xfrm>
            <a:off x="9397761" y="2378466"/>
            <a:ext cx="2174400" cy="298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rgbClr val="475FA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800">
                <a:solidFill>
                  <a:srgbClr val="475FA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서비스 </a:t>
            </a:r>
            <a:r>
              <a:rPr lang="ko-KR" altLang="en-US" sz="800" dirty="0">
                <a:solidFill>
                  <a:srgbClr val="475FA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개발 및 배포</a:t>
            </a:r>
          </a:p>
        </p:txBody>
      </p: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76990CDE-047F-B03C-B17C-E4A137FCCD4C}"/>
              </a:ext>
            </a:extLst>
          </p:cNvPr>
          <p:cNvSpPr/>
          <p:nvPr/>
        </p:nvSpPr>
        <p:spPr>
          <a:xfrm>
            <a:off x="6915217" y="2730427"/>
            <a:ext cx="2174400" cy="298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사용자 피드백 자동 수집</a:t>
            </a:r>
            <a:r>
              <a:rPr lang="en-US" altLang="ko-KR" sz="80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80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감성 </a:t>
            </a:r>
            <a:r>
              <a:rPr lang="ko-KR" altLang="en-US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분석</a:t>
            </a: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60D9BAFC-3B0A-B973-2E6D-213F9ECD10FC}"/>
              </a:ext>
            </a:extLst>
          </p:cNvPr>
          <p:cNvSpPr/>
          <p:nvPr/>
        </p:nvSpPr>
        <p:spPr>
          <a:xfrm>
            <a:off x="4458360" y="2728914"/>
            <a:ext cx="2174400" cy="298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RPA </a:t>
            </a:r>
            <a:r>
              <a:rPr lang="ko-KR" altLang="en-US" sz="80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설계 </a:t>
            </a:r>
            <a:r>
              <a:rPr lang="ko-KR" altLang="en-US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및 구현</a:t>
            </a: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CF448A03-C08F-CC36-EB69-EB703BCEF5E8}"/>
              </a:ext>
            </a:extLst>
          </p:cNvPr>
          <p:cNvSpPr/>
          <p:nvPr/>
        </p:nvSpPr>
        <p:spPr>
          <a:xfrm>
            <a:off x="1975816" y="2725672"/>
            <a:ext cx="2174400" cy="298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데이터 대시보드 설계</a:t>
            </a:r>
          </a:p>
        </p:txBody>
      </p:sp>
      <p:sp>
        <p:nvSpPr>
          <p:cNvPr id="147" name="화살표: 위쪽 146">
            <a:extLst>
              <a:ext uri="{FF2B5EF4-FFF2-40B4-BE49-F238E27FC236}">
                <a16:creationId xmlns:a16="http://schemas.microsoft.com/office/drawing/2014/main" id="{57122197-D4F5-2FAE-4B47-A3AEB8A059D6}"/>
              </a:ext>
            </a:extLst>
          </p:cNvPr>
          <p:cNvSpPr/>
          <p:nvPr/>
        </p:nvSpPr>
        <p:spPr>
          <a:xfrm>
            <a:off x="412931" y="1523854"/>
            <a:ext cx="1124658" cy="5334145"/>
          </a:xfrm>
          <a:prstGeom prst="upArrow">
            <a:avLst>
              <a:gd name="adj1" fmla="val 77103"/>
              <a:gd name="adj2" fmla="val 35260"/>
            </a:avLst>
          </a:prstGeom>
          <a:gradFill>
            <a:gsLst>
              <a:gs pos="81000">
                <a:srgbClr val="0F2E84"/>
              </a:gs>
              <a:gs pos="54000">
                <a:srgbClr val="107EED"/>
              </a:gs>
              <a:gs pos="8000">
                <a:schemeClr val="bg1"/>
              </a:gs>
              <a:gs pos="33000">
                <a:srgbClr val="36DBFB"/>
              </a:gs>
            </a:gsLst>
            <a:lin ang="5400000" scaled="0"/>
          </a:gradFill>
          <a:ln>
            <a:noFill/>
          </a:ln>
          <a:effectLst>
            <a:outerShdw blurRad="63500" sx="102000" sy="102000" algn="ctr" rotWithShape="0">
              <a:srgbClr val="0F2E84">
                <a:alpha val="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13A61E47-BEBF-612B-37F2-48EE509985E5}"/>
              </a:ext>
            </a:extLst>
          </p:cNvPr>
          <p:cNvSpPr/>
          <p:nvPr/>
        </p:nvSpPr>
        <p:spPr>
          <a:xfrm>
            <a:off x="485474" y="3178208"/>
            <a:ext cx="979572" cy="3460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noFill/>
            <a:prstDash val="dash"/>
          </a:ln>
          <a:effectLst>
            <a:outerShdw blurRad="50800" dist="25400" dir="5400000" algn="t" rotWithShape="0">
              <a:srgbClr val="283B70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중급 </a:t>
            </a:r>
            <a:r>
              <a:rPr lang="en-US" altLang="ko-KR" sz="9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Skill </a:t>
            </a:r>
          </a:p>
          <a:p>
            <a:pPr algn="ctr"/>
            <a:r>
              <a:rPr lang="ko-KR" altLang="en-US" sz="9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이해 및 함양</a:t>
            </a:r>
            <a:endParaRPr lang="en-US" altLang="ko-KR" sz="900" dirty="0">
              <a:solidFill>
                <a:srgbClr val="0F2E84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5328B024-C672-A6FA-AED8-F4C26C052577}"/>
              </a:ext>
            </a:extLst>
          </p:cNvPr>
          <p:cNvSpPr/>
          <p:nvPr/>
        </p:nvSpPr>
        <p:spPr>
          <a:xfrm>
            <a:off x="485474" y="4322491"/>
            <a:ext cx="979572" cy="3460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noFill/>
            <a:prstDash val="dash"/>
          </a:ln>
          <a:effectLst>
            <a:outerShdw blurRad="50800" dist="25400" dir="5400000" algn="t" rotWithShape="0">
              <a:srgbClr val="283B70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초급 </a:t>
            </a:r>
            <a:r>
              <a:rPr lang="en-US" altLang="ko-KR" sz="9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Skill</a:t>
            </a:r>
            <a:r>
              <a:rPr lang="ko-KR" altLang="en-US" sz="9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endParaRPr lang="en-US" altLang="ko-KR" sz="900" dirty="0">
              <a:solidFill>
                <a:srgbClr val="0F2E84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/>
            <a:r>
              <a:rPr lang="ko-KR" altLang="en-US" sz="9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이해 및 함양</a:t>
            </a:r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4A04EE86-0CA8-6F95-2E21-69E1F0C668EE}"/>
              </a:ext>
            </a:extLst>
          </p:cNvPr>
          <p:cNvSpPr/>
          <p:nvPr/>
        </p:nvSpPr>
        <p:spPr>
          <a:xfrm>
            <a:off x="485474" y="5788058"/>
            <a:ext cx="979572" cy="3460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noFill/>
            <a:prstDash val="dash"/>
          </a:ln>
          <a:effectLst>
            <a:outerShdw blurRad="50800" dist="25400" dir="5400000" algn="t" rotWithShape="0">
              <a:srgbClr val="283B70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 latinLnBrk="1"/>
            <a:r>
              <a:rPr lang="ko-KR" altLang="en-US" sz="9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기초지식 확립</a:t>
            </a:r>
            <a:r>
              <a:rPr lang="en-US" altLang="ko-KR" sz="9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/</a:t>
            </a:r>
            <a:br>
              <a:rPr lang="en-US" altLang="ko-KR" sz="9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en-US" sz="9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마인드셋 함양</a:t>
            </a:r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CAA3849D-EE47-F105-DD6F-FD4F3B276D86}"/>
              </a:ext>
            </a:extLst>
          </p:cNvPr>
          <p:cNvSpPr/>
          <p:nvPr/>
        </p:nvSpPr>
        <p:spPr>
          <a:xfrm>
            <a:off x="485474" y="2319142"/>
            <a:ext cx="979572" cy="19545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noFill/>
            <a:prstDash val="dash"/>
          </a:ln>
          <a:effectLst>
            <a:outerShdw blurRad="50800" dist="25400" dir="5400000" algn="t" rotWithShape="0">
              <a:srgbClr val="283B70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DX</a:t>
            </a:r>
            <a:r>
              <a:rPr lang="ko-KR" altLang="en-US" sz="9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전문가 양성</a:t>
            </a: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ADC5DE40-9862-673B-5726-B9FE29184370}"/>
              </a:ext>
            </a:extLst>
          </p:cNvPr>
          <p:cNvGrpSpPr/>
          <p:nvPr/>
        </p:nvGrpSpPr>
        <p:grpSpPr>
          <a:xfrm>
            <a:off x="479425" y="3108934"/>
            <a:ext cx="11233150" cy="2581735"/>
            <a:chOff x="479425" y="2536117"/>
            <a:chExt cx="11233150" cy="2581735"/>
          </a:xfrm>
        </p:grpSpPr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6F1DE2B7-23B8-B652-65B0-9F6C5152DCC7}"/>
                </a:ext>
              </a:extLst>
            </p:cNvPr>
            <p:cNvCxnSpPr/>
            <p:nvPr/>
          </p:nvCxnSpPr>
          <p:spPr>
            <a:xfrm>
              <a:off x="479425" y="2536117"/>
              <a:ext cx="11233150" cy="0"/>
            </a:xfrm>
            <a:prstGeom prst="line">
              <a:avLst/>
            </a:prstGeom>
            <a:ln w="15875">
              <a:gradFill>
                <a:gsLst>
                  <a:gs pos="1000">
                    <a:srgbClr val="283B70"/>
                  </a:gs>
                  <a:gs pos="1000">
                    <a:schemeClr val="bg1"/>
                  </a:gs>
                  <a:gs pos="8000">
                    <a:schemeClr val="bg1"/>
                  </a:gs>
                  <a:gs pos="10000">
                    <a:srgbClr val="283B70"/>
                  </a:gs>
                </a:gsLst>
                <a:lin ang="0" scaled="0"/>
              </a:gradFill>
              <a:prstDash val="sysDot"/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99537CAE-25F1-0928-F4E7-29BEC0B6E0D0}"/>
                </a:ext>
              </a:extLst>
            </p:cNvPr>
            <p:cNvCxnSpPr/>
            <p:nvPr/>
          </p:nvCxnSpPr>
          <p:spPr>
            <a:xfrm>
              <a:off x="479425" y="3429000"/>
              <a:ext cx="11233150" cy="0"/>
            </a:xfrm>
            <a:prstGeom prst="line">
              <a:avLst/>
            </a:prstGeom>
            <a:ln w="15875">
              <a:gradFill>
                <a:gsLst>
                  <a:gs pos="1000">
                    <a:srgbClr val="283B70"/>
                  </a:gs>
                  <a:gs pos="1000">
                    <a:schemeClr val="bg1"/>
                  </a:gs>
                  <a:gs pos="8000">
                    <a:schemeClr val="bg1"/>
                  </a:gs>
                  <a:gs pos="10000">
                    <a:srgbClr val="283B70"/>
                  </a:gs>
                </a:gsLst>
                <a:lin ang="0" scaled="0"/>
              </a:gradFill>
              <a:prstDash val="sysDot"/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ADEB857D-BB90-AA0D-F333-B90B86905BB9}"/>
                </a:ext>
              </a:extLst>
            </p:cNvPr>
            <p:cNvCxnSpPr/>
            <p:nvPr/>
          </p:nvCxnSpPr>
          <p:spPr>
            <a:xfrm>
              <a:off x="479425" y="5117852"/>
              <a:ext cx="11233150" cy="0"/>
            </a:xfrm>
            <a:prstGeom prst="line">
              <a:avLst/>
            </a:prstGeom>
            <a:ln w="15875">
              <a:gradFill>
                <a:gsLst>
                  <a:gs pos="1000">
                    <a:srgbClr val="283B70"/>
                  </a:gs>
                  <a:gs pos="1000">
                    <a:schemeClr val="bg1"/>
                  </a:gs>
                  <a:gs pos="8000">
                    <a:schemeClr val="bg1"/>
                  </a:gs>
                  <a:gs pos="10000">
                    <a:srgbClr val="283B70"/>
                  </a:gs>
                </a:gsLst>
                <a:lin ang="0" scaled="0"/>
              </a:gradFill>
              <a:prstDash val="sysDot"/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" name="TextBox 155">
            <a:extLst>
              <a:ext uri="{FF2B5EF4-FFF2-40B4-BE49-F238E27FC236}">
                <a16:creationId xmlns:a16="http://schemas.microsoft.com/office/drawing/2014/main" id="{6E414C3A-5974-3488-38B6-5F7CA03C77F2}"/>
              </a:ext>
            </a:extLst>
          </p:cNvPr>
          <p:cNvSpPr txBox="1"/>
          <p:nvPr/>
        </p:nvSpPr>
        <p:spPr>
          <a:xfrm>
            <a:off x="323327" y="2000937"/>
            <a:ext cx="130386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0F2E84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Step3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6114147-2E48-AF2D-609E-BF18708E45D2}"/>
              </a:ext>
            </a:extLst>
          </p:cNvPr>
          <p:cNvSpPr txBox="1"/>
          <p:nvPr/>
        </p:nvSpPr>
        <p:spPr>
          <a:xfrm>
            <a:off x="323327" y="5475048"/>
            <a:ext cx="13038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Pre-Step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0B6027BD-9E7F-BBFE-43EA-6C667BF251A2}"/>
              </a:ext>
            </a:extLst>
          </p:cNvPr>
          <p:cNvSpPr txBox="1"/>
          <p:nvPr/>
        </p:nvSpPr>
        <p:spPr>
          <a:xfrm>
            <a:off x="323327" y="2868136"/>
            <a:ext cx="13038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rgbClr val="0F2E84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Step2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D279D75-E9D3-4941-A89E-E55CBF5E5888}"/>
              </a:ext>
            </a:extLst>
          </p:cNvPr>
          <p:cNvSpPr txBox="1"/>
          <p:nvPr/>
        </p:nvSpPr>
        <p:spPr>
          <a:xfrm>
            <a:off x="323327" y="3983421"/>
            <a:ext cx="13038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Step1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1C9CA4B-7C22-1C63-13D9-09BF8EF6EE0B}"/>
              </a:ext>
            </a:extLst>
          </p:cNvPr>
          <p:cNvSpPr txBox="1"/>
          <p:nvPr/>
        </p:nvSpPr>
        <p:spPr>
          <a:xfrm>
            <a:off x="4727917" y="6615381"/>
            <a:ext cx="69846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9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*</a:t>
            </a:r>
            <a:r>
              <a:rPr lang="ko-KR" altLang="en-US" sz="9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모든 교육 과정은 온라인</a:t>
            </a:r>
            <a:r>
              <a:rPr lang="en-US" altLang="ko-KR" sz="9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/</a:t>
            </a:r>
            <a:r>
              <a:rPr lang="ko-KR" altLang="en-US" sz="900" dirty="0">
                <a:solidFill>
                  <a:srgbClr val="0F2E8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오프라인 설계 및 개발 가능</a:t>
            </a:r>
          </a:p>
        </p:txBody>
      </p:sp>
    </p:spTree>
    <p:extLst>
      <p:ext uri="{BB962C8B-B14F-4D97-AF65-F5344CB8AC3E}">
        <p14:creationId xmlns:p14="http://schemas.microsoft.com/office/powerpoint/2010/main" val="237664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F0BFB7-7EFD-7ECB-07DB-CA1B94F59C8A}"/>
              </a:ext>
            </a:extLst>
          </p:cNvPr>
          <p:cNvSpPr txBox="1"/>
          <p:nvPr/>
        </p:nvSpPr>
        <p:spPr>
          <a:xfrm>
            <a:off x="3047665" y="3180890"/>
            <a:ext cx="60966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0" i="0" u="none" strike="noStrike" kern="1200" cap="none" spc="-90" normalizeH="0" baseline="0" noProof="0">
                <a:ln>
                  <a:noFill/>
                </a:ln>
                <a:solidFill>
                  <a:srgbClr val="003A8C"/>
                </a:solidFill>
                <a:effectLst/>
                <a:uLnTx/>
                <a:uFillTx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+mn-cs"/>
              </a:rPr>
              <a:t>THANK YOU</a:t>
            </a:r>
            <a:endParaRPr kumimoji="0" lang="ko-KR" altLang="en-US" sz="4800" b="0" i="0" u="none" strike="noStrike" kern="1200" cap="none" spc="-90" normalizeH="0" baseline="0" noProof="0" dirty="0">
              <a:ln>
                <a:noFill/>
              </a:ln>
              <a:solidFill>
                <a:srgbClr val="003A8C"/>
              </a:solidFill>
              <a:effectLst/>
              <a:uLnTx/>
              <a:uFillTx/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79DC7C0-513B-93FA-1D8F-A7E087933F1E}"/>
              </a:ext>
            </a:extLst>
          </p:cNvPr>
          <p:cNvGrpSpPr/>
          <p:nvPr/>
        </p:nvGrpSpPr>
        <p:grpSpPr>
          <a:xfrm>
            <a:off x="6933559" y="2503515"/>
            <a:ext cx="1192955" cy="602931"/>
            <a:chOff x="436649" y="5742701"/>
            <a:chExt cx="1413817" cy="71455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3BE6E40-9E78-C285-8C10-E57471BB29D2}"/>
                </a:ext>
              </a:extLst>
            </p:cNvPr>
            <p:cNvSpPr txBox="1"/>
            <p:nvPr/>
          </p:nvSpPr>
          <p:spPr>
            <a:xfrm>
              <a:off x="436649" y="5742701"/>
              <a:ext cx="1413817" cy="2735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A8C"/>
                  </a:solidFill>
                  <a:effectLst/>
                  <a:uLnTx/>
                  <a:uFillTx/>
                  <a:latin typeface="나눔스퀘어 네오 Regular"/>
                  <a:ea typeface="나눔스퀘어 네오 Regular"/>
                  <a:cs typeface="+mn-cs"/>
                </a:rPr>
                <a:t>고용노동부 인증기관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3A8C"/>
                </a:solidFill>
                <a:effectLst/>
                <a:uLnTx/>
                <a:uFillTx/>
                <a:latin typeface="나눔스퀘어 네오 Regular"/>
                <a:ea typeface="나눔스퀘어 네오 Regular"/>
                <a:cs typeface="+mn-cs"/>
              </a:endParaRPr>
            </a:p>
          </p:txBody>
        </p:sp>
        <p:pic>
          <p:nvPicPr>
            <p:cNvPr id="7" name="그래픽 6">
              <a:extLst>
                <a:ext uri="{FF2B5EF4-FFF2-40B4-BE49-F238E27FC236}">
                  <a16:creationId xmlns:a16="http://schemas.microsoft.com/office/drawing/2014/main" id="{455AC8B1-CA10-E3AC-8486-562E62DE5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0793" y="5988922"/>
              <a:ext cx="1135964" cy="4683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47415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0SlyZyt2J4csRlS3yIgg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75000"/>
          </a:schemeClr>
        </a:solidFill>
        <a:ln w="6350">
          <a:solidFill>
            <a:schemeClr val="bg1">
              <a:lumMod val="65000"/>
            </a:schemeClr>
          </a:solidFill>
        </a:ln>
      </a:spPr>
      <a:bodyPr wrap="none" lIns="0" tIns="36000" rIns="0" rtlCol="0" anchor="ctr" anchorCtr="0"/>
      <a:lstStyle>
        <a:defPPr marL="0" marR="0" indent="0" algn="ctr" defTabSz="914400" rtl="0" eaLnBrk="1" fontAlgn="auto" latinLnBrk="0" hangingPunct="1">
          <a:lnSpc>
            <a:spcPts val="1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sz="1000" b="0" kern="1200" spc="0" noProof="0" dirty="0">
            <a:solidFill>
              <a:schemeClr val="tx1"/>
            </a:solidFill>
            <a:latin typeface="나눔스퀘어 네오 Bold" panose="00000800000000000000" pitchFamily="2" charset="-127"/>
            <a:ea typeface="나눔스퀘어 네오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4200</TotalTime>
  <Words>1345</Words>
  <Application>Microsoft Office PowerPoint</Application>
  <PresentationFormat>와이드스크린</PresentationFormat>
  <Paragraphs>289</Paragraphs>
  <Slides>6</Slides>
  <Notes>4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나눔스퀘어 네오 Bold</vt:lpstr>
      <vt:lpstr>나눔스퀘어 네오 ExtraBold</vt:lpstr>
      <vt:lpstr>나눔스퀘어 네오 Heavy</vt:lpstr>
      <vt:lpstr>나눔스퀘어 네오 Regular</vt:lpstr>
      <vt:lpstr>맑은 고딕</vt:lpstr>
      <vt:lpstr>Arial</vt:lpstr>
      <vt:lpstr>Office 테마</vt:lpstr>
      <vt:lpstr>think-cell Slide</vt:lpstr>
      <vt:lpstr>PowerPoint 프레젠테이션</vt:lpstr>
      <vt:lpstr>1. DT 기획 교육 개요</vt:lpstr>
      <vt:lpstr>2. DT 개발 교육 개요</vt:lpstr>
      <vt:lpstr>3. 학습 개요 </vt:lpstr>
      <vt:lpstr>3. 학습 개요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허선희</dc:creator>
  <cp:lastModifiedBy>이승규</cp:lastModifiedBy>
  <cp:revision>463</cp:revision>
  <dcterms:created xsi:type="dcterms:W3CDTF">2025-11-20T07:11:11Z</dcterms:created>
  <dcterms:modified xsi:type="dcterms:W3CDTF">2026-02-10T06:42:53Z</dcterms:modified>
</cp:coreProperties>
</file>