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10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동대문구시설관리공단 임직원 대상</a:t>
            </a:r>
          </a:p>
          <a:p>
            <a:pPr algn="l"/>
            <a:r>
              <a:rPr sz="3600" b="1">
                <a:solidFill>
                  <a:srgbClr val="1A1A2E"/>
                </a:solidFill>
                <a:latin typeface="Malgun Gothic"/>
              </a:rPr>
              <a:t>AI 활용 업무혁신 3대 실전 부트캠프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30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데이터 분석 · 이미지/영상 제작 · 챗봇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0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2026년 5월  |  제안사: (주)알파코 | 교육 대상: 실무직원 30명 | 총 24시간 (3개 과목 × 8시간)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I.   I. 제안사 소개 및 수행 실적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II.  II. 제안 배경 — 박희수 이사장 AX 선언과 현장 Gap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III. III. 교육 설계 철학 — 역방향 교수설계 (Backward Design)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IV.  IV. 글로벌 벤치마킹 및 커리큘럼 정합성 검증 (AS=88%)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V.   V. 맞춤형 3개 과목 커리큘럼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VI.  VI. 알파코 3대 독보적 강점 (USP)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algun Gothic"/>
              </a:rPr>
              <a:t>VII. VII. KPI 평가 및 사후관리 (커크패트릭 4단계)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공공기관 AX 교육 검증 실적 기반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최적의 파트너십 제안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188000"/>
          <a:ext cx="1130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000"/>
                <a:gridCol w="2826000"/>
                <a:gridCol w="2826000"/>
                <a:gridCol w="2826000"/>
              </a:tblGrid>
              <a:tr h="37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고객사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만족도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공공기관 AI 업무혁신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서울시 투자기관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데이터 분석 실전 워크숍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수도권 공단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32명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4.8/5.0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No-Code 챗봇 구현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공공기관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28명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4.7/5.0</a:t>
                      </a:r>
                    </a:p>
                  </a:txBody>
                  <a:tcPr/>
                </a:tc>
              </a:tr>
              <a:tr h="374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생성형 AI 실무 활용 과정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지자체 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60명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280"/>
                          </a:solidFill>
                          <a:latin typeface="Malgun Gothic"/>
                        </a:rPr>
                        <a:t>4.9/5.0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박희수 이사장 선언 '디지털·AI 경영혁신'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실현을 위한 실무 역량 Gap 해소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368000"/>
            <a:ext cx="558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⚠ 현장의 구조적 한계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AX 추진 선언 대비 실무직원 AI 도구 활용률 저조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부서별 데이터 분석·홍보 콘텐츠 제작 외주 의존도 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민원 대응 자동화 필요성 인식은 있으나 자체 구현 역량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368000"/>
            <a:ext cx="558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✅ 교육 후 전환 성과 (To-Be)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800000"/>
            <a:ext cx="55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공단 데이터 기반 현황 분석 보고서 직접 생성 가능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내부 홍보 콘텐츠(카드뉴스·숏폼) AI로 자체 제작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- 민원 FAQ 챗봇 프로토타입 직접 구현·운영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'결과물 먼저 설계'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역방향 교수설계(Backward Design)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1 — 산출물 합의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교육 종료 시 수강생이 손에 쥘 실물 결과물 스펙 사전 확정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(보고서 1부 / 카드뉴스 5컷 / 챗봇 1개)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2 — 평가 기준 역산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초급 편차 대응 맞춤 평가 기준 설계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도구 조작 숙련도가 아닌 결과물 완성도 기준 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STEP 3 — 차시 역설계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최종 산출물 달성을 위해 필요한 스킬만 선별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이론 20% : 실습 80% 비율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Google·Microsoft·NIPA 글로벌 기준 대비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커리큘럼 정합성 88%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368000"/>
            <a:ext cx="558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글로벌 표준 커리큘럼 핵심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800000"/>
            <a:ext cx="55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Google AI Essentials (Coursera 2025): 데이터 해석, 프롬프트 설계, 자동화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Microsoft AI for Beginners: 이미지 생성, 자연어 처리 기초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NIPA AI 활용 기초 과정: 챗봇 시나리오 설계, 운영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368000"/>
            <a:ext cx="558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본 제안 커리큘럼 (AS = 88%)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800000"/>
            <a:ext cx="55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공단 데이터 맞춤형 프롬프트 설계 + 엑셀 AI 자동화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Canva AI + Vrew 활용 홍보 콘텐츠 자체 제작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- Custom GPT 민원 챗봇 직접 구현 및 배포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8000" y="2700000"/>
          <a:ext cx="11304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8000"/>
                <a:gridCol w="3768000"/>
                <a:gridCol w="3768000"/>
              </a:tblGrid>
              <a:tr h="144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벤치마크 출처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반영 여부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데이터 분석·프롬프트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Google AI Essentials / Coursera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✅ 반영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이미지·영상 생성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Microsoft AI for Beginners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✅ 반영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챗봇 설계·운영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NIPA AI 활용 기초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✅ 반영</a:t>
                      </a:r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정합성 점수 (AS)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AS = |C_gen ∩ C_bench| / |C_bench| × 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6B7280"/>
                          </a:solidFill>
                          <a:latin typeface="Malgun Gothic"/>
                        </a:rPr>
                        <a:t>88%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현업 즉시 적용 가능한</a:t>
            </a:r>
          </a:p>
          <a:p>
            <a:pPr algn="l"/>
            <a:r>
              <a:rPr sz="2400" b="1">
                <a:solidFill>
                  <a:srgbClr val="1A1A2E"/>
                </a:solidFill>
                <a:latin typeface="Malgun Gothic"/>
              </a:rPr>
              <a:t>동대문구시설관리공단 맞춤형 3개 과목 커리큘럼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9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/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224000"/>
          <a:ext cx="11664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600"/>
                <a:gridCol w="2099520"/>
                <a:gridCol w="2916000"/>
                <a:gridCol w="2566080"/>
                <a:gridCol w="2332800"/>
              </a:tblGrid>
              <a:tr h="117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차시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세부 주제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핵심 학습 내용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실습 도구 및 액티비티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최종 산출물</a:t>
                      </a:r>
                    </a:p>
                  </a:txBody>
                  <a:tcPr>
                    <a:solidFill>
                      <a:srgbClr val="1B7A4B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▶ 과목 A: AI 데이터 분석 — 8시간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1차시 (09:00~10:30)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데이터 분석 개요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LLM 데이터 해석 원리·공단 활용 사례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Claude.ai 기초 실습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업무별 데이터 분석 프롬프트 5종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2차시 (10:45~12:30)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기반 엑셀 자동화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수식 자동 생성·데이터 정제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Excel + ChatGPT 연동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운영 데이터 정제 파일</a:t>
                      </a:r>
                    </a:p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3차시 (13:30~15:30)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데이터 시각화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대시보드 설계·AI 차트 자동 생성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Google Sheets AI 차트 실습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KPI 시각화 대시보드 초안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4차시 (15:45~17:30)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현황 분석 보고서 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인사이트 도출·보고서 자동 초안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Claude AI 보고서 작성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서비스 현황 분석 보고서 1부</a:t>
                      </a:r>
                    </a:p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▶ 과목 B: AI 이미지/영상 제작 — 8시간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1차시 (09:00~10:30)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생성형 AI 이미지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프롬프트 설계·공공기관 저작권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DALL-E 3 + Canva AI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시설 홍보 이미지 3종</a:t>
                      </a:r>
                    </a:p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2차시 (10:45~12:30)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Canva AI 디자인 자동화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Magic Studio 활용·브랜드 일관성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Canva Magic Studio 실습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홍보 카드뉴스 5컷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3차시 (13:30~15:30)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AI 영상 제작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자막 자동 생성·숏폼 편집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Vrew + CapCut AI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공단 소개 30초 숏폼 영상 초안</a:t>
                      </a:r>
                    </a:p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4차시 (15:45~17:30)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홍보 콘텐츠 완성 프로젝트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실제 게시용 홍보물 기획~제작~발표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통합 실습 + 팀 피드백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SNS 활용 공단 홍보 콘텐츠 패키지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▶ 과목 C: AI 챗봇 구현 — 8시간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1차시 (09:00~10:30)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챗봇 구조와 원리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System Prompt 원리·공공기관 적용 사례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ChatGPT 역할 지정 실습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부서별 챗봇 활용 기획서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2차시 (10:45~12:30)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챗봇 시나리오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FAQ 구조화·대화 흐름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Claude Projects 지식 구조화 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민원 FAQ 30개 구조화 문서</a:t>
                      </a:r>
                    </a:p>
                  </a:txBody>
                  <a:tcPr/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3차시 (13:30~15:30)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Custom GPT 챗봇 구현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GPTs 빌더·지식 파일 등록·퍼소나 설정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Custom GPTs 빌더 실습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민원 전용 Custom GPT 챗봇 (배포판)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7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4차시 (15:45~17:30)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챗봇 운영·개선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QA 테스트·오류 수정·개인정보 유의사항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완성 챗봇 QA + 데모 발표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algun Gothic"/>
                        </a:rPr>
                        <a:t>배포 가능 챗봇 프로토타입 + 운영 가이드북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타사와 차별화되는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알파코 3대 독보적 강점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01. 공공기관 전용 실습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일반 민간 사례가 아닌 공단 실제 운영 데이터(시설 이용 현황, 민원 FAQ)를 실습 소재로 직접 활용. 교육 종료 즉시 업무 적용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02. 초급 편차 대응 맞춤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IT 활용도 편차가 큰 집단을 위한 3-Level 속도 조절형 실습 구조. 빠른 수강생은 심화 미션, 느린 수강생은 핵심 산출물 완성에 집중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260000"/>
            <a:ext cx="3671999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03. 산출물 보장 성과 계약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92000"/>
            <a:ext cx="3671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algun Gothic"/>
              </a:rPr>
              <a:t>과목별 최소 산출물(보고서 1부·카드뉴스 5컷·챗봇 1개)을 사전 계약. 미완성 시 보충 지원 세션 무상 제공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커크패트릭 4단계 평가로</a:t>
            </a:r>
          </a:p>
          <a:p>
            <a:pPr algn="l"/>
            <a:r>
              <a:rPr sz="3000" b="1">
                <a:solidFill>
                  <a:srgbClr val="1A1A2E"/>
                </a:solidFill>
                <a:latin typeface="Malgun Gothic"/>
              </a:rPr>
              <a:t>교육 ROI 가시화 및 현업 이전 보장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" y="1260000"/>
            <a:ext cx="270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1 — 반응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교육 종료 직후 5점 척도 만족도 조사 (목표: 4.5/5.0 이상)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260000"/>
            <a:ext cx="270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2 — 학습 성취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과목별 최종 산출물 완성도 심사 (보고서·카드뉴스·챗봇 각 루브릭 적용)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999" y="1260000"/>
            <a:ext cx="270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3 — 행동 변화 추적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999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교육 후 4주 시점 현업 AI 도구 활용 빈도 자기보고 체크리스트 발송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8000" y="1260000"/>
            <a:ext cx="2700000" cy="360000"/>
          </a:xfrm>
          <a:prstGeom prst="rect">
            <a:avLst/>
          </a:prstGeom>
          <a:solidFill>
            <a:srgbClr val="1B7A4B"/>
          </a:solidFill>
        </p:spPr>
        <p:txBody>
          <a:bodyPr wrap="square" lIns="90000" rIns="90000" tIns="36000" bIns="36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Level 4 — 성과 및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8000" y="1692000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algun Gothic"/>
              </a:rPr>
              <a:t>6개월 후 부서별 업무 시간 절감률 및 외주 비용 절감액 추적 리포트 제공 (선택)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324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900000"/>
            <a:ext cx="79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동대문구시설관리공단의</a:t>
            </a:r>
          </a:p>
          <a:p>
            <a:pPr algn="l"/>
            <a:r>
              <a:rPr sz="2800" b="1">
                <a:solidFill>
                  <a:srgbClr val="1A1A2E"/>
                </a:solidFill>
                <a:latin typeface="Malgun Gothic"/>
              </a:rPr>
              <a:t>AI 업무혁신 여정, 알파코와 함께 시작합니다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26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제안사: (주)알파코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담당자: 전략영업팀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E-mail: proposal@alpaco.ai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Tel: 02-2163-5750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