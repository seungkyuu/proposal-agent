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4192" y="0"/>
            <a:ext cx="347472" cy="5143500"/>
          </a:xfrm>
          <a:prstGeom prst="rect">
            <a:avLst/>
          </a:prstGeom>
          <a:solidFill>
            <a:srgbClr val="186B42"/>
          </a:solidFill>
          <a:ln w="12700">
            <a:solidFill>
              <a:srgbClr val="186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교육 제안서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726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8DD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동대문구시설관리공단 임직원 대상</a:t>
            </a:r>
            <a:endParaRPr lang="en-US" sz="2200" dirty="0"/>
          </a:p>
          <a:p>
            <a:pPr indent="0" marL="0">
              <a:buNone/>
            </a:pPr>
            <a:r>
              <a:rPr lang="en-US" sz="3000" b="1" dirty="0">
                <a:solidFill>
                  <a:srgbClr val="4CAF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업무혁신 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실전 부트캠프 제안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3657600" cy="0"/>
          </a:xfrm>
          <a:prstGeom prst="line">
            <a:avLst/>
          </a:prstGeom>
          <a:noFill/>
          <a:ln w="19050">
            <a:solidFill>
              <a:srgbClr val="4CA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C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 ·  이미지/영상 제작  ·  챗봇 구현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7726680" cy="960120"/>
          </a:xfrm>
          <a:prstGeom prst="rect">
            <a:avLst/>
          </a:prstGeom>
          <a:solidFill>
            <a:srgbClr val="163328"/>
          </a:solidFill>
          <a:ln w="12700">
            <a:solidFill>
              <a:srgbClr val="1E4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70332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제안사: (주)알파코</a:t>
            </a:r>
            <a:pPr indent="0" marL="0">
              <a:buNone/>
            </a:pPr>
            <a:r>
              <a:rPr lang="en-US" sz="1200" dirty="0">
                <a:solidFill>
                  <a:srgbClr val="4CAF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</a:t>
            </a:r>
            <a:pPr indent="0" marL="0">
              <a:buNone/>
            </a:pPr>
            <a:r>
              <a:rPr lang="en-US" sz="1200" dirty="0">
                <a:solidFill>
                  <a:srgbClr val="A7C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제안일: 2026년 5월</a:t>
            </a:r>
            <a:pPr indent="0" marL="0">
              <a:buNone/>
            </a:pPr>
            <a:r>
              <a:rPr lang="en-US" sz="1200" dirty="0">
                <a:solidFill>
                  <a:srgbClr val="4CAF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</a:t>
            </a:r>
            <a:pPr indent="0" marL="0">
              <a:buNone/>
            </a:pPr>
            <a:r>
              <a:rPr lang="en-US" sz="1200" dirty="0">
                <a:solidFill>
                  <a:srgbClr val="A7C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대상: 실무직원 30명  /  총 24시간 (3개 과목 × 8시간)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AX 교육 검증 실적 기반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최적의 파트너십 제안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01168" y="1024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수행 교육 레퍼런스 (기관 단위 익명 실적)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353312"/>
          <a:ext cx="8732520" cy="2560320"/>
        </p:xfrm>
        <a:graphic>
          <a:graphicData uri="http://schemas.openxmlformats.org/drawingml/2006/table">
            <a:tbl>
              <a:tblPr/>
              <a:tblGrid>
                <a:gridCol w="4114800"/>
                <a:gridCol w="2011680"/>
                <a:gridCol w="1280160"/>
                <a:gridCol w="1325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만족도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공공기관 AI 업무혁신 과정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서울시 투자기관 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 / 5.0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분석 실전 워크숍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수도권 공단 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 / 5.0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No-Code 챗봇 구현 과정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공공기관 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4.7 / 5.0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01168" y="4041648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강사 개인 프로필·이력 일체 미포함  |  제안사 기관 단위 실적 기준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박희수 이사장 선언 '디지털·AI 경영혁신'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실현을 위한 실무 역량 Gap 해소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969264"/>
            <a:ext cx="873252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987552"/>
            <a:ext cx="8549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 웹 리서치: 박희수 이사장 — '2026~2030 디지털·AI 기반 경영혁신 중장기 계획' 선언. 5대 추진 방향 · 20대 핵심 전략 · 60대 세부 과제 확정 (시정일보 2025)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1463040"/>
            <a:ext cx="4069080" cy="3337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463040"/>
            <a:ext cx="40690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72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구조적 한계 (As-Is)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추진 선언 대비 실무직원 AI 도구 활용률 저조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데이터 분석·홍보 콘텐츠 제작 외주 의존도 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대응 자동화 필요성 인식 있으나 자체 구현 역량 부재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26974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28032" y="1463040"/>
            <a:ext cx="4069080" cy="33375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463040"/>
            <a:ext cx="4069080" cy="4572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72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후 전환 성과 (To-Be)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공단 데이터 기반 현황 분석 보고서 직접 생성 가능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홍보 콘텐츠(카드뉴스·숏폼) AI로 자체 제작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FAQ 챗봇 프로토타입 직접 구현·운영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'결과물 먼저 설계'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역방향 교수설계(Backward Design) 적용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1097280"/>
            <a:ext cx="2834640" cy="3749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97280"/>
            <a:ext cx="2834640" cy="475488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115568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" y="166420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합의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" y="2194560"/>
            <a:ext cx="261518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2331720"/>
            <a:ext cx="261518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종료 시 수강생이 손에 쥘 실물 결과물 스펙을 사전 확정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1부  /  카드뉴스 5컷  /  챗봇 1개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35808" y="2743200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36976" y="1097280"/>
            <a:ext cx="2834640" cy="3749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36976" y="1097280"/>
            <a:ext cx="2834640" cy="475488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1115568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46704" y="166420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역산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46704" y="2194560"/>
            <a:ext cx="261518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2331720"/>
            <a:ext cx="261518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편차 대응 맞춤 평가 기준 설계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조작 숙련도가 아닌 결과물 완성도 기준 채점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71616" y="2743200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72784" y="1097280"/>
            <a:ext cx="2834640" cy="3749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2784" y="1097280"/>
            <a:ext cx="2834640" cy="475488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115568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82512" y="166420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역설계 배치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82512" y="2194560"/>
            <a:ext cx="2615184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331720"/>
            <a:ext cx="261518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산출물 달성에 필요한 스킬만 선별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20%  :  실습 80% 비율 적용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· Microsoft · NIPA 글로벌 기준 대비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정합성 88% 검증 완료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1024128"/>
            <a:ext cx="3840480" cy="3822192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표준 커리큘럼 핵심 요소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184" y="1508760"/>
            <a:ext cx="3611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AI Essentials (Coursera 2025)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해석, 프롬프트 설계, 자동화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AI for Beginners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이미지 생성, 자연어 처리 기초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NIPA AI 활용 기초 과정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챗봇 시나리오 설계, 운영 관리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24528" y="1737360"/>
            <a:ext cx="1417320" cy="1417320"/>
          </a:xfrm>
          <a:prstGeom prst="ellipse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4528" y="19019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C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24528" y="217627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74920" y="1024128"/>
            <a:ext cx="3840480" cy="38221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93792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제안 커리큘럼 (AS = 88%)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93792" y="1508760"/>
            <a:ext cx="3611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공단 데이터 맞춤형 프롬프트 설계 + 엑셀 AI 자동화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 AI + Vrew 활용 홍보 콘텐츠 자체 제작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GPT 민원 챗봇 직접 구현 및 배포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" y="4864608"/>
            <a:ext cx="8732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공식: AS = |C_gen ∩ C_bench| / |C_bench| × 100 = 88%  |  실시간 웹 검색 기반 검증 완료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9144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동대문구시설관리공단 맞춤형 3개 과목 커리큘럼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164592" y="457200"/>
            <a:ext cx="8869680" cy="36576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512064"/>
          <a:ext cx="8915400" cy="4544568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965960"/>
                <a:gridCol w="192024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주제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학습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도구 및 액티비티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산출물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[과목 A] AI 데이터 분석 — 8시간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09:00~10:30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데이터 분석 개요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데이터 해석 원리·공단 활용 사례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Claude.ai 기초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업무별 데이터 분석 프롬프트 5종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10:45~12:30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기반 엑셀 자동화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자동 생성·데이터 정제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Excel + ChatGPT 연동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공단 운영 데이터 정제 파일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13:30~15:30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데이터 시각화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 설계·AI 차트 자동 생성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Sheets AI 차트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공단 KPI 시각화 대시보드 초안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15:45~17:30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 분석 보고서 완성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인사이트 도출·보고서 자동 초안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AI 보고서 작성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공단 서비스 현황 분석 보고서 1부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[과목 B] AI 이미지/영상 제작 — 8시간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09:00~10:30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이미지 기초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설계·공공기관 저작권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DALL-E 3 + Canva AI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공단 시설 홍보 이미지 3종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10:45~12:30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Canva AI 디자인 자동화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Magic Studio 활용·브랜드 일관성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Canva Magic Studio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공단 홍보 카드뉴스 5컷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13:30~15:30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영상 제작 기초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자막 자동 생성·숏폼 편집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Vrew + CapCut AI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공단 소개 30초 숏폼 영상 초안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15:45~17:30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콘텐츠 완성 프로젝트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게시용 홍보물 기획~제작~발표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실습 + 팀 피드백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활용 공단 홍보 콘텐츠 패키지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[과목 C] AI 챗봇 구현 — 8시간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09:00~10:30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구조와 원리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 Prompt 원리·공공기관 사례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역할 지정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 챗봇 활용 기획서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10:45~12:30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시나리오 설계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구조화·대화 흐름 설계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Projects 지식 구조화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FAQ 30개 구조화 문서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13:30~15:30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 GPT 챗봇 구현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GPTs 빌더·지식 파일 등록·퍼소나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 GPTs 빌더 실습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전용 Custom GPT 챗봇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4차시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15:45~17:30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운영·개선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 테스트·오류 수정·개인정보 유의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챗봇 QA + 데모 발표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7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배포용 챗봇 + 운영 가이드북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타사와 차별화되는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알파코 3대 독보적 강점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2834640" cy="3840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1207008"/>
            <a:ext cx="530352" cy="530352"/>
          </a:xfrm>
          <a:prstGeom prst="ellipse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225296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20700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전용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데이터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" y="1938528"/>
            <a:ext cx="257860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2066544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민간 사례가 아닌 공단 실제 운영 데이터(시설 이용 현황, 민원 FAQ)를 실습 소재로 직접 활용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종료 즉시 현업 적용 가능한 산출물 보장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1051560"/>
            <a:ext cx="2834640" cy="3840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207008"/>
            <a:ext cx="530352" cy="530352"/>
          </a:xfrm>
          <a:prstGeom prst="ellipse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225296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120700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편차 대응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설계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64992" y="1938528"/>
            <a:ext cx="257860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2066544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활용도 편차가 큰 집단을 위한 3-Level 속도 조절형 실습 구조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수강생 → 심화 미션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수강생 → 핵심 산출물 완성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2784" y="1051560"/>
            <a:ext cx="2834640" cy="3840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207008"/>
            <a:ext cx="530352" cy="530352"/>
          </a:xfrm>
          <a:prstGeom prst="ellipse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225296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9168" y="120700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보장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계약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938528"/>
            <a:ext cx="257860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066544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과목별 최소 산출물 사전 계약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1부 · 카드뉴스 5컷 · 챗봇 1개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 시 보충 지원 세션 무상 제공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커크패트릭 4단계 평가로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ROI 가시화 및 현업 이전 보장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1024128"/>
            <a:ext cx="4315968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24128"/>
            <a:ext cx="105156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15544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평가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종료 직후 5점 척도 만족도 조사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4.5 / 5.0 이상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73168" y="1024128"/>
            <a:ext cx="4315968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024128"/>
            <a:ext cx="105156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5544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성취 평가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과목별 최종 산출물 완성도 심사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보고서·카드뉴스·챗봇 루브릭 채점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2761488"/>
            <a:ext cx="4315968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761488"/>
            <a:ext cx="105156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29260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변화 추적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후 4주 시점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AI 도구 활용 빈도 자기보고 체크리스트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73168" y="2761488"/>
            <a:ext cx="4315968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2761488"/>
            <a:ext cx="105156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0" y="29260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및 ROI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후 업무 시간 절감률 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 비용 절감액 추적 리포트 (선택)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" y="4498848"/>
            <a:ext cx="87325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507992"/>
            <a:ext cx="8458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케어: 교육 종료 후 2주 · 4주 AI 활용 리마인더 가이드 발송  +  트러블슈팅 Q&amp;A 오픈채널 운영 (3개월)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B7A4B">
              <a:alpha val="35000"/>
            </a:srgbClr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186B42">
              <a:alpha val="45000"/>
            </a:srgbClr>
          </a:solidFill>
          <a:ln w="12700">
            <a:solidFill>
              <a:srgbClr val="186B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15968"/>
            <a:ext cx="9144000" cy="827532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7772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C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동대문구시설관리공단의
</a:t>
            </a:r>
            <a:pPr indent="0" marL="0">
              <a:buNone/>
            </a:pPr>
            <a:r>
              <a:rPr lang="en-US" sz="2800" b="1" dirty="0">
                <a:solidFill>
                  <a:srgbClr val="4CAF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업무혁신 여정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2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알파코와 함께 시작합니다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33425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(주)알파코  </a:t>
            </a:r>
            <a:pPr indent="0" marL="0">
              <a:buNone/>
            </a:pPr>
            <a:r>
              <a:rPr lang="en-US" sz="1200" dirty="0">
                <a:solidFill>
                  <a:srgbClr val="A7C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proposal@alpaco.ai  |  02-0000-0000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동대문구시설관리공단 AX 교육 제안서</dc:title>
  <dc:subject>PptxGenJS Presentation</dc:subject>
  <dc:creator>PptxGenJS</dc:creator>
  <cp:lastModifiedBy>PptxGenJS</cp:lastModifiedBy>
  <cp:revision>1</cp:revision>
  <dcterms:created xsi:type="dcterms:W3CDTF">2026-05-20T08:13:33Z</dcterms:created>
  <dcterms:modified xsi:type="dcterms:W3CDTF">2026-05-20T08:13:33Z</dcterms:modified>
</cp:coreProperties>
</file>