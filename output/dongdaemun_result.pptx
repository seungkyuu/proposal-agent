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502B995C-7167-C8FB-D460-91823007C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89630" cy="691530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EFE95D3-3F12-133C-9B36-0FB3FE1C1B2E}"/>
              </a:ext>
            </a:extLst>
          </p:cNvPr>
          <p:cNvSpPr txBox="1"/>
          <p:nvPr/>
        </p:nvSpPr>
        <p:spPr>
          <a:xfrm>
            <a:off x="5648669" y="2632261"/>
            <a:ext cx="626806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동대문구시설관리공단 임직원
AI 활용 업무혁신 3일 부트캠프 제안</a:t>
            </a:r>
            <a:br>
              <a:rPr lang="en-US" altLang="ko-KR" sz="28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</a:b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BA6704-8317-D502-8FA5-DCAEAAA12186}"/>
              </a:ext>
            </a:extLst>
          </p:cNvPr>
          <p:cNvSpPr txBox="1"/>
          <p:nvPr/>
        </p:nvSpPr>
        <p:spPr>
          <a:xfrm>
            <a:off x="5721867" y="3679151"/>
            <a:ext cx="9509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제안사: 알파코(ALPACO)</a:t>
            </a:r>
            <a:endParaRPr lang="ko-KR" alt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그림 2" descr="폰트, 그래픽, 로고, 화이트이(가) 표시된 사진&#10;&#10;자동 생성된 설명">
            <a:extLst>
              <a:ext uri="{FF2B5EF4-FFF2-40B4-BE49-F238E27FC236}">
                <a16:creationId xmlns:a16="http://schemas.microsoft.com/office/drawing/2014/main" id="{2D25261F-8021-8935-45A4-D1EAA3A19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559" y="6438584"/>
            <a:ext cx="1539220" cy="3029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470A784-5282-C3D3-E2E9-6D2F4DB4DA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목차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6D9EE-B6D9-3FE8-5155-9F71D6EAB556}"/>
              </a:ext>
            </a:extLst>
          </p:cNvPr>
          <p:cNvSpPr txBox="1"/>
          <p:nvPr/>
        </p:nvSpPr>
        <p:spPr>
          <a:xfrm>
            <a:off x="1288587" y="2115171"/>
            <a:ext cx="1789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01. 제안 배경 및 필요성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/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/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/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/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/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/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42A7E-F6F0-00E9-2DA4-8EB724951D40}"/>
              </a:ext>
            </a:extLst>
          </p:cNvPr>
          <p:cNvSpPr txBox="1"/>
          <p:nvPr/>
        </p:nvSpPr>
        <p:spPr>
          <a:xfrm>
            <a:off x="986881" y="1797399"/>
            <a:ext cx="1221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02. 알파코 소개 및 수행 실적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59B445-5C3D-3F3D-26F7-79BA05DA659C}"/>
              </a:ext>
            </a:extLst>
          </p:cNvPr>
          <p:cNvSpPr txBox="1"/>
          <p:nvPr/>
        </p:nvSpPr>
        <p:spPr>
          <a:xfrm>
            <a:off x="4777511" y="1790412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03. 교육 설계 및 커리큘럼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68481E-5661-2491-CD0D-37D6F5D27026}"/>
              </a:ext>
            </a:extLst>
          </p:cNvPr>
          <p:cNvSpPr txBox="1"/>
          <p:nvPr/>
        </p:nvSpPr>
        <p:spPr>
          <a:xfrm>
            <a:off x="4785526" y="2098681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04. 알파코 강점 및 사후관리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7E5844-0BC7-8F50-0E1E-604CDF1F5147}"/>
              </a:ext>
            </a:extLst>
          </p:cNvPr>
          <p:cNvSpPr txBox="1"/>
          <p:nvPr/>
        </p:nvSpPr>
        <p:spPr>
          <a:xfrm>
            <a:off x="4785526" y="2297244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07p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5F5600-E809-BC81-3228-1C84CD887B76}"/>
              </a:ext>
            </a:extLst>
          </p:cNvPr>
          <p:cNvSpPr txBox="1"/>
          <p:nvPr/>
        </p:nvSpPr>
        <p:spPr>
          <a:xfrm>
            <a:off x="4785526" y="2480277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14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DCAB60-C7EB-0E8B-E5F5-889C25C64729}"/>
              </a:ext>
            </a:extLst>
          </p:cNvPr>
          <p:cNvSpPr txBox="1"/>
          <p:nvPr/>
        </p:nvSpPr>
        <p:spPr>
          <a:xfrm>
            <a:off x="1288587" y="4304358"/>
            <a:ext cx="28857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2.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 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제안회사의 일반현황 및 연혁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2.2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조직체계 및 인원현황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2.3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재무현황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2.4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사업분야 및 관련 프로젝트 수행내용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4279EF-C2A8-42A5-B43D-97E0E3844F81}"/>
              </a:ext>
            </a:extLst>
          </p:cNvPr>
          <p:cNvSpPr txBox="1"/>
          <p:nvPr/>
        </p:nvSpPr>
        <p:spPr>
          <a:xfrm>
            <a:off x="986881" y="3923936"/>
            <a:ext cx="1649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2.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제안업체 현황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60EADA-6631-9549-AD7C-DCF9E3FCB9F0}"/>
              </a:ext>
            </a:extLst>
          </p:cNvPr>
          <p:cNvSpPr txBox="1"/>
          <p:nvPr/>
        </p:nvSpPr>
        <p:spPr>
          <a:xfrm>
            <a:off x="4785526" y="3926681"/>
            <a:ext cx="457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19p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339D50-7F38-980F-F7F6-7B38862C5726}"/>
              </a:ext>
            </a:extLst>
          </p:cNvPr>
          <p:cNvSpPr txBox="1"/>
          <p:nvPr/>
        </p:nvSpPr>
        <p:spPr>
          <a:xfrm>
            <a:off x="4785526" y="4297199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20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0135A4-4E3C-3F25-242B-D2657F4E8670}"/>
              </a:ext>
            </a:extLst>
          </p:cNvPr>
          <p:cNvSpPr txBox="1"/>
          <p:nvPr/>
        </p:nvSpPr>
        <p:spPr>
          <a:xfrm>
            <a:off x="4785526" y="4495762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21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1DC4D3-EE69-15A0-783A-B3B086A69020}"/>
              </a:ext>
            </a:extLst>
          </p:cNvPr>
          <p:cNvSpPr txBox="1"/>
          <p:nvPr/>
        </p:nvSpPr>
        <p:spPr>
          <a:xfrm>
            <a:off x="4785526" y="4678795"/>
            <a:ext cx="4892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22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46CB0E-63D2-59F7-4F0F-B1BC22E2E129}"/>
              </a:ext>
            </a:extLst>
          </p:cNvPr>
          <p:cNvSpPr txBox="1"/>
          <p:nvPr/>
        </p:nvSpPr>
        <p:spPr>
          <a:xfrm>
            <a:off x="4785526" y="4876057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23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97FD761-615C-7015-E50D-24DC6638094B}"/>
              </a:ext>
            </a:extLst>
          </p:cNvPr>
          <p:cNvSpPr txBox="1"/>
          <p:nvPr/>
        </p:nvSpPr>
        <p:spPr>
          <a:xfrm>
            <a:off x="6557721" y="2103172"/>
            <a:ext cx="22637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3.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 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과정별 교육내용 구성 방안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3.2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|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교육 환경에 대한 기술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3.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3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강사 투입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방안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3.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4 |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교육관리 방안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8AD1A315-3ECD-F838-F8AB-FC7239169DFF}"/>
              </a:ext>
            </a:extLst>
          </p:cNvPr>
          <p:cNvSpPr txBox="1"/>
          <p:nvPr/>
        </p:nvSpPr>
        <p:spPr>
          <a:xfrm>
            <a:off x="6256015" y="1775765"/>
            <a:ext cx="17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3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.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교육 추진 방안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7AB38E6-8109-3FDB-C346-071645C71C8F}"/>
              </a:ext>
            </a:extLst>
          </p:cNvPr>
          <p:cNvSpPr txBox="1"/>
          <p:nvPr/>
        </p:nvSpPr>
        <p:spPr>
          <a:xfrm>
            <a:off x="10778264" y="1776390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32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7BE17CF-C61B-5E86-FE5C-AC6C5EC8D284}"/>
              </a:ext>
            </a:extLst>
          </p:cNvPr>
          <p:cNvSpPr txBox="1"/>
          <p:nvPr/>
        </p:nvSpPr>
        <p:spPr>
          <a:xfrm>
            <a:off x="10778264" y="208668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33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116869F-1524-1149-1560-6634ADFCD79A}"/>
              </a:ext>
            </a:extLst>
          </p:cNvPr>
          <p:cNvSpPr txBox="1"/>
          <p:nvPr/>
        </p:nvSpPr>
        <p:spPr>
          <a:xfrm>
            <a:off x="10778264" y="228524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46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146402C-25F9-5C1D-6CB8-F457479107D3}"/>
              </a:ext>
            </a:extLst>
          </p:cNvPr>
          <p:cNvSpPr txBox="1"/>
          <p:nvPr/>
        </p:nvSpPr>
        <p:spPr>
          <a:xfrm>
            <a:off x="10778264" y="2468278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58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A8632D2-F98B-9273-2A31-D228B74B6607}"/>
              </a:ext>
            </a:extLst>
          </p:cNvPr>
          <p:cNvSpPr txBox="1"/>
          <p:nvPr/>
        </p:nvSpPr>
        <p:spPr>
          <a:xfrm>
            <a:off x="10778264" y="2665540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65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04F789B-0F03-2828-200A-D52ECFBE451B}"/>
              </a:ext>
            </a:extLst>
          </p:cNvPr>
          <p:cNvSpPr txBox="1"/>
          <p:nvPr/>
        </p:nvSpPr>
        <p:spPr>
          <a:xfrm>
            <a:off x="6283613" y="3933664"/>
            <a:ext cx="1268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4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.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기타 제안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1CF1357-50E0-6AE4-A4AC-1E374A6B7C68}"/>
              </a:ext>
            </a:extLst>
          </p:cNvPr>
          <p:cNvSpPr txBox="1"/>
          <p:nvPr/>
        </p:nvSpPr>
        <p:spPr>
          <a:xfrm>
            <a:off x="6631496" y="4303564"/>
            <a:ext cx="4017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4.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  |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사전 준비 및 협조 사항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4.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2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교육의 성공적 수행을 위해 제안하고자 하는 추가 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9607358-7EAD-18C2-47F8-D4C2920C48E2}"/>
              </a:ext>
            </a:extLst>
          </p:cNvPr>
          <p:cNvSpPr txBox="1"/>
          <p:nvPr/>
        </p:nvSpPr>
        <p:spPr>
          <a:xfrm>
            <a:off x="10822202" y="433322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9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C423D7FB-8177-1BC3-DDF6-195F9C755643}"/>
              </a:ext>
            </a:extLst>
          </p:cNvPr>
          <p:cNvSpPr txBox="1"/>
          <p:nvPr/>
        </p:nvSpPr>
        <p:spPr>
          <a:xfrm>
            <a:off x="10822202" y="4516260"/>
            <a:ext cx="421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--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71D92B-2230-608B-B0A3-19380D350948}"/>
              </a:ext>
            </a:extLst>
          </p:cNvPr>
          <p:cNvSpPr txBox="1"/>
          <p:nvPr/>
        </p:nvSpPr>
        <p:spPr>
          <a:xfrm>
            <a:off x="479793" y="491632"/>
            <a:ext cx="2943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rgbClr val="00206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CONTENTS</a:t>
            </a:r>
            <a:endParaRPr lang="ko-KR" altLang="en-US" sz="4000" dirty="0">
              <a:solidFill>
                <a:srgbClr val="00206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1070F1-2A60-37D5-C4BB-D3FD67423A6B}"/>
              </a:ext>
            </a:extLst>
          </p:cNvPr>
          <p:cNvSpPr txBox="1"/>
          <p:nvPr/>
        </p:nvSpPr>
        <p:spPr>
          <a:xfrm>
            <a:off x="10822201" y="3933825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92p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8B5B70C-06D6-1D07-E58C-48EEC7085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CEF9F-EBC1-D80C-B8E7-8EF5EB9DB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AI 혁신 비전 선포 이후
현장 실행력 확보가 핵심 과제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F2E197-6F73-3853-C34D-6EA008BBA21C}"/>
              </a:ext>
            </a:extLst>
          </p:cNvPr>
          <p:cNvSpPr/>
          <p:nvPr/>
        </p:nvSpPr>
        <p:spPr>
          <a:xfrm>
            <a:off x="0" y="858255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lvl="0" latinLnBrk="0">
              <a:defRPr/>
            </a:pPr>
            <a:r>
              <a:rPr lang="en-US" altLang="ko-KR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현재의 한계 (As-Is)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" name="AutoShape 39">
            <a:extLst>
              <a:ext uri="{FF2B5EF4-FFF2-40B4-BE49-F238E27FC236}">
                <a16:creationId xmlns:a16="http://schemas.microsoft.com/office/drawing/2014/main" id="{B9754739-0171-3B5E-3E49-219FF4D00ED2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7373354" y="4107149"/>
            <a:ext cx="2065612" cy="465471"/>
          </a:xfrm>
          <a:prstGeom prst="triangle">
            <a:avLst>
              <a:gd name="adj" fmla="val 50000"/>
            </a:avLst>
          </a:prstGeom>
          <a:gradFill rotWithShape="0">
            <a:gsLst>
              <a:gs pos="66000">
                <a:srgbClr val="B0B0B0"/>
              </a:gs>
              <a:gs pos="0">
                <a:schemeClr val="bg1"/>
              </a:gs>
              <a:gs pos="100000">
                <a:schemeClr val="bg1">
                  <a:lumMod val="50000"/>
                </a:schemeClr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square" lIns="93600" tIns="46800" rIns="93600" bIns="46800" anchor="ctr">
            <a:noAutofit/>
          </a:bodyPr>
          <a:lstStyle/>
          <a:p>
            <a:r>
              <a:t>전사 AI 혁신 5개년 계획 선포 완료</a:t>
            </a:r>
            <a:br/>
            <a:r>
              <a:t>AI CCTV·무인 주차 등 인프라 도입은 선도적</a:t>
            </a:r>
            <a:br/>
            <a:r>
              <a:t>그러나 임직원 개인의 AI 직접 활용 역량은 초급 수준에 머물러 있음</a:t>
            </a:r>
            <a:br/>
            <a:r>
              <a:t>행정문서·홍보 콘텐츠·민원 대응 등 일상 업무에서 AI 미활용</a:t>
            </a:r>
            <a:br/>
            <a:r>
              <a:t>시스템(하드웨어 AI)과 사람(소프트 AI 역량) 간의 격차 심화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755C5-EE08-37F4-F6C5-84627B243A67}"/>
              </a:ext>
            </a:extLst>
          </p:cNvPr>
          <p:cNvSpPr txBox="1"/>
          <p:nvPr/>
        </p:nvSpPr>
        <p:spPr>
          <a:xfrm>
            <a:off x="2994137" y="2694232"/>
            <a:ext cx="529183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 후 전환 성과 (To-Be)</a:t>
            </a:r>
            <a:br>
              <a:rPr lang="en-US" altLang="ko-KR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68F75-4DE3-FFF7-8D38-8D563772E15F}"/>
              </a:ext>
            </a:extLst>
          </p:cNvPr>
          <p:cNvSpPr txBox="1"/>
          <p:nvPr/>
        </p:nvSpPr>
        <p:spPr>
          <a:xfrm>
            <a:off x="2994137" y="3318301"/>
            <a:ext cx="471956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행정문서 AI 초안 작성으로 보고서 작성 시간 단축
AI 이미지·영상 도구로 홍보 콘텐츠 자체 제작 역량 확보
민원 FAQ 챗봇 기획·구축으로 반복 민원 응대 부담 완화
전 임직원이 AI를 일상 도구로 활용하는 스마트 공단 실현
'2030 디지털·AI 경영혁신 중장기 계획' 현장 실행력 조기 확보</a:t>
            </a:r>
            <a:br>
              <a:rPr lang="en-US" altLang="ko-KR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B7C5A7-F61D-F942-87B1-8319C846DA87}"/>
              </a:ext>
            </a:extLst>
          </p:cNvPr>
          <p:cNvSpPr txBox="1"/>
          <p:nvPr/>
        </p:nvSpPr>
        <p:spPr>
          <a:xfrm>
            <a:off x="2994137" y="3989871"/>
            <a:ext cx="523091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에이전틱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기반 그룹 공동 생성형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플랫폼 도입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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KB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GenAI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 포털 내 업무 활용 가능한 에이전트 적용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금융상담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·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자산관리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등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14817B-F13F-C5F2-EC69-FD3AB92CA5DB}"/>
              </a:ext>
            </a:extLst>
          </p:cNvPr>
          <p:cNvSpPr txBox="1"/>
          <p:nvPr/>
        </p:nvSpPr>
        <p:spPr>
          <a:xfrm>
            <a:off x="2994137" y="4630929"/>
            <a:ext cx="512351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기업용 자금관리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에이전트 서비스 금융권 최초 도입</a:t>
            </a:r>
            <a:br>
              <a:rPr lang="en-US" altLang="ko-KR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 ‘NH</a:t>
            </a:r>
            <a:r>
              <a:rPr lang="ko-KR" altLang="en-US" sz="12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하나로브랜치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’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 출시하여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기업용 통합자금관리서비스에 에이전트 탑재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D993A4-FD72-CD10-986E-F3C2F5764C4F}"/>
              </a:ext>
            </a:extLst>
          </p:cNvPr>
          <p:cNvSpPr txBox="1"/>
          <p:nvPr/>
        </p:nvSpPr>
        <p:spPr>
          <a:xfrm>
            <a:off x="2994137" y="5285510"/>
            <a:ext cx="42835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규정 기반 업무 내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에이전트 우선 적용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정책금융 상담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글로벌 내규 번역 등 복잡한 행정 업무 효율화</a:t>
            </a:r>
            <a:endParaRPr lang="ko-KR" altLang="en-US" sz="12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F3AF381-514A-5E91-2869-E7813444DA3A}"/>
              </a:ext>
            </a:extLst>
          </p:cNvPr>
          <p:cNvCxnSpPr>
            <a:cxnSpLocks/>
          </p:cNvCxnSpPr>
          <p:nvPr/>
        </p:nvCxnSpPr>
        <p:spPr>
          <a:xfrm>
            <a:off x="2986194" y="2761142"/>
            <a:ext cx="0" cy="379586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88A08D2-EC06-9D20-2A6C-4EDCA1EE5130}"/>
              </a:ext>
            </a:extLst>
          </p:cNvPr>
          <p:cNvCxnSpPr>
            <a:cxnSpLocks/>
          </p:cNvCxnSpPr>
          <p:nvPr/>
        </p:nvCxnSpPr>
        <p:spPr>
          <a:xfrm>
            <a:off x="2986194" y="3385198"/>
            <a:ext cx="0" cy="379586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ECA42AB-F89D-2598-3361-2D8EC828F2BE}"/>
              </a:ext>
            </a:extLst>
          </p:cNvPr>
          <p:cNvCxnSpPr>
            <a:cxnSpLocks/>
          </p:cNvCxnSpPr>
          <p:nvPr/>
        </p:nvCxnSpPr>
        <p:spPr>
          <a:xfrm>
            <a:off x="2986194" y="4056755"/>
            <a:ext cx="0" cy="379586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직선 연결선 292">
            <a:extLst>
              <a:ext uri="{FF2B5EF4-FFF2-40B4-BE49-F238E27FC236}">
                <a16:creationId xmlns:a16="http://schemas.microsoft.com/office/drawing/2014/main" id="{12602D8D-E475-6F60-E6FA-50FEA05D4373}"/>
              </a:ext>
            </a:extLst>
          </p:cNvPr>
          <p:cNvCxnSpPr>
            <a:cxnSpLocks/>
          </p:cNvCxnSpPr>
          <p:nvPr/>
        </p:nvCxnSpPr>
        <p:spPr>
          <a:xfrm>
            <a:off x="2986194" y="4697802"/>
            <a:ext cx="0" cy="379586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B8538632-B537-65FF-B416-CC003023CC60}"/>
              </a:ext>
            </a:extLst>
          </p:cNvPr>
          <p:cNvCxnSpPr>
            <a:cxnSpLocks/>
          </p:cNvCxnSpPr>
          <p:nvPr/>
        </p:nvCxnSpPr>
        <p:spPr>
          <a:xfrm>
            <a:off x="2986194" y="5352630"/>
            <a:ext cx="0" cy="379586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3E2AF3FF-1701-79F4-113C-3D0E3EC9FCA8}"/>
              </a:ext>
            </a:extLst>
          </p:cNvPr>
          <p:cNvGrpSpPr/>
          <p:nvPr/>
        </p:nvGrpSpPr>
        <p:grpSpPr>
          <a:xfrm>
            <a:off x="880969" y="2781644"/>
            <a:ext cx="1631937" cy="3177066"/>
            <a:chOff x="1006998" y="2013446"/>
            <a:chExt cx="2437686" cy="4549396"/>
          </a:xfrm>
        </p:grpSpPr>
        <p:sp>
          <p:nvSpPr>
            <p:cNvPr id="296" name="자유형: 도형 295">
              <a:extLst>
                <a:ext uri="{FF2B5EF4-FFF2-40B4-BE49-F238E27FC236}">
                  <a16:creationId xmlns:a16="http://schemas.microsoft.com/office/drawing/2014/main" id="{CC1151C5-257B-C205-9AFF-4D49F62CB3BA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237080" y="3127422"/>
              <a:ext cx="4243740" cy="2171469"/>
            </a:xfrm>
            <a:custGeom>
              <a:avLst/>
              <a:gdLst>
                <a:gd name="connsiteX0" fmla="*/ 207 w 5629012"/>
                <a:gd name="connsiteY0" fmla="*/ 0 h 2819401"/>
                <a:gd name="connsiteX1" fmla="*/ 5628805 w 5629012"/>
                <a:gd name="connsiteY1" fmla="*/ 0 h 2819401"/>
                <a:gd name="connsiteX2" fmla="*/ 5629012 w 5629012"/>
                <a:gd name="connsiteY2" fmla="*/ 4091 h 2819401"/>
                <a:gd name="connsiteX3" fmla="*/ 2814506 w 5629012"/>
                <a:gd name="connsiteY3" fmla="*/ 2819401 h 2819401"/>
                <a:gd name="connsiteX4" fmla="*/ 0 w 5629012"/>
                <a:gd name="connsiteY4" fmla="*/ 4091 h 281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012" h="2819401">
                  <a:moveTo>
                    <a:pt x="207" y="0"/>
                  </a:moveTo>
                  <a:lnTo>
                    <a:pt x="5628805" y="0"/>
                  </a:lnTo>
                  <a:lnTo>
                    <a:pt x="5629012" y="4091"/>
                  </a:lnTo>
                  <a:cubicBezTo>
                    <a:pt x="5629012" y="1558944"/>
                    <a:pt x="4368915" y="2819401"/>
                    <a:pt x="2814506" y="2819401"/>
                  </a:cubicBezTo>
                  <a:cubicBezTo>
                    <a:pt x="1260097" y="2819401"/>
                    <a:pt x="0" y="1558944"/>
                    <a:pt x="0" y="4091"/>
                  </a:cubicBezTo>
                  <a:close/>
                </a:path>
              </a:pathLst>
            </a:custGeom>
            <a:solidFill>
              <a:schemeClr val="bg1">
                <a:alpha val="52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600" dirty="0"/>
            </a:p>
          </p:txBody>
        </p:sp>
        <p:sp>
          <p:nvSpPr>
            <p:cNvPr id="297" name="직사각형 296">
              <a:extLst>
                <a:ext uri="{FF2B5EF4-FFF2-40B4-BE49-F238E27FC236}">
                  <a16:creationId xmlns:a16="http://schemas.microsoft.com/office/drawing/2014/main" id="{7F2D752C-43E4-B90E-73FD-19E91D5F000F}"/>
                </a:ext>
              </a:extLst>
            </p:cNvPr>
            <p:cNvSpPr/>
            <p:nvPr/>
          </p:nvSpPr>
          <p:spPr>
            <a:xfrm>
              <a:off x="1006998" y="2013446"/>
              <a:ext cx="324091" cy="4549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pic>
        <p:nvPicPr>
          <p:cNvPr id="298" name="그림 297">
            <a:extLst>
              <a:ext uri="{FF2B5EF4-FFF2-40B4-BE49-F238E27FC236}">
                <a16:creationId xmlns:a16="http://schemas.microsoft.com/office/drawing/2014/main" id="{D7636561-4CB7-4901-6B97-51437162018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BFCFE"/>
              </a:clrFrom>
              <a:clrTo>
                <a:srgbClr val="FBFC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3" t="19960" r="9320" b="9084"/>
          <a:stretch/>
        </p:blipFill>
        <p:spPr>
          <a:xfrm>
            <a:off x="627360" y="3538417"/>
            <a:ext cx="1566576" cy="1465786"/>
          </a:xfrm>
          <a:prstGeom prst="rect">
            <a:avLst/>
          </a:prstGeom>
        </p:spPr>
      </p:pic>
      <p:sp>
        <p:nvSpPr>
          <p:cNvPr id="299" name="타원 298">
            <a:extLst>
              <a:ext uri="{FF2B5EF4-FFF2-40B4-BE49-F238E27FC236}">
                <a16:creationId xmlns:a16="http://schemas.microsoft.com/office/drawing/2014/main" id="{C09D1F11-8EC9-0E76-7195-84A87937EF19}"/>
              </a:ext>
            </a:extLst>
          </p:cNvPr>
          <p:cNvSpPr>
            <a:spLocks noChangeAspect="1"/>
          </p:cNvSpPr>
          <p:nvPr/>
        </p:nvSpPr>
        <p:spPr>
          <a:xfrm>
            <a:off x="1546326" y="2767616"/>
            <a:ext cx="587201" cy="58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rtlCol="0" anchor="ctr" anchorCtr="0"/>
          <a:lstStyle/>
          <a:p>
            <a:pPr algn="ctr" defTabSz="457200" latinLnBrk="0"/>
            <a:r>
              <a:rPr lang="ko-KR" altLang="en-US" sz="10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신한</a:t>
            </a:r>
            <a:endParaRPr lang="en-US" altLang="ko-KR" sz="1000" b="1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 defTabSz="457200" latinLnBrk="0"/>
            <a:r>
              <a:rPr lang="ko-KR" altLang="en-US" sz="10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금융그룹</a:t>
            </a:r>
            <a:endParaRPr lang="en-US" altLang="ko-KR" sz="1000" b="1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0" name="타원 299">
            <a:extLst>
              <a:ext uri="{FF2B5EF4-FFF2-40B4-BE49-F238E27FC236}">
                <a16:creationId xmlns:a16="http://schemas.microsoft.com/office/drawing/2014/main" id="{FB700C82-2B04-8134-25A0-CE16BFD7F885}"/>
              </a:ext>
            </a:extLst>
          </p:cNvPr>
          <p:cNvSpPr>
            <a:spLocks noChangeAspect="1"/>
          </p:cNvSpPr>
          <p:nvPr/>
        </p:nvSpPr>
        <p:spPr>
          <a:xfrm>
            <a:off x="2085005" y="3270130"/>
            <a:ext cx="587201" cy="58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rtlCol="0" anchor="ctr" anchorCtr="0"/>
          <a:lstStyle/>
          <a:p>
            <a:pPr lvl="0" algn="ctr">
              <a:defRPr/>
            </a:pPr>
            <a:r>
              <a:rPr lang="ko-KR" altLang="en-US" sz="10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우리</a:t>
            </a:r>
            <a:endParaRPr lang="en-US" altLang="ko-KR" sz="1000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lvl="0" algn="ctr">
              <a:defRPr/>
            </a:pPr>
            <a:r>
              <a:rPr lang="ko-KR" altLang="en-US" sz="10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금융그룹</a:t>
            </a:r>
            <a:endParaRPr lang="en-US" altLang="ko-KR" sz="1000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1" name="타원 300">
            <a:extLst>
              <a:ext uri="{FF2B5EF4-FFF2-40B4-BE49-F238E27FC236}">
                <a16:creationId xmlns:a16="http://schemas.microsoft.com/office/drawing/2014/main" id="{EAC4BC8D-3538-B5E5-44EE-4485339546AD}"/>
              </a:ext>
            </a:extLst>
          </p:cNvPr>
          <p:cNvSpPr>
            <a:spLocks noChangeAspect="1"/>
          </p:cNvSpPr>
          <p:nvPr/>
        </p:nvSpPr>
        <p:spPr>
          <a:xfrm>
            <a:off x="2298956" y="3997326"/>
            <a:ext cx="587201" cy="58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rtlCol="0" anchor="ctr" anchorCtr="0"/>
          <a:lstStyle/>
          <a:p>
            <a:pPr lvl="0" algn="ctr">
              <a:defRPr/>
            </a:pPr>
            <a:r>
              <a:rPr lang="en-US" altLang="ko-KR" sz="10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KB</a:t>
            </a:r>
          </a:p>
          <a:p>
            <a:pPr lvl="0" algn="ctr">
              <a:defRPr/>
            </a:pPr>
            <a:r>
              <a:rPr lang="ko-KR" altLang="en-US" sz="10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금융그룹</a:t>
            </a:r>
            <a:endParaRPr lang="en-US" altLang="ko-KR" sz="1000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2" name="타원 301">
            <a:extLst>
              <a:ext uri="{FF2B5EF4-FFF2-40B4-BE49-F238E27FC236}">
                <a16:creationId xmlns:a16="http://schemas.microsoft.com/office/drawing/2014/main" id="{20160703-3085-8BE5-0FD2-628FDEED9C08}"/>
              </a:ext>
            </a:extLst>
          </p:cNvPr>
          <p:cNvSpPr>
            <a:spLocks noChangeAspect="1"/>
          </p:cNvSpPr>
          <p:nvPr/>
        </p:nvSpPr>
        <p:spPr>
          <a:xfrm>
            <a:off x="2085005" y="4690963"/>
            <a:ext cx="587201" cy="58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rtlCol="0" anchor="ctr" anchorCtr="0"/>
          <a:lstStyle/>
          <a:p>
            <a:pPr lvl="0" algn="ctr">
              <a:defRPr/>
            </a:pPr>
            <a:r>
              <a:rPr lang="en-US" altLang="ko-KR" sz="10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NH</a:t>
            </a:r>
          </a:p>
          <a:p>
            <a:pPr lvl="0" algn="ctr">
              <a:defRPr/>
            </a:pPr>
            <a:r>
              <a:rPr lang="ko-KR" altLang="en-US" sz="10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농협은행</a:t>
            </a:r>
            <a:endParaRPr lang="en-US" altLang="ko-KR" sz="1000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3" name="타원 302">
            <a:extLst>
              <a:ext uri="{FF2B5EF4-FFF2-40B4-BE49-F238E27FC236}">
                <a16:creationId xmlns:a16="http://schemas.microsoft.com/office/drawing/2014/main" id="{9B1F2875-F3A0-AA0D-1A88-A657D50CBBBA}"/>
              </a:ext>
            </a:extLst>
          </p:cNvPr>
          <p:cNvSpPr>
            <a:spLocks noChangeAspect="1"/>
          </p:cNvSpPr>
          <p:nvPr/>
        </p:nvSpPr>
        <p:spPr>
          <a:xfrm>
            <a:off x="1546326" y="5194593"/>
            <a:ext cx="587201" cy="58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rtlCol="0" anchor="ctr" anchorCtr="0"/>
          <a:lstStyle/>
          <a:p>
            <a:pPr lvl="0" algn="ctr">
              <a:defRPr/>
            </a:pPr>
            <a:r>
              <a:rPr lang="ko-KR" altLang="en-US" sz="10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하나은행</a:t>
            </a:r>
            <a:endParaRPr lang="en-US" altLang="ko-KR" sz="1000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28D577BC-5BB3-5183-A66D-1381169472D0}"/>
              </a:ext>
            </a:extLst>
          </p:cNvPr>
          <p:cNvSpPr/>
          <p:nvPr/>
        </p:nvSpPr>
        <p:spPr>
          <a:xfrm>
            <a:off x="8738209" y="4500665"/>
            <a:ext cx="2478975" cy="937258"/>
          </a:xfrm>
          <a:prstGeom prst="roundRect">
            <a:avLst>
              <a:gd name="adj" fmla="val 5013"/>
            </a:avLst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ü"/>
            </a:pPr>
            <a:endParaRPr lang="en-US" altLang="ko-KR" sz="14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9388" indent="-179388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ü"/>
            </a:pPr>
            <a:endParaRPr lang="en-US" altLang="ko-KR" sz="14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endParaRPr lang="en-US" altLang="ko-KR" sz="14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AB54DC8F-3D08-2B36-7EB7-3886E36339B6}"/>
              </a:ext>
            </a:extLst>
          </p:cNvPr>
          <p:cNvSpPr/>
          <p:nvPr/>
        </p:nvSpPr>
        <p:spPr>
          <a:xfrm>
            <a:off x="540045" y="2205038"/>
            <a:ext cx="11111911" cy="4130057"/>
          </a:xfrm>
          <a:prstGeom prst="rect">
            <a:avLst/>
          </a:prstGeom>
          <a:noFill/>
          <a:ln w="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85463844-AC7A-D7C9-98C0-F8492F2C36F3}"/>
              </a:ext>
            </a:extLst>
          </p:cNvPr>
          <p:cNvSpPr txBox="1"/>
          <p:nvPr/>
        </p:nvSpPr>
        <p:spPr>
          <a:xfrm>
            <a:off x="451430" y="1394098"/>
            <a:ext cx="6740948" cy="384785"/>
          </a:xfrm>
          <a:prstGeom prst="rect">
            <a:avLst/>
          </a:prstGeom>
          <a:noFill/>
        </p:spPr>
        <p:txBody>
          <a:bodyPr wrap="none" anchor="t" anchorCtr="0">
            <a:spAutoFit/>
          </a:bodyPr>
          <a:lstStyle/>
          <a:p>
            <a:pPr>
              <a:lnSpc>
                <a:spcPct val="110000"/>
              </a:lnSpc>
              <a:buClrTx/>
              <a:buFontTx/>
              <a:buNone/>
            </a:pPr>
            <a:r>
              <a:rPr lang="ko-KR" altLang="en-US" sz="1800" dirty="0">
                <a:solidFill>
                  <a:sysClr val="windowText" lastClr="0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금융권</a:t>
            </a:r>
            <a:r>
              <a:rPr lang="en-US" altLang="ko-KR" sz="1800" dirty="0">
                <a:solidFill>
                  <a:sysClr val="windowText" lastClr="0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800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스스로 판단하고 행동하는 </a:t>
            </a:r>
            <a:r>
              <a:rPr lang="en-US" altLang="ko-KR" sz="1800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800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에이전트 </a:t>
            </a:r>
            <a:r>
              <a:rPr lang="en-US" altLang="ko-KR" sz="1800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‘</a:t>
            </a:r>
            <a:r>
              <a:rPr lang="ko-KR" altLang="en-US" sz="1800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실무 파트너</a:t>
            </a:r>
            <a:r>
              <a:rPr lang="en-US" altLang="ko-KR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’</a:t>
            </a:r>
            <a:r>
              <a:rPr lang="ko-KR" altLang="en-US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로 활용</a:t>
            </a:r>
            <a:endParaRPr lang="en-US" altLang="ko-KR" sz="1800" dirty="0">
              <a:solidFill>
                <a:srgbClr val="0000FF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38DC2BCE-FCAB-BE30-6E17-4F5E3AF7CA99}"/>
              </a:ext>
            </a:extLst>
          </p:cNvPr>
          <p:cNvSpPr txBox="1"/>
          <p:nvPr/>
        </p:nvSpPr>
        <p:spPr>
          <a:xfrm>
            <a:off x="451430" y="1727906"/>
            <a:ext cx="6229590" cy="369332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latinLnBrk="1">
              <a:buClrTx/>
              <a:buFontTx/>
              <a:buNone/>
              <a:defRPr/>
            </a:pPr>
            <a:r>
              <a:rPr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자산관리</a:t>
            </a:r>
            <a:r>
              <a:rPr lang="en-US" altLang="ko-KR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보험사례</a:t>
            </a:r>
            <a:r>
              <a:rPr lang="en-US" altLang="ko-KR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,</a:t>
            </a:r>
            <a:r>
              <a:rPr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 고객 데이터 분석 등 업무 전반에서의 적용</a:t>
            </a:r>
            <a:endParaRPr lang="en-US" altLang="ko-KR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pic>
        <p:nvPicPr>
          <p:cNvPr id="1026" name="Picture 2" descr="KB금융그룹 CI | 기업 CI | 그룹소개 -">
            <a:extLst>
              <a:ext uri="{FF2B5EF4-FFF2-40B4-BE49-F238E27FC236}">
                <a16:creationId xmlns:a16="http://schemas.microsoft.com/office/drawing/2014/main" id="{3B0FA887-BA36-61B4-1E5B-32257B2EF9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0" t="37143" r="15961" b="38737"/>
          <a:stretch>
            <a:fillRect/>
          </a:stretch>
        </p:blipFill>
        <p:spPr bwMode="auto">
          <a:xfrm>
            <a:off x="6904573" y="4032074"/>
            <a:ext cx="969854" cy="173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그림 316">
            <a:extLst>
              <a:ext uri="{FF2B5EF4-FFF2-40B4-BE49-F238E27FC236}">
                <a16:creationId xmlns:a16="http://schemas.microsoft.com/office/drawing/2014/main" id="{FD62D2BD-0656-F9FC-90A4-465F49754E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910" y="2739800"/>
            <a:ext cx="869771" cy="165565"/>
          </a:xfrm>
          <a:prstGeom prst="rect">
            <a:avLst/>
          </a:prstGeom>
        </p:spPr>
      </p:pic>
      <p:pic>
        <p:nvPicPr>
          <p:cNvPr id="1030" name="Picture 6" descr="우리금융그룹 - 나무위키">
            <a:extLst>
              <a:ext uri="{FF2B5EF4-FFF2-40B4-BE49-F238E27FC236}">
                <a16:creationId xmlns:a16="http://schemas.microsoft.com/office/drawing/2014/main" id="{6C768CA5-CDCE-D99E-4DCD-47B35BC45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345" y="3388550"/>
            <a:ext cx="796565" cy="137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8EE8DF5-1A5E-6C58-E7C3-D32F2F8A4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925" y="5351469"/>
            <a:ext cx="664751" cy="17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H농협은행 로고">
            <a:extLst>
              <a:ext uri="{FF2B5EF4-FFF2-40B4-BE49-F238E27FC236}">
                <a16:creationId xmlns:a16="http://schemas.microsoft.com/office/drawing/2014/main" id="{3C4D388B-47A8-8BBC-BC89-32D33DC50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428" y="4663507"/>
            <a:ext cx="866041" cy="22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5D7032-C454-5D5A-586F-C279977B3FC3}"/>
              </a:ext>
            </a:extLst>
          </p:cNvPr>
          <p:cNvSpPr txBox="1"/>
          <p:nvPr/>
        </p:nvSpPr>
        <p:spPr>
          <a:xfrm>
            <a:off x="8306748" y="3227171"/>
            <a:ext cx="3215830" cy="1030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금융권의 </a:t>
            </a:r>
            <a:r>
              <a:rPr lang="en-US" altLang="ko-KR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Agent </a:t>
            </a:r>
            <a:r>
              <a:rPr lang="ko-KR" altLang="en-US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실무</a:t>
            </a:r>
            <a:r>
              <a:rPr lang="en-US" altLang="ko-KR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전환 가속화</a:t>
            </a:r>
            <a:endParaRPr lang="en-US" altLang="ko-KR" sz="1400" b="1" i="1" kern="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b="1" i="1" kern="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“</a:t>
            </a:r>
            <a:r>
              <a:rPr lang="ko-KR" altLang="en-US" sz="1400" b="1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중심 </a:t>
            </a:r>
            <a:r>
              <a:rPr lang="en-US" altLang="ko-KR" sz="1400" b="1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400" b="1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실행 역량</a:t>
            </a:r>
            <a:r>
              <a:rPr lang="en-US" altLang="ko-KR" sz="1400" b="1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”</a:t>
            </a:r>
            <a:r>
              <a:rPr lang="ko-KR" altLang="en-US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</a:t>
            </a:r>
            <a:endParaRPr lang="en-US" altLang="ko-KR" sz="1400" b="1" i="1" kern="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조직 경쟁력 결정</a:t>
            </a:r>
            <a:endParaRPr lang="en-US" altLang="ko-KR" sz="1400" b="1" i="1" kern="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90AC6A-34BA-596B-B2B0-465BF5093498}"/>
              </a:ext>
            </a:extLst>
          </p:cNvPr>
          <p:cNvSpPr txBox="1"/>
          <p:nvPr/>
        </p:nvSpPr>
        <p:spPr>
          <a:xfrm>
            <a:off x="8597712" y="4698105"/>
            <a:ext cx="2759968" cy="55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1" kern="0"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i="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실무형 </a:t>
            </a:r>
            <a:r>
              <a:rPr lang="en-US" altLang="ko-KR" i="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AI Agent </a:t>
            </a:r>
          </a:p>
          <a:p>
            <a:r>
              <a:rPr lang="ko-KR" altLang="en-US" i="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인재 확보 필수</a:t>
            </a:r>
          </a:p>
        </p:txBody>
      </p:sp>
      <p:sp>
        <p:nvSpPr>
          <p:cNvPr id="307" name="화살표: 아래쪽 306">
            <a:extLst>
              <a:ext uri="{FF2B5EF4-FFF2-40B4-BE49-F238E27FC236}">
                <a16:creationId xmlns:a16="http://schemas.microsoft.com/office/drawing/2014/main" id="{54AEDB2C-5A62-1E18-11BE-3C83AD636C6F}"/>
              </a:ext>
            </a:extLst>
          </p:cNvPr>
          <p:cNvSpPr/>
          <p:nvPr/>
        </p:nvSpPr>
        <p:spPr>
          <a:xfrm>
            <a:off x="9573950" y="4325996"/>
            <a:ext cx="807495" cy="349338"/>
          </a:xfrm>
          <a:prstGeom prst="downArrow">
            <a:avLst>
              <a:gd name="adj1" fmla="val 62789"/>
              <a:gd name="adj2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34CFF16-4870-B5AA-DF08-22BBE00B7361}"/>
              </a:ext>
            </a:extLst>
          </p:cNvPr>
          <p:cNvSpPr/>
          <p:nvPr/>
        </p:nvSpPr>
        <p:spPr>
          <a:xfrm>
            <a:off x="12889248" y="1362985"/>
            <a:ext cx="2433599" cy="242724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수정완료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6960FA-D3BC-27F1-1B67-FADFA386020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알파코 회사 소개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464994-4983-F51E-631B-0536CFAE6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7844" y="6462386"/>
            <a:ext cx="654170" cy="216978"/>
          </a:xfrm>
        </p:spPr>
        <p:txBody>
          <a:bodyPr/>
          <a:lstStyle/>
          <a:p>
            <a:fld id="{92E8535D-4013-4CDF-9CD3-6D349108CD7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C39F159-4D0F-A646-2E7E-1C19636AA003}"/>
              </a:ext>
            </a:extLst>
          </p:cNvPr>
          <p:cNvSpPr/>
          <p:nvPr/>
        </p:nvSpPr>
        <p:spPr>
          <a:xfrm>
            <a:off x="3783047" y="1856985"/>
            <a:ext cx="4625907" cy="4625907"/>
          </a:xfrm>
          <a:prstGeom prst="ellipse">
            <a:avLst/>
          </a:prstGeom>
          <a:solidFill>
            <a:srgbClr val="FFFFFF">
              <a:alpha val="89804"/>
            </a:srgbClr>
          </a:solidFill>
          <a:ln w="38100">
            <a:solidFill>
              <a:srgbClr val="043B8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pic>
        <p:nvPicPr>
          <p:cNvPr id="6" name="그림 5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6EAADFEB-AAC7-0DA8-4615-8676077B2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195" y="2269965"/>
            <a:ext cx="1606013" cy="588183"/>
          </a:xfrm>
          <a:prstGeom prst="rect">
            <a:avLst/>
          </a:prstGeom>
        </p:spPr>
      </p:pic>
      <p:pic>
        <p:nvPicPr>
          <p:cNvPr id="7" name="그림 6" descr="폰트, 그래픽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DF76AC3A-8208-16C3-299D-6A504DE82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719" y="4640495"/>
            <a:ext cx="822075" cy="338585"/>
          </a:xfrm>
          <a:prstGeom prst="rect">
            <a:avLst/>
          </a:prstGeom>
        </p:spPr>
      </p:pic>
      <p:pic>
        <p:nvPicPr>
          <p:cNvPr id="8" name="Picture 2" descr="dtground_logo">
            <a:extLst>
              <a:ext uri="{FF2B5EF4-FFF2-40B4-BE49-F238E27FC236}">
                <a16:creationId xmlns:a16="http://schemas.microsoft.com/office/drawing/2014/main" id="{5A238CD0-17A4-6EF3-312F-097825006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244" y="4640495"/>
            <a:ext cx="697097" cy="284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B50BED91-D9A3-F723-AD3D-A2C6EE853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370" y="4640495"/>
            <a:ext cx="897898" cy="328844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14E0527B-F1C4-FA8B-C313-09D2B7A40733}"/>
              </a:ext>
            </a:extLst>
          </p:cNvPr>
          <p:cNvSpPr>
            <a:spLocks noChangeAspect="1"/>
          </p:cNvSpPr>
          <p:nvPr/>
        </p:nvSpPr>
        <p:spPr>
          <a:xfrm>
            <a:off x="8478502" y="2453810"/>
            <a:ext cx="1263599" cy="1263600"/>
          </a:xfrm>
          <a:prstGeom prst="ellipse">
            <a:avLst/>
          </a:prstGeom>
          <a:solidFill>
            <a:srgbClr val="043B8C"/>
          </a:solidFill>
          <a:ln w="12700"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디지털</a:t>
            </a:r>
            <a:endParaRPr kumimoji="0" lang="en-US" altLang="ko-KR" sz="1400" b="1" i="0" u="none" strike="noStrike" kern="1200" cap="none" spc="-37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격차 해소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54E84B9-647A-A816-0546-9C42E4A75EEE}"/>
              </a:ext>
            </a:extLst>
          </p:cNvPr>
          <p:cNvSpPr>
            <a:spLocks noChangeAspect="1"/>
          </p:cNvSpPr>
          <p:nvPr/>
        </p:nvSpPr>
        <p:spPr>
          <a:xfrm>
            <a:off x="9825019" y="2061943"/>
            <a:ext cx="1263599" cy="1263600"/>
          </a:xfrm>
          <a:prstGeom prst="ellipse">
            <a:avLst/>
          </a:prstGeom>
          <a:solidFill>
            <a:srgbClr val="043B8C"/>
          </a:solidFill>
          <a:ln w="12700"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전국민</a:t>
            </a:r>
            <a:endParaRPr kumimoji="0" lang="en-US" altLang="ko-KR" sz="1400" b="1" i="0" u="none" strike="noStrike" kern="1200" cap="none" spc="-37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디지털역량</a:t>
            </a:r>
            <a:endParaRPr kumimoji="0" lang="en-US" altLang="ko-KR" sz="1400" b="1" i="0" u="none" strike="noStrike" kern="1200" cap="none" spc="-37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강화</a:t>
            </a:r>
            <a:endParaRPr kumimoji="0" lang="en-US" altLang="ko-KR" sz="1400" b="1" i="0" u="none" strike="noStrike" kern="1200" cap="none" spc="-37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C7DD137-F1A1-597A-6E5E-E607578CF1AA}"/>
              </a:ext>
            </a:extLst>
          </p:cNvPr>
          <p:cNvSpPr>
            <a:spLocks noChangeAspect="1"/>
          </p:cNvSpPr>
          <p:nvPr/>
        </p:nvSpPr>
        <p:spPr>
          <a:xfrm>
            <a:off x="8273940" y="4849850"/>
            <a:ext cx="1263599" cy="1263600"/>
          </a:xfrm>
          <a:prstGeom prst="ellipse">
            <a:avLst/>
          </a:prstGeom>
          <a:solidFill>
            <a:srgbClr val="043B8C"/>
          </a:solidFill>
          <a:ln w="12700"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온라인</a:t>
            </a:r>
            <a:r>
              <a:rPr kumimoji="0" lang="en-US" altLang="ko-KR" sz="12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+</a:t>
            </a:r>
            <a:r>
              <a:rPr kumimoji="0" lang="ko-KR" altLang="en-US" sz="12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오프라인</a:t>
            </a:r>
            <a:endParaRPr kumimoji="0" lang="en-US" altLang="ko-KR" sz="1200" b="1" i="0" u="none" strike="noStrike" kern="1200" cap="none" spc="-37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차세대 플랫폼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F060615-D5C8-C1A9-7B3B-A8A03192687B}"/>
              </a:ext>
            </a:extLst>
          </p:cNvPr>
          <p:cNvSpPr>
            <a:spLocks noChangeAspect="1"/>
          </p:cNvSpPr>
          <p:nvPr/>
        </p:nvSpPr>
        <p:spPr>
          <a:xfrm>
            <a:off x="9620461" y="5130767"/>
            <a:ext cx="1263599" cy="1263600"/>
          </a:xfrm>
          <a:prstGeom prst="ellipse">
            <a:avLst/>
          </a:prstGeom>
          <a:solidFill>
            <a:srgbClr val="043B8C"/>
          </a:solidFill>
          <a:ln w="12700"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하이테크</a:t>
            </a:r>
            <a:endParaRPr kumimoji="0" lang="en-US" altLang="ko-KR" sz="1400" b="1" i="0" u="none" strike="noStrike" kern="1200" cap="none" spc="-37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교육 선점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DAF92D6-D6CD-D324-5B41-783856D5DCA6}"/>
              </a:ext>
            </a:extLst>
          </p:cNvPr>
          <p:cNvSpPr/>
          <p:nvPr/>
        </p:nvSpPr>
        <p:spPr>
          <a:xfrm>
            <a:off x="429023" y="3191322"/>
            <a:ext cx="900000" cy="90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1999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년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설립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F0C12C3-4E50-B989-2027-E52295339C38}"/>
              </a:ext>
            </a:extLst>
          </p:cNvPr>
          <p:cNvSpPr/>
          <p:nvPr/>
        </p:nvSpPr>
        <p:spPr>
          <a:xfrm>
            <a:off x="1159483" y="2934742"/>
            <a:ext cx="1080000" cy="108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LMS 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기반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우편원격교육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최초 실시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8459C1B-0276-08DC-B073-C055BB9B3556}"/>
              </a:ext>
            </a:extLst>
          </p:cNvPr>
          <p:cNvSpPr/>
          <p:nvPr/>
        </p:nvSpPr>
        <p:spPr>
          <a:xfrm>
            <a:off x="2094778" y="2728755"/>
            <a:ext cx="1080000" cy="108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원격훈련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13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년 연속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A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등급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9DE0422-1268-617F-2AF4-9C1A003803A1}"/>
              </a:ext>
            </a:extLst>
          </p:cNvPr>
          <p:cNvSpPr/>
          <p:nvPr/>
        </p:nvSpPr>
        <p:spPr>
          <a:xfrm>
            <a:off x="2965338" y="2288526"/>
            <a:ext cx="1080000" cy="108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원격훈련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5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년 인증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(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우수기관</a:t>
            </a: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)</a:t>
            </a:r>
            <a:endParaRPr kumimoji="0" lang="ko-KR" altLang="en-US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322704C-114C-2F4E-4979-C867E7CB79BA}"/>
              </a:ext>
            </a:extLst>
          </p:cNvPr>
          <p:cNvSpPr/>
          <p:nvPr/>
        </p:nvSpPr>
        <p:spPr>
          <a:xfrm>
            <a:off x="4482960" y="3163460"/>
            <a:ext cx="982156" cy="367405"/>
          </a:xfrm>
          <a:prstGeom prst="roundRect">
            <a:avLst/>
          </a:prstGeom>
          <a:solidFill>
            <a:srgbClr val="0095AB"/>
          </a:solidFill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K-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하이테크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Pretendard Medium" panose="02000603000000020004" pitchFamily="50" charset="-127"/>
              <a:sym typeface="HY견고딕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플랫폼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358D6D2-C99B-42BE-72EE-1D3445998634}"/>
              </a:ext>
            </a:extLst>
          </p:cNvPr>
          <p:cNvSpPr/>
          <p:nvPr/>
        </p:nvSpPr>
        <p:spPr>
          <a:xfrm>
            <a:off x="5546592" y="3163460"/>
            <a:ext cx="982156" cy="367405"/>
          </a:xfrm>
          <a:prstGeom prst="roundRect">
            <a:avLst/>
          </a:prstGeom>
          <a:solidFill>
            <a:srgbClr val="0095AB"/>
          </a:solidFill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K-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디지털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Pretendard Medium" panose="02000603000000020004" pitchFamily="50" charset="-127"/>
              <a:sym typeface="HY견고딕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트레이닝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5C1DDB5-59E5-F39E-3A5F-77E8CBBDD782}"/>
              </a:ext>
            </a:extLst>
          </p:cNvPr>
          <p:cNvSpPr/>
          <p:nvPr/>
        </p:nvSpPr>
        <p:spPr>
          <a:xfrm>
            <a:off x="6159493" y="3575442"/>
            <a:ext cx="1060328" cy="367405"/>
          </a:xfrm>
          <a:prstGeom prst="roundRect">
            <a:avLst/>
          </a:prstGeom>
          <a:solidFill>
            <a:srgbClr val="0095AB"/>
          </a:solidFill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Located in 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성수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1759734-19A6-0C1F-A1E9-0B91F813804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78" t="23256" r="12096" b="23986"/>
          <a:stretch/>
        </p:blipFill>
        <p:spPr>
          <a:xfrm>
            <a:off x="5878802" y="5283398"/>
            <a:ext cx="372672" cy="372672"/>
          </a:xfrm>
          <a:prstGeom prst="ellipse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2E023F9-CFDC-09B1-7D5A-B0D401E912C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878" r="5262"/>
          <a:stretch/>
        </p:blipFill>
        <p:spPr>
          <a:xfrm>
            <a:off x="5452124" y="5287853"/>
            <a:ext cx="372672" cy="372672"/>
          </a:xfrm>
          <a:prstGeom prst="ellipse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5C9A5C0-D710-6878-5B88-32CC0098627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21722" y="5778236"/>
            <a:ext cx="586820" cy="228844"/>
          </a:xfrm>
          <a:prstGeom prst="rect">
            <a:avLst/>
          </a:prstGeom>
        </p:spPr>
      </p:pic>
      <p:pic>
        <p:nvPicPr>
          <p:cNvPr id="24" name="그림 23" descr="텍스트이(가) 표시된 사진&#10;&#10;자동 생성된 설명">
            <a:extLst>
              <a:ext uri="{FF2B5EF4-FFF2-40B4-BE49-F238E27FC236}">
                <a16:creationId xmlns:a16="http://schemas.microsoft.com/office/drawing/2014/main" id="{358CC4F3-4CF6-566F-ED7D-75242BE47E1D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36538" y="5761735"/>
            <a:ext cx="1039718" cy="2394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D549D23-C8CB-140B-6C87-1073A38C1C7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5480" y="5278200"/>
            <a:ext cx="372672" cy="391977"/>
          </a:xfrm>
          <a:prstGeom prst="rect">
            <a:avLst/>
          </a:prstGeom>
        </p:spPr>
      </p:pic>
      <p:pic>
        <p:nvPicPr>
          <p:cNvPr id="26" name="Picture 26" descr="AES | ASIA EDTECH SUMMIT">
            <a:extLst>
              <a:ext uri="{FF2B5EF4-FFF2-40B4-BE49-F238E27FC236}">
                <a16:creationId xmlns:a16="http://schemas.microsoft.com/office/drawing/2014/main" id="{A81F2CA7-D4B1-CE1E-485A-37D54B8DBA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33" t="13366" r="5913" b="30339"/>
          <a:stretch/>
        </p:blipFill>
        <p:spPr bwMode="auto">
          <a:xfrm>
            <a:off x="5021019" y="5289244"/>
            <a:ext cx="372672" cy="37267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DC93B9B7-3BFD-A571-7121-E9400BDF936E}"/>
              </a:ext>
            </a:extLst>
          </p:cNvPr>
          <p:cNvGrpSpPr/>
          <p:nvPr/>
        </p:nvGrpSpPr>
        <p:grpSpPr>
          <a:xfrm>
            <a:off x="6544414" y="5314655"/>
            <a:ext cx="952304" cy="349121"/>
            <a:chOff x="6586658" y="5531101"/>
            <a:chExt cx="952304" cy="349121"/>
          </a:xfrm>
        </p:grpSpPr>
        <p:pic>
          <p:nvPicPr>
            <p:cNvPr id="28" name="그림 27" descr="그래픽, 로고, 폰트, 원이(가) 표시된 사진&#10;&#10;자동 생성된 설명">
              <a:extLst>
                <a:ext uri="{FF2B5EF4-FFF2-40B4-BE49-F238E27FC236}">
                  <a16:creationId xmlns:a16="http://schemas.microsoft.com/office/drawing/2014/main" id="{01313A4F-0A43-A880-6250-77AF13B39B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52" t="13654" r="33842" b="36908"/>
            <a:stretch/>
          </p:blipFill>
          <p:spPr>
            <a:xfrm>
              <a:off x="6756235" y="5531101"/>
              <a:ext cx="238108" cy="249455"/>
            </a:xfrm>
            <a:prstGeom prst="ellipse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985D3DE-6A0C-2F24-149B-80B69E612A75}"/>
                </a:ext>
              </a:extLst>
            </p:cNvPr>
            <p:cNvSpPr txBox="1"/>
            <p:nvPr/>
          </p:nvSpPr>
          <p:spPr>
            <a:xfrm>
              <a:off x="6586658" y="5741723"/>
              <a:ext cx="599545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srgbClr val="5C595A"/>
                  </a:solidFill>
                  <a:effectLst/>
                  <a:uLnTx/>
                  <a:uFillTx/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고용노동부</a:t>
              </a:r>
              <a:endParaRPr kumimoji="0" lang="ko-KR" altLang="en-US" sz="280" b="0" i="0" u="none" strike="noStrike" kern="1200" cap="none" spc="0" normalizeH="0" baseline="0" noProof="0" dirty="0">
                <a:ln>
                  <a:noFill/>
                </a:ln>
                <a:solidFill>
                  <a:srgbClr val="5C595A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8CAAB44-A13E-49C1-D5E3-9B0AC1B867F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866714" y="5551406"/>
              <a:ext cx="672248" cy="215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강소기업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6F557CE-904F-FB49-B8E1-E05459471E3F}"/>
              </a:ext>
            </a:extLst>
          </p:cNvPr>
          <p:cNvGrpSpPr/>
          <p:nvPr/>
        </p:nvGrpSpPr>
        <p:grpSpPr>
          <a:xfrm>
            <a:off x="728254" y="3999304"/>
            <a:ext cx="10498775" cy="628377"/>
            <a:chOff x="728254" y="4213166"/>
            <a:chExt cx="10498775" cy="628377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4B2C0671-249A-94A3-F3F4-C2A0BCE24A01}"/>
                </a:ext>
              </a:extLst>
            </p:cNvPr>
            <p:cNvGrpSpPr/>
            <p:nvPr/>
          </p:nvGrpSpPr>
          <p:grpSpPr>
            <a:xfrm>
              <a:off x="728254" y="4404245"/>
              <a:ext cx="10498775" cy="246221"/>
              <a:chOff x="592434" y="4404244"/>
              <a:chExt cx="10498775" cy="24622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93B3EA4C-7BDE-1749-09FC-75B7BA0D491D}"/>
                  </a:ext>
                </a:extLst>
              </p:cNvPr>
              <p:cNvGrpSpPr/>
              <p:nvPr/>
            </p:nvGrpSpPr>
            <p:grpSpPr>
              <a:xfrm>
                <a:off x="592434" y="4404244"/>
                <a:ext cx="10498775" cy="246221"/>
                <a:chOff x="592434" y="4404244"/>
                <a:chExt cx="10498775" cy="246221"/>
              </a:xfrm>
            </p:grpSpPr>
            <p:sp>
              <p:nvSpPr>
                <p:cNvPr id="37" name="텍스트 개체 틀 1">
                  <a:extLst>
                    <a:ext uri="{FF2B5EF4-FFF2-40B4-BE49-F238E27FC236}">
                      <a16:creationId xmlns:a16="http://schemas.microsoft.com/office/drawing/2014/main" id="{CAD9D0AC-F417-9427-F82C-BD64E824608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48286" y="4404244"/>
                  <a:ext cx="2278188" cy="246221"/>
                </a:xfrm>
                <a:prstGeom prst="rect">
                  <a:avLst/>
                </a:prstGeom>
              </p:spPr>
              <p:txBody>
                <a:bodyPr wrap="none" lIns="0" tIns="0" rIns="0" bIns="0" anchor="ctr" anchorCtr="0">
                  <a:spAutoFit/>
                </a:bodyPr>
                <a:lstStyle>
                  <a:defPPr>
                    <a:defRPr lang="ko-KR"/>
                  </a:defPPr>
                  <a:lvl1pPr marL="361950" indent="-361950">
                    <a:spcBef>
                      <a:spcPts val="100"/>
                    </a:spcBef>
                    <a:defRPr sz="1500" b="1" spc="-40">
                      <a:gradFill>
                        <a:gsLst>
                          <a:gs pos="0">
                            <a:srgbClr val="00B0F0"/>
                          </a:gs>
                          <a:gs pos="100000">
                            <a:srgbClr val="00B0F0"/>
                          </a:gs>
                        </a:gsLst>
                        <a:lin ang="2700000" scaled="0"/>
                      </a:gra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defRPr>
                  </a:lvl1pPr>
                </a:lstStyle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1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4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에스코어 드림 6 Bold" panose="020B0703030302020204" pitchFamily="34" charset="-127"/>
                      <a:ea typeface="에스코어 드림 6 Bold" panose="020B0703030302020204" pitchFamily="34" charset="-127"/>
                      <a:cs typeface="Pretendard Medium" panose="02000603000000020004" pitchFamily="50" charset="-127"/>
                    </a:rPr>
                    <a:t>26</a:t>
                  </a:r>
                  <a:r>
                    <a:rPr kumimoji="0" lang="ko-KR" altLang="en-US" sz="1600" b="0" i="0" u="none" strike="noStrike" kern="1200" cap="none" spc="-4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에스코어 드림 6 Bold" panose="020B0703030302020204" pitchFamily="34" charset="-127"/>
                      <a:ea typeface="에스코어 드림 6 Bold" panose="020B0703030302020204" pitchFamily="34" charset="-127"/>
                      <a:cs typeface="Pretendard Medium" panose="02000603000000020004" pitchFamily="50" charset="-127"/>
                    </a:rPr>
                    <a:t>년간의 기업교육 노하우</a:t>
                  </a:r>
                </a:p>
              </p:txBody>
            </p:sp>
            <p:cxnSp>
              <p:nvCxnSpPr>
                <p:cNvPr id="38" name="직선 화살표 연결선 37">
                  <a:extLst>
                    <a:ext uri="{FF2B5EF4-FFF2-40B4-BE49-F238E27FC236}">
                      <a16:creationId xmlns:a16="http://schemas.microsoft.com/office/drawing/2014/main" id="{A4DCD88E-A6BF-6678-5FF7-A8867C4A0D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35140" y="4527353"/>
                  <a:ext cx="1654034" cy="0"/>
                </a:xfrm>
                <a:prstGeom prst="straightConnector1">
                  <a:avLst/>
                </a:prstGeom>
                <a:ln w="19050">
                  <a:solidFill>
                    <a:srgbClr val="002060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화살표 연결선 51">
                  <a:extLst>
                    <a:ext uri="{FF2B5EF4-FFF2-40B4-BE49-F238E27FC236}">
                      <a16:creationId xmlns:a16="http://schemas.microsoft.com/office/drawing/2014/main" id="{DAFB2BF0-A3CE-0B31-BD87-E4EC0638A8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2434" y="4527353"/>
                  <a:ext cx="583369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화살표 연결선 52">
                  <a:extLst>
                    <a:ext uri="{FF2B5EF4-FFF2-40B4-BE49-F238E27FC236}">
                      <a16:creationId xmlns:a16="http://schemas.microsoft.com/office/drawing/2014/main" id="{15F5C174-7787-11CF-30F3-535B7943D6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92508" y="4527353"/>
                  <a:ext cx="598701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stealth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텍스트 개체 틀 1">
                  <a:extLst>
                    <a:ext uri="{FF2B5EF4-FFF2-40B4-BE49-F238E27FC236}">
                      <a16:creationId xmlns:a16="http://schemas.microsoft.com/office/drawing/2014/main" id="{72562FE4-925E-4A1A-0146-E781FDA4730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527349" y="4412931"/>
                  <a:ext cx="888064" cy="228845"/>
                </a:xfrm>
                <a:prstGeom prst="rect">
                  <a:avLst/>
                </a:prstGeom>
              </p:spPr>
              <p:txBody>
                <a:bodyPr wrap="none" lIns="0" tIns="0" rIns="0" bIns="0" anchor="ctr" anchorCtr="0">
                  <a:spAutoFit/>
                </a:bodyPr>
                <a:lstStyle>
                  <a:defPPr>
                    <a:defRPr lang="ko-KR"/>
                  </a:defPPr>
                  <a:lvl1pPr marL="361950" indent="-361950">
                    <a:spcBef>
                      <a:spcPts val="100"/>
                    </a:spcBef>
                    <a:defRPr sz="1500" b="1" spc="-40">
                      <a:gradFill>
                        <a:gsLst>
                          <a:gs pos="0">
                            <a:srgbClr val="00B0F0"/>
                          </a:gs>
                          <a:gs pos="100000">
                            <a:srgbClr val="00B0F0"/>
                          </a:gs>
                        </a:gsLst>
                        <a:lin ang="2700000" scaled="0"/>
                      </a:gra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defRPr>
                  </a:lvl1pPr>
                </a:lstStyle>
                <a:p>
                  <a:pPr marL="361950" marR="0" lvl="0" indent="-361950" algn="ctr" defTabSz="914400" rtl="0" eaLnBrk="1" fontAlgn="auto" latinLnBrk="1" hangingPunct="1">
                    <a:lnSpc>
                      <a:spcPct val="100000"/>
                    </a:lnSpc>
                    <a:spcBef>
                      <a:spcPts val="1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487" b="1" i="0" u="none" strike="noStrike" kern="1200" cap="none" spc="-4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에스코어 드림 6 Bold" panose="020B0703030302020204" pitchFamily="34" charset="-127"/>
                      <a:ea typeface="에스코어 드림 6 Bold" panose="020B0703030302020204" pitchFamily="34" charset="-127"/>
                      <a:cs typeface="Pretendard Medium" panose="02000603000000020004" pitchFamily="50" charset="-127"/>
                    </a:rPr>
                    <a:t>디지털전환</a:t>
                  </a:r>
                </a:p>
              </p:txBody>
            </p:sp>
            <p:cxnSp>
              <p:nvCxnSpPr>
                <p:cNvPr id="55" name="직선 화살표 연결선 54">
                  <a:extLst>
                    <a:ext uri="{FF2B5EF4-FFF2-40B4-BE49-F238E27FC236}">
                      <a16:creationId xmlns:a16="http://schemas.microsoft.com/office/drawing/2014/main" id="{B57767B6-0CC0-B0C6-809E-B84FFEAFF8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8297" y="4527353"/>
                  <a:ext cx="1624543" cy="0"/>
                </a:xfrm>
                <a:prstGeom prst="straightConnector1">
                  <a:avLst/>
                </a:prstGeom>
                <a:ln w="19050">
                  <a:solidFill>
                    <a:srgbClr val="002060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ADFF80B0-095E-BA0B-5CAE-CDA634D73C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0260" y="4527353"/>
                <a:ext cx="16695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85851BFC-7B97-80D1-7762-43D56BA42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5534" y="4527353"/>
                <a:ext cx="294374" cy="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텍스트 개체 틀 1">
              <a:extLst>
                <a:ext uri="{FF2B5EF4-FFF2-40B4-BE49-F238E27FC236}">
                  <a16:creationId xmlns:a16="http://schemas.microsoft.com/office/drawing/2014/main" id="{447E1D76-90C1-A46F-CE41-ADF5B03A4930}"/>
                </a:ext>
              </a:extLst>
            </p:cNvPr>
            <p:cNvSpPr txBox="1">
              <a:spLocks/>
            </p:cNvSpPr>
            <p:nvPr/>
          </p:nvSpPr>
          <p:spPr>
            <a:xfrm>
              <a:off x="8804233" y="4213166"/>
              <a:ext cx="1816844" cy="628377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defPPr>
                <a:defRPr lang="ko-KR"/>
              </a:defPPr>
              <a:lvl1pPr marL="361950" indent="-361950">
                <a:spcBef>
                  <a:spcPts val="100"/>
                </a:spcBef>
                <a:defRPr sz="1500" b="1" spc="-40">
                  <a:gradFill>
                    <a:gsLst>
                      <a:gs pos="0">
                        <a:srgbClr val="00B0F0"/>
                      </a:gs>
                      <a:gs pos="100000">
                        <a:srgbClr val="00B0F0"/>
                      </a:gs>
                    </a:gsLst>
                    <a:lin ang="2700000" scaled="0"/>
                  </a:gra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Pretendard Medium" panose="02000603000000020004" pitchFamily="50" charset="-127"/>
                </a:rPr>
                <a:t>디지털</a:t>
              </a:r>
              <a:r>
                <a:rPr kumimoji="0" lang="en-US" altLang="ko-KR" sz="20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Pretendard Medium" panose="02000603000000020004" pitchFamily="50" charset="-127"/>
                </a:rPr>
                <a:t>/</a:t>
              </a:r>
              <a:r>
                <a:rPr kumimoji="0" lang="ko-KR" altLang="en-US" sz="20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Pretendard Medium" panose="02000603000000020004" pitchFamily="50" charset="-127"/>
                </a:rPr>
                <a:t>하이테크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Pretendard Medium" panose="02000603000000020004" pitchFamily="50" charset="-127"/>
                </a:rPr>
                <a:t>전문교육 기관</a:t>
              </a:r>
            </a:p>
          </p:txBody>
        </p:sp>
      </p:grpSp>
      <p:pic>
        <p:nvPicPr>
          <p:cNvPr id="56" name="Picture 2" descr="logo">
            <a:extLst>
              <a:ext uri="{FF2B5EF4-FFF2-40B4-BE49-F238E27FC236}">
                <a16:creationId xmlns:a16="http://schemas.microsoft.com/office/drawing/2014/main" id="{F03F9C7F-1B2B-FF59-D802-7A8B27F9C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331" y="5748866"/>
            <a:ext cx="874154" cy="514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4" descr="ALPACO M&amp;S">
            <a:extLst>
              <a:ext uri="{FF2B5EF4-FFF2-40B4-BE49-F238E27FC236}">
                <a16:creationId xmlns:a16="http://schemas.microsoft.com/office/drawing/2014/main" id="{01E730E0-3E03-FE7C-1686-8E005BA9D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317" y="5098912"/>
            <a:ext cx="1316826" cy="291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BA1B71B6-7D04-5C4B-653D-979E7C28E9D2}"/>
              </a:ext>
            </a:extLst>
          </p:cNvPr>
          <p:cNvSpPr/>
          <p:nvPr/>
        </p:nvSpPr>
        <p:spPr>
          <a:xfrm>
            <a:off x="2669402" y="6321692"/>
            <a:ext cx="1826910" cy="184666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H</a:t>
            </a:r>
            <a:r>
              <a:rPr kumimoji="0" lang="ko-KR" altLang="ko-KR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ealth care for the elderly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B2A989D-5A1E-30CC-80D8-0BB44CD3C69D}"/>
              </a:ext>
            </a:extLst>
          </p:cNvPr>
          <p:cNvSpPr/>
          <p:nvPr/>
        </p:nvSpPr>
        <p:spPr>
          <a:xfrm>
            <a:off x="2577828" y="5393153"/>
            <a:ext cx="940387" cy="184666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ICT total care</a:t>
            </a:r>
            <a:endParaRPr kumimoji="0" lang="ko-KR" altLang="ko-KR" sz="1200" b="0" i="0" u="none" strike="noStrike" kern="1200" cap="none" spc="-4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</p:txBody>
      </p:sp>
      <p:sp>
        <p:nvSpPr>
          <p:cNvPr id="60" name="원호 59">
            <a:extLst>
              <a:ext uri="{FF2B5EF4-FFF2-40B4-BE49-F238E27FC236}">
                <a16:creationId xmlns:a16="http://schemas.microsoft.com/office/drawing/2014/main" id="{F14A6D2B-85F4-CB08-5806-289D0AF57DAC}"/>
              </a:ext>
            </a:extLst>
          </p:cNvPr>
          <p:cNvSpPr/>
          <p:nvPr/>
        </p:nvSpPr>
        <p:spPr>
          <a:xfrm rot="10645944">
            <a:off x="1870166" y="4443323"/>
            <a:ext cx="826174" cy="1089545"/>
          </a:xfrm>
          <a:custGeom>
            <a:avLst/>
            <a:gdLst>
              <a:gd name="csX0" fmla="*/ 231510 w 826174"/>
              <a:gd name="csY0" fmla="*/ 55451 h 1089545"/>
              <a:gd name="csX1" fmla="*/ 692322 w 826174"/>
              <a:gd name="csY1" fmla="*/ 143314 h 1089545"/>
              <a:gd name="csX2" fmla="*/ 826174 w 826174"/>
              <a:gd name="csY2" fmla="*/ 544773 h 1089545"/>
              <a:gd name="csX3" fmla="*/ 413087 w 826174"/>
              <a:gd name="csY3" fmla="*/ 544773 h 1089545"/>
              <a:gd name="csX4" fmla="*/ 231510 w 826174"/>
              <a:gd name="csY4" fmla="*/ 55451 h 1089545"/>
              <a:gd name="csX0" fmla="*/ 231510 w 826174"/>
              <a:gd name="csY0" fmla="*/ 55451 h 1089545"/>
              <a:gd name="csX1" fmla="*/ 692322 w 826174"/>
              <a:gd name="csY1" fmla="*/ 143314 h 1089545"/>
              <a:gd name="csX2" fmla="*/ 826174 w 826174"/>
              <a:gd name="csY2" fmla="*/ 544773 h 10895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26174" h="1089545" stroke="0" extrusionOk="0">
                <a:moveTo>
                  <a:pt x="231510" y="55451"/>
                </a:moveTo>
                <a:cubicBezTo>
                  <a:pt x="391670" y="-35028"/>
                  <a:pt x="561572" y="-10986"/>
                  <a:pt x="692322" y="143314"/>
                </a:cubicBezTo>
                <a:cubicBezTo>
                  <a:pt x="772838" y="244942"/>
                  <a:pt x="817325" y="395452"/>
                  <a:pt x="826174" y="544773"/>
                </a:cubicBezTo>
                <a:cubicBezTo>
                  <a:pt x="719419" y="552770"/>
                  <a:pt x="504386" y="560048"/>
                  <a:pt x="413087" y="544773"/>
                </a:cubicBezTo>
                <a:cubicBezTo>
                  <a:pt x="358803" y="386520"/>
                  <a:pt x="308739" y="223838"/>
                  <a:pt x="231510" y="55451"/>
                </a:cubicBezTo>
                <a:close/>
              </a:path>
              <a:path w="826174" h="1089545" fill="none" extrusionOk="0">
                <a:moveTo>
                  <a:pt x="231510" y="55451"/>
                </a:moveTo>
                <a:cubicBezTo>
                  <a:pt x="380794" y="-36198"/>
                  <a:pt x="533564" y="18854"/>
                  <a:pt x="692322" y="143314"/>
                </a:cubicBezTo>
                <a:cubicBezTo>
                  <a:pt x="778238" y="241688"/>
                  <a:pt x="810481" y="376787"/>
                  <a:pt x="826174" y="544773"/>
                </a:cubicBezTo>
              </a:path>
              <a:path w="826174" h="1089545" fill="none" stroke="0" extrusionOk="0">
                <a:moveTo>
                  <a:pt x="231510" y="55451"/>
                </a:moveTo>
                <a:cubicBezTo>
                  <a:pt x="425560" y="-31304"/>
                  <a:pt x="612392" y="-1355"/>
                  <a:pt x="692322" y="143314"/>
                </a:cubicBezTo>
                <a:cubicBezTo>
                  <a:pt x="788998" y="268177"/>
                  <a:pt x="810736" y="381816"/>
                  <a:pt x="826174" y="544773"/>
                </a:cubicBezTo>
              </a:path>
            </a:pathLst>
          </a:custGeom>
          <a:ln w="19050">
            <a:solidFill>
              <a:srgbClr val="002060"/>
            </a:solidFill>
            <a:prstDash val="sysDash"/>
            <a:headEnd type="arrow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722731955">
                  <a:prstGeom prst="arc">
                    <a:avLst>
                      <a:gd name="adj1" fmla="val 14978466"/>
                      <a:gd name="adj2" fmla="val 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1D5CF5FA-45D8-18CC-B9E8-C235B788CDA5}"/>
              </a:ext>
            </a:extLst>
          </p:cNvPr>
          <p:cNvSpPr/>
          <p:nvPr/>
        </p:nvSpPr>
        <p:spPr>
          <a:xfrm rot="10645944">
            <a:off x="1856643" y="3530142"/>
            <a:ext cx="1390707" cy="2689295"/>
          </a:xfrm>
          <a:custGeom>
            <a:avLst/>
            <a:gdLst>
              <a:gd name="csX0" fmla="*/ 697007 w 1390707"/>
              <a:gd name="csY0" fmla="*/ 4 h 2689295"/>
              <a:gd name="csX1" fmla="*/ 1390052 w 1390707"/>
              <a:gd name="csY1" fmla="*/ 1286266 h 2689295"/>
              <a:gd name="csX2" fmla="*/ 695354 w 1390707"/>
              <a:gd name="csY2" fmla="*/ 1344648 h 2689295"/>
              <a:gd name="csX3" fmla="*/ 696131 w 1390707"/>
              <a:gd name="csY3" fmla="*/ 712665 h 2689295"/>
              <a:gd name="csX4" fmla="*/ 697007 w 1390707"/>
              <a:gd name="csY4" fmla="*/ 4 h 2689295"/>
              <a:gd name="csX0" fmla="*/ 697007 w 1390707"/>
              <a:gd name="csY0" fmla="*/ 4 h 2689295"/>
              <a:gd name="csX1" fmla="*/ 1390052 w 1390707"/>
              <a:gd name="csY1" fmla="*/ 1286266 h 268929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90707" h="2689295" stroke="0" extrusionOk="0">
                <a:moveTo>
                  <a:pt x="697007" y="4"/>
                </a:moveTo>
                <a:cubicBezTo>
                  <a:pt x="1118498" y="137361"/>
                  <a:pt x="1311892" y="539883"/>
                  <a:pt x="1390052" y="1286266"/>
                </a:cubicBezTo>
                <a:cubicBezTo>
                  <a:pt x="1148401" y="1275602"/>
                  <a:pt x="963203" y="1312814"/>
                  <a:pt x="695354" y="1344648"/>
                </a:cubicBezTo>
                <a:cubicBezTo>
                  <a:pt x="719671" y="1157849"/>
                  <a:pt x="692792" y="930671"/>
                  <a:pt x="696131" y="712665"/>
                </a:cubicBezTo>
                <a:cubicBezTo>
                  <a:pt x="699470" y="494659"/>
                  <a:pt x="708457" y="204772"/>
                  <a:pt x="697007" y="4"/>
                </a:cubicBezTo>
                <a:close/>
              </a:path>
              <a:path w="1390707" h="2689295" fill="none" extrusionOk="0">
                <a:moveTo>
                  <a:pt x="697007" y="4"/>
                </a:moveTo>
                <a:cubicBezTo>
                  <a:pt x="1119001" y="4345"/>
                  <a:pt x="1364643" y="418710"/>
                  <a:pt x="1390052" y="1286266"/>
                </a:cubicBezTo>
              </a:path>
              <a:path w="1390707" h="2689295" fill="none" stroke="0" extrusionOk="0">
                <a:moveTo>
                  <a:pt x="697007" y="4"/>
                </a:moveTo>
                <a:cubicBezTo>
                  <a:pt x="1154741" y="-18150"/>
                  <a:pt x="1278017" y="505030"/>
                  <a:pt x="1390052" y="1286266"/>
                </a:cubicBezTo>
              </a:path>
            </a:pathLst>
          </a:custGeom>
          <a:ln w="19050">
            <a:solidFill>
              <a:srgbClr val="002060"/>
            </a:solidFill>
            <a:prstDash val="sysDash"/>
            <a:headEnd type="arrow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998888947">
                  <a:prstGeom prst="arc">
                    <a:avLst>
                      <a:gd name="adj1" fmla="val 16204227"/>
                      <a:gd name="adj2" fmla="val 2131177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C5F1B775-7EBD-A1C9-C7B8-338833CDE642}"/>
              </a:ext>
            </a:extLst>
          </p:cNvPr>
          <p:cNvSpPr/>
          <p:nvPr/>
        </p:nvSpPr>
        <p:spPr>
          <a:xfrm>
            <a:off x="1226017" y="4689237"/>
            <a:ext cx="1320484" cy="367405"/>
          </a:xfrm>
          <a:prstGeom prst="roundRect">
            <a:avLst/>
          </a:prstGeom>
          <a:solidFill>
            <a:srgbClr val="0095AB"/>
          </a:solidFill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ALPACO family</a:t>
            </a:r>
            <a:endParaRPr kumimoji="0" lang="ko-KR" altLang="en-US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Pretendard Medium" panose="02000603000000020004" pitchFamily="50" charset="-127"/>
              <a:sym typeface="HY견고딕" pitchFamily="18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FC5C5CBF-EBE2-8B2A-E1A1-19F6D43219EE}"/>
              </a:ext>
            </a:extLst>
          </p:cNvPr>
          <p:cNvSpPr/>
          <p:nvPr/>
        </p:nvSpPr>
        <p:spPr>
          <a:xfrm>
            <a:off x="4947986" y="3572129"/>
            <a:ext cx="1174752" cy="367405"/>
          </a:xfrm>
          <a:prstGeom prst="roundRect">
            <a:avLst/>
          </a:prstGeom>
          <a:solidFill>
            <a:srgbClr val="0095AB"/>
          </a:solidFill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Re/Up-Skilling</a:t>
            </a:r>
            <a:endParaRPr kumimoji="0" lang="ko-KR" altLang="en-US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Pretendard Medium" panose="02000603000000020004" pitchFamily="50" charset="-127"/>
              <a:sym typeface="HY견고딕" pitchFamily="18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EF65E41A-79D9-AC6D-7048-148BEF39B446}"/>
              </a:ext>
            </a:extLst>
          </p:cNvPr>
          <p:cNvSpPr/>
          <p:nvPr/>
        </p:nvSpPr>
        <p:spPr>
          <a:xfrm>
            <a:off x="6587658" y="3163460"/>
            <a:ext cx="1060328" cy="367405"/>
          </a:xfrm>
          <a:prstGeom prst="roundRect">
            <a:avLst/>
          </a:prstGeom>
          <a:solidFill>
            <a:srgbClr val="0095AB"/>
          </a:solidFill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디지털선도기업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EED9D8-049A-9AD5-737C-2383748D14EF}"/>
              </a:ext>
            </a:extLst>
          </p:cNvPr>
          <p:cNvSpPr txBox="1"/>
          <p:nvPr/>
        </p:nvSpPr>
        <p:spPr>
          <a:xfrm>
            <a:off x="495822" y="1302510"/>
            <a:ext cx="112003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ExtraBold" panose="02000903000000020004" pitchFamily="50" charset="-127"/>
              </a:rPr>
              <a:t>정부가 인정한 </a:t>
            </a:r>
            <a:r>
              <a:rPr kumimoji="1" lang="ko-KR" altLang="en-US" sz="2000" b="0" i="0" u="none" strike="noStrike" kern="1200" cap="none" spc="-70" normalizeH="0" baseline="0" noProof="0" dirty="0">
                <a:ln>
                  <a:noFill/>
                </a:ln>
                <a:solidFill>
                  <a:srgbClr val="009EAC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ExtraBold" panose="02000903000000020004" pitchFamily="50" charset="-127"/>
              </a:rPr>
              <a:t>디지털교육의 기준</a:t>
            </a:r>
            <a:r>
              <a:rPr kumimoji="1" lang="en-US" altLang="ko-KR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ExtraBold" panose="02000903000000020004" pitchFamily="50" charset="-127"/>
              </a:rPr>
              <a:t>, </a:t>
            </a:r>
            <a:r>
              <a:rPr kumimoji="1" lang="ko-KR" altLang="en-US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ExtraBold" panose="02000903000000020004" pitchFamily="50" charset="-127"/>
              </a:rPr>
              <a:t>알파코</a:t>
            </a:r>
          </a:p>
        </p:txBody>
      </p:sp>
      <p:sp>
        <p:nvSpPr>
          <p:cNvPr id="41" name="내용 개체 틀 1">
            <a:extLst>
              <a:ext uri="{FF2B5EF4-FFF2-40B4-BE49-F238E27FC236}">
                <a16:creationId xmlns:a16="http://schemas.microsoft.com/office/drawing/2014/main" id="{A9ADB7AE-998F-7385-98CA-81365879D5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0776" y="540028"/>
            <a:ext cx="6529388" cy="215421"/>
          </a:xfrm>
        </p:spPr>
        <p:txBody>
          <a:bodyPr/>
          <a:lstStyle/>
          <a:p>
            <a:r>
              <a:rPr lang="en-US" altLang="ko-KR" dirty="0"/>
              <a:t>AIDP(AI-based Data &amp; Planning, </a:t>
            </a:r>
            <a:r>
              <a:rPr lang="ko-KR" altLang="en-US" dirty="0"/>
              <a:t>디지털금융실무 전문가 과정</a:t>
            </a:r>
            <a:r>
              <a:rPr lang="en-US" altLang="ko-KR" dirty="0"/>
              <a:t>)</a:t>
            </a:r>
            <a:r>
              <a:rPr lang="ko-KR" altLang="en-US" dirty="0"/>
              <a:t> 제안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6379AE0-B5A4-07FA-AF03-C0718B3A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F0F3B-A2EB-7F9C-6F51-21C88A76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공공기관 AI 교육 검증 실적 기반
신뢰할 수 있는 파트너십 제안</a:t>
            </a:r>
            <a:endParaRPr lang="ko-KR" altLang="en-US" sz="13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21BB4A-3104-F545-7878-EADE9121AA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atinLnBrk="1"/>
            <a:r>
              <a:rPr lang="ko-KR" altLang="en-US" dirty="0"/>
              <a:t>알파코는 </a:t>
            </a:r>
            <a:r>
              <a:rPr lang="en-US" altLang="ko-KR" dirty="0"/>
              <a:t>AX•DX </a:t>
            </a:r>
            <a:r>
              <a:rPr lang="ko-KR" altLang="en-US" dirty="0"/>
              <a:t>교육 변화에 선제적으로 대응하며 </a:t>
            </a:r>
            <a:r>
              <a:rPr lang="en-US" altLang="ko-KR" dirty="0"/>
              <a:t>DX </a:t>
            </a:r>
            <a:r>
              <a:rPr lang="ko-KR" altLang="en-US" dirty="0"/>
              <a:t>기반 학습환경을 구축해 디지털 우수교육 기관으로 역량을 강화하고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06230D-89C7-495F-D700-46FEF665E787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2.1.1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회사 개요 및 주요 연혁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46BBF327-E98F-3E0B-CCF9-BD4B49844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233223"/>
              </p:ext>
            </p:extLst>
          </p:nvPr>
        </p:nvGraphicFramePr>
        <p:xfrm>
          <a:off x="442913" y="1978341"/>
          <a:ext cx="5545137" cy="451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프로젝트명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9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고객사</a:t>
                      </a:r>
                      <a:endParaRPr lang="ko-KR" altLang="en-US" sz="9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공공기관 AI 활용 업무혁신 과정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서울시 산하 공공기관 A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19579"/>
                  </a:ext>
                </a:extLst>
              </a:tr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지자체 임직원 AI 역량강화 과정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수도권 지방공기업 B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/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/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/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/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/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/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/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/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/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/>
                      </a:r>
                      <a:endParaRPr lang="ko-KR" altLang="en-US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12046"/>
                  </a:ext>
                </a:extLst>
              </a:tr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공공기관 디지털 전환 실무 교육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중앙부처 산하기관 C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96741"/>
                  </a:ext>
                </a:extLst>
              </a:tr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시설관리 공단 AI 특강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수도권 시설관리 공단 D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/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888312"/>
                  </a:ext>
                </a:extLst>
              </a:tr>
              <a:tr h="1097311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주소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사무실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성수일로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8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길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59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평화빌딩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B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동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성수이로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113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제강빌딩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7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</a:t>
                      </a:r>
                      <a:r>
                        <a:rPr lang="ko-KR" altLang="en-US" sz="95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아차산로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111 </a:t>
                      </a:r>
                      <a:r>
                        <a:rPr lang="ko-KR" altLang="en-US" sz="95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우행빌딩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성수일로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8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길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59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평화빌딩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B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동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대구 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대구광역시 수성구 </a:t>
                      </a:r>
                      <a:r>
                        <a:rPr lang="ko-KR" altLang="en-US" sz="95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달구벌대로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2280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아성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N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타워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39156"/>
                  </a:ext>
                </a:extLst>
              </a:tr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대표 전화번호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02-2163-5700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726636"/>
                  </a:ext>
                </a:extLst>
              </a:tr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홈페이지 주소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https://corp.alpaco.co.kr/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588166"/>
                  </a:ext>
                </a:extLst>
              </a:tr>
              <a:tr h="15785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인증  및 수상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트레이닝 운영기관 재선정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사업주 </a:t>
                      </a:r>
                      <a:r>
                        <a:rPr lang="ko-KR" altLang="en-US" sz="950" b="0" kern="1200" spc="-20" baseline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직업능력개발훈련우수사례</a:t>
                      </a:r>
                      <a:r>
                        <a:rPr lang="ko-KR" altLang="en-US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경진대회 최우수기관 선정</a:t>
                      </a:r>
                      <a:r>
                        <a:rPr lang="en-US" altLang="ko-KR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한국산업인력공단</a:t>
                      </a:r>
                      <a:endParaRPr lang="en-US" altLang="ko-KR" sz="950" b="0" kern="1200" spc="-2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디지털기초역량 운영기관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하이테크플랫폼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한국산업인력공단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찾아가는 학교 연수 지원 사업 주관 기관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한국과학창의재단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원격훈련 기관인증평가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인증 우수기관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교실혁명 선도교사 양성 연수 수행기관 선정 외 다수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682711"/>
                  </a:ext>
                </a:extLst>
              </a:tr>
            </a:tbl>
          </a:graphicData>
        </a:graphic>
      </p:graphicFrame>
      <p:sp>
        <p:nvSpPr>
          <p:cNvPr id="44" name="직사각형 43">
            <a:extLst>
              <a:ext uri="{FF2B5EF4-FFF2-40B4-BE49-F238E27FC236}">
                <a16:creationId xmlns:a16="http://schemas.microsoft.com/office/drawing/2014/main" id="{BE639263-CC82-DA9E-3827-E75A0B7F1267}"/>
              </a:ext>
            </a:extLst>
          </p:cNvPr>
          <p:cNvSpPr/>
          <p:nvPr/>
        </p:nvSpPr>
        <p:spPr>
          <a:xfrm>
            <a:off x="442913" y="1659294"/>
            <a:ext cx="1224000" cy="27123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일반현황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402A0FA-C390-AC2C-BF0B-89C2D601E7C8}"/>
              </a:ext>
            </a:extLst>
          </p:cNvPr>
          <p:cNvGrpSpPr/>
          <p:nvPr/>
        </p:nvGrpSpPr>
        <p:grpSpPr>
          <a:xfrm>
            <a:off x="6104322" y="1659294"/>
            <a:ext cx="5644765" cy="4814846"/>
            <a:chOff x="6104322" y="1305597"/>
            <a:chExt cx="5454865" cy="500415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4C47A6B-28EF-429E-592B-438845C879C4}"/>
                </a:ext>
              </a:extLst>
            </p:cNvPr>
            <p:cNvSpPr/>
            <p:nvPr/>
          </p:nvSpPr>
          <p:spPr>
            <a:xfrm>
              <a:off x="6106083" y="1305597"/>
              <a:ext cx="1224001" cy="30183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0" scaled="1"/>
                  </a:gra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rPr>
                <a:t>주요 연혁</a:t>
              </a: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7797FF4E-9429-89BF-A23B-A47904930E15}"/>
                </a:ext>
              </a:extLst>
            </p:cNvPr>
            <p:cNvGrpSpPr/>
            <p:nvPr/>
          </p:nvGrpSpPr>
          <p:grpSpPr>
            <a:xfrm>
              <a:off x="6104322" y="1661368"/>
              <a:ext cx="5454865" cy="4648388"/>
              <a:chOff x="6285297" y="1730008"/>
              <a:chExt cx="5454865" cy="4579747"/>
            </a:xfrm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07A8F82E-2E87-A7EF-FB22-AF4518FB1BCF}"/>
                  </a:ext>
                </a:extLst>
              </p:cNvPr>
              <p:cNvSpPr/>
              <p:nvPr/>
            </p:nvSpPr>
            <p:spPr>
              <a:xfrm>
                <a:off x="7502565" y="1730182"/>
                <a:ext cx="4212160" cy="8818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고용노동부 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K-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디지털 사업기관 선정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(2021.09)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디지털 전용교육장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스튜디오 및 캠퍼스 오픈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(2021.08)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자체 디지털 전환 콘텐츠 개발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(Python, 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빅데이터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AI 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등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) 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자체 코딩실습 프로그램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(IDE) 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개발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(2021.01) 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외 다수 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중소벤처기업부 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K-</a:t>
                </a:r>
                <a:r>
                  <a:rPr kumimoji="0" lang="ko-KR" altLang="en-US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비대면바우처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 공급기업 선정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(2020.09)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83C9535E-30E9-E67B-009B-478B2F6ECEE0}"/>
                  </a:ext>
                </a:extLst>
              </p:cNvPr>
              <p:cNvSpPr/>
              <p:nvPr/>
            </p:nvSpPr>
            <p:spPr>
              <a:xfrm>
                <a:off x="6285297" y="1730008"/>
                <a:ext cx="1227524" cy="882225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디지털 전환기</a:t>
                </a:r>
                <a:endParaRPr kumimoji="0" lang="en-US" altLang="ko-KR" sz="11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2020 ~ </a:t>
                </a:r>
                <a:r>
                  <a:rPr kumimoji="0" lang="ko-KR" altLang="en-US" sz="1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현재</a:t>
                </a:r>
              </a:p>
            </p:txBody>
          </p:sp>
          <p:sp>
            <p:nvSpPr>
              <p:cNvPr id="50" name="순서도: 대체 처리 49">
                <a:extLst>
                  <a:ext uri="{FF2B5EF4-FFF2-40B4-BE49-F238E27FC236}">
                    <a16:creationId xmlns:a16="http://schemas.microsoft.com/office/drawing/2014/main" id="{B37BA9F5-9307-A097-9997-2486F4D41187}"/>
                  </a:ext>
                </a:extLst>
              </p:cNvPr>
              <p:cNvSpPr/>
              <p:nvPr/>
            </p:nvSpPr>
            <p:spPr>
              <a:xfrm>
                <a:off x="6330396" y="1932599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디지털 전환기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C18C5816-2D70-A586-4B45-6D4673597060}"/>
                  </a:ext>
                </a:extLst>
              </p:cNvPr>
              <p:cNvSpPr/>
              <p:nvPr/>
            </p:nvSpPr>
            <p:spPr>
              <a:xfrm>
                <a:off x="7492481" y="2825079"/>
                <a:ext cx="4247681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고용노동부 기관인증평가 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3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년 우수훈련기관 선정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(2019.12)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과학기술정보통신부 </a:t>
                </a:r>
                <a:r>
                  <a:rPr kumimoji="0" lang="ko-KR" altLang="en-US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굿콘텐츠서비스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 인증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(2019.10)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헬스케어 사업부분 신설 및 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WELDERS  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브랜드 런칭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(2019.03)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2,000개,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200만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(2017.12)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E538562B-8CF9-C000-50D9-10FE3F9344B6}"/>
                  </a:ext>
                </a:extLst>
              </p:cNvPr>
              <p:cNvSpPr/>
              <p:nvPr/>
            </p:nvSpPr>
            <p:spPr>
              <a:xfrm>
                <a:off x="6285297" y="2825079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새로운 </a:t>
                </a:r>
                <a:r>
                  <a:rPr kumimoji="0" lang="ko-KR" altLang="en-US" sz="11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도전기</a:t>
                </a:r>
                <a:endParaRPr kumimoji="0" lang="en-US" altLang="ko-KR" sz="11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2016 ~ 2019</a:t>
                </a:r>
              </a:p>
            </p:txBody>
          </p:sp>
          <p:sp>
            <p:nvSpPr>
              <p:cNvPr id="53" name="순서도: 대체 처리 52">
                <a:extLst>
                  <a:ext uri="{FF2B5EF4-FFF2-40B4-BE49-F238E27FC236}">
                    <a16:creationId xmlns:a16="http://schemas.microsoft.com/office/drawing/2014/main" id="{A429A66E-070A-E525-9D26-8CED1699D760}"/>
                  </a:ext>
                </a:extLst>
              </p:cNvPr>
              <p:cNvSpPr/>
              <p:nvPr/>
            </p:nvSpPr>
            <p:spPr>
              <a:xfrm>
                <a:off x="6330396" y="2960640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새로운 </a:t>
                </a:r>
                <a:r>
                  <a:rPr kumimoji="0" lang="ko-KR" alt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도전기</a:t>
                </a:r>
                <a:endPara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  <a:cs typeface="+mn-cs"/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958D46F8-44B6-731E-EFCE-D1E0C38484CE}"/>
                  </a:ext>
                </a:extLst>
              </p:cNvPr>
              <p:cNvSpPr/>
              <p:nvPr/>
            </p:nvSpPr>
            <p:spPr>
              <a:xfrm>
                <a:off x="7503324" y="3752244"/>
                <a:ext cx="4209482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고용노동부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훈련기관평가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4년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연속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최우수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(1위)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직업능력개발원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NIPA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스마트러닝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시범사업자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선정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스마트러닝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/ICT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사업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개시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1,500개,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100만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DEFF58AF-367F-CF87-E963-1FB2D2DF87EE}"/>
                  </a:ext>
                </a:extLst>
              </p:cNvPr>
              <p:cNvSpPr/>
              <p:nvPr/>
            </p:nvSpPr>
            <p:spPr>
              <a:xfrm>
                <a:off x="6285297" y="3752244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체질 </a:t>
                </a:r>
                <a:r>
                  <a:rPr kumimoji="0" lang="ko-KR" altLang="en-US" sz="11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강화기</a:t>
                </a:r>
                <a:endParaRPr kumimoji="0" lang="en-US" altLang="ko-KR" sz="11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2011 ~ 2015</a:t>
                </a:r>
              </a:p>
            </p:txBody>
          </p:sp>
          <p:sp>
            <p:nvSpPr>
              <p:cNvPr id="56" name="순서도: 대체 처리 55">
                <a:extLst>
                  <a:ext uri="{FF2B5EF4-FFF2-40B4-BE49-F238E27FC236}">
                    <a16:creationId xmlns:a16="http://schemas.microsoft.com/office/drawing/2014/main" id="{3EA1EBB7-FC69-EFBF-9E4D-B4528D3CACB8}"/>
                  </a:ext>
                </a:extLst>
              </p:cNvPr>
              <p:cNvSpPr/>
              <p:nvPr/>
            </p:nvSpPr>
            <p:spPr>
              <a:xfrm>
                <a:off x="6330396" y="3884524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체질 </a:t>
                </a:r>
                <a:r>
                  <a:rPr kumimoji="0" lang="ko-KR" alt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강화기</a:t>
                </a:r>
                <a:endPara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  <a:cs typeface="+mn-cs"/>
                </a:endParaRPr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86DBF062-D68B-5C29-A36D-D009005475A5}"/>
                  </a:ext>
                </a:extLst>
              </p:cNvPr>
              <p:cNvSpPr/>
              <p:nvPr/>
            </p:nvSpPr>
            <p:spPr>
              <a:xfrm>
                <a:off x="7502564" y="4674433"/>
                <a:ext cx="4212160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고용노동부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인적자원우수기관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인증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산업인력공단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우수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프로그램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경진대회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금상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인터넷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원격훈련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이러닝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)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개시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1,000개,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50만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534B3E13-926A-6C8F-CE54-E55E98EA56C6}"/>
                  </a:ext>
                </a:extLst>
              </p:cNvPr>
              <p:cNvSpPr/>
              <p:nvPr/>
            </p:nvSpPr>
            <p:spPr>
              <a:xfrm>
                <a:off x="6285297" y="4674433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성장과 </a:t>
                </a:r>
                <a:r>
                  <a:rPr kumimoji="0" lang="ko-KR" altLang="en-US" sz="11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향상기</a:t>
                </a:r>
                <a:endParaRPr kumimoji="0" lang="ko-KR" altLang="en-US" sz="11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2011 ~ 2015</a:t>
                </a:r>
              </a:p>
            </p:txBody>
          </p:sp>
          <p:sp>
            <p:nvSpPr>
              <p:cNvPr id="59" name="순서도: 대체 처리 58">
                <a:extLst>
                  <a:ext uri="{FF2B5EF4-FFF2-40B4-BE49-F238E27FC236}">
                    <a16:creationId xmlns:a16="http://schemas.microsoft.com/office/drawing/2014/main" id="{87C470F3-92B2-41AA-699D-0CB8A50C03DE}"/>
                  </a:ext>
                </a:extLst>
              </p:cNvPr>
              <p:cNvSpPr/>
              <p:nvPr/>
            </p:nvSpPr>
            <p:spPr>
              <a:xfrm>
                <a:off x="6330396" y="4790465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성장과 </a:t>
                </a:r>
                <a:r>
                  <a:rPr kumimoji="0" lang="ko-KR" alt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향상기</a:t>
                </a:r>
                <a:endPara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  <a:cs typeface="+mn-cs"/>
                </a:endParaRP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F177F64-FFAD-67F2-C1B0-A46311DB3E14}"/>
                  </a:ext>
                </a:extLst>
              </p:cNvPr>
              <p:cNvSpPr/>
              <p:nvPr/>
            </p:nvSpPr>
            <p:spPr>
              <a:xfrm>
                <a:off x="7499688" y="5596624"/>
                <a:ext cx="4222293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1999년 9월 1일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설립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동업계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최초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Web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기반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학습관리시스템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(LMS)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구축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통신교육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프로세스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개발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400개,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20만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83E00919-966E-4BF5-C1EB-474D0B320715}"/>
                  </a:ext>
                </a:extLst>
              </p:cNvPr>
              <p:cNvSpPr/>
              <p:nvPr/>
            </p:nvSpPr>
            <p:spPr>
              <a:xfrm>
                <a:off x="6285297" y="5596624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창업과 형성기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1999 ~ 2004</a:t>
                </a:r>
              </a:p>
            </p:txBody>
          </p:sp>
          <p:sp>
            <p:nvSpPr>
              <p:cNvPr id="62" name="순서도: 대체 처리 61">
                <a:extLst>
                  <a:ext uri="{FF2B5EF4-FFF2-40B4-BE49-F238E27FC236}">
                    <a16:creationId xmlns:a16="http://schemas.microsoft.com/office/drawing/2014/main" id="{2EBC551B-12C8-60F2-6576-D984D39D2767}"/>
                  </a:ext>
                </a:extLst>
              </p:cNvPr>
              <p:cNvSpPr/>
              <p:nvPr/>
            </p:nvSpPr>
            <p:spPr>
              <a:xfrm>
                <a:off x="6330396" y="5702827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창업과 형성기</a:t>
                </a:r>
              </a:p>
            </p:txBody>
          </p:sp>
          <p:sp>
            <p:nvSpPr>
              <p:cNvPr id="63" name="순서도: 추출 62">
                <a:extLst>
                  <a:ext uri="{FF2B5EF4-FFF2-40B4-BE49-F238E27FC236}">
                    <a16:creationId xmlns:a16="http://schemas.microsoft.com/office/drawing/2014/main" id="{18A32DAB-E4DD-DB18-749D-052C69FCCC6F}"/>
                  </a:ext>
                </a:extLst>
              </p:cNvPr>
              <p:cNvSpPr/>
              <p:nvPr/>
            </p:nvSpPr>
            <p:spPr>
              <a:xfrm>
                <a:off x="6801899" y="2651860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4" name="순서도: 추출 63">
                <a:extLst>
                  <a:ext uri="{FF2B5EF4-FFF2-40B4-BE49-F238E27FC236}">
                    <a16:creationId xmlns:a16="http://schemas.microsoft.com/office/drawing/2014/main" id="{7C2ABAFF-6C9E-73D2-F563-8AD5C0EB6C5D}"/>
                  </a:ext>
                </a:extLst>
              </p:cNvPr>
              <p:cNvSpPr/>
              <p:nvPr/>
            </p:nvSpPr>
            <p:spPr>
              <a:xfrm>
                <a:off x="6801899" y="3584003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5" name="순서도: 추출 64">
                <a:extLst>
                  <a:ext uri="{FF2B5EF4-FFF2-40B4-BE49-F238E27FC236}">
                    <a16:creationId xmlns:a16="http://schemas.microsoft.com/office/drawing/2014/main" id="{F5A7208C-C373-64FA-B397-34E59DDD0F5C}"/>
                  </a:ext>
                </a:extLst>
              </p:cNvPr>
              <p:cNvSpPr/>
              <p:nvPr/>
            </p:nvSpPr>
            <p:spPr>
              <a:xfrm>
                <a:off x="6801899" y="4507804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6" name="순서도: 추출 65">
                <a:extLst>
                  <a:ext uri="{FF2B5EF4-FFF2-40B4-BE49-F238E27FC236}">
                    <a16:creationId xmlns:a16="http://schemas.microsoft.com/office/drawing/2014/main" id="{D07FCF89-07D1-3E95-AA6C-61C5FD4C6BB4}"/>
                  </a:ext>
                </a:extLst>
              </p:cNvPr>
              <p:cNvSpPr/>
              <p:nvPr/>
            </p:nvSpPr>
            <p:spPr>
              <a:xfrm>
                <a:off x="6801899" y="5433296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빠른 실습·반복 피드백 중심의
SAM 애자일 교수설계 적용</a:t>
            </a:r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1524000" y="1123950"/>
            <a:ext cx="5475605" cy="1533525"/>
            <a:chOff x="1487550" y="514350"/>
            <a:chExt cx="5475605" cy="1533525"/>
          </a:xfrm>
        </p:grpSpPr>
        <p:sp>
          <p:nvSpPr>
            <p:cNvPr id="4" name="object 4"/>
            <p:cNvSpPr/>
            <p:nvPr/>
          </p:nvSpPr>
          <p:spPr>
            <a:xfrm>
              <a:off x="1781174" y="514350"/>
              <a:ext cx="5181600" cy="1533525"/>
            </a:xfrm>
            <a:custGeom>
              <a:avLst/>
              <a:gdLst/>
              <a:ahLst/>
              <a:cxnLst/>
              <a:rect l="l" t="t" r="r" b="b"/>
              <a:pathLst>
                <a:path w="5181600" h="1533525">
                  <a:moveTo>
                    <a:pt x="4414774" y="0"/>
                  </a:moveTo>
                  <a:lnTo>
                    <a:pt x="4414774" y="383413"/>
                  </a:lnTo>
                  <a:lnTo>
                    <a:pt x="0" y="383413"/>
                  </a:lnTo>
                  <a:lnTo>
                    <a:pt x="0" y="1150112"/>
                  </a:lnTo>
                  <a:lnTo>
                    <a:pt x="4414774" y="1150112"/>
                  </a:lnTo>
                  <a:lnTo>
                    <a:pt x="4414774" y="1533525"/>
                  </a:lnTo>
                  <a:lnTo>
                    <a:pt x="5181600" y="766699"/>
                  </a:lnTo>
                  <a:lnTo>
                    <a:pt x="4414774" y="0"/>
                  </a:lnTo>
                  <a:close/>
                </a:path>
              </a:pathLst>
            </a:custGeom>
            <a:solidFill>
              <a:srgbClr val="E4EAFD"/>
            </a:solidFill>
          </p:spPr>
          <p:txBody>
            <a:bodyPr wrap="square" lIns="0" tIns="0" rIns="0" bIns="0" rtlCol="0"/>
            <a:lstStyle/>
            <a:p>
              <a:r>
                <a:t>STEP 1. 현업 문제 정의 | 공단 실무 업무를 실습 소재로 직접 활용 — 추상적 예제 배제</a:t>
              </a:r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00250" y="976376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1725549" y="0"/>
                  </a:moveTo>
                  <a:lnTo>
                    <a:pt x="103124" y="0"/>
                  </a:lnTo>
                  <a:lnTo>
                    <a:pt x="62954" y="8094"/>
                  </a:lnTo>
                  <a:lnTo>
                    <a:pt x="30178" y="30178"/>
                  </a:lnTo>
                  <a:lnTo>
                    <a:pt x="8094" y="62954"/>
                  </a:lnTo>
                  <a:lnTo>
                    <a:pt x="0" y="103124"/>
                  </a:lnTo>
                  <a:lnTo>
                    <a:pt x="0" y="515874"/>
                  </a:lnTo>
                  <a:lnTo>
                    <a:pt x="8094" y="556063"/>
                  </a:lnTo>
                  <a:lnTo>
                    <a:pt x="30178" y="588883"/>
                  </a:lnTo>
                  <a:lnTo>
                    <a:pt x="62954" y="611010"/>
                  </a:lnTo>
                  <a:lnTo>
                    <a:pt x="103124" y="619125"/>
                  </a:lnTo>
                  <a:lnTo>
                    <a:pt x="1725549" y="619125"/>
                  </a:lnTo>
                  <a:lnTo>
                    <a:pt x="1765738" y="611010"/>
                  </a:lnTo>
                  <a:lnTo>
                    <a:pt x="1798558" y="588883"/>
                  </a:lnTo>
                  <a:lnTo>
                    <a:pt x="1820685" y="556063"/>
                  </a:lnTo>
                  <a:lnTo>
                    <a:pt x="1828800" y="515874"/>
                  </a:lnTo>
                  <a:lnTo>
                    <a:pt x="1828800" y="103124"/>
                  </a:lnTo>
                  <a:lnTo>
                    <a:pt x="1820685" y="62954"/>
                  </a:lnTo>
                  <a:lnTo>
                    <a:pt x="1798558" y="30178"/>
                  </a:lnTo>
                  <a:lnTo>
                    <a:pt x="1765738" y="8094"/>
                  </a:lnTo>
                  <a:lnTo>
                    <a:pt x="1725549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r>
                <a:t>STEP 2. 즉시 실습 &amp; 산출물 완성 | 매 차시 종료 시 손에 잡히는 결과물 1종 완성 — 이론 최소화</a:t>
              </a:r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00250" y="976376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0" y="103124"/>
                  </a:moveTo>
                  <a:lnTo>
                    <a:pt x="8094" y="62954"/>
                  </a:lnTo>
                  <a:lnTo>
                    <a:pt x="30178" y="30178"/>
                  </a:lnTo>
                  <a:lnTo>
                    <a:pt x="62954" y="8094"/>
                  </a:lnTo>
                  <a:lnTo>
                    <a:pt x="103124" y="0"/>
                  </a:lnTo>
                  <a:lnTo>
                    <a:pt x="1725549" y="0"/>
                  </a:lnTo>
                  <a:lnTo>
                    <a:pt x="1765738" y="8094"/>
                  </a:lnTo>
                  <a:lnTo>
                    <a:pt x="1798558" y="30178"/>
                  </a:lnTo>
                  <a:lnTo>
                    <a:pt x="1820685" y="62954"/>
                  </a:lnTo>
                  <a:lnTo>
                    <a:pt x="1828800" y="103124"/>
                  </a:lnTo>
                  <a:lnTo>
                    <a:pt x="1828800" y="515874"/>
                  </a:lnTo>
                  <a:lnTo>
                    <a:pt x="1820685" y="556063"/>
                  </a:lnTo>
                  <a:lnTo>
                    <a:pt x="1798558" y="588883"/>
                  </a:lnTo>
                  <a:lnTo>
                    <a:pt x="1765738" y="611010"/>
                  </a:lnTo>
                  <a:lnTo>
                    <a:pt x="1725549" y="619125"/>
                  </a:lnTo>
                  <a:lnTo>
                    <a:pt x="103124" y="619125"/>
                  </a:lnTo>
                  <a:lnTo>
                    <a:pt x="62954" y="611010"/>
                  </a:lnTo>
                  <a:lnTo>
                    <a:pt x="30178" y="588883"/>
                  </a:lnTo>
                  <a:lnTo>
                    <a:pt x="8094" y="556063"/>
                  </a:lnTo>
                  <a:lnTo>
                    <a:pt x="0" y="515874"/>
                  </a:lnTo>
                  <a:lnTo>
                    <a:pt x="0" y="103124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r>
                <a:t>STEP 3. 피드백 반복 &amp; 현업 적용 | 조별 교차 검토·개선으로 완성도 향상 — 교육 직후 현업 복귀 즉시 활용</a:t>
              </a:r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37664" y="1660842"/>
            <a:ext cx="617855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181D2F"/>
                </a:solidFill>
                <a:latin typeface="Malgun Gothic"/>
                <a:cs typeface="Malgun Gothic"/>
              </a:rPr>
              <a:t>강의</a:t>
            </a:r>
            <a:r>
              <a:rPr sz="950" b="1" spc="2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950" b="1" spc="-35" dirty="0">
                <a:solidFill>
                  <a:srgbClr val="181D2F"/>
                </a:solidFill>
                <a:latin typeface="Malgun Gothic"/>
                <a:cs typeface="Malgun Gothic"/>
              </a:rPr>
              <a:t>진행</a:t>
            </a:r>
            <a:endParaRPr sz="9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950" b="1" spc="-10" dirty="0">
                <a:solidFill>
                  <a:srgbClr val="181D2F"/>
                </a:solidFill>
                <a:latin typeface="Arial"/>
                <a:cs typeface="Arial"/>
              </a:rPr>
              <a:t>(</a:t>
            </a:r>
            <a:r>
              <a:rPr sz="950" b="1" spc="-10" dirty="0">
                <a:solidFill>
                  <a:srgbClr val="181D2F"/>
                </a:solidFill>
                <a:latin typeface="Malgun Gothic"/>
                <a:cs typeface="Malgun Gothic"/>
              </a:rPr>
              <a:t>자유주제</a:t>
            </a:r>
            <a:r>
              <a:rPr sz="950" b="1" spc="-10" dirty="0">
                <a:solidFill>
                  <a:srgbClr val="181D2F"/>
                </a:solidFill>
                <a:latin typeface="Arial"/>
                <a:cs typeface="Arial"/>
              </a:rPr>
              <a:t>)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86151" y="1573275"/>
            <a:ext cx="1854200" cy="644525"/>
            <a:chOff x="3449701" y="963675"/>
            <a:chExt cx="1854200" cy="644525"/>
          </a:xfrm>
        </p:grpSpPr>
        <p:sp>
          <p:nvSpPr>
            <p:cNvPr id="9" name="object 9"/>
            <p:cNvSpPr/>
            <p:nvPr/>
          </p:nvSpPr>
          <p:spPr>
            <a:xfrm>
              <a:off x="3462401" y="976375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1725549" y="0"/>
                  </a:moveTo>
                  <a:lnTo>
                    <a:pt x="103124" y="0"/>
                  </a:lnTo>
                  <a:lnTo>
                    <a:pt x="62954" y="8094"/>
                  </a:lnTo>
                  <a:lnTo>
                    <a:pt x="30178" y="30178"/>
                  </a:lnTo>
                  <a:lnTo>
                    <a:pt x="8094" y="62954"/>
                  </a:lnTo>
                  <a:lnTo>
                    <a:pt x="0" y="103124"/>
                  </a:lnTo>
                  <a:lnTo>
                    <a:pt x="0" y="515874"/>
                  </a:lnTo>
                  <a:lnTo>
                    <a:pt x="8094" y="556063"/>
                  </a:lnTo>
                  <a:lnTo>
                    <a:pt x="30178" y="588883"/>
                  </a:lnTo>
                  <a:lnTo>
                    <a:pt x="62954" y="611010"/>
                  </a:lnTo>
                  <a:lnTo>
                    <a:pt x="103124" y="619125"/>
                  </a:lnTo>
                  <a:lnTo>
                    <a:pt x="1725549" y="619125"/>
                  </a:lnTo>
                  <a:lnTo>
                    <a:pt x="1765738" y="611010"/>
                  </a:lnTo>
                  <a:lnTo>
                    <a:pt x="1798558" y="588883"/>
                  </a:lnTo>
                  <a:lnTo>
                    <a:pt x="1820685" y="556063"/>
                  </a:lnTo>
                  <a:lnTo>
                    <a:pt x="1828800" y="515874"/>
                  </a:lnTo>
                  <a:lnTo>
                    <a:pt x="1828800" y="103124"/>
                  </a:lnTo>
                  <a:lnTo>
                    <a:pt x="1820685" y="62954"/>
                  </a:lnTo>
                  <a:lnTo>
                    <a:pt x="1798558" y="30178"/>
                  </a:lnTo>
                  <a:lnTo>
                    <a:pt x="1765738" y="8094"/>
                  </a:lnTo>
                  <a:lnTo>
                    <a:pt x="1725549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62401" y="976375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0" y="103124"/>
                  </a:moveTo>
                  <a:lnTo>
                    <a:pt x="8094" y="62954"/>
                  </a:lnTo>
                  <a:lnTo>
                    <a:pt x="30178" y="30178"/>
                  </a:lnTo>
                  <a:lnTo>
                    <a:pt x="62954" y="8094"/>
                  </a:lnTo>
                  <a:lnTo>
                    <a:pt x="103124" y="0"/>
                  </a:lnTo>
                  <a:lnTo>
                    <a:pt x="1725549" y="0"/>
                  </a:lnTo>
                  <a:lnTo>
                    <a:pt x="1765738" y="8094"/>
                  </a:lnTo>
                  <a:lnTo>
                    <a:pt x="1798558" y="30178"/>
                  </a:lnTo>
                  <a:lnTo>
                    <a:pt x="1820685" y="62954"/>
                  </a:lnTo>
                  <a:lnTo>
                    <a:pt x="1828800" y="103124"/>
                  </a:lnTo>
                  <a:lnTo>
                    <a:pt x="1828800" y="515874"/>
                  </a:lnTo>
                  <a:lnTo>
                    <a:pt x="1820685" y="556063"/>
                  </a:lnTo>
                  <a:lnTo>
                    <a:pt x="1798558" y="588883"/>
                  </a:lnTo>
                  <a:lnTo>
                    <a:pt x="1765738" y="611010"/>
                  </a:lnTo>
                  <a:lnTo>
                    <a:pt x="1725549" y="619125"/>
                  </a:lnTo>
                  <a:lnTo>
                    <a:pt x="103124" y="619125"/>
                  </a:lnTo>
                  <a:lnTo>
                    <a:pt x="62954" y="611010"/>
                  </a:lnTo>
                  <a:lnTo>
                    <a:pt x="30178" y="588883"/>
                  </a:lnTo>
                  <a:lnTo>
                    <a:pt x="8094" y="556063"/>
                  </a:lnTo>
                  <a:lnTo>
                    <a:pt x="0" y="515874"/>
                  </a:lnTo>
                  <a:lnTo>
                    <a:pt x="0" y="103124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87801" y="1660842"/>
            <a:ext cx="852805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181D2F"/>
                </a:solidFill>
                <a:latin typeface="Arial"/>
                <a:cs typeface="Arial"/>
              </a:rPr>
              <a:t>AI</a:t>
            </a:r>
            <a:r>
              <a:rPr sz="950" b="1" spc="75" dirty="0">
                <a:solidFill>
                  <a:srgbClr val="181D2F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81D2F"/>
                </a:solidFill>
                <a:latin typeface="Malgun Gothic"/>
                <a:cs typeface="Malgun Gothic"/>
              </a:rPr>
              <a:t>플랫폼</a:t>
            </a:r>
            <a:r>
              <a:rPr sz="950" b="1" spc="4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950" b="1" spc="-25" dirty="0">
                <a:solidFill>
                  <a:srgbClr val="181D2F"/>
                </a:solidFill>
                <a:latin typeface="Malgun Gothic"/>
                <a:cs typeface="Malgun Gothic"/>
              </a:rPr>
              <a:t>활용</a:t>
            </a:r>
            <a:endParaRPr sz="9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40"/>
              </a:spcBef>
            </a:pPr>
            <a:r>
              <a:rPr sz="950" b="1" dirty="0">
                <a:solidFill>
                  <a:srgbClr val="181D2F"/>
                </a:solidFill>
                <a:latin typeface="Malgun Gothic"/>
                <a:cs typeface="Malgun Gothic"/>
              </a:rPr>
              <a:t>과제</a:t>
            </a:r>
            <a:r>
              <a:rPr sz="950" b="1" spc="30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950" b="1" spc="-25" dirty="0">
                <a:solidFill>
                  <a:srgbClr val="181D2F"/>
                </a:solidFill>
                <a:latin typeface="Malgun Gothic"/>
                <a:cs typeface="Malgun Gothic"/>
              </a:rPr>
              <a:t>수행</a:t>
            </a:r>
            <a:endParaRPr sz="950">
              <a:latin typeface="Malgun Gothic"/>
              <a:cs typeface="Malgun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57826" y="1573275"/>
            <a:ext cx="1854200" cy="644525"/>
            <a:chOff x="5421376" y="963675"/>
            <a:chExt cx="1854200" cy="644525"/>
          </a:xfrm>
        </p:grpSpPr>
        <p:sp>
          <p:nvSpPr>
            <p:cNvPr id="13" name="object 13"/>
            <p:cNvSpPr/>
            <p:nvPr/>
          </p:nvSpPr>
          <p:spPr>
            <a:xfrm>
              <a:off x="5434076" y="976375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1725549" y="0"/>
                  </a:moveTo>
                  <a:lnTo>
                    <a:pt x="103124" y="0"/>
                  </a:lnTo>
                  <a:lnTo>
                    <a:pt x="62954" y="8094"/>
                  </a:lnTo>
                  <a:lnTo>
                    <a:pt x="30178" y="30178"/>
                  </a:lnTo>
                  <a:lnTo>
                    <a:pt x="8094" y="62954"/>
                  </a:lnTo>
                  <a:lnTo>
                    <a:pt x="0" y="103124"/>
                  </a:lnTo>
                  <a:lnTo>
                    <a:pt x="0" y="515874"/>
                  </a:lnTo>
                  <a:lnTo>
                    <a:pt x="8094" y="556063"/>
                  </a:lnTo>
                  <a:lnTo>
                    <a:pt x="30178" y="588883"/>
                  </a:lnTo>
                  <a:lnTo>
                    <a:pt x="62954" y="611010"/>
                  </a:lnTo>
                  <a:lnTo>
                    <a:pt x="103124" y="619125"/>
                  </a:lnTo>
                  <a:lnTo>
                    <a:pt x="1725549" y="619125"/>
                  </a:lnTo>
                  <a:lnTo>
                    <a:pt x="1765738" y="611010"/>
                  </a:lnTo>
                  <a:lnTo>
                    <a:pt x="1798558" y="588883"/>
                  </a:lnTo>
                  <a:lnTo>
                    <a:pt x="1820685" y="556063"/>
                  </a:lnTo>
                  <a:lnTo>
                    <a:pt x="1828800" y="515874"/>
                  </a:lnTo>
                  <a:lnTo>
                    <a:pt x="1828800" y="103124"/>
                  </a:lnTo>
                  <a:lnTo>
                    <a:pt x="1820685" y="62954"/>
                  </a:lnTo>
                  <a:lnTo>
                    <a:pt x="1798558" y="30178"/>
                  </a:lnTo>
                  <a:lnTo>
                    <a:pt x="1765738" y="8094"/>
                  </a:lnTo>
                  <a:lnTo>
                    <a:pt x="1725549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34076" y="976375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0" y="103124"/>
                  </a:moveTo>
                  <a:lnTo>
                    <a:pt x="8094" y="62954"/>
                  </a:lnTo>
                  <a:lnTo>
                    <a:pt x="30178" y="30178"/>
                  </a:lnTo>
                  <a:lnTo>
                    <a:pt x="62954" y="8094"/>
                  </a:lnTo>
                  <a:lnTo>
                    <a:pt x="103124" y="0"/>
                  </a:lnTo>
                  <a:lnTo>
                    <a:pt x="1725549" y="0"/>
                  </a:lnTo>
                  <a:lnTo>
                    <a:pt x="1765738" y="8094"/>
                  </a:lnTo>
                  <a:lnTo>
                    <a:pt x="1798558" y="30178"/>
                  </a:lnTo>
                  <a:lnTo>
                    <a:pt x="1820685" y="62954"/>
                  </a:lnTo>
                  <a:lnTo>
                    <a:pt x="1828800" y="103124"/>
                  </a:lnTo>
                  <a:lnTo>
                    <a:pt x="1828800" y="515874"/>
                  </a:lnTo>
                  <a:lnTo>
                    <a:pt x="1820685" y="556063"/>
                  </a:lnTo>
                  <a:lnTo>
                    <a:pt x="1798558" y="588883"/>
                  </a:lnTo>
                  <a:lnTo>
                    <a:pt x="1765738" y="611010"/>
                  </a:lnTo>
                  <a:lnTo>
                    <a:pt x="1725549" y="619125"/>
                  </a:lnTo>
                  <a:lnTo>
                    <a:pt x="103124" y="619125"/>
                  </a:lnTo>
                  <a:lnTo>
                    <a:pt x="62954" y="611010"/>
                  </a:lnTo>
                  <a:lnTo>
                    <a:pt x="30178" y="588883"/>
                  </a:lnTo>
                  <a:lnTo>
                    <a:pt x="8094" y="556063"/>
                  </a:lnTo>
                  <a:lnTo>
                    <a:pt x="0" y="515874"/>
                  </a:lnTo>
                  <a:lnTo>
                    <a:pt x="0" y="103124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120765" y="1660842"/>
            <a:ext cx="530860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950" b="1" spc="-25" dirty="0">
                <a:solidFill>
                  <a:srgbClr val="181D2F"/>
                </a:solidFill>
                <a:latin typeface="Malgun Gothic"/>
                <a:cs typeface="Malgun Gothic"/>
              </a:rPr>
              <a:t>팀별</a:t>
            </a:r>
            <a:endParaRPr sz="9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40"/>
              </a:spcBef>
            </a:pPr>
            <a:r>
              <a:rPr sz="950" b="1" spc="-20" dirty="0">
                <a:solidFill>
                  <a:srgbClr val="181D2F"/>
                </a:solidFill>
                <a:latin typeface="Malgun Gothic"/>
                <a:cs typeface="Malgun Gothic"/>
              </a:rPr>
              <a:t>과제발표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1000" y="2509900"/>
            <a:ext cx="3631565" cy="33919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6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메타인지</a:t>
            </a: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AI</a:t>
            </a:r>
            <a:r>
              <a:rPr sz="14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lang="ko-KR" altLang="en-US" sz="1400" b="1" spc="-15" dirty="0" err="1">
                <a:solidFill>
                  <a:srgbClr val="FFFFFF"/>
                </a:solidFill>
                <a:latin typeface="Malgun Gothic"/>
                <a:cs typeface="Malgun Gothic"/>
              </a:rPr>
              <a:t>해커톤</a:t>
            </a:r>
            <a:r>
              <a:rPr sz="14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 err="1">
                <a:solidFill>
                  <a:srgbClr val="FFFFFF"/>
                </a:solidFill>
                <a:latin typeface="Malgun Gothic"/>
                <a:cs typeface="Malgun Gothic"/>
              </a:rPr>
              <a:t>일정</a:t>
            </a:r>
            <a:r>
              <a:rPr lang="en-US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(1</a:t>
            </a:r>
            <a:r>
              <a:rPr lang="ko-KR" altLang="en-US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박 </a:t>
            </a:r>
            <a:r>
              <a:rPr lang="en-US" altLang="ko-KR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2</a:t>
            </a:r>
            <a:r>
              <a:rPr lang="ko-KR" altLang="en-US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일</a:t>
            </a:r>
            <a:r>
              <a:rPr lang="en-US" altLang="ko-KR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)</a:t>
            </a:r>
            <a:endParaRPr sz="14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6847E72-0FD6-591B-F199-B43BD8E5E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2A910-C3B1-AF74-3CB9-F563E977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공단 현업 100% 밀착 설계
3대 AI 실무 핵심 과목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28A056-FF6E-837B-B0C8-84DC23032EEB}"/>
              </a:ext>
            </a:extLst>
          </p:cNvPr>
          <p:cNvSpPr/>
          <p:nvPr/>
        </p:nvSpPr>
        <p:spPr>
          <a:xfrm>
            <a:off x="0" y="858255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lvl="0" latinLnBrk="0">
              <a:defRPr/>
            </a:pPr>
            <a:r>
              <a:rPr lang="en-US" altLang="ko-KR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과목 1. AI 데이터 분석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A76083-8DA4-0C41-19BE-A1CF19EB24C2}"/>
              </a:ext>
            </a:extLst>
          </p:cNvPr>
          <p:cNvSpPr/>
          <p:nvPr/>
        </p:nvSpPr>
        <p:spPr>
          <a:xfrm>
            <a:off x="1539699" y="1590592"/>
            <a:ext cx="1914114" cy="382760"/>
          </a:xfrm>
          <a:prstGeom prst="rect">
            <a:avLst/>
          </a:prstGeom>
          <a:solidFill>
            <a:srgbClr val="353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행정문서·보고서·운영 통계 데이터를 AI로 자동 분류·요약·초안 작성하는 실무 역량 구축
▸ 산출물: 행정문서 AI 초안 라이브러리 + 운영 보고서 완성본</a:t>
            </a:r>
            <a:endParaRPr lang="ko-KR" altLang="en-US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CF6B49-028C-CACC-44E5-C704519ACC1D}"/>
              </a:ext>
            </a:extLst>
          </p:cNvPr>
          <p:cNvSpPr/>
          <p:nvPr/>
        </p:nvSpPr>
        <p:spPr>
          <a:xfrm>
            <a:off x="3525519" y="1593890"/>
            <a:ext cx="2681655" cy="379462"/>
          </a:xfrm>
          <a:prstGeom prst="rect">
            <a:avLst/>
          </a:prstGeom>
          <a:solidFill>
            <a:srgbClr val="353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과목 2. AI 이미지·영상 제작</a:t>
            </a:r>
            <a:endParaRPr lang="ko-KR" altLang="en-US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64CC61-DCF2-CC36-B68B-250AFDC53B70}"/>
              </a:ext>
            </a:extLst>
          </p:cNvPr>
          <p:cNvSpPr/>
          <p:nvPr/>
        </p:nvSpPr>
        <p:spPr>
          <a:xfrm>
            <a:off x="6278880" y="1593889"/>
            <a:ext cx="2681654" cy="379463"/>
          </a:xfrm>
          <a:prstGeom prst="rect">
            <a:avLst/>
          </a:prstGeom>
          <a:solidFill>
            <a:srgbClr val="353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별도 디자인 전문 지식 없이 AI 도구만으로 홍보 포스터·시설 소개 영상을 자체 제작하는 콘텐츠 역량 확보
▸ 산출물: 홍보 포스터 2종 + 쇼츠 영상 1편</a:t>
            </a:r>
            <a:endParaRPr lang="ko-KR" altLang="en-US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93EA41-E3DA-B10C-7993-01B85517BDBD}"/>
              </a:ext>
            </a:extLst>
          </p:cNvPr>
          <p:cNvSpPr/>
          <p:nvPr/>
        </p:nvSpPr>
        <p:spPr>
          <a:xfrm>
            <a:off x="9032240" y="1590593"/>
            <a:ext cx="2681654" cy="382760"/>
          </a:xfrm>
          <a:prstGeom prst="rect">
            <a:avLst/>
          </a:prstGeom>
          <a:solidFill>
            <a:srgbClr val="353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과목 3. AI 챗봇 기획·체험</a:t>
            </a:r>
            <a:endParaRPr lang="ko-KR" altLang="en-US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6279C60-FA67-FA2B-E22F-218EEDE2C1AD}"/>
              </a:ext>
            </a:extLst>
          </p:cNvPr>
          <p:cNvSpPr/>
          <p:nvPr/>
        </p:nvSpPr>
        <p:spPr>
          <a:xfrm>
            <a:off x="330991" y="2055705"/>
            <a:ext cx="1177642" cy="1230632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코딩 없이 민원 FAQ 챗봇을 기획·설계하고 No-Code 빌더로 프로토타입을 직접 체험하는 챗봇 입문 역량 확보
▸ 산출물: 챗봇 기획서 + 동작하는 프로토타입</a:t>
            </a:r>
            <a:endParaRPr lang="en-US" altLang="ko-KR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/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/>
            </a: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/>
            </a: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833A9F-C01F-F976-F886-ABE562BBEA31}"/>
              </a:ext>
            </a:extLst>
          </p:cNvPr>
          <p:cNvSpPr/>
          <p:nvPr/>
        </p:nvSpPr>
        <p:spPr>
          <a:xfrm>
            <a:off x="330991" y="3325687"/>
            <a:ext cx="1177642" cy="1429193"/>
          </a:xfrm>
          <a:prstGeom prst="rect">
            <a:avLst/>
          </a:prstGeom>
          <a:solidFill>
            <a:srgbClr val="96DC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안</a:t>
            </a:r>
            <a:endParaRPr lang="en-US" altLang="ko-KR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전략형</a:t>
            </a: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45FBD6-57B6-2F55-732C-894372DD14FF}"/>
              </a:ext>
            </a:extLst>
          </p:cNvPr>
          <p:cNvSpPr/>
          <p:nvPr/>
        </p:nvSpPr>
        <p:spPr>
          <a:xfrm>
            <a:off x="330991" y="4796574"/>
            <a:ext cx="1177642" cy="1590408"/>
          </a:xfrm>
          <a:prstGeom prst="rect">
            <a:avLst/>
          </a:prstGeom>
          <a:solidFill>
            <a:srgbClr val="61CB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안</a:t>
            </a:r>
            <a:endParaRPr lang="en-US" altLang="ko-KR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내재화형</a:t>
            </a: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33E28B-9960-F790-7F10-8371B6DCAF2D}"/>
              </a:ext>
            </a:extLst>
          </p:cNvPr>
          <p:cNvSpPr/>
          <p:nvPr/>
        </p:nvSpPr>
        <p:spPr>
          <a:xfrm>
            <a:off x="1539698" y="2034314"/>
            <a:ext cx="1914115" cy="1230632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7B3A7EC-CCD3-402A-EDC5-3725FF5591BB}"/>
              </a:ext>
            </a:extLst>
          </p:cNvPr>
          <p:cNvSpPr/>
          <p:nvPr/>
        </p:nvSpPr>
        <p:spPr>
          <a:xfrm>
            <a:off x="1539698" y="3325687"/>
            <a:ext cx="1914115" cy="1429193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34808D2-D18D-2FAE-334B-086F7C897396}"/>
              </a:ext>
            </a:extLst>
          </p:cNvPr>
          <p:cNvSpPr/>
          <p:nvPr/>
        </p:nvSpPr>
        <p:spPr>
          <a:xfrm>
            <a:off x="1539698" y="4796574"/>
            <a:ext cx="1914115" cy="1590408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24772A5-438B-5150-077D-BD0A9F895A45}"/>
              </a:ext>
            </a:extLst>
          </p:cNvPr>
          <p:cNvSpPr/>
          <p:nvPr/>
        </p:nvSpPr>
        <p:spPr>
          <a:xfrm>
            <a:off x="3525519" y="2034314"/>
            <a:ext cx="2681655" cy="1230632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624846-BE39-B44C-2F7C-9F613D108E9E}"/>
              </a:ext>
            </a:extLst>
          </p:cNvPr>
          <p:cNvSpPr/>
          <p:nvPr/>
        </p:nvSpPr>
        <p:spPr>
          <a:xfrm>
            <a:off x="3525519" y="3325687"/>
            <a:ext cx="2681655" cy="1429193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0804907-D0BB-2CC4-2421-12441E096BC1}"/>
              </a:ext>
            </a:extLst>
          </p:cNvPr>
          <p:cNvSpPr/>
          <p:nvPr/>
        </p:nvSpPr>
        <p:spPr>
          <a:xfrm>
            <a:off x="3525519" y="4796574"/>
            <a:ext cx="2681655" cy="1590408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483FD3B-CEBF-69D0-4378-ED4B3882BC01}"/>
              </a:ext>
            </a:extLst>
          </p:cNvPr>
          <p:cNvSpPr/>
          <p:nvPr/>
        </p:nvSpPr>
        <p:spPr>
          <a:xfrm>
            <a:off x="6278881" y="2034314"/>
            <a:ext cx="2681654" cy="1230632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65182F2-EBE2-2C11-5723-042FB19D6C21}"/>
              </a:ext>
            </a:extLst>
          </p:cNvPr>
          <p:cNvSpPr/>
          <p:nvPr/>
        </p:nvSpPr>
        <p:spPr>
          <a:xfrm>
            <a:off x="6278881" y="3325687"/>
            <a:ext cx="2681654" cy="1429193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ADDD807-950B-269A-3694-7762FC38D903}"/>
              </a:ext>
            </a:extLst>
          </p:cNvPr>
          <p:cNvSpPr/>
          <p:nvPr/>
        </p:nvSpPr>
        <p:spPr>
          <a:xfrm>
            <a:off x="6278881" y="4796574"/>
            <a:ext cx="2681654" cy="1590408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5443D81-62BE-2363-B3CA-39B352BAB0D3}"/>
              </a:ext>
            </a:extLst>
          </p:cNvPr>
          <p:cNvSpPr/>
          <p:nvPr/>
        </p:nvSpPr>
        <p:spPr>
          <a:xfrm>
            <a:off x="9032240" y="2034314"/>
            <a:ext cx="2681655" cy="1230632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DF57711-3D21-82A8-AFDE-9B5D182D4DAA}"/>
              </a:ext>
            </a:extLst>
          </p:cNvPr>
          <p:cNvSpPr/>
          <p:nvPr/>
        </p:nvSpPr>
        <p:spPr>
          <a:xfrm>
            <a:off x="9032240" y="3325687"/>
            <a:ext cx="2681655" cy="1429193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C1BD2D0-CA48-0AE0-CD81-E41B17B308D3}"/>
              </a:ext>
            </a:extLst>
          </p:cNvPr>
          <p:cNvSpPr/>
          <p:nvPr/>
        </p:nvSpPr>
        <p:spPr>
          <a:xfrm>
            <a:off x="9032240" y="4796574"/>
            <a:ext cx="2681655" cy="1590408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30968EA-DA1B-9CE9-48AD-A1096FA3D999}"/>
              </a:ext>
            </a:extLst>
          </p:cNvPr>
          <p:cNvSpPr/>
          <p:nvPr/>
        </p:nvSpPr>
        <p:spPr>
          <a:xfrm>
            <a:off x="2265680" y="2119363"/>
            <a:ext cx="1188132" cy="158501"/>
          </a:xfrm>
          <a:prstGeom prst="round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D01DCE-2B23-D736-A050-9440FD8F22BA}"/>
              </a:ext>
            </a:extLst>
          </p:cNvPr>
          <p:cNvSpPr txBox="1"/>
          <p:nvPr/>
        </p:nvSpPr>
        <p:spPr>
          <a:xfrm>
            <a:off x="2086942" y="2083197"/>
            <a:ext cx="1584375" cy="2308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파이썬 기초 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(12H)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FB22032-639E-04D6-F4D2-D0D7BD6D536D}"/>
              </a:ext>
            </a:extLst>
          </p:cNvPr>
          <p:cNvSpPr/>
          <p:nvPr/>
        </p:nvSpPr>
        <p:spPr>
          <a:xfrm>
            <a:off x="3523728" y="2528441"/>
            <a:ext cx="6605792" cy="161828"/>
          </a:xfrm>
          <a:prstGeom prst="round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62CC4D-ACDC-2051-8D77-19689CBB57F5}"/>
              </a:ext>
            </a:extLst>
          </p:cNvPr>
          <p:cNvSpPr txBox="1"/>
          <p:nvPr/>
        </p:nvSpPr>
        <p:spPr>
          <a:xfrm>
            <a:off x="6207174" y="2491224"/>
            <a:ext cx="1314784" cy="2308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Agent </a:t>
            </a: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(80H)</a:t>
            </a:r>
            <a:endParaRPr kumimoji="0" lang="ko-KR" altLang="en-US" sz="9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8CE30B54-AA71-BA51-FDEC-E92686A604C0}"/>
              </a:ext>
            </a:extLst>
          </p:cNvPr>
          <p:cNvSpPr/>
          <p:nvPr/>
        </p:nvSpPr>
        <p:spPr>
          <a:xfrm>
            <a:off x="2265680" y="3398959"/>
            <a:ext cx="1188132" cy="158501"/>
          </a:xfrm>
          <a:prstGeom prst="roundRect">
            <a:avLst/>
          </a:prstGeom>
          <a:solidFill>
            <a:srgbClr val="96DC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3D91C51-9D44-141D-02F7-C407CF06D293}"/>
              </a:ext>
            </a:extLst>
          </p:cNvPr>
          <p:cNvSpPr txBox="1"/>
          <p:nvPr/>
        </p:nvSpPr>
        <p:spPr>
          <a:xfrm>
            <a:off x="2086942" y="3362793"/>
            <a:ext cx="1584375" cy="230832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파이썬 기초 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(12H)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0CB352F6-AEB3-D539-5930-FD97854B4517}"/>
              </a:ext>
            </a:extLst>
          </p:cNvPr>
          <p:cNvSpPr/>
          <p:nvPr/>
        </p:nvSpPr>
        <p:spPr>
          <a:xfrm>
            <a:off x="3566374" y="3797889"/>
            <a:ext cx="6563146" cy="171976"/>
          </a:xfrm>
          <a:prstGeom prst="roundRect">
            <a:avLst/>
          </a:prstGeom>
          <a:solidFill>
            <a:srgbClr val="96DCF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C96E301-E012-1DC7-F94B-A7A52AAD84DC}"/>
              </a:ext>
            </a:extLst>
          </p:cNvPr>
          <p:cNvSpPr txBox="1"/>
          <p:nvPr/>
        </p:nvSpPr>
        <p:spPr>
          <a:xfrm>
            <a:off x="6207174" y="3770820"/>
            <a:ext cx="1314784" cy="2308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Agent </a:t>
            </a: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(80H)</a:t>
            </a:r>
            <a:endParaRPr kumimoji="0" lang="ko-KR" altLang="en-US" sz="9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56DA5C42-844D-C483-4C08-299287F1B082}"/>
              </a:ext>
            </a:extLst>
          </p:cNvPr>
          <p:cNvSpPr/>
          <p:nvPr/>
        </p:nvSpPr>
        <p:spPr>
          <a:xfrm>
            <a:off x="2263891" y="4918743"/>
            <a:ext cx="1188132" cy="158501"/>
          </a:xfrm>
          <a:prstGeom prst="roundRect">
            <a:avLst/>
          </a:prstGeom>
          <a:solidFill>
            <a:srgbClr val="61CB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66E5316E-00C7-F381-6008-C4D61D8B8D08}"/>
              </a:ext>
            </a:extLst>
          </p:cNvPr>
          <p:cNvSpPr/>
          <p:nvPr/>
        </p:nvSpPr>
        <p:spPr>
          <a:xfrm>
            <a:off x="3564585" y="5341609"/>
            <a:ext cx="6563146" cy="148039"/>
          </a:xfrm>
          <a:prstGeom prst="roundRect">
            <a:avLst/>
          </a:prstGeom>
          <a:solidFill>
            <a:srgbClr val="61CBF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9EB0FD2-52CE-0527-A05B-F63CBAFAE65E}"/>
              </a:ext>
            </a:extLst>
          </p:cNvPr>
          <p:cNvSpPr txBox="1"/>
          <p:nvPr/>
        </p:nvSpPr>
        <p:spPr>
          <a:xfrm>
            <a:off x="6205385" y="5290604"/>
            <a:ext cx="1314784" cy="2308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Agent </a:t>
            </a: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(80H)</a:t>
            </a:r>
            <a:endParaRPr kumimoji="0" lang="ko-KR" altLang="en-US" sz="9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4B9FB0F-E8D5-9CE8-61E9-82F9B0D368FC}"/>
              </a:ext>
            </a:extLst>
          </p:cNvPr>
          <p:cNvSpPr txBox="1"/>
          <p:nvPr/>
        </p:nvSpPr>
        <p:spPr>
          <a:xfrm>
            <a:off x="2086942" y="4885679"/>
            <a:ext cx="1584375" cy="230832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파이썬 기초 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(12H)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600212-807F-DD78-5B42-C8C83C8A8932}"/>
              </a:ext>
            </a:extLst>
          </p:cNvPr>
          <p:cNvSpPr/>
          <p:nvPr/>
        </p:nvSpPr>
        <p:spPr>
          <a:xfrm>
            <a:off x="330991" y="4791046"/>
            <a:ext cx="11382903" cy="1617577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14CD66E-97A0-8CD0-38ED-AAE2F83CC047}"/>
              </a:ext>
            </a:extLst>
          </p:cNvPr>
          <p:cNvSpPr/>
          <p:nvPr/>
        </p:nvSpPr>
        <p:spPr>
          <a:xfrm>
            <a:off x="3568011" y="2258315"/>
            <a:ext cx="1017392" cy="194405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환경 조사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B32FAD1-0651-738A-D235-E0292B27C0EA}"/>
              </a:ext>
            </a:extLst>
          </p:cNvPr>
          <p:cNvSpPr/>
          <p:nvPr/>
        </p:nvSpPr>
        <p:spPr>
          <a:xfrm>
            <a:off x="9916162" y="2869736"/>
            <a:ext cx="1785784" cy="161543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프로젝트용 실습 가이드 제공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539E981-F8B2-5765-4C93-62CA42D5CEA2}"/>
              </a:ext>
            </a:extLst>
          </p:cNvPr>
          <p:cNvSpPr/>
          <p:nvPr/>
        </p:nvSpPr>
        <p:spPr>
          <a:xfrm>
            <a:off x="3564585" y="3567317"/>
            <a:ext cx="1017392" cy="194405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환경 조사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377532B-55C6-8461-9DD2-1C97170A6787}"/>
              </a:ext>
            </a:extLst>
          </p:cNvPr>
          <p:cNvSpPr/>
          <p:nvPr/>
        </p:nvSpPr>
        <p:spPr>
          <a:xfrm>
            <a:off x="5188194" y="4311159"/>
            <a:ext cx="3548807" cy="194405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성수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900" b="1" dirty="0" err="1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리프레시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CX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투어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시기 조절 가능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900" b="1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806DD7B-0B57-CE0E-C6E9-6723343DCA19}"/>
              </a:ext>
            </a:extLst>
          </p:cNvPr>
          <p:cNvSpPr/>
          <p:nvPr/>
        </p:nvSpPr>
        <p:spPr>
          <a:xfrm>
            <a:off x="3523728" y="5090950"/>
            <a:ext cx="1017392" cy="194405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환경 조사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27783F2-5CE1-C899-2698-35D3014E81A9}"/>
              </a:ext>
            </a:extLst>
          </p:cNvPr>
          <p:cNvSpPr/>
          <p:nvPr/>
        </p:nvSpPr>
        <p:spPr>
          <a:xfrm>
            <a:off x="5208514" y="5987826"/>
            <a:ext cx="3548807" cy="194405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성수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900" b="1" dirty="0" err="1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리프레시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CX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투어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시기 조절 가능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900" b="1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43A52DF-8F80-E618-C5DC-518D640F3F62}"/>
              </a:ext>
            </a:extLst>
          </p:cNvPr>
          <p:cNvSpPr/>
          <p:nvPr/>
        </p:nvSpPr>
        <p:spPr>
          <a:xfrm>
            <a:off x="9926321" y="6107128"/>
            <a:ext cx="1775624" cy="20766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알파코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강사 멘토링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&amp; 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스케줄 관리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FAC24823-FFBB-A845-C87F-A0E2B05B145E}"/>
              </a:ext>
            </a:extLst>
          </p:cNvPr>
          <p:cNvSpPr/>
          <p:nvPr/>
        </p:nvSpPr>
        <p:spPr>
          <a:xfrm>
            <a:off x="421874" y="5063539"/>
            <a:ext cx="1017392" cy="194405"/>
          </a:xfrm>
          <a:prstGeom prst="roundRect">
            <a:avLst>
              <a:gd name="adj" fmla="val 50000"/>
            </a:avLst>
          </a:prstGeom>
          <a:solidFill>
            <a:srgbClr val="003A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 err="1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알파코</a:t>
            </a:r>
            <a:r>
              <a:rPr lang="ko-KR" altLang="en-US" sz="10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추천</a:t>
            </a:r>
          </a:p>
        </p:txBody>
      </p:sp>
      <p:sp>
        <p:nvSpPr>
          <p:cNvPr id="63" name="말풍선: 타원형 62">
            <a:extLst>
              <a:ext uri="{FF2B5EF4-FFF2-40B4-BE49-F238E27FC236}">
                <a16:creationId xmlns:a16="http://schemas.microsoft.com/office/drawing/2014/main" id="{2C8C15D1-1C48-5354-E7F1-2CFC3728794E}"/>
              </a:ext>
            </a:extLst>
          </p:cNvPr>
          <p:cNvSpPr/>
          <p:nvPr/>
        </p:nvSpPr>
        <p:spPr>
          <a:xfrm>
            <a:off x="421874" y="1518775"/>
            <a:ext cx="1006633" cy="444851"/>
          </a:xfrm>
          <a:prstGeom prst="wedgeEllipseCallout">
            <a:avLst>
              <a:gd name="adj1" fmla="val 41264"/>
              <a:gd name="adj2" fmla="val 479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1~3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안 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/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中 </a:t>
            </a:r>
            <a:r>
              <a:rPr lang="ko-KR" altLang="en-US" sz="11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택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endParaRPr lang="ko-KR" altLang="en-US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DC1735D-8ACA-6905-E39D-20BCF6FFCA99}"/>
              </a:ext>
            </a:extLst>
          </p:cNvPr>
          <p:cNvSpPr/>
          <p:nvPr/>
        </p:nvSpPr>
        <p:spPr>
          <a:xfrm>
            <a:off x="9916161" y="4096891"/>
            <a:ext cx="1775624" cy="214268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프로젝트용 실습 가이드 제공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078E864-DFA9-9484-A5E2-4C8139A46736}"/>
              </a:ext>
            </a:extLst>
          </p:cNvPr>
          <p:cNvSpPr/>
          <p:nvPr/>
        </p:nvSpPr>
        <p:spPr>
          <a:xfrm>
            <a:off x="9916161" y="5672514"/>
            <a:ext cx="1775624" cy="214268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프로젝트용 실습 가이드 제공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63A6EE2A-9FFF-962D-1825-2C0F85E5E77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0560" y="1261062"/>
            <a:ext cx="11147727" cy="254065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본 제안은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안 </a:t>
            </a:r>
            <a:r>
              <a:rPr lang="en-US" altLang="ko-KR" dirty="0">
                <a:solidFill>
                  <a:schemeClr val="tx1"/>
                </a:solidFill>
              </a:rPr>
              <a:t>~ 3</a:t>
            </a:r>
            <a:r>
              <a:rPr lang="ko-KR" altLang="en-US" dirty="0">
                <a:solidFill>
                  <a:schemeClr val="tx1"/>
                </a:solidFill>
              </a:rPr>
              <a:t>안으로 구성되며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선택하여 진행 가능합니다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E551C31-3706-D8F4-7A8A-73FB156CB368}"/>
              </a:ext>
            </a:extLst>
          </p:cNvPr>
          <p:cNvSpPr/>
          <p:nvPr/>
        </p:nvSpPr>
        <p:spPr>
          <a:xfrm>
            <a:off x="9797177" y="1373455"/>
            <a:ext cx="252000" cy="7200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CA10-80DC-9889-F99D-68B9E8B88A96}"/>
              </a:ext>
            </a:extLst>
          </p:cNvPr>
          <p:cNvSpPr txBox="1"/>
          <p:nvPr/>
        </p:nvSpPr>
        <p:spPr>
          <a:xfrm>
            <a:off x="10010236" y="1290192"/>
            <a:ext cx="1778051" cy="238527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(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관계사 요청 시</a:t>
            </a: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 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추가 제공 영역</a:t>
            </a:r>
            <a:endParaRPr lang="en-US" altLang="ko-KR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DF41F28-A2C3-184E-B556-EE840F715768}"/>
              </a:ext>
            </a:extLst>
          </p:cNvPr>
          <p:cNvSpPr/>
          <p:nvPr/>
        </p:nvSpPr>
        <p:spPr>
          <a:xfrm>
            <a:off x="8556265" y="1373455"/>
            <a:ext cx="252000" cy="7200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24855-FAF0-9957-D7D6-93BF0500C380}"/>
              </a:ext>
            </a:extLst>
          </p:cNvPr>
          <p:cNvSpPr txBox="1"/>
          <p:nvPr/>
        </p:nvSpPr>
        <p:spPr>
          <a:xfrm>
            <a:off x="8769324" y="1290192"/>
            <a:ext cx="952505" cy="238527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기본 제공 영역</a:t>
            </a:r>
            <a:endParaRPr lang="en-US" altLang="ko-KR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D4F1E38-40D8-E5B4-BEC3-76067E56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02063D2-29F4-2737-4BCF-D3F2BE4E0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1일차: AI 데이터 분석
공단 행정문서·운영 데이터 100% 실습 소재 활용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E35C333-2240-21FD-1062-C467D0326601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3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54FC6EB-A0DC-EA6F-5F3A-2CA1D8968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909108"/>
              </p:ext>
            </p:extLst>
          </p:nvPr>
        </p:nvGraphicFramePr>
        <p:xfrm>
          <a:off x="861212" y="2072562"/>
          <a:ext cx="10469575" cy="277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9165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6431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차시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세부 주제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핵심 학습 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1차시
(09:00~10:30)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AI 시대의 공공행정과
생성형 AI 기초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LLM 동작 원리, 프롬프트 설계 구조,
AI 윤리 가이드라인 이해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2차시
(10:45~12:00)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행정문서 AI
초안 자동 생성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맥락 지정 프롬프팅,
문서 구조 설계 기법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3차시
(13:00~14:30)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AI 기반 데이터
정리·분류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표 데이터 구조화,
요약 프롬프팅 기법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4차시
(14:45~16:00)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AI 활용 보고서
작성 가속화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두괄식 구조 설계,
자동 교정·보완 기법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5차시
(16:15~18:00)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미니 포트폴리오
발표 &amp; 피드백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결과물 공유 및
개선점 도출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3D2DC96-EF21-BBE6-DA92-2B7420B245A8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FA681-0BF4-6FB2-50DD-710B1AFA1C4A}"/>
              </a:ext>
            </a:extLst>
          </p:cNvPr>
          <p:cNvSpPr txBox="1"/>
          <p:nvPr/>
        </p:nvSpPr>
        <p:spPr>
          <a:xfrm>
            <a:off x="772720" y="1547952"/>
            <a:ext cx="10740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교과목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파이썬의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기본 문법과 프로그래밍 사고를 익혀서 이후 데이터 분석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머신러닝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및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LLM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응용에 필요한 코딩 기초를 다집니다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.</a:t>
            </a:r>
            <a:endParaRPr lang="ko-KR" altLang="ko-KR" sz="1400" kern="100" dirty="0"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D4F1E38-40D8-E5B4-BEC3-76067E56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02063D2-29F4-2737-4BCF-D3F2BE4E0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2일차: AI 이미지·영상 제작
공단 홍보 콘텐츠 자체 제작 역량 완전 내재화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E35C333-2240-21FD-1062-C467D0326601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3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54FC6EB-A0DC-EA6F-5F3A-2CA1D8968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909108"/>
              </p:ext>
            </p:extLst>
          </p:nvPr>
        </p:nvGraphicFramePr>
        <p:xfrm>
          <a:off x="861212" y="2072562"/>
          <a:ext cx="10469575" cy="277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9165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6431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차시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세부 주제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핵심 학습 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1차시
(09:00~10:30)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AI 이미지 생성 기초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텍스트-이미지 변환 원리,
프롬프트 구조(스타일·구도)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2차시
(10:45~12:00)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공공기관 홍보
콘텐츠 제작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브랜드 일관성,
텍스트-이미지 조합 디자인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3차시
(13:00~14:30)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AI 영상 콘텐츠
제작 기초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텍스트-영상 변환,
자동 자막·나레이션 생성 원리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4차시
(14:45~16:00)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실전 홍보 영상
제작 워크숍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편집 흐름 설계,
자막·BGM 자동 삽입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5차시
(16:15~18:00)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미니 포트폴리오
발표 &amp; 피드백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결과물 공유 및
현업 활용 아이디어 확장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3D2DC96-EF21-BBE6-DA92-2B7420B245A8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FA681-0BF4-6FB2-50DD-710B1AFA1C4A}"/>
              </a:ext>
            </a:extLst>
          </p:cNvPr>
          <p:cNvSpPr txBox="1"/>
          <p:nvPr/>
        </p:nvSpPr>
        <p:spPr>
          <a:xfrm>
            <a:off x="772720" y="1547952"/>
            <a:ext cx="10740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교과목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파이썬의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기본 문법과 프로그래밍 사고를 익혀서 이후 데이터 분석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머신러닝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및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LLM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응용에 필요한 코딩 기초를 다집니다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.</a:t>
            </a:r>
            <a:endParaRPr lang="ko-KR" altLang="ko-KR" sz="1400" kern="100" dirty="0"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D4F1E38-40D8-E5B4-BEC3-76067E56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02063D2-29F4-2737-4BCF-D3F2BE4E0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3일차: AI 챗봇 기획 및 프로토타입 체험
코딩 없이 민원 챗봇 기획·구축 입문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E35C333-2240-21FD-1062-C467D0326601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3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54FC6EB-A0DC-EA6F-5F3A-2CA1D8968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909108"/>
              </p:ext>
            </p:extLst>
          </p:nvPr>
        </p:nvGraphicFramePr>
        <p:xfrm>
          <a:off x="861212" y="2072562"/>
          <a:ext cx="10469575" cy="277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9165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6431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차시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세부 주제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핵심 학습 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1차시
(09:00~10:30)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챗봇 개념 및
활용 사례 탐색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챗봇 종류·동작 원리,
공공기관 도입 사례 소개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2차시
(10:45~12:00)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챗봇 기획서 작성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목적·응답 범위·
대화 시나리오 설계 방법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3차시
(13:00~14:30)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No-Code 챗봇 빌더
기초 체험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빌더 환경 이해,
기본 응답 설정 방법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4차시
(14:45~16:00)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프로토타입 테스트
및 개선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응답 확인,
어색한 부분 수정 반복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5차시
(16:15~18:00)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3일 과정 총정리 및
현업 적용 계획 수립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/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/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3일간 학습 내용 회고,
현업 AI 활용 로드맵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3D2DC96-EF21-BBE6-DA92-2B7420B245A8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FA681-0BF4-6FB2-50DD-710B1AFA1C4A}"/>
              </a:ext>
            </a:extLst>
          </p:cNvPr>
          <p:cNvSpPr txBox="1"/>
          <p:nvPr/>
        </p:nvSpPr>
        <p:spPr>
          <a:xfrm>
            <a:off x="772720" y="1547952"/>
            <a:ext cx="10740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교과목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파이썬의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기본 문법과 프로그래밍 사고를 익혀서 이후 데이터 분석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머신러닝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및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LLM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응용에 필요한 코딩 기초를 다집니다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.</a:t>
            </a:r>
            <a:endParaRPr lang="ko-KR" altLang="ko-KR" sz="1400" kern="100" dirty="0"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6847E72-0FD6-591B-F199-B43BD8E5E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2A910-C3B1-AF74-3CB9-F563E977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알파코만이 제공하는
3대 독보적 강점 (USP)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28A056-FF6E-837B-B0C8-84DC23032EEB}"/>
              </a:ext>
            </a:extLst>
          </p:cNvPr>
          <p:cNvSpPr/>
          <p:nvPr/>
        </p:nvSpPr>
        <p:spPr>
          <a:xfrm>
            <a:off x="0" y="858255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lvl="0" latinLnBrk="0">
              <a:defRPr/>
            </a:pPr>
            <a:r>
              <a:rPr lang="en-US" altLang="ko-KR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01. 공공기관 특화
실무 밀착 커리큘럼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A76083-8DA4-0C41-19BE-A1CF19EB24C2}"/>
              </a:ext>
            </a:extLst>
          </p:cNvPr>
          <p:cNvSpPr/>
          <p:nvPr/>
        </p:nvSpPr>
        <p:spPr>
          <a:xfrm>
            <a:off x="1539699" y="1590592"/>
            <a:ext cx="1914114" cy="382760"/>
          </a:xfrm>
          <a:prstGeom prst="rect">
            <a:avLst/>
          </a:prstGeom>
          <a:solidFill>
            <a:srgbClr val="353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추상적 예제가 아닌 공단 실제 업무(행정문서·시설 운영 데이터·민원 대응)를 100% 실습 소재로 활용. 교육 종료 즉시 현업 복귀 가능한 산출물 완성 보장.</a:t>
            </a:r>
            <a:endParaRPr lang="ko-KR" altLang="en-US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CF6B49-028C-CACC-44E5-C704519ACC1D}"/>
              </a:ext>
            </a:extLst>
          </p:cNvPr>
          <p:cNvSpPr/>
          <p:nvPr/>
        </p:nvSpPr>
        <p:spPr>
          <a:xfrm>
            <a:off x="3525519" y="1593890"/>
            <a:ext cx="2681655" cy="379462"/>
          </a:xfrm>
          <a:prstGeom prst="rect">
            <a:avLst/>
          </a:prstGeom>
          <a:solidFill>
            <a:srgbClr val="353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02. 초급도 따라오는
단계별 실습 설계</a:t>
            </a:r>
            <a:endParaRPr lang="ko-KR" altLang="en-US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64CC61-DCF2-CC36-B68B-250AFDC53B70}"/>
              </a:ext>
            </a:extLst>
          </p:cNvPr>
          <p:cNvSpPr/>
          <p:nvPr/>
        </p:nvSpPr>
        <p:spPr>
          <a:xfrm>
            <a:off x="6278880" y="1593889"/>
            <a:ext cx="2681654" cy="379463"/>
          </a:xfrm>
          <a:prstGeom prst="rect">
            <a:avLst/>
          </a:prstGeom>
          <a:solidFill>
            <a:srgbClr val="353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IT 비전공자·디지털 도구 경험 無인 수강생도 이탈 없이 완주할 수 있도록 SAM 애자일 모델 기반 소규모 반복 실습 구조 설계. 매 차시 완성 산출물로 성취감 제공.</a:t>
            </a:r>
            <a:endParaRPr lang="ko-KR" altLang="en-US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93EA41-E3DA-B10C-7993-01B85517BDBD}"/>
              </a:ext>
            </a:extLst>
          </p:cNvPr>
          <p:cNvSpPr/>
          <p:nvPr/>
        </p:nvSpPr>
        <p:spPr>
          <a:xfrm>
            <a:off x="9032240" y="1590593"/>
            <a:ext cx="2681654" cy="382760"/>
          </a:xfrm>
          <a:prstGeom prst="rect">
            <a:avLst/>
          </a:prstGeom>
          <a:solidFill>
            <a:srgbClr val="353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03. 교육 후 현업
정착 지원 체계</a:t>
            </a:r>
            <a:endParaRPr lang="ko-KR" altLang="en-US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6279C60-FA67-FA2B-E22F-218EEDE2C1AD}"/>
              </a:ext>
            </a:extLst>
          </p:cNvPr>
          <p:cNvSpPr/>
          <p:nvPr/>
        </p:nvSpPr>
        <p:spPr>
          <a:xfrm>
            <a:off x="330991" y="2055705"/>
            <a:ext cx="1177642" cy="1230632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수료 후 수강생 개인별 프롬프트 템플릿 라이브러리 및 AI 도구 활용 가이드 제공. 만족도 조사(Level 1) 기반 교육 품질 지속 개선 피드백 루프 운영.</a:t>
            </a:r>
            <a:endParaRPr lang="en-US" altLang="ko-KR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/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/>
            </a: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/>
            </a: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833A9F-C01F-F976-F886-ABE562BBEA31}"/>
              </a:ext>
            </a:extLst>
          </p:cNvPr>
          <p:cNvSpPr/>
          <p:nvPr/>
        </p:nvSpPr>
        <p:spPr>
          <a:xfrm>
            <a:off x="330991" y="3325687"/>
            <a:ext cx="1177642" cy="1429193"/>
          </a:xfrm>
          <a:prstGeom prst="rect">
            <a:avLst/>
          </a:prstGeom>
          <a:solidFill>
            <a:srgbClr val="96DC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안</a:t>
            </a:r>
            <a:endParaRPr lang="en-US" altLang="ko-KR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전략형</a:t>
            </a: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45FBD6-57B6-2F55-732C-894372DD14FF}"/>
              </a:ext>
            </a:extLst>
          </p:cNvPr>
          <p:cNvSpPr/>
          <p:nvPr/>
        </p:nvSpPr>
        <p:spPr>
          <a:xfrm>
            <a:off x="330991" y="4796574"/>
            <a:ext cx="1177642" cy="1590408"/>
          </a:xfrm>
          <a:prstGeom prst="rect">
            <a:avLst/>
          </a:prstGeom>
          <a:solidFill>
            <a:srgbClr val="61CB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안</a:t>
            </a:r>
            <a:endParaRPr lang="en-US" altLang="ko-KR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내재화형</a:t>
            </a: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33E28B-9960-F790-7F10-8371B6DCAF2D}"/>
              </a:ext>
            </a:extLst>
          </p:cNvPr>
          <p:cNvSpPr/>
          <p:nvPr/>
        </p:nvSpPr>
        <p:spPr>
          <a:xfrm>
            <a:off x="1539698" y="2034314"/>
            <a:ext cx="1914115" cy="1230632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7B3A7EC-CCD3-402A-EDC5-3725FF5591BB}"/>
              </a:ext>
            </a:extLst>
          </p:cNvPr>
          <p:cNvSpPr/>
          <p:nvPr/>
        </p:nvSpPr>
        <p:spPr>
          <a:xfrm>
            <a:off x="1539698" y="3325687"/>
            <a:ext cx="1914115" cy="1429193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34808D2-D18D-2FAE-334B-086F7C897396}"/>
              </a:ext>
            </a:extLst>
          </p:cNvPr>
          <p:cNvSpPr/>
          <p:nvPr/>
        </p:nvSpPr>
        <p:spPr>
          <a:xfrm>
            <a:off x="1539698" y="4796574"/>
            <a:ext cx="1914115" cy="1590408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24772A5-438B-5150-077D-BD0A9F895A45}"/>
              </a:ext>
            </a:extLst>
          </p:cNvPr>
          <p:cNvSpPr/>
          <p:nvPr/>
        </p:nvSpPr>
        <p:spPr>
          <a:xfrm>
            <a:off x="3525519" y="2034314"/>
            <a:ext cx="2681655" cy="1230632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624846-BE39-B44C-2F7C-9F613D108E9E}"/>
              </a:ext>
            </a:extLst>
          </p:cNvPr>
          <p:cNvSpPr/>
          <p:nvPr/>
        </p:nvSpPr>
        <p:spPr>
          <a:xfrm>
            <a:off x="3525519" y="3325687"/>
            <a:ext cx="2681655" cy="1429193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0804907-D0BB-2CC4-2421-12441E096BC1}"/>
              </a:ext>
            </a:extLst>
          </p:cNvPr>
          <p:cNvSpPr/>
          <p:nvPr/>
        </p:nvSpPr>
        <p:spPr>
          <a:xfrm>
            <a:off x="3525519" y="4796574"/>
            <a:ext cx="2681655" cy="1590408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483FD3B-CEBF-69D0-4378-ED4B3882BC01}"/>
              </a:ext>
            </a:extLst>
          </p:cNvPr>
          <p:cNvSpPr/>
          <p:nvPr/>
        </p:nvSpPr>
        <p:spPr>
          <a:xfrm>
            <a:off x="6278881" y="2034314"/>
            <a:ext cx="2681654" cy="1230632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65182F2-EBE2-2C11-5723-042FB19D6C21}"/>
              </a:ext>
            </a:extLst>
          </p:cNvPr>
          <p:cNvSpPr/>
          <p:nvPr/>
        </p:nvSpPr>
        <p:spPr>
          <a:xfrm>
            <a:off x="6278881" y="3325687"/>
            <a:ext cx="2681654" cy="1429193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ADDD807-950B-269A-3694-7762FC38D903}"/>
              </a:ext>
            </a:extLst>
          </p:cNvPr>
          <p:cNvSpPr/>
          <p:nvPr/>
        </p:nvSpPr>
        <p:spPr>
          <a:xfrm>
            <a:off x="6278881" y="4796574"/>
            <a:ext cx="2681654" cy="1590408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5443D81-62BE-2363-B3CA-39B352BAB0D3}"/>
              </a:ext>
            </a:extLst>
          </p:cNvPr>
          <p:cNvSpPr/>
          <p:nvPr/>
        </p:nvSpPr>
        <p:spPr>
          <a:xfrm>
            <a:off x="9032240" y="2034314"/>
            <a:ext cx="2681655" cy="1230632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DF57711-3D21-82A8-AFDE-9B5D182D4DAA}"/>
              </a:ext>
            </a:extLst>
          </p:cNvPr>
          <p:cNvSpPr/>
          <p:nvPr/>
        </p:nvSpPr>
        <p:spPr>
          <a:xfrm>
            <a:off x="9032240" y="3325687"/>
            <a:ext cx="2681655" cy="1429193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C1BD2D0-CA48-0AE0-CD81-E41B17B308D3}"/>
              </a:ext>
            </a:extLst>
          </p:cNvPr>
          <p:cNvSpPr/>
          <p:nvPr/>
        </p:nvSpPr>
        <p:spPr>
          <a:xfrm>
            <a:off x="9032240" y="4796574"/>
            <a:ext cx="2681655" cy="1590408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30968EA-DA1B-9CE9-48AD-A1096FA3D999}"/>
              </a:ext>
            </a:extLst>
          </p:cNvPr>
          <p:cNvSpPr/>
          <p:nvPr/>
        </p:nvSpPr>
        <p:spPr>
          <a:xfrm>
            <a:off x="2265680" y="2119363"/>
            <a:ext cx="1188132" cy="158501"/>
          </a:xfrm>
          <a:prstGeom prst="round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D01DCE-2B23-D736-A050-9440FD8F22BA}"/>
              </a:ext>
            </a:extLst>
          </p:cNvPr>
          <p:cNvSpPr txBox="1"/>
          <p:nvPr/>
        </p:nvSpPr>
        <p:spPr>
          <a:xfrm>
            <a:off x="2086942" y="2083197"/>
            <a:ext cx="1584375" cy="2308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파이썬 기초 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(12H)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FB22032-639E-04D6-F4D2-D0D7BD6D536D}"/>
              </a:ext>
            </a:extLst>
          </p:cNvPr>
          <p:cNvSpPr/>
          <p:nvPr/>
        </p:nvSpPr>
        <p:spPr>
          <a:xfrm>
            <a:off x="3523728" y="2528441"/>
            <a:ext cx="6605792" cy="161828"/>
          </a:xfrm>
          <a:prstGeom prst="round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62CC4D-ACDC-2051-8D77-19689CBB57F5}"/>
              </a:ext>
            </a:extLst>
          </p:cNvPr>
          <p:cNvSpPr txBox="1"/>
          <p:nvPr/>
        </p:nvSpPr>
        <p:spPr>
          <a:xfrm>
            <a:off x="6207174" y="2491224"/>
            <a:ext cx="1314784" cy="2308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Agent </a:t>
            </a: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(80H)</a:t>
            </a:r>
            <a:endParaRPr kumimoji="0" lang="ko-KR" altLang="en-US" sz="9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8CE30B54-AA71-BA51-FDEC-E92686A604C0}"/>
              </a:ext>
            </a:extLst>
          </p:cNvPr>
          <p:cNvSpPr/>
          <p:nvPr/>
        </p:nvSpPr>
        <p:spPr>
          <a:xfrm>
            <a:off x="2265680" y="3398959"/>
            <a:ext cx="1188132" cy="158501"/>
          </a:xfrm>
          <a:prstGeom prst="roundRect">
            <a:avLst/>
          </a:prstGeom>
          <a:solidFill>
            <a:srgbClr val="96DC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3D91C51-9D44-141D-02F7-C407CF06D293}"/>
              </a:ext>
            </a:extLst>
          </p:cNvPr>
          <p:cNvSpPr txBox="1"/>
          <p:nvPr/>
        </p:nvSpPr>
        <p:spPr>
          <a:xfrm>
            <a:off x="2086942" y="3362793"/>
            <a:ext cx="1584375" cy="230832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파이썬 기초 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(12H)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0CB352F6-AEB3-D539-5930-FD97854B4517}"/>
              </a:ext>
            </a:extLst>
          </p:cNvPr>
          <p:cNvSpPr/>
          <p:nvPr/>
        </p:nvSpPr>
        <p:spPr>
          <a:xfrm>
            <a:off x="3566374" y="3797889"/>
            <a:ext cx="6563146" cy="171976"/>
          </a:xfrm>
          <a:prstGeom prst="roundRect">
            <a:avLst/>
          </a:prstGeom>
          <a:solidFill>
            <a:srgbClr val="96DCF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C96E301-E012-1DC7-F94B-A7A52AAD84DC}"/>
              </a:ext>
            </a:extLst>
          </p:cNvPr>
          <p:cNvSpPr txBox="1"/>
          <p:nvPr/>
        </p:nvSpPr>
        <p:spPr>
          <a:xfrm>
            <a:off x="6207174" y="3770820"/>
            <a:ext cx="1314784" cy="2308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Agent </a:t>
            </a: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(80H)</a:t>
            </a:r>
            <a:endParaRPr kumimoji="0" lang="ko-KR" altLang="en-US" sz="9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56DA5C42-844D-C483-4C08-299287F1B082}"/>
              </a:ext>
            </a:extLst>
          </p:cNvPr>
          <p:cNvSpPr/>
          <p:nvPr/>
        </p:nvSpPr>
        <p:spPr>
          <a:xfrm>
            <a:off x="2263891" y="4918743"/>
            <a:ext cx="1188132" cy="158501"/>
          </a:xfrm>
          <a:prstGeom prst="roundRect">
            <a:avLst/>
          </a:prstGeom>
          <a:solidFill>
            <a:srgbClr val="61CB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66E5316E-00C7-F381-6008-C4D61D8B8D08}"/>
              </a:ext>
            </a:extLst>
          </p:cNvPr>
          <p:cNvSpPr/>
          <p:nvPr/>
        </p:nvSpPr>
        <p:spPr>
          <a:xfrm>
            <a:off x="3564585" y="5341609"/>
            <a:ext cx="6563146" cy="148039"/>
          </a:xfrm>
          <a:prstGeom prst="roundRect">
            <a:avLst/>
          </a:prstGeom>
          <a:solidFill>
            <a:srgbClr val="61CBF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9EB0FD2-52CE-0527-A05B-F63CBAFAE65E}"/>
              </a:ext>
            </a:extLst>
          </p:cNvPr>
          <p:cNvSpPr txBox="1"/>
          <p:nvPr/>
        </p:nvSpPr>
        <p:spPr>
          <a:xfrm>
            <a:off x="6205385" y="5290604"/>
            <a:ext cx="1314784" cy="2308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Agent </a:t>
            </a: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(80H)</a:t>
            </a:r>
            <a:endParaRPr kumimoji="0" lang="ko-KR" altLang="en-US" sz="9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4B9FB0F-E8D5-9CE8-61E9-82F9B0D368FC}"/>
              </a:ext>
            </a:extLst>
          </p:cNvPr>
          <p:cNvSpPr txBox="1"/>
          <p:nvPr/>
        </p:nvSpPr>
        <p:spPr>
          <a:xfrm>
            <a:off x="2086942" y="4885679"/>
            <a:ext cx="1584375" cy="230832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파이썬 기초 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(12H)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600212-807F-DD78-5B42-C8C83C8A8932}"/>
              </a:ext>
            </a:extLst>
          </p:cNvPr>
          <p:cNvSpPr/>
          <p:nvPr/>
        </p:nvSpPr>
        <p:spPr>
          <a:xfrm>
            <a:off x="330991" y="4791046"/>
            <a:ext cx="11382903" cy="1617577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14CD66E-97A0-8CD0-38ED-AAE2F83CC047}"/>
              </a:ext>
            </a:extLst>
          </p:cNvPr>
          <p:cNvSpPr/>
          <p:nvPr/>
        </p:nvSpPr>
        <p:spPr>
          <a:xfrm>
            <a:off x="3568011" y="2258315"/>
            <a:ext cx="1017392" cy="194405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환경 조사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B32FAD1-0651-738A-D235-E0292B27C0EA}"/>
              </a:ext>
            </a:extLst>
          </p:cNvPr>
          <p:cNvSpPr/>
          <p:nvPr/>
        </p:nvSpPr>
        <p:spPr>
          <a:xfrm>
            <a:off x="9916162" y="2869736"/>
            <a:ext cx="1785784" cy="161543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프로젝트용 실습 가이드 제공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539E981-F8B2-5765-4C93-62CA42D5CEA2}"/>
              </a:ext>
            </a:extLst>
          </p:cNvPr>
          <p:cNvSpPr/>
          <p:nvPr/>
        </p:nvSpPr>
        <p:spPr>
          <a:xfrm>
            <a:off x="3564585" y="3567317"/>
            <a:ext cx="1017392" cy="194405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환경 조사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377532B-55C6-8461-9DD2-1C97170A6787}"/>
              </a:ext>
            </a:extLst>
          </p:cNvPr>
          <p:cNvSpPr/>
          <p:nvPr/>
        </p:nvSpPr>
        <p:spPr>
          <a:xfrm>
            <a:off x="5188194" y="4311159"/>
            <a:ext cx="3548807" cy="194405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성수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900" b="1" dirty="0" err="1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리프레시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CX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투어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시기 조절 가능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900" b="1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806DD7B-0B57-CE0E-C6E9-6723343DCA19}"/>
              </a:ext>
            </a:extLst>
          </p:cNvPr>
          <p:cNvSpPr/>
          <p:nvPr/>
        </p:nvSpPr>
        <p:spPr>
          <a:xfrm>
            <a:off x="3523728" y="5090950"/>
            <a:ext cx="1017392" cy="194405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환경 조사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27783F2-5CE1-C899-2698-35D3014E81A9}"/>
              </a:ext>
            </a:extLst>
          </p:cNvPr>
          <p:cNvSpPr/>
          <p:nvPr/>
        </p:nvSpPr>
        <p:spPr>
          <a:xfrm>
            <a:off x="5208514" y="5987826"/>
            <a:ext cx="3548807" cy="194405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성수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900" b="1" dirty="0" err="1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리프레시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CX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투어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시기 조절 가능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900" b="1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43A52DF-8F80-E618-C5DC-518D640F3F62}"/>
              </a:ext>
            </a:extLst>
          </p:cNvPr>
          <p:cNvSpPr/>
          <p:nvPr/>
        </p:nvSpPr>
        <p:spPr>
          <a:xfrm>
            <a:off x="9926321" y="6107128"/>
            <a:ext cx="1775624" cy="20766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알파코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강사 멘토링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&amp; 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스케줄 관리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FAC24823-FFBB-A845-C87F-A0E2B05B145E}"/>
              </a:ext>
            </a:extLst>
          </p:cNvPr>
          <p:cNvSpPr/>
          <p:nvPr/>
        </p:nvSpPr>
        <p:spPr>
          <a:xfrm>
            <a:off x="421874" y="5063539"/>
            <a:ext cx="1017392" cy="194405"/>
          </a:xfrm>
          <a:prstGeom prst="roundRect">
            <a:avLst>
              <a:gd name="adj" fmla="val 50000"/>
            </a:avLst>
          </a:prstGeom>
          <a:solidFill>
            <a:srgbClr val="003A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 err="1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알파코</a:t>
            </a:r>
            <a:r>
              <a:rPr lang="ko-KR" altLang="en-US" sz="10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추천</a:t>
            </a:r>
          </a:p>
        </p:txBody>
      </p:sp>
      <p:sp>
        <p:nvSpPr>
          <p:cNvPr id="63" name="말풍선: 타원형 62">
            <a:extLst>
              <a:ext uri="{FF2B5EF4-FFF2-40B4-BE49-F238E27FC236}">
                <a16:creationId xmlns:a16="http://schemas.microsoft.com/office/drawing/2014/main" id="{2C8C15D1-1C48-5354-E7F1-2CFC3728794E}"/>
              </a:ext>
            </a:extLst>
          </p:cNvPr>
          <p:cNvSpPr/>
          <p:nvPr/>
        </p:nvSpPr>
        <p:spPr>
          <a:xfrm>
            <a:off x="421874" y="1518775"/>
            <a:ext cx="1006633" cy="444851"/>
          </a:xfrm>
          <a:prstGeom prst="wedgeEllipseCallout">
            <a:avLst>
              <a:gd name="adj1" fmla="val 41264"/>
              <a:gd name="adj2" fmla="val 479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1~3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안 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/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中 </a:t>
            </a:r>
            <a:r>
              <a:rPr lang="ko-KR" altLang="en-US" sz="11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택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endParaRPr lang="ko-KR" altLang="en-US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DC1735D-8ACA-6905-E39D-20BCF6FFCA99}"/>
              </a:ext>
            </a:extLst>
          </p:cNvPr>
          <p:cNvSpPr/>
          <p:nvPr/>
        </p:nvSpPr>
        <p:spPr>
          <a:xfrm>
            <a:off x="9916161" y="4096891"/>
            <a:ext cx="1775624" cy="214268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프로젝트용 실습 가이드 제공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078E864-DFA9-9484-A5E2-4C8139A46736}"/>
              </a:ext>
            </a:extLst>
          </p:cNvPr>
          <p:cNvSpPr/>
          <p:nvPr/>
        </p:nvSpPr>
        <p:spPr>
          <a:xfrm>
            <a:off x="9916161" y="5672514"/>
            <a:ext cx="1775624" cy="214268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프로젝트용 실습 가이드 제공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63A6EE2A-9FFF-962D-1825-2C0F85E5E77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0560" y="1261062"/>
            <a:ext cx="11147727" cy="254065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본 제안은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안 </a:t>
            </a:r>
            <a:r>
              <a:rPr lang="en-US" altLang="ko-KR" dirty="0">
                <a:solidFill>
                  <a:schemeClr val="tx1"/>
                </a:solidFill>
              </a:rPr>
              <a:t>~ 3</a:t>
            </a:r>
            <a:r>
              <a:rPr lang="ko-KR" altLang="en-US" dirty="0">
                <a:solidFill>
                  <a:schemeClr val="tx1"/>
                </a:solidFill>
              </a:rPr>
              <a:t>안으로 구성되며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선택하여 진행 가능합니다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E551C31-3706-D8F4-7A8A-73FB156CB368}"/>
              </a:ext>
            </a:extLst>
          </p:cNvPr>
          <p:cNvSpPr/>
          <p:nvPr/>
        </p:nvSpPr>
        <p:spPr>
          <a:xfrm>
            <a:off x="9797177" y="1373455"/>
            <a:ext cx="252000" cy="7200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CA10-80DC-9889-F99D-68B9E8B88A96}"/>
              </a:ext>
            </a:extLst>
          </p:cNvPr>
          <p:cNvSpPr txBox="1"/>
          <p:nvPr/>
        </p:nvSpPr>
        <p:spPr>
          <a:xfrm>
            <a:off x="10010236" y="1290192"/>
            <a:ext cx="1778051" cy="238527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(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관계사 요청 시</a:t>
            </a: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 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추가 제공 영역</a:t>
            </a:r>
            <a:endParaRPr lang="en-US" altLang="ko-KR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DF41F28-A2C3-184E-B556-EE840F715768}"/>
              </a:ext>
            </a:extLst>
          </p:cNvPr>
          <p:cNvSpPr/>
          <p:nvPr/>
        </p:nvSpPr>
        <p:spPr>
          <a:xfrm>
            <a:off x="8556265" y="1373455"/>
            <a:ext cx="252000" cy="7200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24855-FAF0-9957-D7D6-93BF0500C380}"/>
              </a:ext>
            </a:extLst>
          </p:cNvPr>
          <p:cNvSpPr txBox="1"/>
          <p:nvPr/>
        </p:nvSpPr>
        <p:spPr>
          <a:xfrm>
            <a:off x="8769324" y="1290192"/>
            <a:ext cx="952505" cy="238527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기본 제공 영역</a:t>
            </a:r>
            <a:endParaRPr lang="en-US" altLang="ko-KR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A67CDD5-371B-CD22-9D37-70D7F8241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3E7B9-5EBB-1644-8168-132D03E1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교육 효과를 데이터로 확인하는
KPI 및 사후관리 계획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75D1DB-F4A9-DCD8-9B37-29358B4DB15A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Level 1. 반응 평가 (기본 제공)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0D82333B-A9A3-D36F-FD90-73C8F457F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332442"/>
              </p:ext>
            </p:extLst>
          </p:nvPr>
        </p:nvGraphicFramePr>
        <p:xfrm>
          <a:off x="407987" y="2060575"/>
          <a:ext cx="11304576" cy="4157747"/>
        </p:xfrm>
        <a:graphic>
          <a:graphicData uri="http://schemas.openxmlformats.org/drawingml/2006/table">
            <a:tbl>
              <a:tblPr/>
              <a:tblGrid>
                <a:gridCol w="942048">
                  <a:extLst>
                    <a:ext uri="{9D8B030D-6E8A-4147-A177-3AD203B41FA5}">
                      <a16:colId xmlns:a16="http://schemas.microsoft.com/office/drawing/2014/main" val="1212657140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1922502496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265716470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4261973662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2681467382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1240210217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1947247409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2827740229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2917312819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1012673332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1253249620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866815528"/>
                    </a:ext>
                  </a:extLst>
                </a:gridCol>
              </a:tblGrid>
              <a:tr h="3958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구분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Pre-Session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W1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W2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W3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W4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W5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W6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W7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W8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W9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W10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0052"/>
                  </a:ext>
                </a:extLst>
              </a:tr>
              <a:tr h="5398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① 주간평가</a:t>
                      </a:r>
                      <a:endParaRPr lang="en-US" altLang="ko-KR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진도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이해도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664981"/>
                  </a:ext>
                </a:extLst>
              </a:tr>
              <a:tr h="238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비중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예시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평가 비중은 없으나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학습자의 이해도와 </a:t>
                      </a:r>
                      <a:r>
                        <a:rPr lang="ko-KR" altLang="en-US" sz="11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적용력을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점검하고 필요한 보완 사항을 안내</a:t>
                      </a:r>
                      <a:endParaRPr lang="en-US" altLang="ko-KR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521912"/>
                  </a:ext>
                </a:extLst>
              </a:tr>
              <a:tr h="557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② 중간평가</a:t>
                      </a:r>
                      <a:endParaRPr lang="en-US" altLang="ko-KR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역량 향상도 진단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536682"/>
                  </a:ext>
                </a:extLst>
              </a:tr>
              <a:tr h="2340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비중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예시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15%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641931"/>
                  </a:ext>
                </a:extLst>
              </a:tr>
              <a:tr h="557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③ 기말평가</a:t>
                      </a:r>
                      <a:endParaRPr lang="en-US" altLang="ko-KR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최종 역량 </a:t>
                      </a:r>
                      <a:endParaRPr lang="en-US" altLang="ko-KR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검증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130877"/>
                  </a:ext>
                </a:extLst>
              </a:tr>
              <a:tr h="2340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비중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예시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15%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597544"/>
                  </a:ext>
                </a:extLst>
              </a:tr>
              <a:tr h="557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④ 프로젝트 기반 평가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684613"/>
                  </a:ext>
                </a:extLst>
              </a:tr>
              <a:tr h="2340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비중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예시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10%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60%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815615"/>
                  </a:ext>
                </a:extLst>
              </a:tr>
              <a:tr h="5234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총 평가 비중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10%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15%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15%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60%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381850"/>
                  </a:ext>
                </a:extLst>
              </a:tr>
            </a:tbl>
          </a:graphicData>
        </a:graphic>
      </p:graphicFrame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D42BBA46-5C44-9F3D-6FF2-58364C542F7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88704" y="1292656"/>
            <a:ext cx="11341565" cy="734471"/>
          </a:xfrm>
        </p:spPr>
        <p:txBody>
          <a:bodyPr/>
          <a:lstStyle/>
          <a:p>
            <a:r>
              <a:rPr lang="ko-KR" altLang="en-US" dirty="0"/>
              <a:t>교육 종료 직후 수강생 만족도 조사 실시
▸ 측정 항목: 강의 만족도 / 실습 난이도 적절성 / 현업 적용 가능성 / 재수강 의향
▸ 결과 보고서 1부 납품 (교육 종료 후 5영업일 이내)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4BE6A89-77D4-3A6C-F294-0E8FA9E2A6E7}"/>
              </a:ext>
            </a:extLst>
          </p:cNvPr>
          <p:cNvSpPr/>
          <p:nvPr/>
        </p:nvSpPr>
        <p:spPr>
          <a:xfrm>
            <a:off x="407987" y="1725357"/>
            <a:ext cx="1667458" cy="25901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sz="1000" b="1" dirty="0">
                <a:solidFill>
                  <a:prstClr val="white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※ Level 2(학습 성취도) · Level 3(행동 변화) · Level 4(ROI 측정)는 본 제안 범위 외 별도 협의 사항입니다.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, 블랙, 그래픽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C95086F-0949-41D9-ACF5-C3FA1ED97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915" y="5348420"/>
            <a:ext cx="984153" cy="360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5440A6-10C5-9865-5A98-B683E7676131}"/>
              </a:ext>
            </a:extLst>
          </p:cNvPr>
          <p:cNvSpPr txBox="1"/>
          <p:nvPr/>
        </p:nvSpPr>
        <p:spPr>
          <a:xfrm>
            <a:off x="609600" y="2115530"/>
            <a:ext cx="3486976" cy="553998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en-US" altLang="ko-KR" sz="30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동대문구시설관리공단의
디지털 AI 혁신 여정, 알파코가 함께합니다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AB842-CC2C-3C8B-4A93-F3764B62DE6D}"/>
              </a:ext>
            </a:extLst>
          </p:cNvPr>
          <p:cNvSpPr txBox="1"/>
          <p:nvPr/>
        </p:nvSpPr>
        <p:spPr>
          <a:xfrm>
            <a:off x="628454" y="1705465"/>
            <a:ext cx="1462383" cy="400110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en-US" altLang="ko-KR" sz="20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알파코 (ALPACO)</a:t>
            </a:r>
            <a:endParaRPr lang="ko-KR" altLang="en-US" sz="2000" kern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EA4EF6-30DC-52CD-036C-C4DC05693B32}"/>
              </a:ext>
            </a:extLst>
          </p:cNvPr>
          <p:cNvSpPr txBox="1"/>
          <p:nvPr/>
        </p:nvSpPr>
        <p:spPr>
          <a:xfrm>
            <a:off x="609600" y="5348419"/>
            <a:ext cx="5200463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교육사업 담당: 제안 담당자명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2F0EAC-CCB2-5F72-7554-629942CA81EC}"/>
              </a:ext>
            </a:extLst>
          </p:cNvPr>
          <p:cNvSpPr txBox="1"/>
          <p:nvPr/>
        </p:nvSpPr>
        <p:spPr>
          <a:xfrm>
            <a:off x="609600" y="5631570"/>
            <a:ext cx="1556836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E-mail: contact@alpaco.kr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